
<file path=[Content_Types].xml><?xml version="1.0" encoding="utf-8"?>
<Types xmlns="http://schemas.openxmlformats.org/package/2006/content-types">
  <Default Extension="png" ContentType="image/png"/>
  <Default Extension="jfif" ContentType="image/jpeg"/>
  <Default Extension="jpeg" ContentType="image/jpeg"/>
  <Default Extension="rels" ContentType="application/vnd.openxmlformats-package.relationships+xml"/>
  <Default Extension="xml" ContentType="application/xml"/>
  <Default Extension="wdp" ContentType="image/vnd.ms-photo"/>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4.xml" ContentType="application/vnd.openxmlformats-officedocument.theme+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theme/theme5.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6" r:id="rId1"/>
    <p:sldMasterId id="2147483768" r:id="rId2"/>
    <p:sldMasterId id="2147483780" r:id="rId3"/>
    <p:sldMasterId id="2147483792" r:id="rId4"/>
    <p:sldMasterId id="2147483804" r:id="rId5"/>
  </p:sldMasterIdLst>
  <p:sldIdLst>
    <p:sldId id="256" r:id="rId6"/>
    <p:sldId id="257" r:id="rId7"/>
    <p:sldId id="263" r:id="rId8"/>
    <p:sldId id="272" r:id="rId9"/>
    <p:sldId id="264" r:id="rId10"/>
    <p:sldId id="269" r:id="rId11"/>
    <p:sldId id="267" r:id="rId12"/>
    <p:sldId id="270" r:id="rId13"/>
    <p:sldId id="271" r:id="rId14"/>
    <p:sldId id="262" r:id="rId15"/>
    <p:sldId id="273" r:id="rId16"/>
    <p:sldId id="276" r:id="rId17"/>
    <p:sldId id="274" r:id="rId18"/>
    <p:sldId id="275" r:id="rId19"/>
    <p:sldId id="277" r:id="rId20"/>
    <p:sldId id="278" r:id="rId21"/>
    <p:sldId id="279" r:id="rId22"/>
    <p:sldId id="280" r:id="rId23"/>
    <p:sldId id="281" r:id="rId24"/>
    <p:sldId id="282" r:id="rId25"/>
    <p:sldId id="283" r:id="rId26"/>
    <p:sldId id="284" r:id="rId27"/>
    <p:sldId id="285" r:id="rId28"/>
    <p:sldId id="286" r:id="rId29"/>
    <p:sldId id="287" r:id="rId30"/>
    <p:sldId id="288" r:id="rId31"/>
    <p:sldId id="289" r:id="rId32"/>
    <p:sldId id="290" r:id="rId33"/>
    <p:sldId id="291" r:id="rId34"/>
    <p:sldId id="292" r:id="rId35"/>
    <p:sldId id="293" r:id="rId36"/>
    <p:sldId id="294" r:id="rId37"/>
    <p:sldId id="295" r:id="rId38"/>
    <p:sldId id="296" r:id="rId39"/>
    <p:sldId id="297" r:id="rId40"/>
    <p:sldId id="298" r:id="rId41"/>
    <p:sldId id="299" r:id="rId42"/>
    <p:sldId id="300" r:id="rId43"/>
    <p:sldId id="301" r:id="rId44"/>
    <p:sldId id="302" r:id="rId45"/>
    <p:sldId id="303" r:id="rId46"/>
    <p:sldId id="304" r:id="rId47"/>
    <p:sldId id="305" r:id="rId48"/>
    <p:sldId id="306" r:id="rId49"/>
    <p:sldId id="307" r:id="rId50"/>
    <p:sldId id="308" r:id="rId51"/>
    <p:sldId id="309" r:id="rId52"/>
    <p:sldId id="310" r:id="rId53"/>
    <p:sldId id="311" r:id="rId54"/>
    <p:sldId id="312" r:id="rId55"/>
    <p:sldId id="313" r:id="rId56"/>
    <p:sldId id="314" r:id="rId57"/>
    <p:sldId id="315" r:id="rId58"/>
    <p:sldId id="316" r:id="rId59"/>
    <p:sldId id="317" r:id="rId60"/>
    <p:sldId id="318" r:id="rId61"/>
    <p:sldId id="319" r:id="rId62"/>
    <p:sldId id="320" r:id="rId63"/>
    <p:sldId id="321" r:id="rId64"/>
    <p:sldId id="322" r:id="rId65"/>
    <p:sldId id="323" r:id="rId66"/>
    <p:sldId id="324" r:id="rId67"/>
    <p:sldId id="325" r:id="rId68"/>
    <p:sldId id="326" r:id="rId69"/>
    <p:sldId id="327" r:id="rId7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D9FDE549-979D-499E-AC14-ECB849E48E79}">
          <p14:sldIdLst>
            <p14:sldId id="256"/>
            <p14:sldId id="257"/>
            <p14:sldId id="263"/>
            <p14:sldId id="272"/>
            <p14:sldId id="264"/>
            <p14:sldId id="269"/>
            <p14:sldId id="267"/>
            <p14:sldId id="270"/>
            <p14:sldId id="271"/>
            <p14:sldId id="262"/>
            <p14:sldId id="273"/>
            <p14:sldId id="276"/>
            <p14:sldId id="274"/>
            <p14:sldId id="275"/>
            <p14:sldId id="277"/>
            <p14:sldId id="278"/>
            <p14:sldId id="279"/>
            <p14:sldId id="280"/>
            <p14:sldId id="281"/>
            <p14:sldId id="282"/>
            <p14:sldId id="283"/>
            <p14:sldId id="284"/>
            <p14:sldId id="285"/>
            <p14:sldId id="286"/>
            <p14:sldId id="287"/>
            <p14:sldId id="288"/>
            <p14:sldId id="289"/>
            <p14:sldId id="290"/>
            <p14:sldId id="291"/>
            <p14:sldId id="292"/>
            <p14:sldId id="293"/>
            <p14:sldId id="294"/>
            <p14:sldId id="295"/>
            <p14:sldId id="296"/>
            <p14:sldId id="297"/>
            <p14:sldId id="298"/>
            <p14:sldId id="299"/>
            <p14:sldId id="300"/>
            <p14:sldId id="301"/>
            <p14:sldId id="302"/>
            <p14:sldId id="303"/>
            <p14:sldId id="304"/>
            <p14:sldId id="305"/>
            <p14:sldId id="306"/>
            <p14:sldId id="307"/>
            <p14:sldId id="308"/>
            <p14:sldId id="309"/>
            <p14:sldId id="310"/>
            <p14:sldId id="311"/>
            <p14:sldId id="312"/>
            <p14:sldId id="313"/>
            <p14:sldId id="314"/>
            <p14:sldId id="315"/>
            <p14:sldId id="316"/>
            <p14:sldId id="317"/>
            <p14:sldId id="318"/>
            <p14:sldId id="319"/>
            <p14:sldId id="320"/>
            <p14:sldId id="321"/>
            <p14:sldId id="322"/>
            <p14:sldId id="323"/>
            <p14:sldId id="324"/>
            <p14:sldId id="325"/>
            <p14:sldId id="326"/>
            <p14:sldId id="327"/>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CCFF"/>
    <a:srgbClr val="0099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10" d="100"/>
          <a:sy n="110" d="100"/>
        </p:scale>
        <p:origin x="-1644" y="-7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1.xml"/><Relationship Id="rId21" Type="http://schemas.openxmlformats.org/officeDocument/2006/relationships/slide" Target="slides/slide16.xml"/><Relationship Id="rId42" Type="http://schemas.openxmlformats.org/officeDocument/2006/relationships/slide" Target="slides/slide37.xml"/><Relationship Id="rId47" Type="http://schemas.openxmlformats.org/officeDocument/2006/relationships/slide" Target="slides/slide42.xml"/><Relationship Id="rId63" Type="http://schemas.openxmlformats.org/officeDocument/2006/relationships/slide" Target="slides/slide58.xml"/><Relationship Id="rId68" Type="http://schemas.openxmlformats.org/officeDocument/2006/relationships/slide" Target="slides/slide63.xml"/><Relationship Id="rId2" Type="http://schemas.openxmlformats.org/officeDocument/2006/relationships/slideMaster" Target="slideMasters/slideMaster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openxmlformats.org/officeDocument/2006/relationships/slide" Target="slides/slide48.xml"/><Relationship Id="rId58" Type="http://schemas.openxmlformats.org/officeDocument/2006/relationships/slide" Target="slides/slide53.xml"/><Relationship Id="rId66" Type="http://schemas.openxmlformats.org/officeDocument/2006/relationships/slide" Target="slides/slide61.xml"/><Relationship Id="rId74" Type="http://schemas.openxmlformats.org/officeDocument/2006/relationships/tableStyles" Target="tableStyles.xml"/><Relationship Id="rId5" Type="http://schemas.openxmlformats.org/officeDocument/2006/relationships/slideMaster" Target="slideMasters/slideMaster5.xml"/><Relationship Id="rId61" Type="http://schemas.openxmlformats.org/officeDocument/2006/relationships/slide" Target="slides/slide56.xml"/><Relationship Id="rId19" Type="http://schemas.openxmlformats.org/officeDocument/2006/relationships/slide" Target="slides/slide1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slide" Target="slides/slide51.xml"/><Relationship Id="rId64" Type="http://schemas.openxmlformats.org/officeDocument/2006/relationships/slide" Target="slides/slide59.xml"/><Relationship Id="rId69" Type="http://schemas.openxmlformats.org/officeDocument/2006/relationships/slide" Target="slides/slide64.xml"/><Relationship Id="rId8" Type="http://schemas.openxmlformats.org/officeDocument/2006/relationships/slide" Target="slides/slide3.xml"/><Relationship Id="rId51" Type="http://schemas.openxmlformats.org/officeDocument/2006/relationships/slide" Target="slides/slide46.xml"/><Relationship Id="rId72" Type="http://schemas.openxmlformats.org/officeDocument/2006/relationships/viewProps" Target="viewProps.xml"/><Relationship Id="rId3" Type="http://schemas.openxmlformats.org/officeDocument/2006/relationships/slideMaster" Target="slideMasters/slideMaster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slide" Target="slides/slide54.xml"/><Relationship Id="rId67" Type="http://schemas.openxmlformats.org/officeDocument/2006/relationships/slide" Target="slides/slide62.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slide" Target="slides/slide49.xml"/><Relationship Id="rId62" Type="http://schemas.openxmlformats.org/officeDocument/2006/relationships/slide" Target="slides/slide57.xml"/><Relationship Id="rId70" Type="http://schemas.openxmlformats.org/officeDocument/2006/relationships/slide" Target="slides/slide65.xml"/><Relationship Id="rId1" Type="http://schemas.openxmlformats.org/officeDocument/2006/relationships/slideMaster" Target="slideMasters/slideMaster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slide" Target="slides/slide52.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slide" Target="slides/slide55.xml"/><Relationship Id="rId65" Type="http://schemas.openxmlformats.org/officeDocument/2006/relationships/slide" Target="slides/slide60.xml"/><Relationship Id="rId73" Type="http://schemas.openxmlformats.org/officeDocument/2006/relationships/theme" Target="theme/theme1.xml"/><Relationship Id="rId4" Type="http://schemas.openxmlformats.org/officeDocument/2006/relationships/slideMaster" Target="slideMasters/slideMaster4.xml"/><Relationship Id="rId9" Type="http://schemas.openxmlformats.org/officeDocument/2006/relationships/slide" Target="slides/slide4.xml"/><Relationship Id="rId13" Type="http://schemas.openxmlformats.org/officeDocument/2006/relationships/slide" Target="slides/slide8.xml"/><Relationship Id="rId18" Type="http://schemas.openxmlformats.org/officeDocument/2006/relationships/slide" Target="slides/slide13.xml"/><Relationship Id="rId39" Type="http://schemas.openxmlformats.org/officeDocument/2006/relationships/slide" Target="slides/slide34.xml"/><Relationship Id="rId34" Type="http://schemas.openxmlformats.org/officeDocument/2006/relationships/slide" Target="slides/slide29.xml"/><Relationship Id="rId50" Type="http://schemas.openxmlformats.org/officeDocument/2006/relationships/slide" Target="slides/slide45.xml"/><Relationship Id="rId55" Type="http://schemas.openxmlformats.org/officeDocument/2006/relationships/slide" Target="slides/slide50.xml"/><Relationship Id="rId7" Type="http://schemas.openxmlformats.org/officeDocument/2006/relationships/slide" Target="slides/slide2.xml"/><Relationship Id="rId71"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3" name="Rectangle 22"/>
          <p:cNvSpPr/>
          <p:nvPr/>
        </p:nvSpPr>
        <p:spPr>
          <a:xfrm flipV="1">
            <a:off x="5410182" y="3810000"/>
            <a:ext cx="3733819" cy="91087"/>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4" name="Rectangle 23"/>
          <p:cNvSpPr/>
          <p:nvPr/>
        </p:nvSpPr>
        <p:spPr>
          <a:xfrm flipV="1">
            <a:off x="5410200" y="3897010"/>
            <a:ext cx="3733801" cy="192024"/>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5" name="Rectangle 24"/>
          <p:cNvSpPr/>
          <p:nvPr/>
        </p:nvSpPr>
        <p:spPr>
          <a:xfrm flipV="1">
            <a:off x="5410200" y="4115167"/>
            <a:ext cx="3733801" cy="9144"/>
          </a:xfrm>
          <a:prstGeom prst="rect">
            <a:avLst/>
          </a:prstGeom>
          <a:solidFill>
            <a:schemeClr val="accent2">
              <a:alpha val="65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6" name="Rectangle 25"/>
          <p:cNvSpPr/>
          <p:nvPr/>
        </p:nvSpPr>
        <p:spPr>
          <a:xfrm flipV="1">
            <a:off x="5410200" y="4164403"/>
            <a:ext cx="1965960" cy="18288"/>
          </a:xfrm>
          <a:prstGeom prst="rect">
            <a:avLst/>
          </a:prstGeom>
          <a:solidFill>
            <a:schemeClr val="accent2">
              <a:alpha val="6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7" name="Rectangle 26"/>
          <p:cNvSpPr/>
          <p:nvPr/>
        </p:nvSpPr>
        <p:spPr>
          <a:xfrm flipV="1">
            <a:off x="5410200" y="4199572"/>
            <a:ext cx="1965960" cy="9144"/>
          </a:xfrm>
          <a:prstGeom prst="rect">
            <a:avLst/>
          </a:prstGeom>
          <a:solidFill>
            <a:schemeClr val="accent2">
              <a:alpha val="65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30" name="Rounded Rectangle 29"/>
          <p:cNvSpPr/>
          <p:nvPr/>
        </p:nvSpPr>
        <p:spPr bwMode="white">
          <a:xfrm>
            <a:off x="5410200" y="3962400"/>
            <a:ext cx="3063240" cy="27432"/>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31" name="Rounded Rectangle 30"/>
          <p:cNvSpPr/>
          <p:nvPr/>
        </p:nvSpPr>
        <p:spPr bwMode="white">
          <a:xfrm>
            <a:off x="7376507" y="4060983"/>
            <a:ext cx="1600200" cy="36576"/>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7" name="Rectangle 6"/>
          <p:cNvSpPr/>
          <p:nvPr/>
        </p:nvSpPr>
        <p:spPr>
          <a:xfrm>
            <a:off x="1" y="3649662"/>
            <a:ext cx="9144000" cy="244170"/>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0" y="3675527"/>
            <a:ext cx="9144001" cy="140677"/>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flipV="1">
            <a:off x="6414051" y="3643090"/>
            <a:ext cx="2729950" cy="248432"/>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9" name="Rectangle 18"/>
          <p:cNvSpPr/>
          <p:nvPr/>
        </p:nvSpPr>
        <p:spPr>
          <a:xfrm>
            <a:off x="0" y="0"/>
            <a:ext cx="9144000" cy="3701700"/>
          </a:xfrm>
          <a:prstGeom prst="rect">
            <a:avLst/>
          </a:prstGeom>
          <a:solidFill>
            <a:schemeClr val="tx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le 7"/>
          <p:cNvSpPr>
            <a:spLocks noGrp="1"/>
          </p:cNvSpPr>
          <p:nvPr>
            <p:ph type="ctrTitle"/>
          </p:nvPr>
        </p:nvSpPr>
        <p:spPr>
          <a:xfrm>
            <a:off x="457200" y="2401887"/>
            <a:ext cx="8458200" cy="1470025"/>
          </a:xfrm>
        </p:spPr>
        <p:txBody>
          <a:bodyPr anchor="b"/>
          <a:lstStyle>
            <a:lvl1pPr>
              <a:defRPr sz="4400">
                <a:solidFill>
                  <a:schemeClr val="bg1"/>
                </a:solidFill>
              </a:defRPr>
            </a:lvl1pPr>
          </a:lstStyle>
          <a:p>
            <a:r>
              <a:rPr kumimoji="0" lang="en-US" smtClean="0"/>
              <a:t>Click to edit Master title style</a:t>
            </a:r>
            <a:endParaRPr kumimoji="0" lang="en-US"/>
          </a:p>
        </p:txBody>
      </p:sp>
      <p:sp>
        <p:nvSpPr>
          <p:cNvPr id="9" name="Subtitle 8"/>
          <p:cNvSpPr>
            <a:spLocks noGrp="1"/>
          </p:cNvSpPr>
          <p:nvPr>
            <p:ph type="subTitle" idx="1"/>
          </p:nvPr>
        </p:nvSpPr>
        <p:spPr>
          <a:xfrm>
            <a:off x="457200" y="3899938"/>
            <a:ext cx="4953000" cy="1752600"/>
          </a:xfrm>
        </p:spPr>
        <p:txBody>
          <a:bodyPr/>
          <a:lstStyle>
            <a:lvl1pPr marL="64008" indent="0" algn="l">
              <a:buNone/>
              <a:defRPr sz="24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Date Placeholder 27"/>
          <p:cNvSpPr>
            <a:spLocks noGrp="1"/>
          </p:cNvSpPr>
          <p:nvPr>
            <p:ph type="dt" sz="half" idx="10"/>
          </p:nvPr>
        </p:nvSpPr>
        <p:spPr>
          <a:xfrm>
            <a:off x="6705600" y="4206240"/>
            <a:ext cx="960120" cy="457200"/>
          </a:xfrm>
        </p:spPr>
        <p:txBody>
          <a:bodyPr/>
          <a:lstStyle/>
          <a:p>
            <a:fld id="{2FF5F708-E6FD-45D6-9217-DC19B15E29CF}" type="datetimeFigureOut">
              <a:rPr lang="en-IN" smtClean="0"/>
              <a:t>13-08-2024</a:t>
            </a:fld>
            <a:endParaRPr lang="en-IN"/>
          </a:p>
        </p:txBody>
      </p:sp>
      <p:sp>
        <p:nvSpPr>
          <p:cNvPr id="17" name="Footer Placeholder 16"/>
          <p:cNvSpPr>
            <a:spLocks noGrp="1"/>
          </p:cNvSpPr>
          <p:nvPr>
            <p:ph type="ftr" sz="quarter" idx="11"/>
          </p:nvPr>
        </p:nvSpPr>
        <p:spPr>
          <a:xfrm>
            <a:off x="5410200" y="4205288"/>
            <a:ext cx="1295400" cy="457200"/>
          </a:xfrm>
        </p:spPr>
        <p:txBody>
          <a:bodyPr/>
          <a:lstStyle/>
          <a:p>
            <a:endParaRPr lang="en-IN"/>
          </a:p>
        </p:txBody>
      </p:sp>
      <p:sp>
        <p:nvSpPr>
          <p:cNvPr id="29" name="Slide Number Placeholder 28"/>
          <p:cNvSpPr>
            <a:spLocks noGrp="1"/>
          </p:cNvSpPr>
          <p:nvPr>
            <p:ph type="sldNum" sz="quarter" idx="12"/>
          </p:nvPr>
        </p:nvSpPr>
        <p:spPr>
          <a:xfrm>
            <a:off x="8320088" y="1136"/>
            <a:ext cx="747712" cy="365760"/>
          </a:xfrm>
        </p:spPr>
        <p:txBody>
          <a:bodyPr/>
          <a:lstStyle>
            <a:lvl1pPr algn="r">
              <a:defRPr sz="1800">
                <a:solidFill>
                  <a:schemeClr val="bg1"/>
                </a:solidFill>
              </a:defRPr>
            </a:lvl1pPr>
          </a:lstStyle>
          <a:p>
            <a:fld id="{8E2AAB72-75EC-4EA6-96C0-A7C806862DFD}" type="slidenum">
              <a:rPr lang="en-IN" smtClean="0"/>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2FF5F708-E6FD-45D6-9217-DC19B15E29CF}" type="datetimeFigureOut">
              <a:rPr lang="en-IN" smtClean="0"/>
              <a:t>13-08-2024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E2AAB72-75EC-4EA6-96C0-A7C806862DFD}" type="slidenum">
              <a:rPr lang="en-IN" smtClean="0"/>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1981200"/>
            <a:ext cx="7772400" cy="1362075"/>
          </a:xfrm>
        </p:spPr>
        <p:txBody>
          <a:bodyPr anchor="b">
            <a:noAutofit/>
          </a:bodyPr>
          <a:lstStyle>
            <a:lvl1pPr algn="l">
              <a:buNone/>
              <a:defRPr sz="4300" b="1" cap="none" baseline="0">
                <a:ln w="12700">
                  <a:solidFill>
                    <a:schemeClr val="accent2">
                      <a:shade val="90000"/>
                      <a:satMod val="150000"/>
                    </a:schemeClr>
                  </a:solidFill>
                </a:ln>
                <a:solidFill>
                  <a:srgbClr val="FFFFFF"/>
                </a:solidFill>
                <a:effectLst>
                  <a:outerShdw blurRad="38100" dist="38100" dir="5400000" algn="tl" rotWithShape="0">
                    <a:srgbClr val="000000">
                      <a:alpha val="25000"/>
                    </a:srgbClr>
                  </a:outerShdw>
                </a:effectLst>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722313" y="3367088"/>
            <a:ext cx="7772400" cy="1509712"/>
          </a:xfrm>
        </p:spPr>
        <p:txBody>
          <a:bodyPr anchor="t"/>
          <a:lstStyle>
            <a:lvl1pPr marL="45720" indent="0">
              <a:buNone/>
              <a:defRPr sz="2100" b="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2FF5F708-E6FD-45D6-9217-DC19B15E29CF}" type="datetimeFigureOut">
              <a:rPr lang="en-IN" smtClean="0"/>
              <a:t>13-08-2024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E2AAB72-75EC-4EA6-96C0-A7C806862DFD}" type="slidenum">
              <a:rPr lang="en-IN" smtClean="0"/>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2249424"/>
            <a:ext cx="4038600" cy="4525963"/>
          </a:xfrm>
        </p:spPr>
        <p:txBody>
          <a:bodyPr/>
          <a:lstStyle>
            <a:lvl1pPr>
              <a:defRPr sz="2000"/>
            </a:lvl1pPr>
            <a:lvl2pPr>
              <a:defRPr sz="1900"/>
            </a:lvl2pPr>
            <a:lvl3pPr>
              <a:defRPr sz="18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2249424"/>
            <a:ext cx="4038600" cy="4525963"/>
          </a:xfrm>
        </p:spPr>
        <p:txBody>
          <a:bodyPr/>
          <a:lstStyle>
            <a:lvl1pPr>
              <a:defRPr sz="2000"/>
            </a:lvl1pPr>
            <a:lvl2pPr>
              <a:defRPr sz="1900"/>
            </a:lvl2pPr>
            <a:lvl3pPr>
              <a:defRPr sz="18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2FF5F708-E6FD-45D6-9217-DC19B15E29CF}" type="datetimeFigureOut">
              <a:rPr lang="en-IN" smtClean="0"/>
              <a:t>13-08-2024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E2AAB72-75EC-4EA6-96C0-A7C806862DFD}" type="slidenum">
              <a:rPr lang="en-IN" smtClean="0"/>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381000" y="1143000"/>
            <a:ext cx="8382000" cy="1069848"/>
          </a:xfrm>
        </p:spPr>
        <p:txBody>
          <a:bodyPr anchor="ctr"/>
          <a:lstStyle>
            <a:lvl1pPr>
              <a:defRPr sz="4000" b="0" i="0" cap="none" baseline="0"/>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381000" y="2244970"/>
            <a:ext cx="4041648" cy="457200"/>
          </a:xfrm>
          <a:solidFill>
            <a:schemeClr val="accent2">
              <a:satMod val="150000"/>
              <a:alpha val="25000"/>
            </a:schemeClr>
          </a:solidFill>
          <a:ln w="12700">
            <a:solidFill>
              <a:schemeClr val="accent2"/>
            </a:solidFill>
          </a:ln>
        </p:spPr>
        <p:txBody>
          <a:bodyPr anchor="ctr">
            <a:noAutofit/>
          </a:bodyPr>
          <a:lstStyle>
            <a:lvl1pPr marL="45720" indent="0">
              <a:buNone/>
              <a:defRPr sz="1900" b="1">
                <a:solidFill>
                  <a:schemeClr val="tx1">
                    <a:tint val="95000"/>
                  </a:schemeClr>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721225" y="2244970"/>
            <a:ext cx="4041775" cy="457200"/>
          </a:xfrm>
          <a:solidFill>
            <a:schemeClr val="accent2">
              <a:satMod val="150000"/>
              <a:alpha val="25000"/>
            </a:schemeClr>
          </a:solidFill>
          <a:ln w="12700">
            <a:solidFill>
              <a:schemeClr val="accent2"/>
            </a:solidFill>
          </a:ln>
        </p:spPr>
        <p:txBody>
          <a:bodyPr anchor="ctr">
            <a:noAutofit/>
          </a:bodyPr>
          <a:lstStyle>
            <a:lvl1pPr marL="45720" indent="0">
              <a:buNone/>
              <a:defRPr sz="1900" b="1">
                <a:solidFill>
                  <a:schemeClr val="tx1">
                    <a:tint val="95000"/>
                  </a:schemeClr>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381000" y="2708519"/>
            <a:ext cx="4041648" cy="3886200"/>
          </a:xfrm>
        </p:spPr>
        <p:txBody>
          <a:bodyPr/>
          <a:lstStyle>
            <a:lvl1pPr>
              <a:defRPr sz="20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718304" y="2708519"/>
            <a:ext cx="4041775" cy="3886200"/>
          </a:xfrm>
        </p:spPr>
        <p:txBody>
          <a:bodyPr/>
          <a:lstStyle>
            <a:lvl1pPr>
              <a:defRPr sz="20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26" name="Date Placeholder 25"/>
          <p:cNvSpPr>
            <a:spLocks noGrp="1"/>
          </p:cNvSpPr>
          <p:nvPr>
            <p:ph type="dt" sz="half" idx="10"/>
          </p:nvPr>
        </p:nvSpPr>
        <p:spPr/>
        <p:txBody>
          <a:bodyPr rtlCol="0"/>
          <a:lstStyle/>
          <a:p>
            <a:fld id="{2FF5F708-E6FD-45D6-9217-DC19B15E29CF}" type="datetimeFigureOut">
              <a:rPr lang="en-IN" smtClean="0"/>
              <a:t>13-08-2024</a:t>
            </a:fld>
            <a:endParaRPr lang="en-IN"/>
          </a:p>
        </p:txBody>
      </p:sp>
      <p:sp>
        <p:nvSpPr>
          <p:cNvPr id="27" name="Slide Number Placeholder 26"/>
          <p:cNvSpPr>
            <a:spLocks noGrp="1"/>
          </p:cNvSpPr>
          <p:nvPr>
            <p:ph type="sldNum" sz="quarter" idx="11"/>
          </p:nvPr>
        </p:nvSpPr>
        <p:spPr/>
        <p:txBody>
          <a:bodyPr rtlCol="0"/>
          <a:lstStyle/>
          <a:p>
            <a:fld id="{8E2AAB72-75EC-4EA6-96C0-A7C806862DFD}" type="slidenum">
              <a:rPr lang="en-IN" smtClean="0"/>
              <a:t>‹#›</a:t>
            </a:fld>
            <a:endParaRPr lang="en-IN"/>
          </a:p>
        </p:txBody>
      </p:sp>
      <p:sp>
        <p:nvSpPr>
          <p:cNvPr id="28" name="Footer Placeholder 27"/>
          <p:cNvSpPr>
            <a:spLocks noGrp="1"/>
          </p:cNvSpPr>
          <p:nvPr>
            <p:ph type="ftr" sz="quarter" idx="12"/>
          </p:nvPr>
        </p:nvSpPr>
        <p:spPr/>
        <p:txBody>
          <a:bodyPr rtlCol="0"/>
          <a:lstStyle/>
          <a:p>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43000"/>
            <a:ext cx="8229600" cy="1069848"/>
          </a:xfrm>
        </p:spPr>
        <p:txBody>
          <a:bodyPr anchor="ctr"/>
          <a:lstStyle>
            <a:lvl1pPr>
              <a:defRPr sz="4000">
                <a:solidFill>
                  <a:schemeClr val="tx2"/>
                </a:solidFill>
              </a:defRPr>
            </a:lvl1pPr>
          </a:lstStyle>
          <a:p>
            <a:r>
              <a:rPr kumimoji="0" lang="en-US" smtClean="0"/>
              <a:t>Click to edit Master title style</a:t>
            </a:r>
            <a:endParaRPr kumimoji="0" lang="en-US"/>
          </a:p>
        </p:txBody>
      </p:sp>
      <p:sp>
        <p:nvSpPr>
          <p:cNvPr id="3" name="Date Placeholder 2"/>
          <p:cNvSpPr>
            <a:spLocks noGrp="1"/>
          </p:cNvSpPr>
          <p:nvPr>
            <p:ph type="dt" sz="half" idx="10"/>
          </p:nvPr>
        </p:nvSpPr>
        <p:spPr>
          <a:xfrm>
            <a:off x="6583680" y="612648"/>
            <a:ext cx="957264" cy="457200"/>
          </a:xfrm>
        </p:spPr>
        <p:txBody>
          <a:bodyPr/>
          <a:lstStyle/>
          <a:p>
            <a:fld id="{2FF5F708-E6FD-45D6-9217-DC19B15E29CF}" type="datetimeFigureOut">
              <a:rPr lang="en-IN" smtClean="0"/>
              <a:t>13-08-2024</a:t>
            </a:fld>
            <a:endParaRPr lang="en-IN"/>
          </a:p>
        </p:txBody>
      </p:sp>
      <p:sp>
        <p:nvSpPr>
          <p:cNvPr id="4" name="Footer Placeholder 3"/>
          <p:cNvSpPr>
            <a:spLocks noGrp="1"/>
          </p:cNvSpPr>
          <p:nvPr>
            <p:ph type="ftr" sz="quarter" idx="11"/>
          </p:nvPr>
        </p:nvSpPr>
        <p:spPr>
          <a:xfrm>
            <a:off x="5257800" y="612648"/>
            <a:ext cx="1325880" cy="457200"/>
          </a:xfrm>
        </p:spPr>
        <p:txBody>
          <a:bodyPr/>
          <a:lstStyle/>
          <a:p>
            <a:endParaRPr lang="en-IN"/>
          </a:p>
        </p:txBody>
      </p:sp>
      <p:sp>
        <p:nvSpPr>
          <p:cNvPr id="5" name="Slide Number Placeholder 4"/>
          <p:cNvSpPr>
            <a:spLocks noGrp="1"/>
          </p:cNvSpPr>
          <p:nvPr>
            <p:ph type="sldNum" sz="quarter" idx="12"/>
          </p:nvPr>
        </p:nvSpPr>
        <p:spPr>
          <a:xfrm>
            <a:off x="8174736" y="2272"/>
            <a:ext cx="762000" cy="365760"/>
          </a:xfrm>
        </p:spPr>
        <p:txBody>
          <a:bodyPr/>
          <a:lstStyle/>
          <a:p>
            <a:fld id="{8E2AAB72-75EC-4EA6-96C0-A7C806862DFD}" type="slidenum">
              <a:rPr lang="en-IN" smtClean="0"/>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FF5F708-E6FD-45D6-9217-DC19B15E29CF}" type="datetimeFigureOut">
              <a:rPr lang="en-IN" smtClean="0"/>
              <a:t>13-08-2024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8E2AAB72-75EC-4EA6-96C0-A7C806862DFD}" type="slidenum">
              <a:rPr lang="en-IN" smtClean="0"/>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353496" y="1101970"/>
            <a:ext cx="3383280" cy="877824"/>
          </a:xfrm>
        </p:spPr>
        <p:txBody>
          <a:bodyPr anchor="b"/>
          <a:lstStyle>
            <a:lvl1pPr algn="l">
              <a:buNone/>
              <a:defRPr sz="1800" b="1"/>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5353496" y="2010727"/>
            <a:ext cx="3383280" cy="4617720"/>
          </a:xfrm>
        </p:spPr>
        <p:txBody>
          <a:bodyPr/>
          <a:lstStyle>
            <a:lvl1pPr marL="9144" indent="0">
              <a:buNone/>
              <a:defRPr sz="14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152400" y="776287"/>
            <a:ext cx="5102352" cy="5852160"/>
          </a:xfrm>
        </p:spPr>
        <p:txBody>
          <a:bodyPr/>
          <a:lstStyle>
            <a:lvl1pPr>
              <a:defRPr sz="3200"/>
            </a:lvl1pPr>
            <a:lvl2pPr>
              <a:defRPr sz="2800"/>
            </a:lvl2pPr>
            <a:lvl3pPr>
              <a:defRPr sz="2400"/>
            </a:lvl3pPr>
            <a:lvl4pPr>
              <a:defRPr sz="2000"/>
            </a:lvl4pPr>
            <a:lvl5pPr>
              <a:defRPr sz="20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2FF5F708-E6FD-45D6-9217-DC19B15E29CF}" type="datetimeFigureOut">
              <a:rPr lang="en-IN" smtClean="0"/>
              <a:t>13-08-2024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E2AAB72-75EC-4EA6-96C0-A7C806862DFD}" type="slidenum">
              <a:rPr lang="en-IN" smtClean="0"/>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440434" y="1109160"/>
            <a:ext cx="586803" cy="4681637"/>
          </a:xfrm>
        </p:spPr>
        <p:txBody>
          <a:bodyPr vert="vert270" lIns="45720" tIns="0" rIns="45720" anchor="t"/>
          <a:lstStyle>
            <a:lvl1pPr algn="ctr">
              <a:buNone/>
              <a:defRPr sz="2000" b="1"/>
            </a:lvl1pPr>
          </a:lstStyle>
          <a:p>
            <a:r>
              <a:rPr kumimoji="0" lang="en-US" smtClean="0"/>
              <a:t>Click to edit Master title style</a:t>
            </a:r>
            <a:endParaRPr kumimoji="0" lang="en-US"/>
          </a:p>
        </p:txBody>
      </p:sp>
      <p:sp>
        <p:nvSpPr>
          <p:cNvPr id="3" name="Picture Placeholder 2"/>
          <p:cNvSpPr>
            <a:spLocks noGrp="1"/>
          </p:cNvSpPr>
          <p:nvPr>
            <p:ph type="pic" idx="1"/>
          </p:nvPr>
        </p:nvSpPr>
        <p:spPr>
          <a:xfrm>
            <a:off x="403671" y="1143000"/>
            <a:ext cx="4572000" cy="4572000"/>
          </a:xfrm>
          <a:solidFill>
            <a:srgbClr val="EAEAEA"/>
          </a:solidFill>
          <a:ln w="50800">
            <a:solidFill>
              <a:srgbClr val="FFFFFF"/>
            </a:solidFill>
            <a:miter lim="800000"/>
          </a:ln>
          <a:effectLst>
            <a:outerShdw blurRad="57150" dist="31750" dir="4800000" algn="tl" rotWithShape="0">
              <a:srgbClr val="000000">
                <a:alpha val="25000"/>
              </a:srgbClr>
            </a:outerShdw>
          </a:effectLst>
          <a:scene3d>
            <a:camera prst="orthographicFront"/>
            <a:lightRig rig="twoPt" dir="t">
              <a:rot lat="0" lon="0" rev="7200000"/>
            </a:lightRig>
          </a:scene3d>
          <a:sp3d contourW="2540">
            <a:bevelT w="25400" h="19050"/>
            <a:contourClr>
              <a:srgbClr val="AEAEAE"/>
            </a:contourClr>
          </a:sp3d>
        </p:spPr>
        <p:txBody>
          <a:bodyPr/>
          <a:lstStyle>
            <a:lvl1pPr marL="0" indent="0">
              <a:buNone/>
              <a:defRPr sz="3200"/>
            </a:lvl1pPr>
          </a:lstStyle>
          <a:p>
            <a:r>
              <a:rPr kumimoji="0" lang="en-US" smtClean="0"/>
              <a:t>Click icon to add picture</a:t>
            </a:r>
            <a:endParaRPr kumimoji="0" lang="en-US" dirty="0"/>
          </a:p>
        </p:txBody>
      </p:sp>
      <p:sp>
        <p:nvSpPr>
          <p:cNvPr id="4" name="Text Placeholder 3"/>
          <p:cNvSpPr>
            <a:spLocks noGrp="1"/>
          </p:cNvSpPr>
          <p:nvPr>
            <p:ph type="body" sz="half" idx="2"/>
          </p:nvPr>
        </p:nvSpPr>
        <p:spPr>
          <a:xfrm>
            <a:off x="6088443" y="3274308"/>
            <a:ext cx="2590800" cy="2516489"/>
          </a:xfrm>
        </p:spPr>
        <p:txBody>
          <a:bodyPr lIns="0" tIns="0" rIns="45720" anchor="t"/>
          <a:lstStyle>
            <a:lvl1pPr marL="0" indent="0">
              <a:lnSpc>
                <a:spcPct val="100000"/>
              </a:lnSpc>
              <a:spcBef>
                <a:spcPts val="0"/>
              </a:spcBef>
              <a:buFontTx/>
              <a:buNone/>
              <a:defRPr sz="13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2FF5F708-E6FD-45D6-9217-DC19B15E29CF}" type="datetimeFigureOut">
              <a:rPr lang="en-IN" smtClean="0"/>
              <a:t>13-08-2024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E2AAB72-75EC-4EA6-96C0-A7C806862DFD}" type="slidenum">
              <a:rPr lang="en-IN" smtClean="0"/>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2FF5F708-E6FD-45D6-9217-DC19B15E29CF}" type="datetimeFigureOut">
              <a:rPr lang="en-IN" smtClean="0"/>
              <a:t>13-08-2024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E2AAB72-75EC-4EA6-96C0-A7C806862DFD}" type="slidenum">
              <a:rPr lang="en-IN" smtClean="0"/>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81800" y="1143000"/>
            <a:ext cx="1905000" cy="5486400"/>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1143000"/>
            <a:ext cx="6248400" cy="5486400"/>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2FF5F708-E6FD-45D6-9217-DC19B15E29CF}" type="datetimeFigureOut">
              <a:rPr lang="en-IN" smtClean="0"/>
              <a:t>13-08-2024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E2AAB72-75EC-4EA6-96C0-A7C806862DFD}" type="slidenum">
              <a:rPr lang="en-IN" smtClean="0"/>
              <a:t>‹#›</a:t>
            </a:fld>
            <a:endParaRPr lang="en-I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ight Triangle 9"/>
          <p:cNvSpPr/>
          <p:nvPr/>
        </p:nvSpPr>
        <p:spPr>
          <a:xfrm>
            <a:off x="-2" y="4664147"/>
            <a:ext cx="9151089"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9" name="Title 8"/>
          <p:cNvSpPr>
            <a:spLocks noGrp="1"/>
          </p:cNvSpPr>
          <p:nvPr>
            <p:ph type="ctrTitle"/>
          </p:nvPr>
        </p:nvSpPr>
        <p:spPr>
          <a:xfrm>
            <a:off x="685800" y="1752601"/>
            <a:ext cx="7772400" cy="1829761"/>
          </a:xfrm>
        </p:spPr>
        <p:txBody>
          <a:bodyPr vert="horz" anchor="b">
            <a:normAutofit/>
            <a:scene3d>
              <a:camera prst="orthographicFront"/>
              <a:lightRig rig="soft" dir="t"/>
            </a:scene3d>
            <a:sp3d prstMaterial="softEdge">
              <a:bevelT w="25400" h="25400"/>
            </a:sp3d>
          </a:bodyPr>
          <a:lstStyle>
            <a:lvl1pPr algn="r">
              <a:defRPr sz="4800" b="1">
                <a:solidFill>
                  <a:schemeClr val="tx2"/>
                </a:solidFill>
                <a:effectLst>
                  <a:outerShdw blurRad="31750" dist="25400" dir="5400000" algn="tl" rotWithShape="0">
                    <a:srgbClr val="000000">
                      <a:alpha val="25000"/>
                    </a:srgbClr>
                  </a:outerShdw>
                </a:effectLst>
              </a:defRPr>
            </a:lvl1pPr>
            <a:extLst/>
          </a:lstStyle>
          <a:p>
            <a:r>
              <a:rPr kumimoji="0" lang="en-US" smtClean="0"/>
              <a:t>Click to edit Master title style</a:t>
            </a:r>
            <a:endParaRPr kumimoji="0" lang="en-US"/>
          </a:p>
        </p:txBody>
      </p:sp>
      <p:sp>
        <p:nvSpPr>
          <p:cNvPr id="17" name="Subtitle 16"/>
          <p:cNvSpPr>
            <a:spLocks noGrp="1"/>
          </p:cNvSpPr>
          <p:nvPr>
            <p:ph type="subTitle" idx="1"/>
          </p:nvPr>
        </p:nvSpPr>
        <p:spPr>
          <a:xfrm>
            <a:off x="685800" y="3611607"/>
            <a:ext cx="7772400" cy="1199704"/>
          </a:xfrm>
        </p:spPr>
        <p:txBody>
          <a:bodyPr lIns="45720" rIns="45720"/>
          <a:lstStyle>
            <a:lvl1pPr marL="0" marR="64008" indent="0" algn="r">
              <a:buNone/>
              <a:defRPr>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smtClean="0"/>
              <a:t>Click to edit Master subtitle style</a:t>
            </a:r>
            <a:endParaRPr kumimoji="0" lang="en-US"/>
          </a:p>
        </p:txBody>
      </p:sp>
      <p:grpSp>
        <p:nvGrpSpPr>
          <p:cNvPr id="2" name="Group 1"/>
          <p:cNvGrpSpPr/>
          <p:nvPr/>
        </p:nvGrpSpPr>
        <p:grpSpPr>
          <a:xfrm>
            <a:off x="-3765" y="4953000"/>
            <a:ext cx="9147765" cy="1912088"/>
            <a:chOff x="-3765" y="4832896"/>
            <a:chExt cx="9147765" cy="2032192"/>
          </a:xfrm>
        </p:grpSpPr>
        <p:sp>
          <p:nvSpPr>
            <p:cNvPr id="7" name="Freeform 6"/>
            <p:cNvSpPr>
              <a:spLocks/>
            </p:cNvSpPr>
            <p:nvPr/>
          </p:nvSpPr>
          <p:spPr bwMode="auto">
            <a:xfrm>
              <a:off x="1687513" y="4832896"/>
              <a:ext cx="7456487" cy="518816"/>
            </a:xfrm>
            <a:custGeom>
              <a:avLst>
                <a:gd name="A1" fmla="val 0"/>
                <a:gd name="A2" fmla="val 0"/>
                <a:gd name="A3" fmla="val 0"/>
                <a:gd name="A4" fmla="val 0"/>
                <a:gd name="A5" fmla="val 0"/>
                <a:gd name="A6" fmla="val 0"/>
                <a:gd name="A7" fmla="val 0"/>
                <a:gd name="A8" fmla="val 0"/>
              </a:avLst>
              <a:gdLst/>
              <a:ahLst/>
              <a:cxnLst>
                <a:cxn ang="0">
                  <a:pos x="4697" y="0"/>
                </a:cxn>
                <a:cxn ang="0">
                  <a:pos x="4697" y="367"/>
                </a:cxn>
                <a:cxn ang="0">
                  <a:pos x="0" y="218"/>
                </a:cxn>
                <a:cxn ang="0">
                  <a:pos x="4697" y="0"/>
                </a:cxn>
              </a:cxnLst>
              <a:rect l="0" t="0" r="0" b="0"/>
              <a:pathLst>
                <a:path w="4697" h="367">
                  <a:moveTo>
                    <a:pt x="4697" y="0"/>
                  </a:moveTo>
                  <a:lnTo>
                    <a:pt x="4697" y="367"/>
                  </a:lnTo>
                  <a:lnTo>
                    <a:pt x="0" y="218"/>
                  </a:lnTo>
                  <a:lnTo>
                    <a:pt x="4697" y="0"/>
                  </a:lnTo>
                  <a:close/>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8" name="Freeform 7"/>
            <p:cNvSpPr>
              <a:spLocks/>
            </p:cNvSpPr>
            <p:nvPr/>
          </p:nvSpPr>
          <p:spPr bwMode="auto">
            <a:xfrm>
              <a:off x="35443" y="5135526"/>
              <a:ext cx="9108557"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0" y="0"/>
                  </a:moveTo>
                  <a:lnTo>
                    <a:pt x="5760" y="0"/>
                  </a:lnTo>
                  <a:lnTo>
                    <a:pt x="5760" y="528"/>
                  </a:lnTo>
                  <a:lnTo>
                    <a:pt x="48" y="0"/>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1" name="Freeform 10"/>
            <p:cNvSpPr>
              <a:spLocks/>
            </p:cNvSpPr>
            <p:nvPr/>
          </p:nvSpPr>
          <p:spPr bwMode="auto">
            <a:xfrm>
              <a:off x="0" y="4883888"/>
              <a:ext cx="9144000" cy="1981200"/>
            </a:xfrm>
            <a:custGeom>
              <a:avLst>
                <a:gd name="A1" fmla="val 0"/>
                <a:gd name="A2" fmla="val 0"/>
                <a:gd name="A3" fmla="val 0"/>
                <a:gd name="A4" fmla="val 0"/>
                <a:gd name="A5" fmla="val 0"/>
                <a:gd name="A6" fmla="val 0"/>
                <a:gd name="A7" fmla="val 0"/>
                <a:gd name="A8" fmla="val 0"/>
              </a:avLst>
              <a:gdLst/>
              <a:ahLst/>
              <a:cxnLst>
                <a:cxn ang="0">
                  <a:pos x="0" y="0"/>
                </a:cxn>
                <a:cxn ang="0">
                  <a:pos x="0" y="1248"/>
                </a:cxn>
                <a:cxn ang="0">
                  <a:pos x="5760" y="1248"/>
                </a:cxn>
                <a:cxn ang="0">
                  <a:pos x="5760" y="528"/>
                </a:cxn>
                <a:cxn ang="0">
                  <a:pos x="0" y="0"/>
                </a:cxn>
              </a:cxnLst>
              <a:rect l="0" t="0" r="0" b="0"/>
              <a:pathLst>
                <a:path w="5760" h="1248">
                  <a:moveTo>
                    <a:pt x="0" y="0"/>
                  </a:moveTo>
                  <a:lnTo>
                    <a:pt x="0" y="1248"/>
                  </a:lnTo>
                  <a:lnTo>
                    <a:pt x="5760" y="1248"/>
                  </a:lnTo>
                  <a:lnTo>
                    <a:pt x="5760" y="528"/>
                  </a:lnTo>
                  <a:lnTo>
                    <a:pt x="0" y="0"/>
                  </a:lnTo>
                  <a:close/>
                </a:path>
              </a:pathLst>
            </a:cu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extLst/>
            </a:lstStyle>
            <a:p>
              <a:pPr algn="ctr" eaLnBrk="1" latinLnBrk="0" hangingPunct="1"/>
              <a:endParaRPr kumimoji="0" lang="en-US"/>
            </a:p>
          </p:txBody>
        </p:sp>
        <p:cxnSp>
          <p:nvCxnSpPr>
            <p:cNvPr id="12" name="Straight Connector 11"/>
            <p:cNvCxnSpPr/>
            <p:nvPr/>
          </p:nvCxnSpPr>
          <p:spPr>
            <a:xfrm>
              <a:off x="-3765" y="4880373"/>
              <a:ext cx="9147765" cy="83994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grpSp>
      <p:sp>
        <p:nvSpPr>
          <p:cNvPr id="30" name="Date Placeholder 29"/>
          <p:cNvSpPr>
            <a:spLocks noGrp="1"/>
          </p:cNvSpPr>
          <p:nvPr>
            <p:ph type="dt" sz="half" idx="10"/>
          </p:nvPr>
        </p:nvSpPr>
        <p:spPr/>
        <p:txBody>
          <a:bodyPr/>
          <a:lstStyle>
            <a:lvl1pPr>
              <a:defRPr>
                <a:solidFill>
                  <a:srgbClr val="FFFFFF"/>
                </a:solidFill>
              </a:defRPr>
            </a:lvl1pPr>
            <a:extLst/>
          </a:lstStyle>
          <a:p>
            <a:fld id="{2FF5F708-E6FD-45D6-9217-DC19B15E29CF}" type="datetimeFigureOut">
              <a:rPr lang="en-IN" smtClean="0"/>
              <a:t>13-08-2024</a:t>
            </a:fld>
            <a:endParaRPr lang="en-IN"/>
          </a:p>
        </p:txBody>
      </p:sp>
      <p:sp>
        <p:nvSpPr>
          <p:cNvPr id="19" name="Footer Placeholder 18"/>
          <p:cNvSpPr>
            <a:spLocks noGrp="1"/>
          </p:cNvSpPr>
          <p:nvPr>
            <p:ph type="ftr" sz="quarter" idx="11"/>
          </p:nvPr>
        </p:nvSpPr>
        <p:spPr/>
        <p:txBody>
          <a:bodyPr/>
          <a:lstStyle>
            <a:lvl1pPr>
              <a:defRPr>
                <a:solidFill>
                  <a:schemeClr val="accent1">
                    <a:tint val="20000"/>
                  </a:schemeClr>
                </a:solidFill>
              </a:defRPr>
            </a:lvl1pPr>
            <a:extLst/>
          </a:lstStyle>
          <a:p>
            <a:endParaRPr lang="en-IN"/>
          </a:p>
        </p:txBody>
      </p:sp>
      <p:sp>
        <p:nvSpPr>
          <p:cNvPr id="27" name="Slide Number Placeholder 26"/>
          <p:cNvSpPr>
            <a:spLocks noGrp="1"/>
          </p:cNvSpPr>
          <p:nvPr>
            <p:ph type="sldNum" sz="quarter" idx="12"/>
          </p:nvPr>
        </p:nvSpPr>
        <p:spPr/>
        <p:txBody>
          <a:bodyPr/>
          <a:lstStyle>
            <a:lvl1pPr>
              <a:defRPr>
                <a:solidFill>
                  <a:srgbClr val="FFFFFF"/>
                </a:solidFill>
              </a:defRPr>
            </a:lvl1pPr>
            <a:extLst/>
          </a:lstStyle>
          <a:p>
            <a:fld id="{8E2AAB72-75EC-4EA6-96C0-A7C806862DFD}" type="slidenum">
              <a:rPr lang="en-IN" smtClean="0"/>
              <a:t>‹#›</a:t>
            </a:fld>
            <a:endParaRPr lang="en-IN"/>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2FF5F708-E6FD-45D6-9217-DC19B15E29CF}" type="datetimeFigureOut">
              <a:rPr lang="en-IN" smtClean="0"/>
              <a:t>13-08-2024</a:t>
            </a:fld>
            <a:endParaRPr lang="en-IN"/>
          </a:p>
        </p:txBody>
      </p:sp>
      <p:sp>
        <p:nvSpPr>
          <p:cNvPr id="5" name="Footer Placeholder 4"/>
          <p:cNvSpPr>
            <a:spLocks noGrp="1"/>
          </p:cNvSpPr>
          <p:nvPr>
            <p:ph type="ftr" sz="quarter" idx="11"/>
          </p:nvPr>
        </p:nvSpPr>
        <p:spPr/>
        <p:txBody>
          <a:bodyPr/>
          <a:lstStyle>
            <a:extLst/>
          </a:lstStyle>
          <a:p>
            <a:endParaRPr lang="en-IN"/>
          </a:p>
        </p:txBody>
      </p:sp>
      <p:sp>
        <p:nvSpPr>
          <p:cNvPr id="6" name="Slide Number Placeholder 5"/>
          <p:cNvSpPr>
            <a:spLocks noGrp="1"/>
          </p:cNvSpPr>
          <p:nvPr>
            <p:ph type="sldNum" sz="quarter" idx="12"/>
          </p:nvPr>
        </p:nvSpPr>
        <p:spPr/>
        <p:txBody>
          <a:bodyPr/>
          <a:lstStyle>
            <a:extLst/>
          </a:lstStyle>
          <a:p>
            <a:fld id="{8E2AAB72-75EC-4EA6-96C0-A7C806862DFD}" type="slidenum">
              <a:rPr lang="en-IN" smtClean="0"/>
              <a:t>‹#›</a:t>
            </a:fld>
            <a:endParaRPr lang="en-IN"/>
          </a:p>
        </p:txBody>
      </p:sp>
      <p:sp>
        <p:nvSpPr>
          <p:cNvPr id="7" name="Title 6"/>
          <p:cNvSpPr>
            <a:spLocks noGrp="1"/>
          </p:cNvSpPr>
          <p:nvPr>
            <p:ph type="title"/>
          </p:nvPr>
        </p:nvSpPr>
        <p:spPr/>
        <p:txBody>
          <a:bodyPr rtlCol="0"/>
          <a:lstStyle>
            <a:extLst/>
          </a:lstStyle>
          <a:p>
            <a:r>
              <a:rPr kumimoji="0" lang="en-US" smtClean="0"/>
              <a:t>Click to edit Master title style</a:t>
            </a:r>
            <a:endParaRPr kumimoji="0"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22376" y="1059712"/>
            <a:ext cx="7772400" cy="1828800"/>
          </a:xfrm>
        </p:spPr>
        <p:txBody>
          <a:bodyPr vert="horz" anchor="b">
            <a:normAutofit/>
            <a:scene3d>
              <a:camera prst="orthographicFront"/>
              <a:lightRig rig="soft" dir="t"/>
            </a:scene3d>
            <a:sp3d prstMaterial="softEdge">
              <a:bevelT w="25400" h="25400"/>
            </a:sp3d>
          </a:bodyPr>
          <a:lstStyle>
            <a:lvl1pPr algn="r">
              <a:buNone/>
              <a:defRPr sz="4800" b="1" cap="none" baseline="0">
                <a:effectLst>
                  <a:outerShdw blurRad="31750" dist="25400" dir="5400000" algn="tl" rotWithShape="0">
                    <a:srgbClr val="000000">
                      <a:alpha val="25000"/>
                    </a:srgbClr>
                  </a:outerShdw>
                </a:effectLst>
              </a:defRPr>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3922713" y="2931712"/>
            <a:ext cx="4572000" cy="1454888"/>
          </a:xfrm>
        </p:spPr>
        <p:txBody>
          <a:bodyPr lIns="91440" rIns="91440" anchor="t"/>
          <a:lstStyle>
            <a:lvl1pPr marL="0" indent="0" algn="l">
              <a:buNone/>
              <a:defRPr sz="23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extLst/>
          </a:lstStyle>
          <a:p>
            <a:fld id="{2FF5F708-E6FD-45D6-9217-DC19B15E29CF}" type="datetimeFigureOut">
              <a:rPr lang="en-IN" smtClean="0"/>
              <a:t>13-08-2024</a:t>
            </a:fld>
            <a:endParaRPr lang="en-IN"/>
          </a:p>
        </p:txBody>
      </p:sp>
      <p:sp>
        <p:nvSpPr>
          <p:cNvPr id="5" name="Footer Placeholder 4"/>
          <p:cNvSpPr>
            <a:spLocks noGrp="1"/>
          </p:cNvSpPr>
          <p:nvPr>
            <p:ph type="ftr" sz="quarter" idx="11"/>
          </p:nvPr>
        </p:nvSpPr>
        <p:spPr/>
        <p:txBody>
          <a:bodyPr/>
          <a:lstStyle>
            <a:extLst/>
          </a:lstStyle>
          <a:p>
            <a:endParaRPr lang="en-IN"/>
          </a:p>
        </p:txBody>
      </p:sp>
      <p:sp>
        <p:nvSpPr>
          <p:cNvPr id="6" name="Slide Number Placeholder 5"/>
          <p:cNvSpPr>
            <a:spLocks noGrp="1"/>
          </p:cNvSpPr>
          <p:nvPr>
            <p:ph type="sldNum" sz="quarter" idx="12"/>
          </p:nvPr>
        </p:nvSpPr>
        <p:spPr/>
        <p:txBody>
          <a:bodyPr/>
          <a:lstStyle>
            <a:extLst/>
          </a:lstStyle>
          <a:p>
            <a:fld id="{8E2AAB72-75EC-4EA6-96C0-A7C806862DFD}" type="slidenum">
              <a:rPr lang="en-IN" smtClean="0"/>
              <a:t>‹#›</a:t>
            </a:fld>
            <a:endParaRPr lang="en-IN"/>
          </a:p>
        </p:txBody>
      </p:sp>
      <p:sp>
        <p:nvSpPr>
          <p:cNvPr id="7" name="Chevron 6"/>
          <p:cNvSpPr/>
          <p:nvPr/>
        </p:nvSpPr>
        <p:spPr>
          <a:xfrm>
            <a:off x="3636680"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
        <p:nvSpPr>
          <p:cNvPr id="8" name="Chevron 7"/>
          <p:cNvSpPr/>
          <p:nvPr/>
        </p:nvSpPr>
        <p:spPr>
          <a:xfrm>
            <a:off x="3450264"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bg>
      <p:bgRef idx="1002">
        <a:schemeClr val="bg1"/>
      </p:bgRef>
    </p:bg>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fld id="{2FF5F708-E6FD-45D6-9217-DC19B15E29CF}" type="datetimeFigureOut">
              <a:rPr lang="en-IN" smtClean="0"/>
              <a:t>13-08-2024</a:t>
            </a:fld>
            <a:endParaRPr lang="en-IN"/>
          </a:p>
        </p:txBody>
      </p:sp>
      <p:sp>
        <p:nvSpPr>
          <p:cNvPr id="6" name="Footer Placeholder 5"/>
          <p:cNvSpPr>
            <a:spLocks noGrp="1"/>
          </p:cNvSpPr>
          <p:nvPr>
            <p:ph type="ftr" sz="quarter" idx="11"/>
          </p:nvPr>
        </p:nvSpPr>
        <p:spPr/>
        <p:txBody>
          <a:bodyPr/>
          <a:lstStyle>
            <a:extLst/>
          </a:lstStyle>
          <a:p>
            <a:endParaRPr lang="en-IN"/>
          </a:p>
        </p:txBody>
      </p:sp>
      <p:sp>
        <p:nvSpPr>
          <p:cNvPr id="7" name="Slide Number Placeholder 6"/>
          <p:cNvSpPr>
            <a:spLocks noGrp="1"/>
          </p:cNvSpPr>
          <p:nvPr>
            <p:ph type="sldNum" sz="quarter" idx="12"/>
          </p:nvPr>
        </p:nvSpPr>
        <p:spPr/>
        <p:txBody>
          <a:bodyPr/>
          <a:lstStyle>
            <a:extLst/>
          </a:lstStyle>
          <a:p>
            <a:fld id="{8E2AAB72-75EC-4EA6-96C0-A7C806862DFD}" type="slidenum">
              <a:rPr lang="en-IN" smtClean="0"/>
              <a:t>‹#›</a:t>
            </a:fld>
            <a:endParaRPr lang="en-IN"/>
          </a:p>
        </p:txBody>
      </p:sp>
      <p:sp>
        <p:nvSpPr>
          <p:cNvPr id="8" name="Title 7"/>
          <p:cNvSpPr>
            <a:spLocks noGrp="1"/>
          </p:cNvSpPr>
          <p:nvPr>
            <p:ph type="title"/>
          </p:nvPr>
        </p:nvSpPr>
        <p:spPr/>
        <p:txBody>
          <a:bodyPr rtlCol="0"/>
          <a:lstStyle>
            <a:extLst/>
          </a:lstStyle>
          <a:p>
            <a:r>
              <a:rPr kumimoji="0" lang="en-US" smtClean="0"/>
              <a:t>Click to edit Master title style</a:t>
            </a:r>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twoTxTwoObj" preserve="1">
  <p:cSld name="Comparis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nchor="ctr"/>
          <a:lstStyle>
            <a:lvl1pPr>
              <a:defRPr/>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5410200"/>
            <a:ext cx="4040188"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6" y="5410200"/>
            <a:ext cx="4041775"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1444294"/>
            <a:ext cx="4040188" cy="3941763"/>
          </a:xfrm>
          <a:ln>
            <a:noFill/>
            <a:prstDash val="sysDash"/>
            <a:miter lim="800000"/>
          </a:ln>
        </p:spPr>
        <p:txBody>
          <a:bodyPr/>
          <a:lstStyle>
            <a:lvl1pPr>
              <a:defRPr sz="2400"/>
            </a:lvl1pPr>
            <a:lvl2pPr>
              <a:defRPr sz="2000"/>
            </a:lvl2pPr>
            <a:lvl3pPr>
              <a:defRPr sz="1800"/>
            </a:lvl3pPr>
            <a:lvl4pPr>
              <a:defRPr sz="1600"/>
            </a:lvl4pPr>
            <a:lvl5pPr>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1444294"/>
            <a:ext cx="4041775" cy="3941763"/>
          </a:xfrm>
          <a:ln>
            <a:noFill/>
            <a:prstDash val="sysDash"/>
            <a:miter lim="800000"/>
          </a:ln>
        </p:spPr>
        <p:txBody>
          <a:bodyPr/>
          <a:lstStyle>
            <a:lvl1pPr>
              <a:spcBef>
                <a:spcPts val="0"/>
              </a:spcBef>
              <a:defRPr sz="2400"/>
            </a:lvl1pPr>
            <a:lvl2pPr>
              <a:defRPr sz="2000"/>
            </a:lvl2pPr>
            <a:lvl3pPr>
              <a:defRPr sz="1800"/>
            </a:lvl3pPr>
            <a:lvl4pPr>
              <a:defRPr sz="1600"/>
            </a:lvl4pPr>
            <a:lvl5pPr>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extLst/>
          </a:lstStyle>
          <a:p>
            <a:fld id="{2FF5F708-E6FD-45D6-9217-DC19B15E29CF}" type="datetimeFigureOut">
              <a:rPr lang="en-IN" smtClean="0"/>
              <a:t>13-08-2024</a:t>
            </a:fld>
            <a:endParaRPr lang="en-IN"/>
          </a:p>
        </p:txBody>
      </p:sp>
      <p:sp>
        <p:nvSpPr>
          <p:cNvPr id="8" name="Footer Placeholder 7"/>
          <p:cNvSpPr>
            <a:spLocks noGrp="1"/>
          </p:cNvSpPr>
          <p:nvPr>
            <p:ph type="ftr" sz="quarter" idx="11"/>
          </p:nvPr>
        </p:nvSpPr>
        <p:spPr/>
        <p:txBody>
          <a:bodyPr/>
          <a:lstStyle>
            <a:extLst/>
          </a:lstStyle>
          <a:p>
            <a:endParaRPr lang="en-IN"/>
          </a:p>
        </p:txBody>
      </p:sp>
      <p:sp>
        <p:nvSpPr>
          <p:cNvPr id="9" name="Slide Number Placeholder 8"/>
          <p:cNvSpPr>
            <a:spLocks noGrp="1"/>
          </p:cNvSpPr>
          <p:nvPr>
            <p:ph type="sldNum" sz="quarter" idx="12"/>
          </p:nvPr>
        </p:nvSpPr>
        <p:spPr/>
        <p:txBody>
          <a:bodyPr/>
          <a:lstStyle>
            <a:extLst/>
          </a:lstStyle>
          <a:p>
            <a:fld id="{8E2AAB72-75EC-4EA6-96C0-A7C806862DFD}" type="slidenum">
              <a:rPr lang="en-IN" smtClean="0"/>
              <a:t>‹#›</a:t>
            </a:fld>
            <a:endParaRPr lang="en-IN"/>
          </a:p>
        </p:txBody>
      </p:sp>
    </p:spTree>
  </p:cSld>
  <p:clrMapOvr>
    <a:overrideClrMapping bg1="lt1" tx1="dk1" bg2="lt2" tx2="dk2" accent1="accent1" accent2="accent2" accent3="accent3" accent4="accent4" accent5="accent5" accent6="accent6" hlink="hlink" folHlink="folHlink"/>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bg>
      <p:bgRef idx="1002">
        <a:schemeClr val="bg1"/>
      </p:bgRef>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extLst/>
          </a:lstStyle>
          <a:p>
            <a:fld id="{2FF5F708-E6FD-45D6-9217-DC19B15E29CF}" type="datetimeFigureOut">
              <a:rPr lang="en-IN" smtClean="0"/>
              <a:t>13-08-2024</a:t>
            </a:fld>
            <a:endParaRPr lang="en-IN"/>
          </a:p>
        </p:txBody>
      </p:sp>
      <p:sp>
        <p:nvSpPr>
          <p:cNvPr id="4" name="Footer Placeholder 3"/>
          <p:cNvSpPr>
            <a:spLocks noGrp="1"/>
          </p:cNvSpPr>
          <p:nvPr>
            <p:ph type="ftr" sz="quarter" idx="11"/>
          </p:nvPr>
        </p:nvSpPr>
        <p:spPr/>
        <p:txBody>
          <a:bodyPr/>
          <a:lstStyle>
            <a:extLst/>
          </a:lstStyle>
          <a:p>
            <a:endParaRPr lang="en-IN"/>
          </a:p>
        </p:txBody>
      </p:sp>
      <p:sp>
        <p:nvSpPr>
          <p:cNvPr id="5" name="Slide Number Placeholder 4"/>
          <p:cNvSpPr>
            <a:spLocks noGrp="1"/>
          </p:cNvSpPr>
          <p:nvPr>
            <p:ph type="sldNum" sz="quarter" idx="12"/>
          </p:nvPr>
        </p:nvSpPr>
        <p:spPr/>
        <p:txBody>
          <a:bodyPr/>
          <a:lstStyle>
            <a:extLst/>
          </a:lstStyle>
          <a:p>
            <a:fld id="{8E2AAB72-75EC-4EA6-96C0-A7C806862DFD}" type="slidenum">
              <a:rPr lang="en-IN" smtClean="0"/>
              <a:t>‹#›</a:t>
            </a:fld>
            <a:endParaRPr lang="en-IN"/>
          </a:p>
        </p:txBody>
      </p:sp>
      <p:sp>
        <p:nvSpPr>
          <p:cNvPr id="6" name="Title 5"/>
          <p:cNvSpPr>
            <a:spLocks noGrp="1"/>
          </p:cNvSpPr>
          <p:nvPr>
            <p:ph type="title"/>
          </p:nvPr>
        </p:nvSpPr>
        <p:spPr/>
        <p:txBody>
          <a:bodyPr rtlCol="0"/>
          <a:lstStyle>
            <a:extLst/>
          </a:lstStyle>
          <a:p>
            <a:r>
              <a:rPr kumimoji="0" lang="en-US" smtClean="0"/>
              <a:t>Click to edit Master title style</a:t>
            </a:r>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extLst/>
          </a:lstStyle>
          <a:p>
            <a:fld id="{2FF5F708-E6FD-45D6-9217-DC19B15E29CF}" type="datetimeFigureOut">
              <a:rPr lang="en-IN" smtClean="0"/>
              <a:t>13-08-2024</a:t>
            </a:fld>
            <a:endParaRPr lang="en-IN"/>
          </a:p>
        </p:txBody>
      </p:sp>
      <p:sp>
        <p:nvSpPr>
          <p:cNvPr id="3" name="Footer Placeholder 2"/>
          <p:cNvSpPr>
            <a:spLocks noGrp="1"/>
          </p:cNvSpPr>
          <p:nvPr>
            <p:ph type="ftr" sz="quarter" idx="11"/>
          </p:nvPr>
        </p:nvSpPr>
        <p:spPr/>
        <p:txBody>
          <a:bodyPr/>
          <a:lstStyle>
            <a:extLst/>
          </a:lstStyle>
          <a:p>
            <a:endParaRPr lang="en-IN"/>
          </a:p>
        </p:txBody>
      </p:sp>
      <p:sp>
        <p:nvSpPr>
          <p:cNvPr id="4" name="Slide Number Placeholder 3"/>
          <p:cNvSpPr>
            <a:spLocks noGrp="1"/>
          </p:cNvSpPr>
          <p:nvPr>
            <p:ph type="sldNum" sz="quarter" idx="12"/>
          </p:nvPr>
        </p:nvSpPr>
        <p:spPr/>
        <p:txBody>
          <a:bodyPr/>
          <a:lstStyle>
            <a:extLst/>
          </a:lstStyle>
          <a:p>
            <a:fld id="{8E2AAB72-75EC-4EA6-96C0-A7C806862DFD}" type="slidenum">
              <a:rPr lang="en-IN" smtClean="0"/>
              <a:t>‹#›</a:t>
            </a:fld>
            <a:endParaRPr lang="en-IN"/>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914400" y="4876800"/>
            <a:ext cx="7481776" cy="457200"/>
          </a:xfrm>
        </p:spPr>
        <p:txBody>
          <a:bodyPr vert="horz" anchor="t">
            <a:noAutofit/>
            <a:sp3d prstMaterial="softEdge">
              <a:bevelT w="0" h="0"/>
            </a:sp3d>
          </a:bodyPr>
          <a:lstStyle>
            <a:lvl1pPr algn="r">
              <a:buNone/>
              <a:defRPr sz="2500" b="0">
                <a:solidFill>
                  <a:schemeClr val="accent1"/>
                </a:solidFill>
                <a:effectLst/>
              </a:defRPr>
            </a:lvl1pPr>
            <a:extLst/>
          </a:lstStyle>
          <a:p>
            <a:r>
              <a:rPr kumimoji="0" lang="en-US" smtClean="0"/>
              <a:t>Click to edit Master title style</a:t>
            </a:r>
            <a:endParaRPr kumimoji="0" lang="en-US"/>
          </a:p>
        </p:txBody>
      </p:sp>
      <p:sp>
        <p:nvSpPr>
          <p:cNvPr id="3" name="Text Placeholder 2"/>
          <p:cNvSpPr>
            <a:spLocks noGrp="1"/>
          </p:cNvSpPr>
          <p:nvPr>
            <p:ph type="body" idx="2"/>
          </p:nvPr>
        </p:nvSpPr>
        <p:spPr>
          <a:xfrm>
            <a:off x="4419600" y="5355102"/>
            <a:ext cx="3974592" cy="914400"/>
          </a:xfrm>
        </p:spPr>
        <p:txBody>
          <a:bodyPr/>
          <a:lstStyle>
            <a:lvl1pPr marL="0" indent="0" algn="r">
              <a:buNone/>
              <a:defRPr sz="1600"/>
            </a:lvl1pPr>
            <a:lvl2pPr>
              <a:buNone/>
              <a:defRPr sz="1200"/>
            </a:lvl2pPr>
            <a:lvl3pPr>
              <a:buNone/>
              <a:defRPr sz="1000"/>
            </a:lvl3pPr>
            <a:lvl4pPr>
              <a:buNone/>
              <a:defRPr sz="900"/>
            </a:lvl4pPr>
            <a:lvl5pPr>
              <a:buNone/>
              <a:defRPr sz="900"/>
            </a:lvl5pPr>
            <a:extLst/>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914400" y="274320"/>
            <a:ext cx="7479792" cy="4572000"/>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a:xfrm>
            <a:off x="6727032" y="6407944"/>
            <a:ext cx="1920240" cy="365760"/>
          </a:xfrm>
        </p:spPr>
        <p:txBody>
          <a:bodyPr/>
          <a:lstStyle>
            <a:extLst/>
          </a:lstStyle>
          <a:p>
            <a:fld id="{2FF5F708-E6FD-45D6-9217-DC19B15E29CF}" type="datetimeFigureOut">
              <a:rPr lang="en-IN" smtClean="0"/>
              <a:t>13-08-2024</a:t>
            </a:fld>
            <a:endParaRPr lang="en-IN"/>
          </a:p>
        </p:txBody>
      </p:sp>
      <p:sp>
        <p:nvSpPr>
          <p:cNvPr id="6" name="Footer Placeholder 5"/>
          <p:cNvSpPr>
            <a:spLocks noGrp="1"/>
          </p:cNvSpPr>
          <p:nvPr>
            <p:ph type="ftr" sz="quarter" idx="11"/>
          </p:nvPr>
        </p:nvSpPr>
        <p:spPr/>
        <p:txBody>
          <a:bodyPr/>
          <a:lstStyle>
            <a:extLst/>
          </a:lstStyle>
          <a:p>
            <a:endParaRPr lang="en-IN"/>
          </a:p>
        </p:txBody>
      </p:sp>
      <p:sp>
        <p:nvSpPr>
          <p:cNvPr id="7" name="Slide Number Placeholder 6"/>
          <p:cNvSpPr>
            <a:spLocks noGrp="1"/>
          </p:cNvSpPr>
          <p:nvPr>
            <p:ph type="sldNum" sz="quarter" idx="12"/>
          </p:nvPr>
        </p:nvSpPr>
        <p:spPr/>
        <p:txBody>
          <a:bodyPr/>
          <a:lstStyle>
            <a:extLst/>
          </a:lstStyle>
          <a:p>
            <a:fld id="{8E2AAB72-75EC-4EA6-96C0-A7C806862DFD}" type="slidenum">
              <a:rPr lang="en-IN" smtClean="0"/>
              <a:t>‹#›</a:t>
            </a:fld>
            <a:endParaRPr lang="en-IN"/>
          </a:p>
        </p:txBody>
      </p:sp>
    </p:spTree>
  </p:cSld>
  <p:clrMapOvr>
    <a:overrideClrMapping bg1="lt1" tx1="dk1" bg2="lt2" tx2="dk2" accent1="accent1" accent2="accent2" accent3="accent3" accent4="accent4" accent5="accent5" accent6="accent6" hlink="hlink" folHlink="folHlink"/>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2">
        <a:schemeClr val="bg1"/>
      </p:bgRef>
    </p:bg>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141232" y="5443402"/>
            <a:ext cx="7162800" cy="648232"/>
          </a:xfrm>
          <a:noFill/>
        </p:spPr>
        <p:txBody>
          <a:bodyPr lIns="91440" tIns="0" rIns="91440" anchor="t"/>
          <a:lstStyle>
            <a:lvl1pPr marL="0" marR="18288" indent="0" algn="r">
              <a:buNone/>
              <a:defRPr sz="1400"/>
            </a:lvl1pPr>
            <a:lvl2pPr>
              <a:defRPr sz="1200"/>
            </a:lvl2pPr>
            <a:lvl3pPr>
              <a:defRPr sz="1000"/>
            </a:lvl3pPr>
            <a:lvl4pPr>
              <a:defRPr sz="900"/>
            </a:lvl4pPr>
            <a:lvl5pPr>
              <a:defRPr sz="900"/>
            </a:lvl5pPr>
            <a:extLst/>
          </a:lstStyle>
          <a:p>
            <a:pPr lvl="0" eaLnBrk="1" latinLnBrk="0" hangingPunct="1"/>
            <a:r>
              <a:rPr kumimoji="0" lang="en-US" smtClean="0"/>
              <a:t>Click to edit Master text styles</a:t>
            </a:r>
          </a:p>
        </p:txBody>
      </p:sp>
      <p:sp>
        <p:nvSpPr>
          <p:cNvPr id="3" name="Picture Placeholder 2"/>
          <p:cNvSpPr>
            <a:spLocks noGrp="1"/>
          </p:cNvSpPr>
          <p:nvPr>
            <p:ph type="pic" idx="1"/>
          </p:nvPr>
        </p:nvSpPr>
        <p:spPr>
          <a:xfrm>
            <a:off x="228600" y="189968"/>
            <a:ext cx="8686800" cy="4389120"/>
          </a:xfrm>
          <a:prstGeom prst="rect">
            <a:avLst/>
          </a:prstGeom>
          <a:solidFill>
            <a:schemeClr val="bg2"/>
          </a:solidFill>
          <a:ln>
            <a:solidFill>
              <a:schemeClr val="bg1"/>
            </a:solidFill>
          </a:ln>
          <a:effectLst>
            <a:innerShdw blurRad="95250">
              <a:srgbClr val="000000"/>
            </a:innerShdw>
          </a:effectLst>
        </p:spPr>
        <p:txBody>
          <a:bodyPr/>
          <a:lstStyle>
            <a:lvl1pPr marL="0" indent="0">
              <a:buNone/>
              <a:defRPr sz="3200"/>
            </a:lvl1pPr>
            <a:extLst/>
          </a:lstStyle>
          <a:p>
            <a:r>
              <a:rPr kumimoji="0" lang="en-US" smtClean="0"/>
              <a:t>Click icon to add picture</a:t>
            </a:r>
            <a:endParaRPr kumimoji="0" lang="en-US" dirty="0"/>
          </a:p>
        </p:txBody>
      </p:sp>
      <p:sp>
        <p:nvSpPr>
          <p:cNvPr id="5" name="Date Placeholder 4"/>
          <p:cNvSpPr>
            <a:spLocks noGrp="1"/>
          </p:cNvSpPr>
          <p:nvPr>
            <p:ph type="dt" sz="half" idx="10"/>
          </p:nvPr>
        </p:nvSpPr>
        <p:spPr/>
        <p:txBody>
          <a:bodyPr/>
          <a:lstStyle>
            <a:lvl1pPr>
              <a:defRPr>
                <a:solidFill>
                  <a:schemeClr val="tx1"/>
                </a:solidFill>
              </a:defRPr>
            </a:lvl1pPr>
            <a:extLst/>
          </a:lstStyle>
          <a:p>
            <a:fld id="{2FF5F708-E6FD-45D6-9217-DC19B15E29CF}" type="datetimeFigureOut">
              <a:rPr lang="en-IN" smtClean="0"/>
              <a:t>13-08-2024</a:t>
            </a:fld>
            <a:endParaRPr lang="en-IN"/>
          </a:p>
        </p:txBody>
      </p:sp>
      <p:sp>
        <p:nvSpPr>
          <p:cNvPr id="6" name="Footer Placeholder 5"/>
          <p:cNvSpPr>
            <a:spLocks noGrp="1"/>
          </p:cNvSpPr>
          <p:nvPr>
            <p:ph type="ftr" sz="quarter" idx="11"/>
          </p:nvPr>
        </p:nvSpPr>
        <p:spPr>
          <a:xfrm>
            <a:off x="4380072" y="6407944"/>
            <a:ext cx="2350681" cy="365125"/>
          </a:xfrm>
        </p:spPr>
        <p:txBody>
          <a:bodyPr/>
          <a:lstStyle>
            <a:lvl1pPr>
              <a:defRPr>
                <a:solidFill>
                  <a:schemeClr val="tx1"/>
                </a:solidFill>
              </a:defRPr>
            </a:lvl1pPr>
            <a:extLst/>
          </a:lstStyle>
          <a:p>
            <a:endParaRPr lang="en-IN"/>
          </a:p>
        </p:txBody>
      </p:sp>
      <p:sp>
        <p:nvSpPr>
          <p:cNvPr id="7" name="Slide Number Placeholder 6"/>
          <p:cNvSpPr>
            <a:spLocks noGrp="1"/>
          </p:cNvSpPr>
          <p:nvPr>
            <p:ph type="sldNum" sz="quarter" idx="12"/>
          </p:nvPr>
        </p:nvSpPr>
        <p:spPr/>
        <p:txBody>
          <a:bodyPr/>
          <a:lstStyle>
            <a:lvl1pPr>
              <a:defRPr>
                <a:solidFill>
                  <a:schemeClr val="tx1"/>
                </a:solidFill>
              </a:defRPr>
            </a:lvl1pPr>
            <a:extLst/>
          </a:lstStyle>
          <a:p>
            <a:fld id="{8E2AAB72-75EC-4EA6-96C0-A7C806862DFD}" type="slidenum">
              <a:rPr lang="en-IN" smtClean="0"/>
              <a:t>‹#›</a:t>
            </a:fld>
            <a:endParaRPr lang="en-IN"/>
          </a:p>
        </p:txBody>
      </p:sp>
      <p:sp>
        <p:nvSpPr>
          <p:cNvPr id="2" name="Title 1"/>
          <p:cNvSpPr>
            <a:spLocks noGrp="1"/>
          </p:cNvSpPr>
          <p:nvPr>
            <p:ph type="title"/>
          </p:nvPr>
        </p:nvSpPr>
        <p:spPr>
          <a:xfrm>
            <a:off x="228600" y="4865122"/>
            <a:ext cx="8075432" cy="562672"/>
          </a:xfrm>
          <a:noFill/>
        </p:spPr>
        <p:txBody>
          <a:bodyPr anchor="t">
            <a:sp3d prstMaterial="softEdge"/>
          </a:bodyPr>
          <a:lstStyle>
            <a:lvl1pPr marR="0" algn="r">
              <a:buNone/>
              <a:defRPr sz="3000" b="0">
                <a:solidFill>
                  <a:schemeClr val="accent1"/>
                </a:solidFill>
                <a:effectLst>
                  <a:outerShdw blurRad="50800" dist="25000" dir="5400000" algn="t" rotWithShape="0">
                    <a:prstClr val="black">
                      <a:alpha val="45000"/>
                    </a:prstClr>
                  </a:outerShdw>
                </a:effectLst>
              </a:defRPr>
            </a:lvl1pPr>
            <a:extLst/>
          </a:lstStyle>
          <a:p>
            <a:r>
              <a:rPr kumimoji="0" lang="en-US" smtClean="0"/>
              <a:t>Click to edit Master title style</a:t>
            </a:r>
            <a:endParaRPr kumimoji="0" lang="en-US"/>
          </a:p>
        </p:txBody>
      </p:sp>
      <p:sp>
        <p:nvSpPr>
          <p:cNvPr id="8" name="Freeform 7"/>
          <p:cNvSpPr>
            <a:spLocks/>
          </p:cNvSpPr>
          <p:nvPr/>
        </p:nvSpPr>
        <p:spPr bwMode="auto">
          <a:xfrm>
            <a:off x="499273" y="5944936"/>
            <a:ext cx="4940624" cy="921076"/>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9" name="Freeform 8"/>
          <p:cNvSpPr>
            <a:spLocks/>
          </p:cNvSpPr>
          <p:nvPr/>
        </p:nvSpPr>
        <p:spPr bwMode="auto">
          <a:xfrm>
            <a:off x="485717" y="5939011"/>
            <a:ext cx="3690451" cy="9334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591" h="588">
                <a:moveTo>
                  <a:pt x="0" y="0"/>
                </a:moveTo>
                <a:lnTo>
                  <a:pt x="5591" y="585"/>
                </a:lnTo>
                <a:lnTo>
                  <a:pt x="4415" y="588"/>
                </a:lnTo>
                <a:lnTo>
                  <a:pt x="12" y="4"/>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0" name="Right Triangle 9"/>
          <p:cNvSpPr>
            <a:spLocks/>
          </p:cNvSpPr>
          <p:nvPr/>
        </p:nvSpPr>
        <p:spPr bwMode="auto">
          <a:xfrm>
            <a:off x="-6042" y="5791253"/>
            <a:ext cx="3402314" cy="1080868"/>
          </a:xfrm>
          <a:prstGeom prst="rtTriangle">
            <a:avLst/>
          </a:pr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extLst/>
          </a:lstStyle>
          <a:p>
            <a:pPr algn="ctr" eaLnBrk="1" latinLnBrk="0" hangingPunct="1"/>
            <a:endParaRPr kumimoji="0" lang="en-US"/>
          </a:p>
        </p:txBody>
      </p:sp>
      <p:cxnSp>
        <p:nvCxnSpPr>
          <p:cNvPr id="11" name="Straight Connector 10"/>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12" name="Chevron 11"/>
          <p:cNvSpPr/>
          <p:nvPr/>
        </p:nvSpPr>
        <p:spPr>
          <a:xfrm>
            <a:off x="8664112"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
        <p:nvSpPr>
          <p:cNvPr id="13" name="Chevron 12"/>
          <p:cNvSpPr/>
          <p:nvPr/>
        </p:nvSpPr>
        <p:spPr>
          <a:xfrm>
            <a:off x="8477696"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1481329"/>
            <a:ext cx="8229600" cy="4386071"/>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2FF5F708-E6FD-45D6-9217-DC19B15E29CF}" type="datetimeFigureOut">
              <a:rPr lang="en-IN" smtClean="0"/>
              <a:t>13-08-2024</a:t>
            </a:fld>
            <a:endParaRPr lang="en-IN"/>
          </a:p>
        </p:txBody>
      </p:sp>
      <p:sp>
        <p:nvSpPr>
          <p:cNvPr id="5" name="Footer Placeholder 4"/>
          <p:cNvSpPr>
            <a:spLocks noGrp="1"/>
          </p:cNvSpPr>
          <p:nvPr>
            <p:ph type="ftr" sz="quarter" idx="11"/>
          </p:nvPr>
        </p:nvSpPr>
        <p:spPr/>
        <p:txBody>
          <a:bodyPr/>
          <a:lstStyle>
            <a:extLst/>
          </a:lstStyle>
          <a:p>
            <a:endParaRPr lang="en-IN"/>
          </a:p>
        </p:txBody>
      </p:sp>
      <p:sp>
        <p:nvSpPr>
          <p:cNvPr id="6" name="Slide Number Placeholder 5"/>
          <p:cNvSpPr>
            <a:spLocks noGrp="1"/>
          </p:cNvSpPr>
          <p:nvPr>
            <p:ph type="sldNum" sz="quarter" idx="12"/>
          </p:nvPr>
        </p:nvSpPr>
        <p:spPr/>
        <p:txBody>
          <a:bodyPr/>
          <a:lstStyle>
            <a:extLst/>
          </a:lstStyle>
          <a:p>
            <a:fld id="{8E2AAB72-75EC-4EA6-96C0-A7C806862DFD}" type="slidenum">
              <a:rPr lang="en-IN" smtClean="0"/>
              <a:t>‹#›</a:t>
            </a:fld>
            <a:endParaRPr lang="en-IN"/>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44013" y="274640"/>
            <a:ext cx="1777470" cy="5592761"/>
          </a:xfrm>
        </p:spPr>
        <p:txBody>
          <a:bodyPr vert="eaVert"/>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41"/>
            <a:ext cx="6324600" cy="5592760"/>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2FF5F708-E6FD-45D6-9217-DC19B15E29CF}" type="datetimeFigureOut">
              <a:rPr lang="en-IN" smtClean="0"/>
              <a:t>13-08-2024</a:t>
            </a:fld>
            <a:endParaRPr lang="en-IN"/>
          </a:p>
        </p:txBody>
      </p:sp>
      <p:sp>
        <p:nvSpPr>
          <p:cNvPr id="5" name="Footer Placeholder 4"/>
          <p:cNvSpPr>
            <a:spLocks noGrp="1"/>
          </p:cNvSpPr>
          <p:nvPr>
            <p:ph type="ftr" sz="quarter" idx="11"/>
          </p:nvPr>
        </p:nvSpPr>
        <p:spPr/>
        <p:txBody>
          <a:bodyPr/>
          <a:lstStyle>
            <a:extLst/>
          </a:lstStyle>
          <a:p>
            <a:endParaRPr lang="en-IN"/>
          </a:p>
        </p:txBody>
      </p:sp>
      <p:sp>
        <p:nvSpPr>
          <p:cNvPr id="6" name="Slide Number Placeholder 5"/>
          <p:cNvSpPr>
            <a:spLocks noGrp="1"/>
          </p:cNvSpPr>
          <p:nvPr>
            <p:ph type="sldNum" sz="quarter" idx="12"/>
          </p:nvPr>
        </p:nvSpPr>
        <p:spPr/>
        <p:txBody>
          <a:bodyPr/>
          <a:lstStyle>
            <a:extLst/>
          </a:lstStyle>
          <a:p>
            <a:fld id="{8E2AAB72-75EC-4EA6-96C0-A7C806862DFD}" type="slidenum">
              <a:rPr lang="en-IN" smtClean="0"/>
              <a:t>‹#›</a:t>
            </a:fld>
            <a:endParaRPr lang="en-IN"/>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2FF5F708-E6FD-45D6-9217-DC19B15E29CF}" type="datetimeFigureOut">
              <a:rPr lang="en-IN" smtClean="0"/>
              <a:t>13-08-2024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E2AAB72-75EC-4EA6-96C0-A7C806862DFD}" type="slidenum">
              <a:rPr lang="en-IN" smtClean="0"/>
              <a:t>‹#›</a:t>
            </a:fld>
            <a:endParaRPr lang="en-IN"/>
          </a:p>
        </p:txBody>
      </p:sp>
    </p:spTree>
    <p:extLst>
      <p:ext uri="{BB962C8B-B14F-4D97-AF65-F5344CB8AC3E}">
        <p14:creationId xmlns:p14="http://schemas.microsoft.com/office/powerpoint/2010/main" val="237879523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2FF5F708-E6FD-45D6-9217-DC19B15E29CF}" type="datetimeFigureOut">
              <a:rPr lang="en-IN" smtClean="0"/>
              <a:t>13-08-2024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E2AAB72-75EC-4EA6-96C0-A7C806862DFD}" type="slidenum">
              <a:rPr lang="en-IN" smtClean="0"/>
              <a:t>‹#›</a:t>
            </a:fld>
            <a:endParaRPr lang="en-IN"/>
          </a:p>
        </p:txBody>
      </p:sp>
    </p:spTree>
    <p:extLst>
      <p:ext uri="{BB962C8B-B14F-4D97-AF65-F5344CB8AC3E}">
        <p14:creationId xmlns:p14="http://schemas.microsoft.com/office/powerpoint/2010/main" val="80745099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2FF5F708-E6FD-45D6-9217-DC19B15E29CF}" type="datetimeFigureOut">
              <a:rPr lang="en-IN" smtClean="0"/>
              <a:t>13-08-2024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E2AAB72-75EC-4EA6-96C0-A7C806862DFD}" type="slidenum">
              <a:rPr lang="en-IN" smtClean="0"/>
              <a:t>‹#›</a:t>
            </a:fld>
            <a:endParaRPr lang="en-IN"/>
          </a:p>
        </p:txBody>
      </p:sp>
    </p:spTree>
    <p:extLst>
      <p:ext uri="{BB962C8B-B14F-4D97-AF65-F5344CB8AC3E}">
        <p14:creationId xmlns:p14="http://schemas.microsoft.com/office/powerpoint/2010/main" val="210142894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2FF5F708-E6FD-45D6-9217-DC19B15E29CF}" type="datetimeFigureOut">
              <a:rPr lang="en-IN" smtClean="0"/>
              <a:t>13-08-2024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E2AAB72-75EC-4EA6-96C0-A7C806862DFD}" type="slidenum">
              <a:rPr lang="en-IN" smtClean="0"/>
              <a:t>‹#›</a:t>
            </a:fld>
            <a:endParaRPr lang="en-IN"/>
          </a:p>
        </p:txBody>
      </p:sp>
    </p:spTree>
    <p:extLst>
      <p:ext uri="{BB962C8B-B14F-4D97-AF65-F5344CB8AC3E}">
        <p14:creationId xmlns:p14="http://schemas.microsoft.com/office/powerpoint/2010/main" val="255186465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2FF5F708-E6FD-45D6-9217-DC19B15E29CF}" type="datetimeFigureOut">
              <a:rPr lang="en-IN" smtClean="0"/>
              <a:t>13-08-2024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8E2AAB72-75EC-4EA6-96C0-A7C806862DFD}" type="slidenum">
              <a:rPr lang="en-IN" smtClean="0"/>
              <a:t>‹#›</a:t>
            </a:fld>
            <a:endParaRPr lang="en-IN"/>
          </a:p>
        </p:txBody>
      </p:sp>
    </p:spTree>
    <p:extLst>
      <p:ext uri="{BB962C8B-B14F-4D97-AF65-F5344CB8AC3E}">
        <p14:creationId xmlns:p14="http://schemas.microsoft.com/office/powerpoint/2010/main" val="68526955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2FF5F708-E6FD-45D6-9217-DC19B15E29CF}" type="datetimeFigureOut">
              <a:rPr lang="en-IN" smtClean="0"/>
              <a:t>13-08-2024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8E2AAB72-75EC-4EA6-96C0-A7C806862DFD}" type="slidenum">
              <a:rPr lang="en-IN" smtClean="0"/>
              <a:t>‹#›</a:t>
            </a:fld>
            <a:endParaRPr lang="en-IN"/>
          </a:p>
        </p:txBody>
      </p:sp>
    </p:spTree>
    <p:extLst>
      <p:ext uri="{BB962C8B-B14F-4D97-AF65-F5344CB8AC3E}">
        <p14:creationId xmlns:p14="http://schemas.microsoft.com/office/powerpoint/2010/main" val="102123132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FF5F708-E6FD-45D6-9217-DC19B15E29CF}" type="datetimeFigureOut">
              <a:rPr lang="en-IN" smtClean="0"/>
              <a:t>13-08-2024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8E2AAB72-75EC-4EA6-96C0-A7C806862DFD}" type="slidenum">
              <a:rPr lang="en-IN" smtClean="0"/>
              <a:t>‹#›</a:t>
            </a:fld>
            <a:endParaRPr lang="en-IN"/>
          </a:p>
        </p:txBody>
      </p:sp>
    </p:spTree>
    <p:extLst>
      <p:ext uri="{BB962C8B-B14F-4D97-AF65-F5344CB8AC3E}">
        <p14:creationId xmlns:p14="http://schemas.microsoft.com/office/powerpoint/2010/main" val="304591554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2FF5F708-E6FD-45D6-9217-DC19B15E29CF}" type="datetimeFigureOut">
              <a:rPr lang="en-IN" smtClean="0"/>
              <a:t>13-08-2024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E2AAB72-75EC-4EA6-96C0-A7C806862DFD}" type="slidenum">
              <a:rPr lang="en-IN" smtClean="0"/>
              <a:t>‹#›</a:t>
            </a:fld>
            <a:endParaRPr lang="en-IN"/>
          </a:p>
        </p:txBody>
      </p:sp>
    </p:spTree>
    <p:extLst>
      <p:ext uri="{BB962C8B-B14F-4D97-AF65-F5344CB8AC3E}">
        <p14:creationId xmlns:p14="http://schemas.microsoft.com/office/powerpoint/2010/main" val="52172803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2FF5F708-E6FD-45D6-9217-DC19B15E29CF}" type="datetimeFigureOut">
              <a:rPr lang="en-IN" smtClean="0"/>
              <a:t>13-08-2024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E2AAB72-75EC-4EA6-96C0-A7C806862DFD}" type="slidenum">
              <a:rPr lang="en-IN" smtClean="0"/>
              <a:t>‹#›</a:t>
            </a:fld>
            <a:endParaRPr lang="en-IN"/>
          </a:p>
        </p:txBody>
      </p:sp>
    </p:spTree>
    <p:extLst>
      <p:ext uri="{BB962C8B-B14F-4D97-AF65-F5344CB8AC3E}">
        <p14:creationId xmlns:p14="http://schemas.microsoft.com/office/powerpoint/2010/main" val="359507934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2FF5F708-E6FD-45D6-9217-DC19B15E29CF}" type="datetimeFigureOut">
              <a:rPr lang="en-IN" smtClean="0"/>
              <a:t>13-08-2024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E2AAB72-75EC-4EA6-96C0-A7C806862DFD}" type="slidenum">
              <a:rPr lang="en-IN" smtClean="0"/>
              <a:t>‹#›</a:t>
            </a:fld>
            <a:endParaRPr lang="en-IN"/>
          </a:p>
        </p:txBody>
      </p:sp>
    </p:spTree>
    <p:extLst>
      <p:ext uri="{BB962C8B-B14F-4D97-AF65-F5344CB8AC3E}">
        <p14:creationId xmlns:p14="http://schemas.microsoft.com/office/powerpoint/2010/main" val="352368268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2FF5F708-E6FD-45D6-9217-DC19B15E29CF}" type="datetimeFigureOut">
              <a:rPr lang="en-IN" smtClean="0"/>
              <a:t>13-08-2024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E2AAB72-75EC-4EA6-96C0-A7C806862DFD}" type="slidenum">
              <a:rPr lang="en-IN" smtClean="0"/>
              <a:t>‹#›</a:t>
            </a:fld>
            <a:endParaRPr lang="en-IN"/>
          </a:p>
        </p:txBody>
      </p:sp>
    </p:spTree>
    <p:extLst>
      <p:ext uri="{BB962C8B-B14F-4D97-AF65-F5344CB8AC3E}">
        <p14:creationId xmlns:p14="http://schemas.microsoft.com/office/powerpoint/2010/main" val="426447634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0" y="0"/>
            <a:ext cx="9144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8" name="Rounded Rectangle 7"/>
          <p:cNvSpPr/>
          <p:nvPr/>
        </p:nvSpPr>
        <p:spPr>
          <a:xfrm>
            <a:off x="91440" y="101600"/>
            <a:ext cx="8961120" cy="6664960"/>
          </a:xfrm>
          <a:prstGeom prst="roundRect">
            <a:avLst>
              <a:gd name="adj" fmla="val 1735"/>
            </a:avLst>
          </a:prstGeom>
          <a:ln w="12700" cmpd="sng">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p:cNvSpPr>
            <a:spLocks noGrp="1"/>
          </p:cNvSpPr>
          <p:nvPr>
            <p:ph type="dt" sz="half" idx="10"/>
          </p:nvPr>
        </p:nvSpPr>
        <p:spPr/>
        <p:txBody>
          <a:bodyPr/>
          <a:lstStyle/>
          <a:p>
            <a:fld id="{2FF5F708-E6FD-45D6-9217-DC19B15E29CF}" type="datetimeFigureOut">
              <a:rPr lang="en-IN" smtClean="0"/>
              <a:t>13-08-2024</a:t>
            </a:fld>
            <a:endParaRPr lang="en-IN"/>
          </a:p>
        </p:txBody>
      </p:sp>
      <p:sp>
        <p:nvSpPr>
          <p:cNvPr id="5" name="Footer Placeholder 4"/>
          <p:cNvSpPr>
            <a:spLocks noGrp="1"/>
          </p:cNvSpPr>
          <p:nvPr>
            <p:ph type="ftr" sz="quarter" idx="11"/>
          </p:nvPr>
        </p:nvSpPr>
        <p:spPr/>
        <p:txBody>
          <a:bodyPr/>
          <a:lstStyle/>
          <a:p>
            <a:endParaRPr lang="en-IN"/>
          </a:p>
        </p:txBody>
      </p:sp>
      <p:sp>
        <p:nvSpPr>
          <p:cNvPr id="9" name="Rectangle 8"/>
          <p:cNvSpPr/>
          <p:nvPr/>
        </p:nvSpPr>
        <p:spPr>
          <a:xfrm>
            <a:off x="345440" y="2942602"/>
            <a:ext cx="7147931" cy="2463800"/>
          </a:xfrm>
          <a:prstGeom prst="rect">
            <a:avLst/>
          </a:prstGeom>
          <a:solidFill>
            <a:srgbClr val="FFFFFF">
              <a:alpha val="83000"/>
            </a:srgbClr>
          </a:soli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7572652" y="2944634"/>
            <a:ext cx="1190348" cy="2459736"/>
          </a:xfrm>
          <a:prstGeom prst="rect">
            <a:avLst/>
          </a:prstGeom>
          <a:solidFill>
            <a:srgbClr val="FFFFFF">
              <a:alpha val="83000"/>
            </a:srgbClr>
          </a:soli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p:cNvSpPr/>
          <p:nvPr/>
        </p:nvSpPr>
        <p:spPr>
          <a:xfrm>
            <a:off x="7712714" y="3136658"/>
            <a:ext cx="910224" cy="2075688"/>
          </a:xfrm>
          <a:prstGeom prst="rect">
            <a:avLst/>
          </a:prstGeom>
          <a:solidFill>
            <a:schemeClr val="accent3">
              <a:alpha val="70000"/>
            </a:schemeClr>
          </a:solidFill>
          <a:ln w="635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p:nvPr/>
        </p:nvSpPr>
        <p:spPr>
          <a:xfrm>
            <a:off x="445483" y="3055621"/>
            <a:ext cx="6947845" cy="2245359"/>
          </a:xfrm>
          <a:prstGeom prst="rect">
            <a:avLst/>
          </a:prstGeom>
          <a:solidFill>
            <a:srgbClr val="FFFFFF"/>
          </a:solidFill>
          <a:ln w="6350" cmpd="dbl">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lide Number Placeholder 5"/>
          <p:cNvSpPr>
            <a:spLocks noGrp="1"/>
          </p:cNvSpPr>
          <p:nvPr>
            <p:ph type="sldNum" sz="quarter" idx="12"/>
          </p:nvPr>
        </p:nvSpPr>
        <p:spPr>
          <a:xfrm>
            <a:off x="7786826" y="4625268"/>
            <a:ext cx="762000" cy="457200"/>
          </a:xfrm>
        </p:spPr>
        <p:txBody>
          <a:bodyPr/>
          <a:lstStyle>
            <a:lvl1pPr algn="ctr">
              <a:defRPr sz="2800">
                <a:solidFill>
                  <a:schemeClr val="accent1">
                    <a:lumMod val="50000"/>
                  </a:schemeClr>
                </a:solidFill>
              </a:defRPr>
            </a:lvl1pPr>
          </a:lstStyle>
          <a:p>
            <a:fld id="{8E2AAB72-75EC-4EA6-96C0-A7C806862DFD}" type="slidenum">
              <a:rPr lang="en-IN" smtClean="0"/>
              <a:t>‹#›</a:t>
            </a:fld>
            <a:endParaRPr lang="en-IN"/>
          </a:p>
        </p:txBody>
      </p:sp>
      <p:sp>
        <p:nvSpPr>
          <p:cNvPr id="11" name="Rectangle 10"/>
          <p:cNvSpPr/>
          <p:nvPr/>
        </p:nvSpPr>
        <p:spPr>
          <a:xfrm>
            <a:off x="541822" y="4559276"/>
            <a:ext cx="6755166" cy="664367"/>
          </a:xfrm>
          <a:prstGeom prst="rect">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538971" y="3139440"/>
            <a:ext cx="6760868" cy="2077720"/>
          </a:xfrm>
          <a:prstGeom prst="rect">
            <a:avLst/>
          </a:prstGeom>
          <a:noFill/>
          <a:ln w="6350" cmpd="dbl">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p:nvPr>
        </p:nvSpPr>
        <p:spPr>
          <a:xfrm>
            <a:off x="642805" y="4648200"/>
            <a:ext cx="6553200" cy="457200"/>
          </a:xfrm>
        </p:spPr>
        <p:txBody>
          <a:bodyPr>
            <a:normAutofit/>
          </a:bodyPr>
          <a:lstStyle>
            <a:lvl1pPr marL="0" indent="0" algn="ctr">
              <a:buNone/>
              <a:defRPr sz="1800" cap="all" spc="300" baseline="0">
                <a:solidFill>
                  <a:srgbClr val="FFFFFF"/>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2" name="Title 1"/>
          <p:cNvSpPr>
            <a:spLocks noGrp="1"/>
          </p:cNvSpPr>
          <p:nvPr>
            <p:ph type="ctrTitle"/>
          </p:nvPr>
        </p:nvSpPr>
        <p:spPr>
          <a:xfrm>
            <a:off x="604705" y="3227033"/>
            <a:ext cx="6629400" cy="1219201"/>
          </a:xfrm>
        </p:spPr>
        <p:txBody>
          <a:bodyPr anchor="b" anchorCtr="0">
            <a:noAutofit/>
          </a:bodyPr>
          <a:lstStyle>
            <a:lvl1pPr>
              <a:defRPr sz="4000">
                <a:solidFill>
                  <a:schemeClr val="accent1">
                    <a:lumMod val="50000"/>
                  </a:schemeClr>
                </a:solidFill>
              </a:defRPr>
            </a:lvl1pPr>
          </a:lstStyle>
          <a:p>
            <a:r>
              <a:rPr lang="en-US" smtClean="0"/>
              <a:t>Click to edit Master title style</a:t>
            </a:r>
            <a:endParaRPr lang="en-US" dirty="0"/>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2FF5F708-E6FD-45D6-9217-DC19B15E29CF}" type="datetimeFigureOut">
              <a:rPr lang="en-IN" smtClean="0"/>
              <a:t>13-08-2024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E2AAB72-75EC-4EA6-96C0-A7C806862DFD}" type="slidenum">
              <a:rPr lang="en-IN" smtClean="0"/>
              <a:t>‹#›</a:t>
            </a:fld>
            <a:endParaRPr lang="en-IN"/>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0" y="0"/>
            <a:ext cx="9144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8" name="Rounded Rectangle 7"/>
          <p:cNvSpPr/>
          <p:nvPr/>
        </p:nvSpPr>
        <p:spPr>
          <a:xfrm>
            <a:off x="91440" y="101600"/>
            <a:ext cx="8961120" cy="6664960"/>
          </a:xfrm>
          <a:prstGeom prst="roundRect">
            <a:avLst>
              <a:gd name="adj" fmla="val 1735"/>
            </a:avLst>
          </a:prstGeom>
          <a:ln w="12700" cmpd="sng">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p:cNvSpPr>
            <a:spLocks noGrp="1"/>
          </p:cNvSpPr>
          <p:nvPr>
            <p:ph type="dt" sz="half" idx="10"/>
          </p:nvPr>
        </p:nvSpPr>
        <p:spPr/>
        <p:txBody>
          <a:bodyPr/>
          <a:lstStyle/>
          <a:p>
            <a:fld id="{2FF5F708-E6FD-45D6-9217-DC19B15E29CF}" type="datetimeFigureOut">
              <a:rPr lang="en-IN" smtClean="0"/>
              <a:t>13-08-2024</a:t>
            </a:fld>
            <a:endParaRPr lang="en-IN"/>
          </a:p>
        </p:txBody>
      </p:sp>
      <p:sp>
        <p:nvSpPr>
          <p:cNvPr id="13" name="Rectangle 12"/>
          <p:cNvSpPr/>
          <p:nvPr/>
        </p:nvSpPr>
        <p:spPr>
          <a:xfrm>
            <a:off x="451976" y="2946400"/>
            <a:ext cx="8265160" cy="2463800"/>
          </a:xfrm>
          <a:prstGeom prst="rect">
            <a:avLst/>
          </a:prstGeom>
          <a:solidFill>
            <a:srgbClr val="FFFFFF">
              <a:alpha val="83000"/>
            </a:srgbClr>
          </a:soli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p:cNvSpPr/>
          <p:nvPr/>
        </p:nvSpPr>
        <p:spPr>
          <a:xfrm>
            <a:off x="567656" y="3048000"/>
            <a:ext cx="8033800" cy="2245359"/>
          </a:xfrm>
          <a:prstGeom prst="rect">
            <a:avLst/>
          </a:prstGeom>
          <a:solidFill>
            <a:srgbClr val="FFFFFF"/>
          </a:solidFill>
          <a:ln w="6350" cmpd="dbl">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E2AAB72-75EC-4EA6-96C0-A7C806862DFD}" type="slidenum">
              <a:rPr lang="en-IN" smtClean="0"/>
              <a:t>‹#›</a:t>
            </a:fld>
            <a:endParaRPr lang="en-IN"/>
          </a:p>
        </p:txBody>
      </p:sp>
      <p:sp>
        <p:nvSpPr>
          <p:cNvPr id="2" name="Title 1"/>
          <p:cNvSpPr>
            <a:spLocks noGrp="1"/>
          </p:cNvSpPr>
          <p:nvPr>
            <p:ph type="title"/>
          </p:nvPr>
        </p:nvSpPr>
        <p:spPr>
          <a:xfrm>
            <a:off x="736456" y="3200399"/>
            <a:ext cx="7696200" cy="1295401"/>
          </a:xfrm>
        </p:spPr>
        <p:txBody>
          <a:bodyPr anchor="b" anchorCtr="0">
            <a:noAutofit/>
          </a:bodyPr>
          <a:lstStyle>
            <a:lvl1pPr algn="ctr" defTabSz="914400" rtl="0" eaLnBrk="1" latinLnBrk="0" hangingPunct="1">
              <a:spcBef>
                <a:spcPct val="0"/>
              </a:spcBef>
              <a:buNone/>
              <a:defRPr lang="en-US" sz="4000" kern="1200" cap="all" baseline="0" dirty="0">
                <a:solidFill>
                  <a:schemeClr val="accent1">
                    <a:lumMod val="50000"/>
                  </a:schemeClr>
                </a:solidFill>
                <a:latin typeface="+mj-lt"/>
                <a:ea typeface="+mj-ea"/>
                <a:cs typeface="+mj-cs"/>
              </a:defRPr>
            </a:lvl1pPr>
          </a:lstStyle>
          <a:p>
            <a:r>
              <a:rPr lang="en-US" smtClean="0"/>
              <a:t>Click to edit Master title style</a:t>
            </a:r>
            <a:endParaRPr lang="en-US" dirty="0"/>
          </a:p>
        </p:txBody>
      </p:sp>
      <p:sp>
        <p:nvSpPr>
          <p:cNvPr id="15" name="Rectangle 14"/>
          <p:cNvSpPr/>
          <p:nvPr/>
        </p:nvSpPr>
        <p:spPr>
          <a:xfrm>
            <a:off x="675496" y="4541520"/>
            <a:ext cx="7818120" cy="664367"/>
          </a:xfrm>
          <a:prstGeom prst="rect">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 Placeholder 2"/>
          <p:cNvSpPr>
            <a:spLocks noGrp="1"/>
          </p:cNvSpPr>
          <p:nvPr>
            <p:ph type="body" idx="1"/>
          </p:nvPr>
        </p:nvSpPr>
        <p:spPr>
          <a:xfrm>
            <a:off x="736456" y="4607510"/>
            <a:ext cx="7696200" cy="523783"/>
          </a:xfrm>
        </p:spPr>
        <p:txBody>
          <a:bodyPr anchor="ctr">
            <a:normAutofit/>
          </a:bodyPr>
          <a:lstStyle>
            <a:lvl1pPr marL="0" indent="0" algn="ctr">
              <a:buNone/>
              <a:defRPr sz="2000" cap="all" spc="250" baseline="0">
                <a:solidFill>
                  <a:srgbClr val="FFFFFF"/>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14" name="Rectangle 13"/>
          <p:cNvSpPr/>
          <p:nvPr/>
        </p:nvSpPr>
        <p:spPr>
          <a:xfrm>
            <a:off x="675757" y="3124200"/>
            <a:ext cx="7817599" cy="2077720"/>
          </a:xfrm>
          <a:prstGeom prst="rect">
            <a:avLst/>
          </a:prstGeom>
          <a:noFill/>
          <a:ln w="6350" cmpd="dbl">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26128" y="408372"/>
            <a:ext cx="8260672" cy="1039427"/>
          </a:xfrm>
        </p:spPr>
        <p:txBody>
          <a:bodyPr/>
          <a:lstStyle/>
          <a:p>
            <a:r>
              <a:rPr lang="en-US" smtClean="0"/>
              <a:t>Click to edit Master title style</a:t>
            </a:r>
            <a:endParaRPr lang="en-US"/>
          </a:p>
        </p:txBody>
      </p:sp>
      <p:sp>
        <p:nvSpPr>
          <p:cNvPr id="3" name="Content Placeholder 2"/>
          <p:cNvSpPr>
            <a:spLocks noGrp="1"/>
          </p:cNvSpPr>
          <p:nvPr>
            <p:ph sz="half" idx="1"/>
          </p:nvPr>
        </p:nvSpPr>
        <p:spPr>
          <a:xfrm>
            <a:off x="426128" y="1719071"/>
            <a:ext cx="4038600" cy="440740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648200" y="1719071"/>
            <a:ext cx="4038600" cy="440740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2FF5F708-E6FD-45D6-9217-DC19B15E29CF}" type="datetimeFigureOut">
              <a:rPr lang="en-IN" smtClean="0"/>
              <a:t>13-08-2024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E2AAB72-75EC-4EA6-96C0-A7C806862DFD}" type="slidenum">
              <a:rPr lang="en-IN" smtClean="0"/>
              <a:t>‹#›</a:t>
            </a:fld>
            <a:endParaRPr lang="en-IN"/>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26128" y="408372"/>
            <a:ext cx="8260672" cy="1039427"/>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26128" y="1722438"/>
            <a:ext cx="4040188" cy="639762"/>
          </a:xfrm>
        </p:spPr>
        <p:txBody>
          <a:bodyPr anchor="b">
            <a:noAutofit/>
          </a:bodyPr>
          <a:lstStyle>
            <a:lvl1pPr marL="0" indent="0" algn="ctr">
              <a:buNone/>
              <a:defRPr sz="22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26128" y="2438400"/>
            <a:ext cx="4040188" cy="3687762"/>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722438"/>
            <a:ext cx="4041775" cy="639762"/>
          </a:xfrm>
        </p:spPr>
        <p:txBody>
          <a:bodyPr anchor="b">
            <a:noAutofit/>
          </a:bodyPr>
          <a:lstStyle>
            <a:lvl1pPr marL="0" indent="0" algn="ctr">
              <a:buNone/>
              <a:defRPr sz="22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438400"/>
            <a:ext cx="4041775" cy="3687762"/>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2FF5F708-E6FD-45D6-9217-DC19B15E29CF}" type="datetimeFigureOut">
              <a:rPr lang="en-IN" smtClean="0"/>
              <a:t>13-08-2024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8E2AAB72-75EC-4EA6-96C0-A7C806862DFD}" type="slidenum">
              <a:rPr lang="en-IN" smtClean="0"/>
              <a:t>‹#›</a:t>
            </a:fld>
            <a:endParaRPr lang="en-IN"/>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2FF5F708-E6FD-45D6-9217-DC19B15E29CF}" type="datetimeFigureOut">
              <a:rPr lang="en-IN" smtClean="0"/>
              <a:t>13-08-2024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8E2AAB72-75EC-4EA6-96C0-A7C806862DFD}" type="slidenum">
              <a:rPr lang="en-IN" smtClean="0"/>
              <a:t>‹#›</a:t>
            </a:fld>
            <a:endParaRPr lang="en-IN"/>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0" y="0"/>
            <a:ext cx="9144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Rounded Rectangle 10"/>
          <p:cNvSpPr/>
          <p:nvPr/>
        </p:nvSpPr>
        <p:spPr>
          <a:xfrm>
            <a:off x="91440" y="101600"/>
            <a:ext cx="8961120" cy="6664960"/>
          </a:xfrm>
          <a:prstGeom prst="roundRect">
            <a:avLst>
              <a:gd name="adj" fmla="val 1735"/>
            </a:avLst>
          </a:prstGeom>
          <a:ln w="12700" cmpd="sng">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Date Placeholder 1"/>
          <p:cNvSpPr>
            <a:spLocks noGrp="1"/>
          </p:cNvSpPr>
          <p:nvPr>
            <p:ph type="dt" sz="half" idx="10"/>
          </p:nvPr>
        </p:nvSpPr>
        <p:spPr/>
        <p:txBody>
          <a:bodyPr/>
          <a:lstStyle/>
          <a:p>
            <a:fld id="{2FF5F708-E6FD-45D6-9217-DC19B15E29CF}" type="datetimeFigureOut">
              <a:rPr lang="en-IN" smtClean="0"/>
              <a:t>13-08-2024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8E2AAB72-75EC-4EA6-96C0-A7C806862DFD}" type="slidenum">
              <a:rPr lang="en-IN" smtClean="0"/>
              <a:t>‹#›</a:t>
            </a:fld>
            <a:endParaRPr lang="en-IN"/>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1" name="Rectangle 10"/>
          <p:cNvSpPr/>
          <p:nvPr/>
        </p:nvSpPr>
        <p:spPr>
          <a:xfrm>
            <a:off x="0" y="0"/>
            <a:ext cx="9144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2" name="Rounded Rectangle 11"/>
          <p:cNvSpPr/>
          <p:nvPr/>
        </p:nvSpPr>
        <p:spPr>
          <a:xfrm>
            <a:off x="91440" y="101600"/>
            <a:ext cx="8961120" cy="6664960"/>
          </a:xfrm>
          <a:prstGeom prst="roundRect">
            <a:avLst>
              <a:gd name="adj" fmla="val 1735"/>
            </a:avLst>
          </a:prstGeom>
          <a:ln w="12700" cmpd="sng">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3886200" y="685800"/>
            <a:ext cx="4572000" cy="525780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2FF5F708-E6FD-45D6-9217-DC19B15E29CF}" type="datetimeFigureOut">
              <a:rPr lang="en-IN" smtClean="0"/>
              <a:t>13-08-2024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E2AAB72-75EC-4EA6-96C0-A7C806862DFD}" type="slidenum">
              <a:rPr lang="en-IN" smtClean="0"/>
              <a:t>‹#›</a:t>
            </a:fld>
            <a:endParaRPr lang="en-IN"/>
          </a:p>
        </p:txBody>
      </p:sp>
      <p:sp>
        <p:nvSpPr>
          <p:cNvPr id="8" name="Rectangle 7"/>
          <p:cNvSpPr/>
          <p:nvPr/>
        </p:nvSpPr>
        <p:spPr>
          <a:xfrm>
            <a:off x="560034" y="1505712"/>
            <a:ext cx="2716566" cy="3523488"/>
          </a:xfrm>
          <a:prstGeom prst="rect">
            <a:avLst/>
          </a:prstGeom>
          <a:solidFill>
            <a:srgbClr val="FFFFFF">
              <a:alpha val="83000"/>
            </a:srgbClr>
          </a:soli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676690" y="1642472"/>
            <a:ext cx="2483254" cy="3234328"/>
          </a:xfrm>
          <a:prstGeom prst="rect">
            <a:avLst/>
          </a:prstGeom>
          <a:solidFill>
            <a:srgbClr val="FFFFFF"/>
          </a:solidFill>
          <a:ln w="6350" cmpd="dbl">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 Placeholder 3"/>
          <p:cNvSpPr>
            <a:spLocks noGrp="1"/>
          </p:cNvSpPr>
          <p:nvPr>
            <p:ph type="body" sz="half" idx="2"/>
          </p:nvPr>
        </p:nvSpPr>
        <p:spPr>
          <a:xfrm>
            <a:off x="769000" y="2971800"/>
            <a:ext cx="2298634" cy="1752600"/>
          </a:xfrm>
        </p:spPr>
        <p:txBody>
          <a:bodyPr/>
          <a:lstStyle>
            <a:lvl1pPr marL="0" indent="0">
              <a:spcBef>
                <a:spcPts val="400"/>
              </a:spcBef>
              <a:buNone/>
              <a:defRPr sz="1400">
                <a:solidFill>
                  <a:schemeClr val="accent1">
                    <a:lumMod val="5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2" name="Title 1"/>
          <p:cNvSpPr>
            <a:spLocks noGrp="1"/>
          </p:cNvSpPr>
          <p:nvPr>
            <p:ph type="title"/>
          </p:nvPr>
        </p:nvSpPr>
        <p:spPr>
          <a:xfrm>
            <a:off x="769000" y="1734312"/>
            <a:ext cx="2298634" cy="1191620"/>
          </a:xfrm>
        </p:spPr>
        <p:txBody>
          <a:bodyPr anchor="b">
            <a:normAutofit/>
          </a:bodyPr>
          <a:lstStyle>
            <a:lvl1pPr algn="l">
              <a:defRPr sz="2000" b="0">
                <a:solidFill>
                  <a:schemeClr val="accent1">
                    <a:lumMod val="75000"/>
                  </a:schemeClr>
                </a:solidFill>
              </a:defRPr>
            </a:lvl1pPr>
          </a:lstStyle>
          <a:p>
            <a:r>
              <a:rPr lang="en-US" smtClean="0"/>
              <a:t>Click to edit Master title style</a:t>
            </a:r>
            <a:endParaRPr lang="en-US" dirty="0"/>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0"/>
            <a:ext cx="9144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9" name="Rounded Rectangle 8"/>
          <p:cNvSpPr/>
          <p:nvPr/>
        </p:nvSpPr>
        <p:spPr>
          <a:xfrm>
            <a:off x="91440" y="101600"/>
            <a:ext cx="8961120" cy="6664960"/>
          </a:xfrm>
          <a:prstGeom prst="roundRect">
            <a:avLst>
              <a:gd name="adj" fmla="val 1735"/>
            </a:avLst>
          </a:prstGeom>
          <a:ln w="12700" cmpd="sng">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Picture Placeholder 2"/>
          <p:cNvSpPr>
            <a:spLocks noGrp="1"/>
          </p:cNvSpPr>
          <p:nvPr>
            <p:ph type="pic" idx="1"/>
          </p:nvPr>
        </p:nvSpPr>
        <p:spPr>
          <a:xfrm>
            <a:off x="685800" y="621437"/>
            <a:ext cx="7772400" cy="4331564"/>
          </a:xfrm>
          <a:solidFill>
            <a:schemeClr val="bg2"/>
          </a:solidFill>
          <a:ln>
            <a:noFill/>
          </a:ln>
          <a:effectLst>
            <a:softEdge rad="12700"/>
          </a:effectLst>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5" name="Date Placeholder 4"/>
          <p:cNvSpPr>
            <a:spLocks noGrp="1"/>
          </p:cNvSpPr>
          <p:nvPr>
            <p:ph type="dt" sz="half" idx="10"/>
          </p:nvPr>
        </p:nvSpPr>
        <p:spPr/>
        <p:txBody>
          <a:bodyPr/>
          <a:lstStyle/>
          <a:p>
            <a:fld id="{2FF5F708-E6FD-45D6-9217-DC19B15E29CF}" type="datetimeFigureOut">
              <a:rPr lang="en-IN" smtClean="0"/>
              <a:t>13-08-2024</a:t>
            </a:fld>
            <a:endParaRPr lang="en-IN"/>
          </a:p>
        </p:txBody>
      </p:sp>
      <p:sp>
        <p:nvSpPr>
          <p:cNvPr id="7" name="Slide Number Placeholder 6"/>
          <p:cNvSpPr>
            <a:spLocks noGrp="1"/>
          </p:cNvSpPr>
          <p:nvPr>
            <p:ph type="sldNum" sz="quarter" idx="12"/>
          </p:nvPr>
        </p:nvSpPr>
        <p:spPr/>
        <p:txBody>
          <a:bodyPr/>
          <a:lstStyle/>
          <a:p>
            <a:fld id="{8E2AAB72-75EC-4EA6-96C0-A7C806862DFD}" type="slidenum">
              <a:rPr lang="en-IN" smtClean="0"/>
              <a:t>‹#›</a:t>
            </a:fld>
            <a:endParaRPr lang="en-IN"/>
          </a:p>
        </p:txBody>
      </p:sp>
      <p:sp>
        <p:nvSpPr>
          <p:cNvPr id="10" name="Rectangle 9"/>
          <p:cNvSpPr/>
          <p:nvPr/>
        </p:nvSpPr>
        <p:spPr>
          <a:xfrm>
            <a:off x="685800" y="4953000"/>
            <a:ext cx="7772400" cy="1371600"/>
          </a:xfrm>
          <a:prstGeom prst="rect">
            <a:avLst/>
          </a:prstGeom>
          <a:solidFill>
            <a:srgbClr val="FFFFFF">
              <a:alpha val="83000"/>
            </a:srgbClr>
          </a:soli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761999" y="5029200"/>
            <a:ext cx="7600765" cy="1202924"/>
          </a:xfrm>
          <a:prstGeom prst="rect">
            <a:avLst/>
          </a:prstGeom>
          <a:solidFill>
            <a:srgbClr val="FFFFFF"/>
          </a:solidFill>
          <a:ln w="6350" cmpd="dbl">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Footer Placeholder 5"/>
          <p:cNvSpPr>
            <a:spLocks noGrp="1"/>
          </p:cNvSpPr>
          <p:nvPr>
            <p:ph type="ftr" sz="quarter" idx="11"/>
          </p:nvPr>
        </p:nvSpPr>
        <p:spPr/>
        <p:txBody>
          <a:bodyPr/>
          <a:lstStyle/>
          <a:p>
            <a:endParaRPr lang="en-IN"/>
          </a:p>
        </p:txBody>
      </p:sp>
      <p:sp>
        <p:nvSpPr>
          <p:cNvPr id="13" name="Rectangle 12"/>
          <p:cNvSpPr/>
          <p:nvPr/>
        </p:nvSpPr>
        <p:spPr>
          <a:xfrm>
            <a:off x="914400" y="5638800"/>
            <a:ext cx="7328514" cy="451696"/>
          </a:xfrm>
          <a:prstGeom prst="rect">
            <a:avLst/>
          </a:prstGeom>
          <a:solidFill>
            <a:schemeClr val="accent1"/>
          </a:solidFill>
          <a:ln w="6350" cmpd="dbl">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a:off x="605589" y="5074920"/>
            <a:ext cx="7946136" cy="1097280"/>
          </a:xfrm>
          <a:prstGeom prst="rect">
            <a:avLst/>
          </a:prstGeom>
          <a:noFill/>
          <a:ln w="6350" cmpd="dbl">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 Placeholder 3"/>
          <p:cNvSpPr>
            <a:spLocks noGrp="1"/>
          </p:cNvSpPr>
          <p:nvPr>
            <p:ph type="body" sz="half" idx="2"/>
          </p:nvPr>
        </p:nvSpPr>
        <p:spPr>
          <a:xfrm>
            <a:off x="956289" y="5656556"/>
            <a:ext cx="7244736" cy="401715"/>
          </a:xfrm>
        </p:spPr>
        <p:txBody>
          <a:bodyPr anchor="ctr">
            <a:normAutofit/>
          </a:bodyPr>
          <a:lstStyle>
            <a:lvl1pPr marL="0" indent="0" algn="ctr">
              <a:buNone/>
              <a:defRPr sz="1500" cap="all" spc="250" baseline="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2" name="Title 1"/>
          <p:cNvSpPr>
            <a:spLocks noGrp="1"/>
          </p:cNvSpPr>
          <p:nvPr>
            <p:ph type="title"/>
          </p:nvPr>
        </p:nvSpPr>
        <p:spPr>
          <a:xfrm>
            <a:off x="914400" y="5105400"/>
            <a:ext cx="7328514" cy="523043"/>
          </a:xfrm>
        </p:spPr>
        <p:txBody>
          <a:bodyPr anchor="ctr" anchorCtr="0"/>
          <a:lstStyle>
            <a:lvl1pPr algn="ctr">
              <a:defRPr sz="2000" b="0">
                <a:solidFill>
                  <a:schemeClr val="accent1">
                    <a:lumMod val="75000"/>
                  </a:schemeClr>
                </a:solidFill>
              </a:defRPr>
            </a:lvl1pPr>
          </a:lstStyle>
          <a:p>
            <a:r>
              <a:rPr lang="en-US" smtClean="0"/>
              <a:t>Click to edit Master title style</a:t>
            </a:r>
            <a:endParaRPr lang="en-US" dirty="0"/>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2FF5F708-E6FD-45D6-9217-DC19B15E29CF}" type="datetimeFigureOut">
              <a:rPr lang="en-IN" smtClean="0"/>
              <a:t>13-08-2024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E2AAB72-75EC-4EA6-96C0-A7C806862DFD}" type="slidenum">
              <a:rPr lang="en-IN" smtClean="0"/>
              <a:t>‹#›</a:t>
            </a:fld>
            <a:endParaRPr lang="en-IN"/>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6861702" y="228600"/>
            <a:ext cx="1859280" cy="6122634"/>
          </a:xfrm>
          <a:prstGeom prst="rect">
            <a:avLst/>
          </a:prstGeom>
          <a:solidFill>
            <a:srgbClr val="FFFFFF">
              <a:alpha val="85000"/>
            </a:srgb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endParaRPr lang="en-US" sz="1800" kern="1200">
              <a:solidFill>
                <a:schemeClr val="lt1"/>
              </a:solidFill>
              <a:latin typeface="+mn-lt"/>
              <a:ea typeface="+mn-ea"/>
              <a:cs typeface="+mn-cs"/>
            </a:endParaRPr>
          </a:p>
        </p:txBody>
      </p:sp>
      <p:sp>
        <p:nvSpPr>
          <p:cNvPr id="8" name="Rectangle 7"/>
          <p:cNvSpPr/>
          <p:nvPr/>
        </p:nvSpPr>
        <p:spPr>
          <a:xfrm>
            <a:off x="6955225" y="351409"/>
            <a:ext cx="1672235" cy="5877017"/>
          </a:xfrm>
          <a:prstGeom prst="rect">
            <a:avLst/>
          </a:prstGeom>
          <a:solidFill>
            <a:srgbClr val="FFFFFF"/>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Vertical Title 1"/>
          <p:cNvSpPr>
            <a:spLocks noGrp="1"/>
          </p:cNvSpPr>
          <p:nvPr>
            <p:ph type="title" orient="vert"/>
          </p:nvPr>
        </p:nvSpPr>
        <p:spPr>
          <a:xfrm>
            <a:off x="7048577" y="395427"/>
            <a:ext cx="1485531" cy="5788981"/>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7200" y="380999"/>
            <a:ext cx="6172200" cy="5791201"/>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2FF5F708-E6FD-45D6-9217-DC19B15E29CF}" type="datetimeFigureOut">
              <a:rPr lang="en-IN" smtClean="0"/>
              <a:t>13-08-2024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E2AAB72-75EC-4EA6-96C0-A7C806862DFD}" type="slidenum">
              <a:rPr lang="en-IN" smtClean="0"/>
              <a:t>‹#›</a:t>
            </a:fld>
            <a:endParaRPr lang="en-IN"/>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ight Triangle 6"/>
          <p:cNvSpPr/>
          <p:nvPr/>
        </p:nvSpPr>
        <p:spPr>
          <a:xfrm>
            <a:off x="0" y="2647950"/>
            <a:ext cx="3571875" cy="4210050"/>
          </a:xfrm>
          <a:prstGeom prst="r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reeform 7"/>
          <p:cNvSpPr/>
          <p:nvPr/>
        </p:nvSpPr>
        <p:spPr>
          <a:xfrm>
            <a:off x="-2380" y="-925"/>
            <a:ext cx="9146380" cy="6858925"/>
          </a:xfrm>
          <a:custGeom>
            <a:avLst/>
            <a:gdLst>
              <a:gd name="connsiteX0" fmla="*/ 0 w 3350419"/>
              <a:gd name="connsiteY0" fmla="*/ 2081213 h 2083594"/>
              <a:gd name="connsiteX1" fmla="*/ 3031331 w 3350419"/>
              <a:gd name="connsiteY1" fmla="*/ 0 h 2083594"/>
              <a:gd name="connsiteX2" fmla="*/ 3350419 w 3350419"/>
              <a:gd name="connsiteY2" fmla="*/ 80963 h 2083594"/>
              <a:gd name="connsiteX3" fmla="*/ 3350419 w 3350419"/>
              <a:gd name="connsiteY3" fmla="*/ 2083594 h 2083594"/>
              <a:gd name="connsiteX4" fmla="*/ 0 w 3350419"/>
              <a:gd name="connsiteY4" fmla="*/ 2081213 h 2083594"/>
              <a:gd name="connsiteX0" fmla="*/ 0 w 3112294"/>
              <a:gd name="connsiteY0" fmla="*/ 2019301 h 2083594"/>
              <a:gd name="connsiteX1" fmla="*/ 2793206 w 3112294"/>
              <a:gd name="connsiteY1" fmla="*/ 0 h 2083594"/>
              <a:gd name="connsiteX2" fmla="*/ 3112294 w 3112294"/>
              <a:gd name="connsiteY2" fmla="*/ 80963 h 2083594"/>
              <a:gd name="connsiteX3" fmla="*/ 3112294 w 3112294"/>
              <a:gd name="connsiteY3" fmla="*/ 2083594 h 2083594"/>
              <a:gd name="connsiteX4" fmla="*/ 0 w 3112294"/>
              <a:gd name="connsiteY4" fmla="*/ 2019301 h 2083594"/>
              <a:gd name="connsiteX0" fmla="*/ 0 w 3345656"/>
              <a:gd name="connsiteY0" fmla="*/ 2097882 h 2097882"/>
              <a:gd name="connsiteX1" fmla="*/ 3026568 w 3345656"/>
              <a:gd name="connsiteY1" fmla="*/ 0 h 2097882"/>
              <a:gd name="connsiteX2" fmla="*/ 3345656 w 3345656"/>
              <a:gd name="connsiteY2" fmla="*/ 80963 h 2097882"/>
              <a:gd name="connsiteX3" fmla="*/ 3345656 w 3345656"/>
              <a:gd name="connsiteY3" fmla="*/ 2083594 h 2097882"/>
              <a:gd name="connsiteX4" fmla="*/ 0 w 3345656"/>
              <a:gd name="connsiteY4" fmla="*/ 2097882 h 2097882"/>
              <a:gd name="connsiteX0" fmla="*/ 0 w 2800350"/>
              <a:gd name="connsiteY0" fmla="*/ 1935957 h 2083594"/>
              <a:gd name="connsiteX1" fmla="*/ 2481262 w 2800350"/>
              <a:gd name="connsiteY1" fmla="*/ 0 h 2083594"/>
              <a:gd name="connsiteX2" fmla="*/ 2800350 w 2800350"/>
              <a:gd name="connsiteY2" fmla="*/ 80963 h 2083594"/>
              <a:gd name="connsiteX3" fmla="*/ 2800350 w 2800350"/>
              <a:gd name="connsiteY3" fmla="*/ 2083594 h 2083594"/>
              <a:gd name="connsiteX4" fmla="*/ 0 w 2800350"/>
              <a:gd name="connsiteY4" fmla="*/ 1935957 h 2083594"/>
              <a:gd name="connsiteX0" fmla="*/ 0 w 3352800"/>
              <a:gd name="connsiteY0" fmla="*/ 2083594 h 2083594"/>
              <a:gd name="connsiteX1" fmla="*/ 3033712 w 3352800"/>
              <a:gd name="connsiteY1" fmla="*/ 0 h 2083594"/>
              <a:gd name="connsiteX2" fmla="*/ 3352800 w 3352800"/>
              <a:gd name="connsiteY2" fmla="*/ 80963 h 2083594"/>
              <a:gd name="connsiteX3" fmla="*/ 3352800 w 3352800"/>
              <a:gd name="connsiteY3" fmla="*/ 2083594 h 2083594"/>
              <a:gd name="connsiteX4" fmla="*/ 0 w 3352800"/>
              <a:gd name="connsiteY4" fmla="*/ 2083594 h 2083594"/>
              <a:gd name="connsiteX0" fmla="*/ 0 w 3352800"/>
              <a:gd name="connsiteY0" fmla="*/ 2002631 h 2002631"/>
              <a:gd name="connsiteX1" fmla="*/ 3033712 w 3352800"/>
              <a:gd name="connsiteY1" fmla="*/ 157162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988469 w 3352800"/>
              <a:gd name="connsiteY1" fmla="*/ 59530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33966 w 3352800"/>
              <a:gd name="connsiteY1" fmla="*/ 425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45314 w 3352800"/>
              <a:gd name="connsiteY1" fmla="*/ 12246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34839 w 3352800"/>
              <a:gd name="connsiteY1" fmla="*/ 425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75865 w 3352800"/>
              <a:gd name="connsiteY1" fmla="*/ 81782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901 h 2002901"/>
              <a:gd name="connsiteX1" fmla="*/ 2836585 w 3352800"/>
              <a:gd name="connsiteY1" fmla="*/ 0 h 2002901"/>
              <a:gd name="connsiteX2" fmla="*/ 3352800 w 3352800"/>
              <a:gd name="connsiteY2" fmla="*/ 270 h 2002901"/>
              <a:gd name="connsiteX3" fmla="*/ 3352800 w 3352800"/>
              <a:gd name="connsiteY3" fmla="*/ 2002901 h 2002901"/>
              <a:gd name="connsiteX4" fmla="*/ 0 w 3352800"/>
              <a:gd name="connsiteY4" fmla="*/ 2002901 h 20029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52800" h="2002901">
                <a:moveTo>
                  <a:pt x="0" y="2002901"/>
                </a:moveTo>
                <a:lnTo>
                  <a:pt x="2836585" y="0"/>
                </a:lnTo>
                <a:lnTo>
                  <a:pt x="3352800" y="270"/>
                </a:lnTo>
                <a:lnTo>
                  <a:pt x="3352800" y="2002901"/>
                </a:lnTo>
                <a:lnTo>
                  <a:pt x="0" y="2002901"/>
                </a:lnTo>
                <a:close/>
              </a:path>
            </a:pathLst>
          </a:custGeom>
          <a:solidFill>
            <a:schemeClr val="accent3">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rot="19140000">
            <a:off x="817112" y="1730403"/>
            <a:ext cx="5648623" cy="1204306"/>
          </a:xfrm>
        </p:spPr>
        <p:txBody>
          <a:bodyPr bIns="9144" anchor="b"/>
          <a:lstStyle>
            <a:lvl1pPr>
              <a:defRPr sz="3200"/>
            </a:lvl1pPr>
          </a:lstStyle>
          <a:p>
            <a:r>
              <a:rPr lang="en-US" smtClean="0"/>
              <a:t>Click to edit Master title style</a:t>
            </a:r>
            <a:endParaRPr lang="en-US" dirty="0"/>
          </a:p>
        </p:txBody>
      </p:sp>
      <p:sp>
        <p:nvSpPr>
          <p:cNvPr id="3" name="Subtitle 2"/>
          <p:cNvSpPr>
            <a:spLocks noGrp="1"/>
          </p:cNvSpPr>
          <p:nvPr>
            <p:ph type="subTitle" idx="1"/>
          </p:nvPr>
        </p:nvSpPr>
        <p:spPr>
          <a:xfrm rot="19140000">
            <a:off x="1212277" y="2470925"/>
            <a:ext cx="6511131" cy="329259"/>
          </a:xfrm>
        </p:spPr>
        <p:txBody>
          <a:bodyPr tIns="9144">
            <a:normAutofit/>
          </a:bodyPr>
          <a:lstStyle>
            <a:lvl1pPr marL="0" indent="0" algn="l">
              <a:buNone/>
              <a:defRPr kumimoji="0" lang="en-US" sz="1400" b="0" i="0" u="none" strike="noStrike" kern="1200" cap="all" spc="400" normalizeH="0" baseline="0" noProof="0" dirty="0" smtClean="0">
                <a:ln>
                  <a:noFill/>
                </a:ln>
                <a:solidFill>
                  <a:schemeClr val="tx1"/>
                </a:solidFill>
                <a:effectLst/>
                <a:uLnTx/>
                <a:uFillTx/>
                <a:latin typeface="+mn-lt"/>
                <a:ea typeface="+mj-ea"/>
                <a:cs typeface="Tunga" pitchFamily="2"/>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marL="0" marR="0" lvl="0" indent="0" algn="l" defTabSz="914400" rtl="0" eaLnBrk="1" fontAlgn="auto" latinLnBrk="0" hangingPunct="1">
              <a:lnSpc>
                <a:spcPct val="100000"/>
              </a:lnSpc>
              <a:spcBef>
                <a:spcPts val="0"/>
              </a:spcBef>
              <a:spcAft>
                <a:spcPts val="0"/>
              </a:spcAft>
              <a:buClr>
                <a:schemeClr val="accent1"/>
              </a:buClr>
              <a:buSzPct val="100000"/>
              <a:buFont typeface="Arial" pitchFamily="34" charset="0"/>
              <a:buNone/>
              <a:tabLst/>
              <a:defRPr/>
            </a:pPr>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2FF5F708-E6FD-45D6-9217-DC19B15E29CF}" type="datetimeFigureOut">
              <a:rPr lang="en-IN" smtClean="0"/>
              <a:t>13-08-2024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E2AAB72-75EC-4EA6-96C0-A7C806862DFD}" type="slidenum">
              <a:rPr lang="en-IN" smtClean="0"/>
              <a:t>‹#›</a:t>
            </a:fld>
            <a:endParaRPr lang="en-IN"/>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2FF5F708-E6FD-45D6-9217-DC19B15E29CF}" type="datetimeFigureOut">
              <a:rPr lang="en-IN" smtClean="0"/>
              <a:t>13-08-2024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E2AAB72-75EC-4EA6-96C0-A7C806862DFD}" type="slidenum">
              <a:rPr lang="en-IN" smtClean="0"/>
              <a:t>‹#›</a:t>
            </a:fld>
            <a:endParaRPr lang="en-IN"/>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8" name="Freeform 7"/>
          <p:cNvSpPr/>
          <p:nvPr/>
        </p:nvSpPr>
        <p:spPr>
          <a:xfrm>
            <a:off x="-2380" y="-925"/>
            <a:ext cx="9146380" cy="6858925"/>
          </a:xfrm>
          <a:custGeom>
            <a:avLst/>
            <a:gdLst>
              <a:gd name="connsiteX0" fmla="*/ 0 w 3350419"/>
              <a:gd name="connsiteY0" fmla="*/ 2081213 h 2083594"/>
              <a:gd name="connsiteX1" fmla="*/ 3031331 w 3350419"/>
              <a:gd name="connsiteY1" fmla="*/ 0 h 2083594"/>
              <a:gd name="connsiteX2" fmla="*/ 3350419 w 3350419"/>
              <a:gd name="connsiteY2" fmla="*/ 80963 h 2083594"/>
              <a:gd name="connsiteX3" fmla="*/ 3350419 w 3350419"/>
              <a:gd name="connsiteY3" fmla="*/ 2083594 h 2083594"/>
              <a:gd name="connsiteX4" fmla="*/ 0 w 3350419"/>
              <a:gd name="connsiteY4" fmla="*/ 2081213 h 2083594"/>
              <a:gd name="connsiteX0" fmla="*/ 0 w 3112294"/>
              <a:gd name="connsiteY0" fmla="*/ 2019301 h 2083594"/>
              <a:gd name="connsiteX1" fmla="*/ 2793206 w 3112294"/>
              <a:gd name="connsiteY1" fmla="*/ 0 h 2083594"/>
              <a:gd name="connsiteX2" fmla="*/ 3112294 w 3112294"/>
              <a:gd name="connsiteY2" fmla="*/ 80963 h 2083594"/>
              <a:gd name="connsiteX3" fmla="*/ 3112294 w 3112294"/>
              <a:gd name="connsiteY3" fmla="*/ 2083594 h 2083594"/>
              <a:gd name="connsiteX4" fmla="*/ 0 w 3112294"/>
              <a:gd name="connsiteY4" fmla="*/ 2019301 h 2083594"/>
              <a:gd name="connsiteX0" fmla="*/ 0 w 3345656"/>
              <a:gd name="connsiteY0" fmla="*/ 2097882 h 2097882"/>
              <a:gd name="connsiteX1" fmla="*/ 3026568 w 3345656"/>
              <a:gd name="connsiteY1" fmla="*/ 0 h 2097882"/>
              <a:gd name="connsiteX2" fmla="*/ 3345656 w 3345656"/>
              <a:gd name="connsiteY2" fmla="*/ 80963 h 2097882"/>
              <a:gd name="connsiteX3" fmla="*/ 3345656 w 3345656"/>
              <a:gd name="connsiteY3" fmla="*/ 2083594 h 2097882"/>
              <a:gd name="connsiteX4" fmla="*/ 0 w 3345656"/>
              <a:gd name="connsiteY4" fmla="*/ 2097882 h 2097882"/>
              <a:gd name="connsiteX0" fmla="*/ 0 w 2800350"/>
              <a:gd name="connsiteY0" fmla="*/ 1935957 h 2083594"/>
              <a:gd name="connsiteX1" fmla="*/ 2481262 w 2800350"/>
              <a:gd name="connsiteY1" fmla="*/ 0 h 2083594"/>
              <a:gd name="connsiteX2" fmla="*/ 2800350 w 2800350"/>
              <a:gd name="connsiteY2" fmla="*/ 80963 h 2083594"/>
              <a:gd name="connsiteX3" fmla="*/ 2800350 w 2800350"/>
              <a:gd name="connsiteY3" fmla="*/ 2083594 h 2083594"/>
              <a:gd name="connsiteX4" fmla="*/ 0 w 2800350"/>
              <a:gd name="connsiteY4" fmla="*/ 1935957 h 2083594"/>
              <a:gd name="connsiteX0" fmla="*/ 0 w 3352800"/>
              <a:gd name="connsiteY0" fmla="*/ 2083594 h 2083594"/>
              <a:gd name="connsiteX1" fmla="*/ 3033712 w 3352800"/>
              <a:gd name="connsiteY1" fmla="*/ 0 h 2083594"/>
              <a:gd name="connsiteX2" fmla="*/ 3352800 w 3352800"/>
              <a:gd name="connsiteY2" fmla="*/ 80963 h 2083594"/>
              <a:gd name="connsiteX3" fmla="*/ 3352800 w 3352800"/>
              <a:gd name="connsiteY3" fmla="*/ 2083594 h 2083594"/>
              <a:gd name="connsiteX4" fmla="*/ 0 w 3352800"/>
              <a:gd name="connsiteY4" fmla="*/ 2083594 h 2083594"/>
              <a:gd name="connsiteX0" fmla="*/ 0 w 3352800"/>
              <a:gd name="connsiteY0" fmla="*/ 2002631 h 2002631"/>
              <a:gd name="connsiteX1" fmla="*/ 3033712 w 3352800"/>
              <a:gd name="connsiteY1" fmla="*/ 157162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988469 w 3352800"/>
              <a:gd name="connsiteY1" fmla="*/ 59530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33966 w 3352800"/>
              <a:gd name="connsiteY1" fmla="*/ 425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45314 w 3352800"/>
              <a:gd name="connsiteY1" fmla="*/ 12246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34839 w 3352800"/>
              <a:gd name="connsiteY1" fmla="*/ 425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75865 w 3352800"/>
              <a:gd name="connsiteY1" fmla="*/ 81782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901 h 2002901"/>
              <a:gd name="connsiteX1" fmla="*/ 2836585 w 3352800"/>
              <a:gd name="connsiteY1" fmla="*/ 0 h 2002901"/>
              <a:gd name="connsiteX2" fmla="*/ 3352800 w 3352800"/>
              <a:gd name="connsiteY2" fmla="*/ 270 h 2002901"/>
              <a:gd name="connsiteX3" fmla="*/ 3352800 w 3352800"/>
              <a:gd name="connsiteY3" fmla="*/ 2002901 h 2002901"/>
              <a:gd name="connsiteX4" fmla="*/ 0 w 3352800"/>
              <a:gd name="connsiteY4" fmla="*/ 2002901 h 20029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52800" h="2002901">
                <a:moveTo>
                  <a:pt x="0" y="2002901"/>
                </a:moveTo>
                <a:lnTo>
                  <a:pt x="2836585" y="0"/>
                </a:lnTo>
                <a:lnTo>
                  <a:pt x="3352800" y="270"/>
                </a:lnTo>
                <a:lnTo>
                  <a:pt x="3352800" y="2002901"/>
                </a:lnTo>
                <a:lnTo>
                  <a:pt x="0" y="2002901"/>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ight Triangle 6"/>
          <p:cNvSpPr/>
          <p:nvPr/>
        </p:nvSpPr>
        <p:spPr>
          <a:xfrm>
            <a:off x="0" y="2647950"/>
            <a:ext cx="3571875" cy="4210050"/>
          </a:xfrm>
          <a:prstGeom prst="rtTriangle">
            <a:avLst/>
          </a:prstGeom>
          <a:solidFill>
            <a:schemeClr val="accent3">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rot="19140000">
            <a:off x="819399" y="1726737"/>
            <a:ext cx="5650992" cy="1207509"/>
          </a:xfrm>
        </p:spPr>
        <p:txBody>
          <a:bodyPr bIns="9144" anchor="b"/>
          <a:lstStyle>
            <a:lvl1pPr algn="l">
              <a:defRPr kumimoji="0" lang="en-US" sz="3200" b="0" i="0" u="none" strike="noStrike" kern="1200" cap="all" spc="0" normalizeH="0" baseline="0" noProof="0" dirty="0" smtClean="0">
                <a:ln>
                  <a:noFill/>
                </a:ln>
                <a:solidFill>
                  <a:schemeClr val="tx1"/>
                </a:solidFill>
                <a:effectLst/>
                <a:uLnTx/>
                <a:uFillTx/>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lang="en-US" smtClean="0"/>
              <a:t>Click to edit Master title style</a:t>
            </a:r>
            <a:endParaRPr lang="en-US" dirty="0"/>
          </a:p>
        </p:txBody>
      </p:sp>
      <p:sp>
        <p:nvSpPr>
          <p:cNvPr id="3" name="Text Placeholder 2"/>
          <p:cNvSpPr>
            <a:spLocks noGrp="1"/>
          </p:cNvSpPr>
          <p:nvPr>
            <p:ph type="body" idx="1"/>
          </p:nvPr>
        </p:nvSpPr>
        <p:spPr>
          <a:xfrm rot="19140000">
            <a:off x="1216152" y="2468304"/>
            <a:ext cx="6510528" cy="329184"/>
          </a:xfrm>
        </p:spPr>
        <p:txBody>
          <a:bodyPr anchor="t">
            <a:normAutofit/>
          </a:bodyPr>
          <a:lstStyle>
            <a:lvl1pPr marL="0" indent="0">
              <a:buNone/>
              <a:defRPr kumimoji="0" lang="en-US" sz="1400" b="0" i="0" u="none" strike="noStrike" kern="1200" cap="all" spc="400" normalizeH="0" baseline="0" noProof="0" dirty="0" smtClean="0">
                <a:ln>
                  <a:noFill/>
                </a:ln>
                <a:solidFill>
                  <a:schemeClr val="tx1"/>
                </a:solidFill>
                <a:effectLst/>
                <a:uLnTx/>
                <a:uFillTx/>
                <a:latin typeface="+mn-lt"/>
                <a:ea typeface="+mj-ea"/>
                <a:cs typeface="Tunga" pitchFamily="2"/>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marL="0" marR="0" lvl="0" indent="0" algn="l" defTabSz="914400" rtl="0" eaLnBrk="1" fontAlgn="auto" latinLnBrk="0" hangingPunct="1">
              <a:lnSpc>
                <a:spcPct val="100000"/>
              </a:lnSpc>
              <a:spcBef>
                <a:spcPts val="0"/>
              </a:spcBef>
              <a:spcAft>
                <a:spcPts val="0"/>
              </a:spcAft>
              <a:buClr>
                <a:schemeClr val="accent1"/>
              </a:buClr>
              <a:buSzPct val="100000"/>
              <a:buFont typeface="Arial" pitchFamily="34" charset="0"/>
              <a:buNone/>
              <a:tabLst/>
              <a:defRPr/>
            </a:pPr>
            <a:r>
              <a:rPr lang="en-US" smtClean="0"/>
              <a:t>Click to edit Master text styles</a:t>
            </a:r>
          </a:p>
        </p:txBody>
      </p:sp>
      <p:sp>
        <p:nvSpPr>
          <p:cNvPr id="4" name="Date Placeholder 3"/>
          <p:cNvSpPr>
            <a:spLocks noGrp="1"/>
          </p:cNvSpPr>
          <p:nvPr>
            <p:ph type="dt" sz="half" idx="10"/>
          </p:nvPr>
        </p:nvSpPr>
        <p:spPr/>
        <p:txBody>
          <a:bodyPr/>
          <a:lstStyle/>
          <a:p>
            <a:fld id="{2FF5F708-E6FD-45D6-9217-DC19B15E29CF}" type="datetimeFigureOut">
              <a:rPr lang="en-IN" smtClean="0"/>
              <a:t>13-08-2024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E2AAB72-75EC-4EA6-96C0-A7C806862DFD}" type="slidenum">
              <a:rPr lang="en-IN" smtClean="0"/>
              <a:t>‹#›</a:t>
            </a:fld>
            <a:endParaRPr lang="en-IN"/>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822960" y="1097280"/>
            <a:ext cx="3200400" cy="371246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700016" y="1097280"/>
            <a:ext cx="3200400" cy="371246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2FF5F708-E6FD-45D6-9217-DC19B15E29CF}" type="datetimeFigureOut">
              <a:rPr lang="en-IN" smtClean="0"/>
              <a:t>13-08-2024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E2AAB72-75EC-4EA6-96C0-A7C806862DFD}" type="slidenum">
              <a:rPr lang="en-IN" smtClean="0"/>
              <a:t>‹#›</a:t>
            </a:fld>
            <a:endParaRPr lang="en-IN"/>
          </a:p>
        </p:txBody>
      </p:sp>
      <p:sp>
        <p:nvSpPr>
          <p:cNvPr id="8" name="Title 7"/>
          <p:cNvSpPr>
            <a:spLocks noGrp="1"/>
          </p:cNvSpPr>
          <p:nvPr>
            <p:ph type="title"/>
          </p:nvPr>
        </p:nvSpPr>
        <p:spPr/>
        <p:txBody>
          <a:bodyPr/>
          <a:lstStyle/>
          <a:p>
            <a:r>
              <a:rPr lang="en-US" smtClean="0"/>
              <a:t>Click to edit Master title style</a:t>
            </a:r>
            <a:endParaRPr lang="en-US"/>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822960" y="1097280"/>
            <a:ext cx="3200400" cy="548640"/>
          </a:xfrm>
        </p:spPr>
        <p:txBody>
          <a:bodyPr anchor="b">
            <a:normAutofit/>
          </a:bodyPr>
          <a:lstStyle>
            <a:lvl1pPr marL="0" indent="0">
              <a:buNone/>
              <a:defRPr lang="en-US" sz="1400" b="0" kern="1200" cap="all" spc="400" baseline="0" dirty="0" smtClean="0">
                <a:solidFill>
                  <a:schemeClr val="tx1"/>
                </a:solidFill>
                <a:latin typeface="+mn-lt"/>
                <a:ea typeface="+mj-ea"/>
                <a:cs typeface="Tunga" pitchFamily="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100000"/>
              </a:lnSpc>
              <a:spcBef>
                <a:spcPts val="0"/>
              </a:spcBef>
              <a:spcAft>
                <a:spcPts val="0"/>
              </a:spcAft>
              <a:buClr>
                <a:schemeClr val="accent1"/>
              </a:buClr>
              <a:buFont typeface="Arial" pitchFamily="34" charset="0"/>
              <a:buNone/>
            </a:pPr>
            <a:r>
              <a:rPr lang="en-US" smtClean="0"/>
              <a:t>Click to edit Master text styles</a:t>
            </a:r>
          </a:p>
        </p:txBody>
      </p:sp>
      <p:sp>
        <p:nvSpPr>
          <p:cNvPr id="4" name="Content Placeholder 3"/>
          <p:cNvSpPr>
            <a:spLocks noGrp="1"/>
          </p:cNvSpPr>
          <p:nvPr>
            <p:ph sz="half" idx="2"/>
          </p:nvPr>
        </p:nvSpPr>
        <p:spPr>
          <a:xfrm>
            <a:off x="819150" y="1701848"/>
            <a:ext cx="3200400" cy="310896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700016" y="1097280"/>
            <a:ext cx="3200400" cy="548640"/>
          </a:xfrm>
        </p:spPr>
        <p:txBody>
          <a:bodyPr anchor="b">
            <a:normAutofit/>
          </a:bodyPr>
          <a:lstStyle>
            <a:lvl1pPr marL="0" indent="0">
              <a:buNone/>
              <a:defRPr lang="en-US" sz="1400" b="0" kern="1200" cap="all" spc="400" baseline="0" dirty="0" smtClean="0">
                <a:solidFill>
                  <a:schemeClr val="tx1"/>
                </a:solidFill>
                <a:latin typeface="+mn-lt"/>
                <a:ea typeface="+mj-ea"/>
                <a:cs typeface="Tunga" pitchFamily="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100000"/>
              </a:lnSpc>
              <a:spcBef>
                <a:spcPts val="0"/>
              </a:spcBef>
              <a:spcAft>
                <a:spcPts val="0"/>
              </a:spcAft>
              <a:buClr>
                <a:schemeClr val="accent1"/>
              </a:buClr>
              <a:buFont typeface="Arial" pitchFamily="34" charset="0"/>
              <a:buNone/>
            </a:pPr>
            <a:r>
              <a:rPr lang="en-US" smtClean="0"/>
              <a:t>Click to edit Master text styles</a:t>
            </a:r>
          </a:p>
        </p:txBody>
      </p:sp>
      <p:sp>
        <p:nvSpPr>
          <p:cNvPr id="6" name="Content Placeholder 5"/>
          <p:cNvSpPr>
            <a:spLocks noGrp="1"/>
          </p:cNvSpPr>
          <p:nvPr>
            <p:ph sz="quarter" idx="4"/>
          </p:nvPr>
        </p:nvSpPr>
        <p:spPr>
          <a:xfrm>
            <a:off x="4700016" y="1701848"/>
            <a:ext cx="3200400" cy="310896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2FF5F708-E6FD-45D6-9217-DC19B15E29CF}" type="datetimeFigureOut">
              <a:rPr lang="en-IN" smtClean="0"/>
              <a:t>13-08-2024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8E2AAB72-75EC-4EA6-96C0-A7C806862DFD}" type="slidenum">
              <a:rPr lang="en-IN" smtClean="0"/>
              <a:t>‹#›</a:t>
            </a:fld>
            <a:endParaRPr lang="en-IN"/>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2FF5F708-E6FD-45D6-9217-DC19B15E29CF}" type="datetimeFigureOut">
              <a:rPr lang="en-IN" smtClean="0"/>
              <a:t>13-08-2024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8E2AAB72-75EC-4EA6-96C0-A7C806862DFD}" type="slidenum">
              <a:rPr lang="en-IN" smtClean="0"/>
              <a:t>‹#›</a:t>
            </a:fld>
            <a:endParaRPr lang="en-IN"/>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FF5F708-E6FD-45D6-9217-DC19B15E29CF}" type="datetimeFigureOut">
              <a:rPr lang="en-IN" smtClean="0"/>
              <a:t>13-08-2024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8E2AAB72-75EC-4EA6-96C0-A7C806862DFD}" type="slidenum">
              <a:rPr lang="en-IN" smtClean="0"/>
              <a:t>‹#›</a:t>
            </a:fld>
            <a:endParaRPr lang="en-IN"/>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7" name="Right Triangle 16"/>
          <p:cNvSpPr/>
          <p:nvPr/>
        </p:nvSpPr>
        <p:spPr>
          <a:xfrm>
            <a:off x="0" y="2647950"/>
            <a:ext cx="3571875" cy="4210050"/>
          </a:xfrm>
          <a:prstGeom prst="r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ight Triangle 17"/>
          <p:cNvSpPr/>
          <p:nvPr/>
        </p:nvSpPr>
        <p:spPr>
          <a:xfrm rot="5400000">
            <a:off x="433389" y="-433387"/>
            <a:ext cx="6858000" cy="7724778"/>
          </a:xfrm>
          <a:prstGeom prst="rtTriangle">
            <a:avLst/>
          </a:prstGeom>
          <a:solidFill>
            <a:schemeClr val="accent3">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endParaRPr lang="en-US" sz="1800" kern="1200">
              <a:solidFill>
                <a:schemeClr val="lt1"/>
              </a:solidFill>
              <a:latin typeface="+mn-lt"/>
              <a:ea typeface="+mn-ea"/>
              <a:cs typeface="+mn-cs"/>
            </a:endParaRPr>
          </a:p>
        </p:txBody>
      </p:sp>
      <p:sp>
        <p:nvSpPr>
          <p:cNvPr id="2" name="Title 1"/>
          <p:cNvSpPr>
            <a:spLocks noGrp="1"/>
          </p:cNvSpPr>
          <p:nvPr>
            <p:ph type="title"/>
          </p:nvPr>
        </p:nvSpPr>
        <p:spPr>
          <a:xfrm rot="19140000">
            <a:off x="784930" y="1576103"/>
            <a:ext cx="5212080" cy="1089427"/>
          </a:xfrm>
        </p:spPr>
        <p:txBody>
          <a:bodyPr bIns="0" anchor="b"/>
          <a:lstStyle>
            <a:lvl1pPr algn="l">
              <a:defRPr kumimoji="0" lang="en-US" sz="2800" b="0" i="0" u="none" strike="noStrike" kern="1200" cap="all" spc="0" normalizeH="0" baseline="0" noProof="0" dirty="0" smtClean="0">
                <a:ln>
                  <a:noFill/>
                </a:ln>
                <a:solidFill>
                  <a:srgbClr val="FFFFFF"/>
                </a:solidFill>
                <a:effectLst/>
                <a:uLnTx/>
                <a:uFillTx/>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lang="en-US" smtClean="0"/>
              <a:t>Click to edit Master title style</a:t>
            </a:r>
            <a:endParaRPr lang="en-US" dirty="0"/>
          </a:p>
        </p:txBody>
      </p:sp>
      <p:sp>
        <p:nvSpPr>
          <p:cNvPr id="3" name="Content Placeholder 2"/>
          <p:cNvSpPr>
            <a:spLocks noGrp="1"/>
          </p:cNvSpPr>
          <p:nvPr>
            <p:ph idx="1"/>
          </p:nvPr>
        </p:nvSpPr>
        <p:spPr>
          <a:xfrm>
            <a:off x="4749552" y="2618912"/>
            <a:ext cx="3807779" cy="3324687"/>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rot="19140000">
            <a:off x="1297954" y="2253385"/>
            <a:ext cx="5794760" cy="623314"/>
          </a:xfrm>
        </p:spPr>
        <p:txBody>
          <a:bodyPr>
            <a:normAutofit/>
          </a:bodyPr>
          <a:lstStyle>
            <a:lvl1pPr marL="0" indent="0">
              <a:buNone/>
              <a:defRPr lang="en-US" sz="1400" b="1" kern="1200" dirty="0" smtClean="0">
                <a:solidFill>
                  <a:srgbClr val="FFFFFF"/>
                </a:solidFill>
                <a:latin typeface="+mn-lt"/>
                <a:ea typeface="+mn-ea"/>
                <a:cs typeface="+mn-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marR="0" lvl="0" indent="0" algn="l" defTabSz="914400" rtl="0" eaLnBrk="1" fontAlgn="auto" latinLnBrk="0" hangingPunct="1">
              <a:lnSpc>
                <a:spcPct val="100000"/>
              </a:lnSpc>
              <a:spcBef>
                <a:spcPts val="300"/>
              </a:spcBef>
              <a:spcAft>
                <a:spcPts val="0"/>
              </a:spcAft>
              <a:buClr>
                <a:schemeClr val="accent1"/>
              </a:buClr>
              <a:buSzPct val="100000"/>
              <a:buFont typeface="Arial" pitchFamily="34" charset="0"/>
              <a:buNone/>
              <a:tabLst/>
              <a:defRPr/>
            </a:pPr>
            <a:r>
              <a:rPr lang="en-US" smtClean="0"/>
              <a:t>Click to edit Master text styles</a:t>
            </a:r>
          </a:p>
        </p:txBody>
      </p:sp>
      <p:sp>
        <p:nvSpPr>
          <p:cNvPr id="5" name="Date Placeholder 4"/>
          <p:cNvSpPr>
            <a:spLocks noGrp="1"/>
          </p:cNvSpPr>
          <p:nvPr>
            <p:ph type="dt" sz="half" idx="10"/>
          </p:nvPr>
        </p:nvSpPr>
        <p:spPr/>
        <p:txBody>
          <a:bodyPr/>
          <a:lstStyle/>
          <a:p>
            <a:fld id="{2FF5F708-E6FD-45D6-9217-DC19B15E29CF}" type="datetimeFigureOut">
              <a:rPr lang="en-IN" smtClean="0"/>
              <a:t>13-08-2024</a:t>
            </a:fld>
            <a:endParaRPr lang="en-IN"/>
          </a:p>
        </p:txBody>
      </p:sp>
      <p:sp>
        <p:nvSpPr>
          <p:cNvPr id="6" name="Footer Placeholder 5"/>
          <p:cNvSpPr>
            <a:spLocks noGrp="1"/>
          </p:cNvSpPr>
          <p:nvPr>
            <p:ph type="ftr" sz="quarter" idx="11"/>
          </p:nvPr>
        </p:nvSpPr>
        <p:spPr/>
        <p:txBody>
          <a:bodyPr/>
          <a:lstStyle>
            <a:lvl1pPr>
              <a:defRPr>
                <a:solidFill>
                  <a:schemeClr val="tx2"/>
                </a:solidFill>
              </a:defRPr>
            </a:lvl1pPr>
          </a:lstStyle>
          <a:p>
            <a:endParaRPr lang="en-IN"/>
          </a:p>
        </p:txBody>
      </p:sp>
      <p:sp>
        <p:nvSpPr>
          <p:cNvPr id="7" name="Slide Number Placeholder 6"/>
          <p:cNvSpPr>
            <a:spLocks noGrp="1"/>
          </p:cNvSpPr>
          <p:nvPr>
            <p:ph type="sldNum" sz="quarter" idx="12"/>
          </p:nvPr>
        </p:nvSpPr>
        <p:spPr>
          <a:ln>
            <a:solidFill>
              <a:schemeClr val="tx2"/>
            </a:solidFill>
          </a:ln>
        </p:spPr>
        <p:txBody>
          <a:bodyPr/>
          <a:lstStyle>
            <a:lvl1pPr>
              <a:defRPr>
                <a:solidFill>
                  <a:schemeClr val="tx2"/>
                </a:solidFill>
              </a:defRPr>
            </a:lvl1pPr>
          </a:lstStyle>
          <a:p>
            <a:fld id="{8E2AAB72-75EC-4EA6-96C0-A7C806862DFD}" type="slidenum">
              <a:rPr lang="en-IN" smtClean="0"/>
              <a:t>‹#›</a:t>
            </a:fld>
            <a:endParaRPr lang="en-IN"/>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1" name="Picture Placeholder 10"/>
          <p:cNvSpPr>
            <a:spLocks noGrp="1"/>
          </p:cNvSpPr>
          <p:nvPr>
            <p:ph type="pic" sz="quarter" idx="14"/>
          </p:nvPr>
        </p:nvSpPr>
        <p:spPr>
          <a:xfrm>
            <a:off x="2028825" y="0"/>
            <a:ext cx="7115175" cy="6858000"/>
          </a:xfrm>
          <a:custGeom>
            <a:avLst/>
            <a:gdLst>
              <a:gd name="connsiteX0" fmla="*/ 0 w 7104888"/>
              <a:gd name="connsiteY0" fmla="*/ 0 h 6858000"/>
              <a:gd name="connsiteX1" fmla="*/ 7104888 w 7104888"/>
              <a:gd name="connsiteY1" fmla="*/ 0 h 6858000"/>
              <a:gd name="connsiteX2" fmla="*/ 7104888 w 7104888"/>
              <a:gd name="connsiteY2" fmla="*/ 6858000 h 6858000"/>
              <a:gd name="connsiteX3" fmla="*/ 0 w 7104888"/>
              <a:gd name="connsiteY3" fmla="*/ 6858000 h 6858000"/>
              <a:gd name="connsiteX4" fmla="*/ 0 w 7104888"/>
              <a:gd name="connsiteY4" fmla="*/ 0 h 6858000"/>
              <a:gd name="connsiteX0" fmla="*/ 0 w 7104888"/>
              <a:gd name="connsiteY0" fmla="*/ 0 h 6858000"/>
              <a:gd name="connsiteX1" fmla="*/ 5695188 w 7104888"/>
              <a:gd name="connsiteY1" fmla="*/ 0 h 6858000"/>
              <a:gd name="connsiteX2" fmla="*/ 7104888 w 7104888"/>
              <a:gd name="connsiteY2" fmla="*/ 0 h 6858000"/>
              <a:gd name="connsiteX3" fmla="*/ 7104888 w 7104888"/>
              <a:gd name="connsiteY3" fmla="*/ 6858000 h 6858000"/>
              <a:gd name="connsiteX4" fmla="*/ 0 w 7104888"/>
              <a:gd name="connsiteY4" fmla="*/ 6858000 h 6858000"/>
              <a:gd name="connsiteX5" fmla="*/ 0 w 7104888"/>
              <a:gd name="connsiteY5" fmla="*/ 0 h 6858000"/>
              <a:gd name="connsiteX0" fmla="*/ 10287 w 7115175"/>
              <a:gd name="connsiteY0" fmla="*/ 0 h 6858000"/>
              <a:gd name="connsiteX1" fmla="*/ 5705475 w 7115175"/>
              <a:gd name="connsiteY1" fmla="*/ 0 h 6858000"/>
              <a:gd name="connsiteX2" fmla="*/ 7115175 w 7115175"/>
              <a:gd name="connsiteY2" fmla="*/ 0 h 6858000"/>
              <a:gd name="connsiteX3" fmla="*/ 7115175 w 7115175"/>
              <a:gd name="connsiteY3" fmla="*/ 6858000 h 6858000"/>
              <a:gd name="connsiteX4" fmla="*/ 10287 w 7115175"/>
              <a:gd name="connsiteY4" fmla="*/ 6858000 h 6858000"/>
              <a:gd name="connsiteX5" fmla="*/ 0 w 7115175"/>
              <a:gd name="connsiteY5" fmla="*/ 5048250 h 6858000"/>
              <a:gd name="connsiteX6" fmla="*/ 10287 w 7115175"/>
              <a:gd name="connsiteY6" fmla="*/ 0 h 6858000"/>
              <a:gd name="connsiteX0" fmla="*/ 10287 w 7115175"/>
              <a:gd name="connsiteY0" fmla="*/ 0 h 6858000"/>
              <a:gd name="connsiteX1" fmla="*/ 5705475 w 7115175"/>
              <a:gd name="connsiteY1" fmla="*/ 0 h 6858000"/>
              <a:gd name="connsiteX2" fmla="*/ 7115175 w 7115175"/>
              <a:gd name="connsiteY2" fmla="*/ 0 h 6858000"/>
              <a:gd name="connsiteX3" fmla="*/ 7115175 w 7115175"/>
              <a:gd name="connsiteY3" fmla="*/ 6858000 h 6858000"/>
              <a:gd name="connsiteX4" fmla="*/ 1533526 w 7115175"/>
              <a:gd name="connsiteY4" fmla="*/ 6848475 h 6858000"/>
              <a:gd name="connsiteX5" fmla="*/ 10287 w 7115175"/>
              <a:gd name="connsiteY5" fmla="*/ 6858000 h 6858000"/>
              <a:gd name="connsiteX6" fmla="*/ 0 w 7115175"/>
              <a:gd name="connsiteY6" fmla="*/ 5048250 h 6858000"/>
              <a:gd name="connsiteX7" fmla="*/ 10287 w 7115175"/>
              <a:gd name="connsiteY7" fmla="*/ 0 h 6858000"/>
              <a:gd name="connsiteX0" fmla="*/ 10287 w 7115175"/>
              <a:gd name="connsiteY0" fmla="*/ 0 h 6858000"/>
              <a:gd name="connsiteX1" fmla="*/ 5705475 w 7115175"/>
              <a:gd name="connsiteY1" fmla="*/ 0 h 6858000"/>
              <a:gd name="connsiteX2" fmla="*/ 7115175 w 7115175"/>
              <a:gd name="connsiteY2" fmla="*/ 0 h 6858000"/>
              <a:gd name="connsiteX3" fmla="*/ 7115175 w 7115175"/>
              <a:gd name="connsiteY3" fmla="*/ 6858000 h 6858000"/>
              <a:gd name="connsiteX4" fmla="*/ 1533526 w 7115175"/>
              <a:gd name="connsiteY4" fmla="*/ 6848475 h 6858000"/>
              <a:gd name="connsiteX5" fmla="*/ 0 w 7115175"/>
              <a:gd name="connsiteY5" fmla="*/ 5048250 h 6858000"/>
              <a:gd name="connsiteX6" fmla="*/ 10287 w 7115175"/>
              <a:gd name="connsiteY6" fmla="*/ 0 h 6858000"/>
              <a:gd name="connsiteX0" fmla="*/ 0 w 7115175"/>
              <a:gd name="connsiteY0" fmla="*/ 5048250 h 6858000"/>
              <a:gd name="connsiteX1" fmla="*/ 5705475 w 7115175"/>
              <a:gd name="connsiteY1" fmla="*/ 0 h 6858000"/>
              <a:gd name="connsiteX2" fmla="*/ 7115175 w 7115175"/>
              <a:gd name="connsiteY2" fmla="*/ 0 h 6858000"/>
              <a:gd name="connsiteX3" fmla="*/ 7115175 w 7115175"/>
              <a:gd name="connsiteY3" fmla="*/ 6858000 h 6858000"/>
              <a:gd name="connsiteX4" fmla="*/ 1533526 w 7115175"/>
              <a:gd name="connsiteY4" fmla="*/ 6848475 h 6858000"/>
              <a:gd name="connsiteX5" fmla="*/ 0 w 7115175"/>
              <a:gd name="connsiteY5" fmla="*/ 504825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115175" h="6858000">
                <a:moveTo>
                  <a:pt x="0" y="5048250"/>
                </a:moveTo>
                <a:lnTo>
                  <a:pt x="5705475" y="0"/>
                </a:lnTo>
                <a:lnTo>
                  <a:pt x="7115175" y="0"/>
                </a:lnTo>
                <a:lnTo>
                  <a:pt x="7115175" y="6858000"/>
                </a:lnTo>
                <a:lnTo>
                  <a:pt x="1533526" y="6848475"/>
                </a:lnTo>
                <a:lnTo>
                  <a:pt x="0" y="5048250"/>
                </a:lnTo>
                <a:close/>
              </a:path>
            </a:pathLst>
          </a:custGeom>
          <a:solidFill>
            <a:schemeClr val="accent3">
              <a:alpha val="80000"/>
            </a:schemeClr>
          </a:solidFill>
        </p:spPr>
        <p:txBody>
          <a:bodyPr rIns="182880" anchor="ctr"/>
          <a:lstStyle>
            <a:lvl1pPr algn="r">
              <a:defRPr/>
            </a:lvl1pPr>
          </a:lstStyle>
          <a:p>
            <a:r>
              <a:rPr lang="en-US" smtClean="0"/>
              <a:t>Click icon to add picture</a:t>
            </a:r>
            <a:endParaRPr lang="en-US" dirty="0"/>
          </a:p>
        </p:txBody>
      </p:sp>
      <p:sp>
        <p:nvSpPr>
          <p:cNvPr id="9" name="Right Triangle 8"/>
          <p:cNvSpPr/>
          <p:nvPr/>
        </p:nvSpPr>
        <p:spPr>
          <a:xfrm>
            <a:off x="0" y="2647950"/>
            <a:ext cx="3571875" cy="4210050"/>
          </a:xfrm>
          <a:prstGeom prst="r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9"/>
          <p:cNvSpPr/>
          <p:nvPr/>
        </p:nvSpPr>
        <p:spPr>
          <a:xfrm>
            <a:off x="0" y="5048250"/>
            <a:ext cx="3571875" cy="1809750"/>
          </a:xfrm>
          <a:custGeom>
            <a:avLst/>
            <a:gdLst>
              <a:gd name="connsiteX0" fmla="*/ 0 w 3571875"/>
              <a:gd name="connsiteY0" fmla="*/ 4210050 h 4210050"/>
              <a:gd name="connsiteX1" fmla="*/ 0 w 3571875"/>
              <a:gd name="connsiteY1" fmla="*/ 0 h 4210050"/>
              <a:gd name="connsiteX2" fmla="*/ 3571875 w 3571875"/>
              <a:gd name="connsiteY2" fmla="*/ 4210050 h 4210050"/>
              <a:gd name="connsiteX3" fmla="*/ 0 w 3571875"/>
              <a:gd name="connsiteY3" fmla="*/ 4210050 h 4210050"/>
              <a:gd name="connsiteX0" fmla="*/ 0 w 3571875"/>
              <a:gd name="connsiteY0" fmla="*/ 1809750 h 1809750"/>
              <a:gd name="connsiteX1" fmla="*/ 1895475 w 3571875"/>
              <a:gd name="connsiteY1" fmla="*/ 0 h 1809750"/>
              <a:gd name="connsiteX2" fmla="*/ 3571875 w 3571875"/>
              <a:gd name="connsiteY2" fmla="*/ 1809750 h 1809750"/>
              <a:gd name="connsiteX3" fmla="*/ 0 w 3571875"/>
              <a:gd name="connsiteY3" fmla="*/ 1809750 h 1809750"/>
              <a:gd name="connsiteX0" fmla="*/ 0 w 3571875"/>
              <a:gd name="connsiteY0" fmla="*/ 1809750 h 1809750"/>
              <a:gd name="connsiteX1" fmla="*/ 2038350 w 3571875"/>
              <a:gd name="connsiteY1" fmla="*/ 0 h 1809750"/>
              <a:gd name="connsiteX2" fmla="*/ 3571875 w 3571875"/>
              <a:gd name="connsiteY2" fmla="*/ 1809750 h 1809750"/>
              <a:gd name="connsiteX3" fmla="*/ 0 w 3571875"/>
              <a:gd name="connsiteY3" fmla="*/ 1809750 h 1809750"/>
            </a:gdLst>
            <a:ahLst/>
            <a:cxnLst>
              <a:cxn ang="0">
                <a:pos x="connsiteX0" y="connsiteY0"/>
              </a:cxn>
              <a:cxn ang="0">
                <a:pos x="connsiteX1" y="connsiteY1"/>
              </a:cxn>
              <a:cxn ang="0">
                <a:pos x="connsiteX2" y="connsiteY2"/>
              </a:cxn>
              <a:cxn ang="0">
                <a:pos x="connsiteX3" y="connsiteY3"/>
              </a:cxn>
            </a:cxnLst>
            <a:rect l="l" t="t" r="r" b="b"/>
            <a:pathLst>
              <a:path w="3571875" h="1809750">
                <a:moveTo>
                  <a:pt x="0" y="1809750"/>
                </a:moveTo>
                <a:lnTo>
                  <a:pt x="2038350" y="0"/>
                </a:lnTo>
                <a:lnTo>
                  <a:pt x="3571875" y="1809750"/>
                </a:lnTo>
                <a:lnTo>
                  <a:pt x="0" y="1809750"/>
                </a:lnTo>
                <a:close/>
              </a:path>
            </a:pathLst>
          </a:custGeom>
          <a:solidFill>
            <a:schemeClr val="accent3">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rot="19140000">
            <a:off x="671197" y="1717501"/>
            <a:ext cx="5486400" cy="867444"/>
          </a:xfrm>
        </p:spPr>
        <p:txBody>
          <a:bodyPr anchor="b"/>
          <a:lstStyle>
            <a:lvl1pPr algn="l">
              <a:defRPr sz="2800" b="0">
                <a:latin typeface="+mj-lt"/>
              </a:defRPr>
            </a:lvl1pPr>
          </a:lstStyle>
          <a:p>
            <a:r>
              <a:rPr lang="en-US" smtClean="0"/>
              <a:t>Click to edit Master title style</a:t>
            </a:r>
            <a:endParaRPr lang="en-US" dirty="0"/>
          </a:p>
        </p:txBody>
      </p:sp>
      <p:sp>
        <p:nvSpPr>
          <p:cNvPr id="4" name="Text Placeholder 3"/>
          <p:cNvSpPr>
            <a:spLocks noGrp="1"/>
          </p:cNvSpPr>
          <p:nvPr>
            <p:ph type="body" sz="half" idx="2"/>
          </p:nvPr>
        </p:nvSpPr>
        <p:spPr>
          <a:xfrm rot="19140000">
            <a:off x="1143479" y="2180529"/>
            <a:ext cx="6096545" cy="740664"/>
          </a:xfrm>
        </p:spPr>
        <p:txBody>
          <a:bodyPr/>
          <a:lstStyle>
            <a:lvl1pPr marL="0" indent="0">
              <a:buNone/>
              <a:defRPr sz="1400">
                <a:solidFill>
                  <a:schemeClr val="tx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2FF5F708-E6FD-45D6-9217-DC19B15E29CF}" type="datetimeFigureOut">
              <a:rPr lang="en-IN" smtClean="0"/>
              <a:t>13-08-2024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E2AAB72-75EC-4EA6-96C0-A7C806862DFD}" type="slidenum">
              <a:rPr lang="en-IN" smtClean="0"/>
              <a:t>‹#›</a:t>
            </a:fld>
            <a:endParaRPr lang="en-IN"/>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2FF5F708-E6FD-45D6-9217-DC19B15E29CF}" type="datetimeFigureOut">
              <a:rPr lang="en-IN" smtClean="0"/>
              <a:t>13-08-2024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E2AAB72-75EC-4EA6-96C0-A7C806862DFD}" type="slidenum">
              <a:rPr lang="en-IN" smtClean="0"/>
              <a:t>‹#›</a:t>
            </a:fld>
            <a:endParaRPr lang="en-IN"/>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9"/>
            <a:ext cx="2057400" cy="4678362"/>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7200" y="274639"/>
            <a:ext cx="6019800" cy="4678362"/>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2FF5F708-E6FD-45D6-9217-DC19B15E29CF}" type="datetimeFigureOut">
              <a:rPr lang="en-IN" smtClean="0"/>
              <a:t>13-08-2024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E2AAB72-75EC-4EA6-96C0-A7C806862DFD}" type="slidenum">
              <a:rPr lang="en-IN" smtClean="0"/>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2.jpe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1.xml"/><Relationship Id="rId3" Type="http://schemas.openxmlformats.org/officeDocument/2006/relationships/slideLayout" Target="../slideLayouts/slideLayout36.xml"/><Relationship Id="rId7" Type="http://schemas.openxmlformats.org/officeDocument/2006/relationships/slideLayout" Target="../slideLayouts/slideLayout40.xml"/><Relationship Id="rId12" Type="http://schemas.openxmlformats.org/officeDocument/2006/relationships/theme" Target="../theme/theme4.xml"/><Relationship Id="rId2" Type="http://schemas.openxmlformats.org/officeDocument/2006/relationships/slideLayout" Target="../slideLayouts/slideLayout35.xml"/><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5" Type="http://schemas.openxmlformats.org/officeDocument/2006/relationships/slideLayout" Target="../slideLayouts/slideLayout38.xml"/><Relationship Id="rId10" Type="http://schemas.openxmlformats.org/officeDocument/2006/relationships/slideLayout" Target="../slideLayouts/slideLayout43.xml"/><Relationship Id="rId4" Type="http://schemas.openxmlformats.org/officeDocument/2006/relationships/slideLayout" Target="../slideLayouts/slideLayout37.xml"/><Relationship Id="rId9" Type="http://schemas.openxmlformats.org/officeDocument/2006/relationships/slideLayout" Target="../slideLayouts/slideLayout42.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2.xml"/><Relationship Id="rId3" Type="http://schemas.openxmlformats.org/officeDocument/2006/relationships/slideLayout" Target="../slideLayouts/slideLayout47.xml"/><Relationship Id="rId7" Type="http://schemas.openxmlformats.org/officeDocument/2006/relationships/slideLayout" Target="../slideLayouts/slideLayout51.xml"/><Relationship Id="rId12" Type="http://schemas.openxmlformats.org/officeDocument/2006/relationships/theme" Target="../theme/theme5.xml"/><Relationship Id="rId2" Type="http://schemas.openxmlformats.org/officeDocument/2006/relationships/slideLayout" Target="../slideLayouts/slideLayout46.xml"/><Relationship Id="rId1" Type="http://schemas.openxmlformats.org/officeDocument/2006/relationships/slideLayout" Target="../slideLayouts/slideLayout45.xml"/><Relationship Id="rId6" Type="http://schemas.openxmlformats.org/officeDocument/2006/relationships/slideLayout" Target="../slideLayouts/slideLayout50.xml"/><Relationship Id="rId11" Type="http://schemas.openxmlformats.org/officeDocument/2006/relationships/slideLayout" Target="../slideLayouts/slideLayout55.xml"/><Relationship Id="rId5" Type="http://schemas.openxmlformats.org/officeDocument/2006/relationships/slideLayout" Target="../slideLayouts/slideLayout49.xml"/><Relationship Id="rId10" Type="http://schemas.openxmlformats.org/officeDocument/2006/relationships/slideLayout" Target="../slideLayouts/slideLayout54.xml"/><Relationship Id="rId4" Type="http://schemas.openxmlformats.org/officeDocument/2006/relationships/slideLayout" Target="../slideLayouts/slideLayout48.xml"/><Relationship Id="rId9" Type="http://schemas.openxmlformats.org/officeDocument/2006/relationships/slideLayout" Target="../slideLayouts/slideLayout5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8" name="Rectangle 27"/>
          <p:cNvSpPr/>
          <p:nvPr/>
        </p:nvSpPr>
        <p:spPr>
          <a:xfrm>
            <a:off x="1" y="366818"/>
            <a:ext cx="9144000" cy="84407"/>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9" name="Rectangle 28"/>
          <p:cNvSpPr/>
          <p:nvPr/>
        </p:nvSpPr>
        <p:spPr>
          <a:xfrm>
            <a:off x="0" y="-1"/>
            <a:ext cx="9144000" cy="310663"/>
          </a:xfrm>
          <a:prstGeom prst="rect">
            <a:avLst/>
          </a:prstGeom>
          <a:solidFill>
            <a:schemeClr val="tx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0" name="Rectangle 29"/>
          <p:cNvSpPr/>
          <p:nvPr/>
        </p:nvSpPr>
        <p:spPr>
          <a:xfrm>
            <a:off x="0" y="308276"/>
            <a:ext cx="9144001" cy="91441"/>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1" name="Rectangle 30"/>
          <p:cNvSpPr/>
          <p:nvPr/>
        </p:nvSpPr>
        <p:spPr>
          <a:xfrm flipV="1">
            <a:off x="5410182" y="360246"/>
            <a:ext cx="3733819" cy="91087"/>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2" name="Rectangle 31"/>
          <p:cNvSpPr/>
          <p:nvPr/>
        </p:nvSpPr>
        <p:spPr>
          <a:xfrm flipV="1">
            <a:off x="5410200" y="440112"/>
            <a:ext cx="3733801" cy="180035"/>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33" name="Rounded Rectangle 32"/>
          <p:cNvSpPr/>
          <p:nvPr/>
        </p:nvSpPr>
        <p:spPr bwMode="white">
          <a:xfrm>
            <a:off x="5407339" y="497504"/>
            <a:ext cx="3063240" cy="27432"/>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34" name="Rounded Rectangle 33"/>
          <p:cNvSpPr/>
          <p:nvPr/>
        </p:nvSpPr>
        <p:spPr bwMode="white">
          <a:xfrm>
            <a:off x="7373646" y="588943"/>
            <a:ext cx="1600200" cy="36576"/>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5" name="Rectangle 34"/>
          <p:cNvSpPr/>
          <p:nvPr/>
        </p:nvSpPr>
        <p:spPr bwMode="invGray">
          <a:xfrm>
            <a:off x="9084966" y="-2001"/>
            <a:ext cx="57626" cy="621792"/>
          </a:xfrm>
          <a:prstGeom prst="rect">
            <a:avLst/>
          </a:prstGeom>
          <a:solidFill>
            <a:srgbClr val="FFFFFF">
              <a:alpha val="65098"/>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36" name="Rectangle 35"/>
          <p:cNvSpPr/>
          <p:nvPr/>
        </p:nvSpPr>
        <p:spPr bwMode="invGray">
          <a:xfrm>
            <a:off x="9044481" y="-2001"/>
            <a:ext cx="27432" cy="621792"/>
          </a:xfrm>
          <a:prstGeom prst="rect">
            <a:avLst/>
          </a:prstGeom>
          <a:solidFill>
            <a:srgbClr val="FFFFFF">
              <a:alpha val="65098"/>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37" name="Rectangle 36"/>
          <p:cNvSpPr/>
          <p:nvPr/>
        </p:nvSpPr>
        <p:spPr bwMode="invGray">
          <a:xfrm>
            <a:off x="9025428" y="-2001"/>
            <a:ext cx="9144" cy="621792"/>
          </a:xfrm>
          <a:prstGeom prst="rect">
            <a:avLst/>
          </a:prstGeom>
          <a:solidFill>
            <a:srgbClr val="FFFFFF">
              <a:alpha val="6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8" name="Rectangle 37"/>
          <p:cNvSpPr/>
          <p:nvPr/>
        </p:nvSpPr>
        <p:spPr bwMode="invGray">
          <a:xfrm>
            <a:off x="8975423" y="-2001"/>
            <a:ext cx="27432" cy="621792"/>
          </a:xfrm>
          <a:prstGeom prst="rect">
            <a:avLst/>
          </a:prstGeom>
          <a:solidFill>
            <a:srgbClr val="FFFFFF">
              <a:alpha val="4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9" name="Rectangle 38"/>
          <p:cNvSpPr/>
          <p:nvPr/>
        </p:nvSpPr>
        <p:spPr bwMode="invGray">
          <a:xfrm>
            <a:off x="8915677" y="380"/>
            <a:ext cx="54864" cy="585216"/>
          </a:xfrm>
          <a:prstGeom prst="rect">
            <a:avLst/>
          </a:prstGeom>
          <a:solidFill>
            <a:srgbClr val="FFFFFF">
              <a:alpha val="2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40" name="Rectangle 39"/>
          <p:cNvSpPr/>
          <p:nvPr/>
        </p:nvSpPr>
        <p:spPr bwMode="invGray">
          <a:xfrm>
            <a:off x="8873475" y="380"/>
            <a:ext cx="9144" cy="585216"/>
          </a:xfrm>
          <a:prstGeom prst="rect">
            <a:avLst/>
          </a:prstGeom>
          <a:solidFill>
            <a:srgbClr val="FFFFFF">
              <a:alpha val="30196"/>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2" name="Title Placeholder 21"/>
          <p:cNvSpPr>
            <a:spLocks noGrp="1"/>
          </p:cNvSpPr>
          <p:nvPr>
            <p:ph type="title"/>
          </p:nvPr>
        </p:nvSpPr>
        <p:spPr>
          <a:xfrm>
            <a:off x="457200" y="1143000"/>
            <a:ext cx="8229600" cy="1066800"/>
          </a:xfrm>
          <a:prstGeom prst="rect">
            <a:avLst/>
          </a:prstGeom>
        </p:spPr>
        <p:txBody>
          <a:bodyPr vert="horz" anchor="ctr">
            <a:normAutofit/>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457200" y="2249424"/>
            <a:ext cx="8229600" cy="4325112"/>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4" name="Date Placeholder 13"/>
          <p:cNvSpPr>
            <a:spLocks noGrp="1"/>
          </p:cNvSpPr>
          <p:nvPr>
            <p:ph type="dt" sz="half" idx="2"/>
          </p:nvPr>
        </p:nvSpPr>
        <p:spPr>
          <a:xfrm>
            <a:off x="6586536" y="612648"/>
            <a:ext cx="957264" cy="457200"/>
          </a:xfrm>
          <a:prstGeom prst="rect">
            <a:avLst/>
          </a:prstGeom>
        </p:spPr>
        <p:txBody>
          <a:bodyPr vert="horz"/>
          <a:lstStyle>
            <a:lvl1pPr algn="l" eaLnBrk="1" latinLnBrk="0" hangingPunct="1">
              <a:defRPr kumimoji="0" sz="800">
                <a:solidFill>
                  <a:schemeClr val="accent2"/>
                </a:solidFill>
              </a:defRPr>
            </a:lvl1pPr>
          </a:lstStyle>
          <a:p>
            <a:fld id="{2FF5F708-E6FD-45D6-9217-DC19B15E29CF}" type="datetimeFigureOut">
              <a:rPr lang="en-IN" smtClean="0"/>
              <a:t>13-08-2024</a:t>
            </a:fld>
            <a:endParaRPr lang="en-IN"/>
          </a:p>
        </p:txBody>
      </p:sp>
      <p:sp>
        <p:nvSpPr>
          <p:cNvPr id="3" name="Footer Placeholder 2"/>
          <p:cNvSpPr>
            <a:spLocks noGrp="1"/>
          </p:cNvSpPr>
          <p:nvPr>
            <p:ph type="ftr" sz="quarter" idx="3"/>
          </p:nvPr>
        </p:nvSpPr>
        <p:spPr>
          <a:xfrm>
            <a:off x="5257800" y="612648"/>
            <a:ext cx="1325880" cy="457200"/>
          </a:xfrm>
          <a:prstGeom prst="rect">
            <a:avLst/>
          </a:prstGeom>
        </p:spPr>
        <p:txBody>
          <a:bodyPr vert="horz"/>
          <a:lstStyle>
            <a:lvl1pPr algn="r" eaLnBrk="1" latinLnBrk="0" hangingPunct="1">
              <a:defRPr kumimoji="0" sz="800">
                <a:solidFill>
                  <a:schemeClr val="accent2"/>
                </a:solidFill>
              </a:defRPr>
            </a:lvl1pPr>
          </a:lstStyle>
          <a:p>
            <a:endParaRPr lang="en-IN"/>
          </a:p>
        </p:txBody>
      </p:sp>
      <p:sp>
        <p:nvSpPr>
          <p:cNvPr id="23" name="Slide Number Placeholder 22"/>
          <p:cNvSpPr>
            <a:spLocks noGrp="1"/>
          </p:cNvSpPr>
          <p:nvPr>
            <p:ph type="sldNum" sz="quarter" idx="4"/>
          </p:nvPr>
        </p:nvSpPr>
        <p:spPr>
          <a:xfrm>
            <a:off x="8174736" y="2272"/>
            <a:ext cx="762000" cy="365760"/>
          </a:xfrm>
          <a:prstGeom prst="rect">
            <a:avLst/>
          </a:prstGeom>
        </p:spPr>
        <p:txBody>
          <a:bodyPr vert="horz" anchor="b"/>
          <a:lstStyle>
            <a:lvl1pPr algn="r" eaLnBrk="1" latinLnBrk="0" hangingPunct="1">
              <a:defRPr kumimoji="0" sz="1800">
                <a:solidFill>
                  <a:srgbClr val="FFFFFF"/>
                </a:solidFill>
              </a:defRPr>
            </a:lvl1pPr>
          </a:lstStyle>
          <a:p>
            <a:fld id="{8E2AAB72-75EC-4EA6-96C0-A7C806862DFD}" type="slidenum">
              <a:rPr lang="en-IN" smtClean="0"/>
              <a:t>‹#›</a:t>
            </a:fld>
            <a:endParaRPr lang="en-IN"/>
          </a:p>
        </p:txBody>
      </p:sp>
    </p:spTree>
  </p:cSld>
  <p:clrMap bg1="lt1" tx1="dk1" bg2="lt2" tx2="dk2" accent1="accent1" accent2="accent2" accent3="accent3" accent4="accent4" accent5="accent5" accent6="accent6" hlink="hlink" folHlink="folHlink"/>
  <p:sldLayoutIdLst>
    <p:sldLayoutId id="2147483757" r:id="rId1"/>
    <p:sldLayoutId id="2147483758" r:id="rId2"/>
    <p:sldLayoutId id="2147483759" r:id="rId3"/>
    <p:sldLayoutId id="2147483760" r:id="rId4"/>
    <p:sldLayoutId id="2147483761" r:id="rId5"/>
    <p:sldLayoutId id="2147483762" r:id="rId6"/>
    <p:sldLayoutId id="2147483763" r:id="rId7"/>
    <p:sldLayoutId id="2147483764" r:id="rId8"/>
    <p:sldLayoutId id="2147483765" r:id="rId9"/>
    <p:sldLayoutId id="2147483766" r:id="rId10"/>
    <p:sldLayoutId id="2147483767" r:id="rId11"/>
  </p:sldLayoutIdLst>
  <p:txStyles>
    <p:titleStyle>
      <a:lvl1pPr algn="l" rtl="0" eaLnBrk="1" latinLnBrk="0" hangingPunct="1">
        <a:spcBef>
          <a:spcPct val="0"/>
        </a:spcBef>
        <a:buNone/>
        <a:defRPr kumimoji="0" sz="4000" kern="1200">
          <a:solidFill>
            <a:schemeClr val="tx2"/>
          </a:solidFill>
          <a:latin typeface="+mj-lt"/>
          <a:ea typeface="+mj-ea"/>
          <a:cs typeface="+mj-cs"/>
        </a:defRPr>
      </a:lvl1pPr>
    </p:titleStyle>
    <p:bodyStyle>
      <a:lvl1pPr marL="365760" indent="-256032" algn="l" rtl="0" eaLnBrk="1" latinLnBrk="0" hangingPunct="1">
        <a:spcBef>
          <a:spcPts val="300"/>
        </a:spcBef>
        <a:buClr>
          <a:schemeClr val="accent3"/>
        </a:buClr>
        <a:buFont typeface="Georgia"/>
        <a:buChar char="•"/>
        <a:defRPr kumimoji="0" sz="2800" kern="1200">
          <a:solidFill>
            <a:schemeClr val="tx1"/>
          </a:solidFill>
          <a:latin typeface="+mn-lt"/>
          <a:ea typeface="+mn-ea"/>
          <a:cs typeface="+mn-cs"/>
        </a:defRPr>
      </a:lvl1pPr>
      <a:lvl2pPr marL="658368" indent="-246888" algn="l" rtl="0" eaLnBrk="1" latinLnBrk="0" hangingPunct="1">
        <a:spcBef>
          <a:spcPts val="300"/>
        </a:spcBef>
        <a:buClr>
          <a:schemeClr val="accent2"/>
        </a:buClr>
        <a:buFont typeface="Georgia"/>
        <a:buChar char="▫"/>
        <a:defRPr kumimoji="0" sz="2600" kern="1200">
          <a:solidFill>
            <a:schemeClr val="accent2"/>
          </a:solidFill>
          <a:latin typeface="+mn-lt"/>
          <a:ea typeface="+mn-ea"/>
          <a:cs typeface="+mn-cs"/>
        </a:defRPr>
      </a:lvl2pPr>
      <a:lvl3pPr marL="923544" indent="-219456" algn="l" rtl="0" eaLnBrk="1" latinLnBrk="0" hangingPunct="1">
        <a:spcBef>
          <a:spcPts val="300"/>
        </a:spcBef>
        <a:buClr>
          <a:schemeClr val="accent1"/>
        </a:buClr>
        <a:buFont typeface="Wingdings 2"/>
        <a:buChar char=""/>
        <a:defRPr kumimoji="0" sz="2400" kern="1200">
          <a:solidFill>
            <a:schemeClr val="accent1"/>
          </a:solidFill>
          <a:latin typeface="+mn-lt"/>
          <a:ea typeface="+mn-ea"/>
          <a:cs typeface="+mn-cs"/>
        </a:defRPr>
      </a:lvl3pPr>
      <a:lvl4pPr marL="1179576" indent="-201168" algn="l" rtl="0" eaLnBrk="1" latinLnBrk="0" hangingPunct="1">
        <a:spcBef>
          <a:spcPts val="300"/>
        </a:spcBef>
        <a:buClr>
          <a:schemeClr val="accent1"/>
        </a:buClr>
        <a:buFont typeface="Wingdings 2"/>
        <a:buChar char=""/>
        <a:defRPr kumimoji="0" sz="2200" kern="1200">
          <a:solidFill>
            <a:schemeClr val="accent1"/>
          </a:solidFill>
          <a:latin typeface="+mn-lt"/>
          <a:ea typeface="+mn-ea"/>
          <a:cs typeface="+mn-cs"/>
        </a:defRPr>
      </a:lvl4pPr>
      <a:lvl5pPr marL="1389888" indent="-182880" algn="l" rtl="0" eaLnBrk="1" latinLnBrk="0" hangingPunct="1">
        <a:spcBef>
          <a:spcPts val="300"/>
        </a:spcBef>
        <a:buClr>
          <a:schemeClr val="accent3"/>
        </a:buClr>
        <a:buFont typeface="Georgia"/>
        <a:buChar char="▫"/>
        <a:defRPr kumimoji="0" sz="2000" kern="1200">
          <a:solidFill>
            <a:schemeClr val="accent3"/>
          </a:solidFill>
          <a:latin typeface="+mn-lt"/>
          <a:ea typeface="+mn-ea"/>
          <a:cs typeface="+mn-cs"/>
        </a:defRPr>
      </a:lvl5pPr>
      <a:lvl6pPr marL="1609344" indent="-182880" algn="l" rtl="0" eaLnBrk="1" latinLnBrk="0" hangingPunct="1">
        <a:spcBef>
          <a:spcPts val="300"/>
        </a:spcBef>
        <a:buClr>
          <a:schemeClr val="accent3"/>
        </a:buClr>
        <a:buFont typeface="Georgia"/>
        <a:buChar char="▫"/>
        <a:defRPr kumimoji="0" sz="1800" kern="1200">
          <a:solidFill>
            <a:schemeClr val="accent3"/>
          </a:solidFill>
          <a:latin typeface="+mn-lt"/>
          <a:ea typeface="+mn-ea"/>
          <a:cs typeface="+mn-cs"/>
        </a:defRPr>
      </a:lvl6pPr>
      <a:lvl7pPr marL="1828800" indent="-182880" algn="l" rtl="0" eaLnBrk="1" latinLnBrk="0" hangingPunct="1">
        <a:spcBef>
          <a:spcPts val="300"/>
        </a:spcBef>
        <a:buClr>
          <a:schemeClr val="accent3"/>
        </a:buClr>
        <a:buFont typeface="Georgia"/>
        <a:buChar char="▫"/>
        <a:defRPr kumimoji="0" sz="1600" kern="1200">
          <a:solidFill>
            <a:schemeClr val="accent3"/>
          </a:solidFill>
          <a:latin typeface="+mn-lt"/>
          <a:ea typeface="+mn-ea"/>
          <a:cs typeface="+mn-cs"/>
        </a:defRPr>
      </a:lvl7pPr>
      <a:lvl8pPr marL="2029968" indent="-182880" algn="l" rtl="0" eaLnBrk="1" latinLnBrk="0" hangingPunct="1">
        <a:spcBef>
          <a:spcPts val="300"/>
        </a:spcBef>
        <a:buClr>
          <a:schemeClr val="accent3"/>
        </a:buClr>
        <a:buFont typeface="Georgia"/>
        <a:buChar char="◦"/>
        <a:defRPr kumimoji="0" sz="1500" kern="1200">
          <a:solidFill>
            <a:schemeClr val="accent3"/>
          </a:solidFill>
          <a:latin typeface="+mn-lt"/>
          <a:ea typeface="+mn-ea"/>
          <a:cs typeface="+mn-cs"/>
        </a:defRPr>
      </a:lvl8pPr>
      <a:lvl9pPr marL="2240280" indent="-182880" algn="l" rtl="0" eaLnBrk="1" latinLnBrk="0" hangingPunct="1">
        <a:spcBef>
          <a:spcPts val="300"/>
        </a:spcBef>
        <a:buClr>
          <a:schemeClr val="accent3"/>
        </a:buClr>
        <a:buFont typeface="Georgia"/>
        <a:buChar char="◦"/>
        <a:defRPr kumimoji="0" sz="1400" kern="1200" baseline="0">
          <a:solidFill>
            <a:schemeClr val="accent3"/>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Freeform 12"/>
          <p:cNvSpPr>
            <a:spLocks/>
          </p:cNvSpPr>
          <p:nvPr/>
        </p:nvSpPr>
        <p:spPr bwMode="auto">
          <a:xfrm>
            <a:off x="499273" y="5944936"/>
            <a:ext cx="4940624" cy="921076"/>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2" name="Freeform 11"/>
          <p:cNvSpPr>
            <a:spLocks/>
          </p:cNvSpPr>
          <p:nvPr/>
        </p:nvSpPr>
        <p:spPr bwMode="auto">
          <a:xfrm>
            <a:off x="485717" y="5939011"/>
            <a:ext cx="3690451" cy="9334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591" h="588">
                <a:moveTo>
                  <a:pt x="0" y="0"/>
                </a:moveTo>
                <a:lnTo>
                  <a:pt x="5591" y="585"/>
                </a:lnTo>
                <a:lnTo>
                  <a:pt x="4415" y="588"/>
                </a:lnTo>
                <a:lnTo>
                  <a:pt x="12" y="4"/>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4" name="Right Triangle 13"/>
          <p:cNvSpPr>
            <a:spLocks/>
          </p:cNvSpPr>
          <p:nvPr/>
        </p:nvSpPr>
        <p:spPr bwMode="auto">
          <a:xfrm>
            <a:off x="-6042" y="5791253"/>
            <a:ext cx="3402314" cy="1080868"/>
          </a:xfrm>
          <a:prstGeom prst="rtTriangle">
            <a:avLst/>
          </a:prstGeom>
          <a:blipFill>
            <a:blip r:embed="rId13">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extLst/>
          </a:lstStyle>
          <a:p>
            <a:pPr algn="ctr" eaLnBrk="1" latinLnBrk="0" hangingPunct="1"/>
            <a:endParaRPr kumimoji="0" lang="en-US"/>
          </a:p>
        </p:txBody>
      </p:sp>
      <p:cxnSp>
        <p:nvCxnSpPr>
          <p:cNvPr id="15" name="Straight Connector 14"/>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Title Placeholder 8"/>
          <p:cNvSpPr>
            <a:spLocks noGrp="1"/>
          </p:cNvSpPr>
          <p:nvPr>
            <p:ph type="title"/>
          </p:nvPr>
        </p:nvSpPr>
        <p:spPr>
          <a:xfrm>
            <a:off x="457200" y="274638"/>
            <a:ext cx="8229600" cy="1143000"/>
          </a:xfrm>
          <a:prstGeom prst="rect">
            <a:avLst/>
          </a:prstGeom>
        </p:spPr>
        <p:txBody>
          <a:bodyPr vert="horz" anchor="ctr">
            <a:normAutofit/>
            <a:scene3d>
              <a:camera prst="orthographicFront"/>
              <a:lightRig rig="soft" dir="t"/>
            </a:scene3d>
            <a:sp3d prstMaterial="softEdge">
              <a:bevelT w="25400" h="25400"/>
            </a:sp3d>
          </a:bodyPr>
          <a:lstStyle>
            <a:extLst/>
          </a:lstStyle>
          <a:p>
            <a:r>
              <a:rPr kumimoji="0" lang="en-US" smtClean="0"/>
              <a:t>Click to edit Master title style</a:t>
            </a:r>
            <a:endParaRPr kumimoji="0" lang="en-US"/>
          </a:p>
        </p:txBody>
      </p:sp>
      <p:sp>
        <p:nvSpPr>
          <p:cNvPr id="30" name="Text Placeholder 29"/>
          <p:cNvSpPr>
            <a:spLocks noGrp="1"/>
          </p:cNvSpPr>
          <p:nvPr>
            <p:ph type="body" idx="1"/>
          </p:nvPr>
        </p:nvSpPr>
        <p:spPr>
          <a:xfrm>
            <a:off x="457200" y="1481328"/>
            <a:ext cx="8229600" cy="4525963"/>
          </a:xfrm>
          <a:prstGeom prst="rect">
            <a:avLst/>
          </a:prstGeom>
        </p:spPr>
        <p:txBody>
          <a:bodyPr vert="horz">
            <a:normAutofit/>
          </a:bodyPr>
          <a:lstStyle>
            <a:extLst/>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6727032" y="6407944"/>
            <a:ext cx="1920240" cy="365760"/>
          </a:xfrm>
          <a:prstGeom prst="rect">
            <a:avLst/>
          </a:prstGeom>
        </p:spPr>
        <p:txBody>
          <a:bodyPr vert="horz" anchor="b"/>
          <a:lstStyle>
            <a:lvl1pPr algn="l" eaLnBrk="1" latinLnBrk="0" hangingPunct="1">
              <a:defRPr kumimoji="0" sz="1000">
                <a:solidFill>
                  <a:schemeClr val="tx1"/>
                </a:solidFill>
              </a:defRPr>
            </a:lvl1pPr>
            <a:extLst/>
          </a:lstStyle>
          <a:p>
            <a:fld id="{2FF5F708-E6FD-45D6-9217-DC19B15E29CF}" type="datetimeFigureOut">
              <a:rPr lang="en-IN" smtClean="0"/>
              <a:t>13-08-2024</a:t>
            </a:fld>
            <a:endParaRPr lang="en-IN"/>
          </a:p>
        </p:txBody>
      </p:sp>
      <p:sp>
        <p:nvSpPr>
          <p:cNvPr id="22" name="Footer Placeholder 21"/>
          <p:cNvSpPr>
            <a:spLocks noGrp="1"/>
          </p:cNvSpPr>
          <p:nvPr>
            <p:ph type="ftr" sz="quarter" idx="3"/>
          </p:nvPr>
        </p:nvSpPr>
        <p:spPr>
          <a:xfrm>
            <a:off x="4380072" y="6407944"/>
            <a:ext cx="2350681" cy="365125"/>
          </a:xfrm>
          <a:prstGeom prst="rect">
            <a:avLst/>
          </a:prstGeom>
        </p:spPr>
        <p:txBody>
          <a:bodyPr vert="horz" anchor="b"/>
          <a:lstStyle>
            <a:lvl1pPr algn="r" eaLnBrk="1" latinLnBrk="0" hangingPunct="1">
              <a:defRPr kumimoji="0" sz="1000">
                <a:solidFill>
                  <a:schemeClr val="tx1"/>
                </a:solidFill>
              </a:defRPr>
            </a:lvl1pPr>
            <a:extLst/>
          </a:lstStyle>
          <a:p>
            <a:endParaRPr lang="en-IN"/>
          </a:p>
        </p:txBody>
      </p:sp>
      <p:sp>
        <p:nvSpPr>
          <p:cNvPr id="18" name="Slide Number Placeholder 17"/>
          <p:cNvSpPr>
            <a:spLocks noGrp="1"/>
          </p:cNvSpPr>
          <p:nvPr>
            <p:ph type="sldNum" sz="quarter" idx="4"/>
          </p:nvPr>
        </p:nvSpPr>
        <p:spPr>
          <a:xfrm>
            <a:off x="8647272" y="6407944"/>
            <a:ext cx="365760" cy="365125"/>
          </a:xfrm>
          <a:prstGeom prst="rect">
            <a:avLst/>
          </a:prstGeom>
        </p:spPr>
        <p:txBody>
          <a:bodyPr vert="horz" anchor="b"/>
          <a:lstStyle>
            <a:lvl1pPr algn="r" eaLnBrk="1" latinLnBrk="0" hangingPunct="1">
              <a:defRPr kumimoji="0" sz="1000" b="0">
                <a:solidFill>
                  <a:schemeClr val="tx1"/>
                </a:solidFill>
              </a:defRPr>
            </a:lvl1pPr>
            <a:extLst/>
          </a:lstStyle>
          <a:p>
            <a:fld id="{8E2AAB72-75EC-4EA6-96C0-A7C806862DFD}" type="slidenum">
              <a:rPr lang="en-IN" smtClean="0"/>
              <a:t>‹#›</a:t>
            </a:fld>
            <a:endParaRPr lang="en-IN"/>
          </a:p>
        </p:txBody>
      </p:sp>
    </p:spTree>
  </p:cSld>
  <p:clrMap bg1="lt1" tx1="dk1" bg2="lt2" tx2="dk2" accent1="accent1" accent2="accent2" accent3="accent3" accent4="accent4" accent5="accent5" accent6="accent6" hlink="hlink" folHlink="folHlink"/>
  <p:sldLayoutIdLst>
    <p:sldLayoutId id="2147483769" r:id="rId1"/>
    <p:sldLayoutId id="2147483770" r:id="rId2"/>
    <p:sldLayoutId id="2147483771" r:id="rId3"/>
    <p:sldLayoutId id="2147483772" r:id="rId4"/>
    <p:sldLayoutId id="2147483773" r:id="rId5"/>
    <p:sldLayoutId id="2147483774" r:id="rId6"/>
    <p:sldLayoutId id="2147483775" r:id="rId7"/>
    <p:sldLayoutId id="2147483776" r:id="rId8"/>
    <p:sldLayoutId id="2147483777" r:id="rId9"/>
    <p:sldLayoutId id="2147483778" r:id="rId10"/>
    <p:sldLayoutId id="2147483779" r:id="rId11"/>
  </p:sldLayoutIdLst>
  <p:txStyles>
    <p:titleStyle>
      <a:lvl1pPr algn="l" rtl="0" eaLnBrk="1" latinLnBrk="0" hangingPunct="1">
        <a:spcBef>
          <a:spcPct val="0"/>
        </a:spcBef>
        <a:buNone/>
        <a:defRPr kumimoji="0" sz="4100" b="1" kern="1200">
          <a:solidFill>
            <a:schemeClr val="tx2"/>
          </a:solidFill>
          <a:effectLst>
            <a:outerShdw blurRad="31750" dist="25400" dir="5400000" algn="tl" rotWithShape="0">
              <a:srgbClr val="000000">
                <a:alpha val="25000"/>
              </a:srgbClr>
            </a:outerShdw>
          </a:effectLst>
          <a:latin typeface="+mj-lt"/>
          <a:ea typeface="+mj-ea"/>
          <a:cs typeface="+mj-cs"/>
        </a:defRPr>
      </a:lvl1pPr>
      <a:extLst/>
    </p:titleStyle>
    <p:bodyStyle>
      <a:lvl1pPr marL="365760" indent="-256032" algn="l" rtl="0" eaLnBrk="1" latinLnBrk="0"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300" kern="1200">
          <a:solidFill>
            <a:schemeClr val="tx1"/>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FF5F708-E6FD-45D6-9217-DC19B15E29CF}" type="datetimeFigureOut">
              <a:rPr lang="en-IN" smtClean="0"/>
              <a:t>13-08-2024</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E2AAB72-75EC-4EA6-96C0-A7C806862DFD}" type="slidenum">
              <a:rPr lang="en-IN" smtClean="0"/>
              <a:t>‹#›</a:t>
            </a:fld>
            <a:endParaRPr lang="en-IN"/>
          </a:p>
        </p:txBody>
      </p:sp>
    </p:spTree>
    <p:extLst>
      <p:ext uri="{BB962C8B-B14F-4D97-AF65-F5344CB8AC3E}">
        <p14:creationId xmlns:p14="http://schemas.microsoft.com/office/powerpoint/2010/main" val="2195675446"/>
      </p:ext>
    </p:extLst>
  </p:cSld>
  <p:clrMap bg1="lt1" tx1="dk1" bg2="lt2" tx2="dk2" accent1="accent1" accent2="accent2" accent3="accent3" accent4="accent4" accent5="accent5" accent6="accent6" hlink="hlink" folHlink="folHlink"/>
  <p:sldLayoutIdLst>
    <p:sldLayoutId id="2147483781" r:id="rId1"/>
    <p:sldLayoutId id="2147483782" r:id="rId2"/>
    <p:sldLayoutId id="2147483783" r:id="rId3"/>
    <p:sldLayoutId id="2147483784" r:id="rId4"/>
    <p:sldLayoutId id="2147483785" r:id="rId5"/>
    <p:sldLayoutId id="2147483786" r:id="rId6"/>
    <p:sldLayoutId id="2147483787" r:id="rId7"/>
    <p:sldLayoutId id="2147483788" r:id="rId8"/>
    <p:sldLayoutId id="2147483789" r:id="rId9"/>
    <p:sldLayoutId id="2147483790" r:id="rId10"/>
    <p:sldLayoutId id="2147483791"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8" name="Rectangle 7"/>
          <p:cNvSpPr/>
          <p:nvPr/>
        </p:nvSpPr>
        <p:spPr>
          <a:xfrm>
            <a:off x="0" y="0"/>
            <a:ext cx="9144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7" name="Rounded Rectangle 6"/>
          <p:cNvSpPr/>
          <p:nvPr/>
        </p:nvSpPr>
        <p:spPr>
          <a:xfrm>
            <a:off x="91440" y="101600"/>
            <a:ext cx="8961120" cy="6664960"/>
          </a:xfrm>
          <a:prstGeom prst="roundRect">
            <a:avLst>
              <a:gd name="adj" fmla="val 1735"/>
            </a:avLst>
          </a:prstGeom>
          <a:ln w="12700" cmpd="sng">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 Placeholder 2"/>
          <p:cNvSpPr>
            <a:spLocks noGrp="1"/>
          </p:cNvSpPr>
          <p:nvPr>
            <p:ph type="body" idx="1"/>
          </p:nvPr>
        </p:nvSpPr>
        <p:spPr>
          <a:xfrm>
            <a:off x="457200" y="1752600"/>
            <a:ext cx="8229600" cy="43735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2"/>
                </a:solidFill>
              </a:defRPr>
            </a:lvl1pPr>
          </a:lstStyle>
          <a:p>
            <a:fld id="{2FF5F708-E6FD-45D6-9217-DC19B15E29CF}" type="datetimeFigureOut">
              <a:rPr lang="en-IN" smtClean="0"/>
              <a:t>13-08-2024</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2"/>
                </a:solidFill>
              </a:defRPr>
            </a:lvl1pPr>
          </a:lstStyle>
          <a:p>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2"/>
                </a:solidFill>
              </a:defRPr>
            </a:lvl1pPr>
          </a:lstStyle>
          <a:p>
            <a:fld id="{8E2AAB72-75EC-4EA6-96C0-A7C806862DFD}" type="slidenum">
              <a:rPr lang="en-IN" smtClean="0"/>
              <a:t>‹#›</a:t>
            </a:fld>
            <a:endParaRPr lang="en-IN"/>
          </a:p>
        </p:txBody>
      </p:sp>
      <p:sp>
        <p:nvSpPr>
          <p:cNvPr id="9" name="Rectangle 8"/>
          <p:cNvSpPr/>
          <p:nvPr/>
        </p:nvSpPr>
        <p:spPr>
          <a:xfrm>
            <a:off x="274320" y="278166"/>
            <a:ext cx="8595360" cy="1325880"/>
          </a:xfrm>
          <a:prstGeom prst="rect">
            <a:avLst/>
          </a:prstGeom>
          <a:solidFill>
            <a:srgbClr val="FFFFFF">
              <a:alpha val="83000"/>
            </a:srgbClr>
          </a:soli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endParaRPr lang="en-US" sz="1800" kern="1200">
              <a:solidFill>
                <a:schemeClr val="lt1"/>
              </a:solidFill>
              <a:latin typeface="+mn-lt"/>
              <a:ea typeface="+mn-ea"/>
              <a:cs typeface="+mn-cs"/>
            </a:endParaRPr>
          </a:p>
        </p:txBody>
      </p:sp>
      <p:sp>
        <p:nvSpPr>
          <p:cNvPr id="10" name="Rectangle 9"/>
          <p:cNvSpPr/>
          <p:nvPr/>
        </p:nvSpPr>
        <p:spPr>
          <a:xfrm>
            <a:off x="372863" y="372862"/>
            <a:ext cx="8380520" cy="1118587"/>
          </a:xfrm>
          <a:prstGeom prst="rect">
            <a:avLst/>
          </a:prstGeom>
          <a:solidFill>
            <a:srgbClr val="FFFFFF"/>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426128" y="408372"/>
            <a:ext cx="8260672" cy="1039427"/>
          </a:xfrm>
          <a:prstGeom prst="rect">
            <a:avLst/>
          </a:prstGeom>
        </p:spPr>
        <p:txBody>
          <a:bodyPr vert="horz" lIns="91440" tIns="45720" rIns="91440" bIns="45720" rtlCol="0" anchor="ctr">
            <a:normAutofit/>
          </a:bodyPr>
          <a:lstStyle/>
          <a:p>
            <a:r>
              <a:rPr lang="en-US" smtClean="0"/>
              <a:t>Click to edit Master title style</a:t>
            </a:r>
            <a:endParaRPr lang="en-US" dirty="0"/>
          </a:p>
        </p:txBody>
      </p:sp>
    </p:spTree>
  </p:cSld>
  <p:clrMap bg1="lt1" tx1="dk1" bg2="lt2" tx2="dk2" accent1="accent1" accent2="accent2" accent3="accent3" accent4="accent4" accent5="accent5" accent6="accent6" hlink="hlink" folHlink="folHlink"/>
  <p:sldLayoutIdLst>
    <p:sldLayoutId id="2147483793" r:id="rId1"/>
    <p:sldLayoutId id="2147483794" r:id="rId2"/>
    <p:sldLayoutId id="2147483795" r:id="rId3"/>
    <p:sldLayoutId id="2147483796" r:id="rId4"/>
    <p:sldLayoutId id="2147483797" r:id="rId5"/>
    <p:sldLayoutId id="2147483798" r:id="rId6"/>
    <p:sldLayoutId id="2147483799" r:id="rId7"/>
    <p:sldLayoutId id="2147483800" r:id="rId8"/>
    <p:sldLayoutId id="2147483801" r:id="rId9"/>
    <p:sldLayoutId id="2147483802" r:id="rId10"/>
    <p:sldLayoutId id="2147483803" r:id="rId11"/>
  </p:sldLayoutIdLst>
  <p:txStyles>
    <p:titleStyle>
      <a:lvl1pPr algn="ctr" defTabSz="914400" rtl="0" eaLnBrk="1" latinLnBrk="0" hangingPunct="1">
        <a:spcBef>
          <a:spcPct val="0"/>
        </a:spcBef>
        <a:buNone/>
        <a:defRPr sz="3500" kern="1200" cap="all" baseline="0">
          <a:solidFill>
            <a:schemeClr val="accent1">
              <a:lumMod val="75000"/>
            </a:schemeClr>
          </a:solidFill>
          <a:latin typeface="+mj-lt"/>
          <a:ea typeface="+mj-ea"/>
          <a:cs typeface="+mj-cs"/>
        </a:defRPr>
      </a:lvl1pPr>
    </p:titleStyle>
    <p:bodyStyle>
      <a:lvl1pPr marL="342900" indent="-228600" algn="l" defTabSz="914400" rtl="0" eaLnBrk="1" latinLnBrk="0" hangingPunct="1">
        <a:spcBef>
          <a:spcPct val="20000"/>
        </a:spcBef>
        <a:buClr>
          <a:schemeClr val="accent1"/>
        </a:buClr>
        <a:buFont typeface="Arial" pitchFamily="34" charset="0"/>
        <a:buChar char="•"/>
        <a:defRPr sz="2400" kern="1200">
          <a:solidFill>
            <a:schemeClr val="tx2"/>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2"/>
          </a:solidFill>
          <a:latin typeface="+mn-lt"/>
          <a:ea typeface="+mn-ea"/>
          <a:cs typeface="+mn-cs"/>
        </a:defRPr>
      </a:lvl2pPr>
      <a:lvl3pPr marL="914400" indent="-228600" algn="l" defTabSz="914400" rtl="0" eaLnBrk="1" latinLnBrk="0" hangingPunct="1">
        <a:spcBef>
          <a:spcPct val="20000"/>
        </a:spcBef>
        <a:buClr>
          <a:schemeClr val="accent3"/>
        </a:buClr>
        <a:buFont typeface="Arial" pitchFamily="34" charset="0"/>
        <a:buChar char="•"/>
        <a:defRPr sz="1800" kern="1200">
          <a:solidFill>
            <a:schemeClr val="tx2"/>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2"/>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600" kern="1200" baseline="0">
          <a:solidFill>
            <a:schemeClr val="tx2"/>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a:solidFill>
            <a:schemeClr val="tx2"/>
          </a:solidFill>
          <a:latin typeface="+mn-lt"/>
          <a:ea typeface="+mn-ea"/>
          <a:cs typeface="+mn-cs"/>
        </a:defRPr>
      </a:lvl6pPr>
      <a:lvl7pPr marL="2011680" indent="-182880" algn="l" defTabSz="914400" rtl="0" eaLnBrk="1" latinLnBrk="0" hangingPunct="1">
        <a:spcBef>
          <a:spcPct val="20000"/>
        </a:spcBef>
        <a:buClr>
          <a:schemeClr val="accent2"/>
        </a:buClr>
        <a:buFont typeface="Arial" pitchFamily="34" charset="0"/>
        <a:buChar char="•"/>
        <a:defRPr sz="1400" kern="1200">
          <a:solidFill>
            <a:schemeClr val="tx2"/>
          </a:solidFill>
          <a:latin typeface="+mn-lt"/>
          <a:ea typeface="+mn-ea"/>
          <a:cs typeface="+mn-cs"/>
        </a:defRPr>
      </a:lvl7pPr>
      <a:lvl8pPr marL="2194560" indent="-182880" algn="l" defTabSz="914400" rtl="0" eaLnBrk="1" latinLnBrk="0" hangingPunct="1">
        <a:spcBef>
          <a:spcPct val="20000"/>
        </a:spcBef>
        <a:buClr>
          <a:schemeClr val="accent3"/>
        </a:buClr>
        <a:buFont typeface="Arial" pitchFamily="34" charset="0"/>
        <a:buChar char="•"/>
        <a:defRPr sz="1400" kern="1200">
          <a:solidFill>
            <a:schemeClr val="tx2"/>
          </a:solidFill>
          <a:latin typeface="+mn-lt"/>
          <a:ea typeface="+mn-ea"/>
          <a:cs typeface="+mn-cs"/>
        </a:defRPr>
      </a:lvl8pPr>
      <a:lvl9pPr marL="2377440" indent="-182880" algn="l" defTabSz="914400" rtl="0" eaLnBrk="1" latinLnBrk="0" hangingPunct="1">
        <a:spcBef>
          <a:spcPct val="20000"/>
        </a:spcBef>
        <a:buClr>
          <a:schemeClr val="accent4"/>
        </a:buClr>
        <a:buFont typeface="Arial" pitchFamily="34" charset="0"/>
        <a:buChar char="•"/>
        <a:defRPr sz="14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Freeform 6"/>
          <p:cNvSpPr/>
          <p:nvPr/>
        </p:nvSpPr>
        <p:spPr>
          <a:xfrm>
            <a:off x="-2382" y="5050633"/>
            <a:ext cx="3574257" cy="1807368"/>
          </a:xfrm>
          <a:custGeom>
            <a:avLst/>
            <a:gdLst>
              <a:gd name="connsiteX0" fmla="*/ 0 w 3571875"/>
              <a:gd name="connsiteY0" fmla="*/ 4210050 h 4210050"/>
              <a:gd name="connsiteX1" fmla="*/ 0 w 3571875"/>
              <a:gd name="connsiteY1" fmla="*/ 0 h 4210050"/>
              <a:gd name="connsiteX2" fmla="*/ 3571875 w 3571875"/>
              <a:gd name="connsiteY2" fmla="*/ 4210050 h 4210050"/>
              <a:gd name="connsiteX3" fmla="*/ 0 w 3571875"/>
              <a:gd name="connsiteY3" fmla="*/ 4210050 h 4210050"/>
              <a:gd name="connsiteX0" fmla="*/ 0 w 3571875"/>
              <a:gd name="connsiteY0" fmla="*/ 4210050 h 4210050"/>
              <a:gd name="connsiteX1" fmla="*/ 0 w 3571875"/>
              <a:gd name="connsiteY1" fmla="*/ 0 h 4210050"/>
              <a:gd name="connsiteX2" fmla="*/ 2028825 w 3571875"/>
              <a:gd name="connsiteY2" fmla="*/ 2388394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28825 w 3571875"/>
              <a:gd name="connsiteY2" fmla="*/ 2205038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28825 w 3571875"/>
              <a:gd name="connsiteY2" fmla="*/ 2393157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28825 w 3571875"/>
              <a:gd name="connsiteY2" fmla="*/ 2393157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28825 w 3571875"/>
              <a:gd name="connsiteY2" fmla="*/ 2281238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28825 w 3571875"/>
              <a:gd name="connsiteY2" fmla="*/ 2393157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28825 w 3571875"/>
              <a:gd name="connsiteY2" fmla="*/ 2393157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76450 w 3571875"/>
              <a:gd name="connsiteY2" fmla="*/ 2274094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245519 w 3571875"/>
              <a:gd name="connsiteY2" fmla="*/ 2405063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38350 w 3571875"/>
              <a:gd name="connsiteY2" fmla="*/ 2405063 h 4210050"/>
              <a:gd name="connsiteX3" fmla="*/ 3571875 w 3571875"/>
              <a:gd name="connsiteY3" fmla="*/ 4210050 h 4210050"/>
              <a:gd name="connsiteX4" fmla="*/ 0 w 3571875"/>
              <a:gd name="connsiteY4" fmla="*/ 4210050 h 4210050"/>
              <a:gd name="connsiteX0" fmla="*/ 0 w 3571875"/>
              <a:gd name="connsiteY0" fmla="*/ 2433637 h 2433637"/>
              <a:gd name="connsiteX1" fmla="*/ 257175 w 3571875"/>
              <a:gd name="connsiteY1" fmla="*/ 0 h 2433637"/>
              <a:gd name="connsiteX2" fmla="*/ 2038350 w 3571875"/>
              <a:gd name="connsiteY2" fmla="*/ 628650 h 2433637"/>
              <a:gd name="connsiteX3" fmla="*/ 3571875 w 3571875"/>
              <a:gd name="connsiteY3" fmla="*/ 2433637 h 2433637"/>
              <a:gd name="connsiteX4" fmla="*/ 0 w 3571875"/>
              <a:gd name="connsiteY4" fmla="*/ 2433637 h 2433637"/>
              <a:gd name="connsiteX0" fmla="*/ 2382 w 3574257"/>
              <a:gd name="connsiteY0" fmla="*/ 1807368 h 1807368"/>
              <a:gd name="connsiteX1" fmla="*/ 0 w 3574257"/>
              <a:gd name="connsiteY1" fmla="*/ 0 h 1807368"/>
              <a:gd name="connsiteX2" fmla="*/ 2040732 w 3574257"/>
              <a:gd name="connsiteY2" fmla="*/ 2381 h 1807368"/>
              <a:gd name="connsiteX3" fmla="*/ 3574257 w 3574257"/>
              <a:gd name="connsiteY3" fmla="*/ 1807368 h 1807368"/>
              <a:gd name="connsiteX4" fmla="*/ 2382 w 3574257"/>
              <a:gd name="connsiteY4" fmla="*/ 1807368 h 1807368"/>
              <a:gd name="connsiteX0" fmla="*/ 2382 w 3574257"/>
              <a:gd name="connsiteY0" fmla="*/ 1807368 h 1807368"/>
              <a:gd name="connsiteX1" fmla="*/ 0 w 3574257"/>
              <a:gd name="connsiteY1" fmla="*/ 0 h 1807368"/>
              <a:gd name="connsiteX2" fmla="*/ 1924051 w 3574257"/>
              <a:gd name="connsiteY2" fmla="*/ 307181 h 1807368"/>
              <a:gd name="connsiteX3" fmla="*/ 3574257 w 3574257"/>
              <a:gd name="connsiteY3" fmla="*/ 1807368 h 1807368"/>
              <a:gd name="connsiteX4" fmla="*/ 2382 w 3574257"/>
              <a:gd name="connsiteY4" fmla="*/ 1807368 h 1807368"/>
              <a:gd name="connsiteX0" fmla="*/ 2382 w 3574257"/>
              <a:gd name="connsiteY0" fmla="*/ 1809749 h 1809749"/>
              <a:gd name="connsiteX1" fmla="*/ 0 w 3574257"/>
              <a:gd name="connsiteY1" fmla="*/ 2381 h 1809749"/>
              <a:gd name="connsiteX2" fmla="*/ 2038351 w 3574257"/>
              <a:gd name="connsiteY2" fmla="*/ 0 h 1809749"/>
              <a:gd name="connsiteX3" fmla="*/ 3574257 w 3574257"/>
              <a:gd name="connsiteY3" fmla="*/ 1809749 h 1809749"/>
              <a:gd name="connsiteX4" fmla="*/ 2382 w 3574257"/>
              <a:gd name="connsiteY4" fmla="*/ 1809749 h 1809749"/>
              <a:gd name="connsiteX0" fmla="*/ 2382 w 3574257"/>
              <a:gd name="connsiteY0" fmla="*/ 1807368 h 1807368"/>
              <a:gd name="connsiteX1" fmla="*/ 0 w 3574257"/>
              <a:gd name="connsiteY1" fmla="*/ 0 h 1807368"/>
              <a:gd name="connsiteX2" fmla="*/ 1640682 w 3574257"/>
              <a:gd name="connsiteY2" fmla="*/ 450057 h 1807368"/>
              <a:gd name="connsiteX3" fmla="*/ 3574257 w 3574257"/>
              <a:gd name="connsiteY3" fmla="*/ 1807368 h 1807368"/>
              <a:gd name="connsiteX4" fmla="*/ 2382 w 3574257"/>
              <a:gd name="connsiteY4" fmla="*/ 1807368 h 1807368"/>
              <a:gd name="connsiteX0" fmla="*/ 2382 w 3574257"/>
              <a:gd name="connsiteY0" fmla="*/ 1809749 h 1809749"/>
              <a:gd name="connsiteX1" fmla="*/ 0 w 3574257"/>
              <a:gd name="connsiteY1" fmla="*/ 2381 h 1809749"/>
              <a:gd name="connsiteX2" fmla="*/ 2038351 w 3574257"/>
              <a:gd name="connsiteY2" fmla="*/ 0 h 1809749"/>
              <a:gd name="connsiteX3" fmla="*/ 3574257 w 3574257"/>
              <a:gd name="connsiteY3" fmla="*/ 1809749 h 1809749"/>
              <a:gd name="connsiteX4" fmla="*/ 2382 w 3574257"/>
              <a:gd name="connsiteY4" fmla="*/ 1809749 h 1809749"/>
              <a:gd name="connsiteX0" fmla="*/ 2382 w 3574257"/>
              <a:gd name="connsiteY0" fmla="*/ 1807368 h 1807368"/>
              <a:gd name="connsiteX1" fmla="*/ 0 w 3574257"/>
              <a:gd name="connsiteY1" fmla="*/ 0 h 1807368"/>
              <a:gd name="connsiteX2" fmla="*/ 1657351 w 3574257"/>
              <a:gd name="connsiteY2" fmla="*/ 230982 h 1807368"/>
              <a:gd name="connsiteX3" fmla="*/ 3574257 w 3574257"/>
              <a:gd name="connsiteY3" fmla="*/ 1807368 h 1807368"/>
              <a:gd name="connsiteX4" fmla="*/ 2382 w 3574257"/>
              <a:gd name="connsiteY4" fmla="*/ 1807368 h 1807368"/>
              <a:gd name="connsiteX0" fmla="*/ 2382 w 3574257"/>
              <a:gd name="connsiteY0" fmla="*/ 1807368 h 1807368"/>
              <a:gd name="connsiteX1" fmla="*/ 0 w 3574257"/>
              <a:gd name="connsiteY1" fmla="*/ 0 h 1807368"/>
              <a:gd name="connsiteX2" fmla="*/ 2040732 w 3574257"/>
              <a:gd name="connsiteY2" fmla="*/ 2382 h 1807368"/>
              <a:gd name="connsiteX3" fmla="*/ 3574257 w 3574257"/>
              <a:gd name="connsiteY3" fmla="*/ 1807368 h 1807368"/>
              <a:gd name="connsiteX4" fmla="*/ 2382 w 3574257"/>
              <a:gd name="connsiteY4" fmla="*/ 1807368 h 1807368"/>
              <a:gd name="connsiteX0" fmla="*/ 2382 w 3574257"/>
              <a:gd name="connsiteY0" fmla="*/ 1807368 h 1807368"/>
              <a:gd name="connsiteX1" fmla="*/ 0 w 3574257"/>
              <a:gd name="connsiteY1" fmla="*/ 0 h 1807368"/>
              <a:gd name="connsiteX2" fmla="*/ 1774032 w 3574257"/>
              <a:gd name="connsiteY2" fmla="*/ 161925 h 1807368"/>
              <a:gd name="connsiteX3" fmla="*/ 3574257 w 3574257"/>
              <a:gd name="connsiteY3" fmla="*/ 1807368 h 1807368"/>
              <a:gd name="connsiteX4" fmla="*/ 2382 w 3574257"/>
              <a:gd name="connsiteY4" fmla="*/ 1807368 h 1807368"/>
              <a:gd name="connsiteX0" fmla="*/ 2382 w 3574257"/>
              <a:gd name="connsiteY0" fmla="*/ 1807368 h 1807368"/>
              <a:gd name="connsiteX1" fmla="*/ 0 w 3574257"/>
              <a:gd name="connsiteY1" fmla="*/ 0 h 1807368"/>
              <a:gd name="connsiteX2" fmla="*/ 1969294 w 3574257"/>
              <a:gd name="connsiteY2" fmla="*/ 21432 h 1807368"/>
              <a:gd name="connsiteX3" fmla="*/ 3574257 w 3574257"/>
              <a:gd name="connsiteY3" fmla="*/ 1807368 h 1807368"/>
              <a:gd name="connsiteX4" fmla="*/ 2382 w 3574257"/>
              <a:gd name="connsiteY4" fmla="*/ 1807368 h 1807368"/>
              <a:gd name="connsiteX0" fmla="*/ 2382 w 3574257"/>
              <a:gd name="connsiteY0" fmla="*/ 1807368 h 1807368"/>
              <a:gd name="connsiteX1" fmla="*/ 0 w 3574257"/>
              <a:gd name="connsiteY1" fmla="*/ 0 h 1807368"/>
              <a:gd name="connsiteX2" fmla="*/ 1819275 w 3574257"/>
              <a:gd name="connsiteY2" fmla="*/ 200026 h 1807368"/>
              <a:gd name="connsiteX3" fmla="*/ 3574257 w 3574257"/>
              <a:gd name="connsiteY3" fmla="*/ 1807368 h 1807368"/>
              <a:gd name="connsiteX4" fmla="*/ 2382 w 3574257"/>
              <a:gd name="connsiteY4" fmla="*/ 1807368 h 1807368"/>
              <a:gd name="connsiteX0" fmla="*/ 2382 w 3574257"/>
              <a:gd name="connsiteY0" fmla="*/ 1807368 h 1807368"/>
              <a:gd name="connsiteX1" fmla="*/ 0 w 3574257"/>
              <a:gd name="connsiteY1" fmla="*/ 0 h 1807368"/>
              <a:gd name="connsiteX2" fmla="*/ 2045494 w 3574257"/>
              <a:gd name="connsiteY2" fmla="*/ 1 h 1807368"/>
              <a:gd name="connsiteX3" fmla="*/ 3574257 w 3574257"/>
              <a:gd name="connsiteY3" fmla="*/ 1807368 h 1807368"/>
              <a:gd name="connsiteX4" fmla="*/ 2382 w 3574257"/>
              <a:gd name="connsiteY4" fmla="*/ 1807368 h 18073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74257" h="1807368">
                <a:moveTo>
                  <a:pt x="2382" y="1807368"/>
                </a:moveTo>
                <a:lnTo>
                  <a:pt x="0" y="0"/>
                </a:lnTo>
                <a:lnTo>
                  <a:pt x="2045494" y="1"/>
                </a:lnTo>
                <a:lnTo>
                  <a:pt x="3574257" y="1807368"/>
                </a:lnTo>
                <a:lnTo>
                  <a:pt x="2382" y="1807368"/>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reeform 7"/>
          <p:cNvSpPr/>
          <p:nvPr/>
        </p:nvSpPr>
        <p:spPr>
          <a:xfrm>
            <a:off x="-2380" y="5051292"/>
            <a:ext cx="9146380" cy="1806709"/>
          </a:xfrm>
          <a:custGeom>
            <a:avLst/>
            <a:gdLst>
              <a:gd name="connsiteX0" fmla="*/ 0 w 3350419"/>
              <a:gd name="connsiteY0" fmla="*/ 2081213 h 2083594"/>
              <a:gd name="connsiteX1" fmla="*/ 3031331 w 3350419"/>
              <a:gd name="connsiteY1" fmla="*/ 0 h 2083594"/>
              <a:gd name="connsiteX2" fmla="*/ 3350419 w 3350419"/>
              <a:gd name="connsiteY2" fmla="*/ 80963 h 2083594"/>
              <a:gd name="connsiteX3" fmla="*/ 3350419 w 3350419"/>
              <a:gd name="connsiteY3" fmla="*/ 2083594 h 2083594"/>
              <a:gd name="connsiteX4" fmla="*/ 0 w 3350419"/>
              <a:gd name="connsiteY4" fmla="*/ 2081213 h 2083594"/>
              <a:gd name="connsiteX0" fmla="*/ 0 w 3112294"/>
              <a:gd name="connsiteY0" fmla="*/ 2019301 h 2083594"/>
              <a:gd name="connsiteX1" fmla="*/ 2793206 w 3112294"/>
              <a:gd name="connsiteY1" fmla="*/ 0 h 2083594"/>
              <a:gd name="connsiteX2" fmla="*/ 3112294 w 3112294"/>
              <a:gd name="connsiteY2" fmla="*/ 80963 h 2083594"/>
              <a:gd name="connsiteX3" fmla="*/ 3112294 w 3112294"/>
              <a:gd name="connsiteY3" fmla="*/ 2083594 h 2083594"/>
              <a:gd name="connsiteX4" fmla="*/ 0 w 3112294"/>
              <a:gd name="connsiteY4" fmla="*/ 2019301 h 2083594"/>
              <a:gd name="connsiteX0" fmla="*/ 0 w 3345656"/>
              <a:gd name="connsiteY0" fmla="*/ 2097882 h 2097882"/>
              <a:gd name="connsiteX1" fmla="*/ 3026568 w 3345656"/>
              <a:gd name="connsiteY1" fmla="*/ 0 h 2097882"/>
              <a:gd name="connsiteX2" fmla="*/ 3345656 w 3345656"/>
              <a:gd name="connsiteY2" fmla="*/ 80963 h 2097882"/>
              <a:gd name="connsiteX3" fmla="*/ 3345656 w 3345656"/>
              <a:gd name="connsiteY3" fmla="*/ 2083594 h 2097882"/>
              <a:gd name="connsiteX4" fmla="*/ 0 w 3345656"/>
              <a:gd name="connsiteY4" fmla="*/ 2097882 h 2097882"/>
              <a:gd name="connsiteX0" fmla="*/ 0 w 2800350"/>
              <a:gd name="connsiteY0" fmla="*/ 1935957 h 2083594"/>
              <a:gd name="connsiteX1" fmla="*/ 2481262 w 2800350"/>
              <a:gd name="connsiteY1" fmla="*/ 0 h 2083594"/>
              <a:gd name="connsiteX2" fmla="*/ 2800350 w 2800350"/>
              <a:gd name="connsiteY2" fmla="*/ 80963 h 2083594"/>
              <a:gd name="connsiteX3" fmla="*/ 2800350 w 2800350"/>
              <a:gd name="connsiteY3" fmla="*/ 2083594 h 2083594"/>
              <a:gd name="connsiteX4" fmla="*/ 0 w 2800350"/>
              <a:gd name="connsiteY4" fmla="*/ 1935957 h 2083594"/>
              <a:gd name="connsiteX0" fmla="*/ 0 w 3352800"/>
              <a:gd name="connsiteY0" fmla="*/ 2083594 h 2083594"/>
              <a:gd name="connsiteX1" fmla="*/ 3033712 w 3352800"/>
              <a:gd name="connsiteY1" fmla="*/ 0 h 2083594"/>
              <a:gd name="connsiteX2" fmla="*/ 3352800 w 3352800"/>
              <a:gd name="connsiteY2" fmla="*/ 80963 h 2083594"/>
              <a:gd name="connsiteX3" fmla="*/ 3352800 w 3352800"/>
              <a:gd name="connsiteY3" fmla="*/ 2083594 h 2083594"/>
              <a:gd name="connsiteX4" fmla="*/ 0 w 3352800"/>
              <a:gd name="connsiteY4" fmla="*/ 2083594 h 2083594"/>
              <a:gd name="connsiteX0" fmla="*/ 0 w 3352800"/>
              <a:gd name="connsiteY0" fmla="*/ 2002631 h 2002631"/>
              <a:gd name="connsiteX1" fmla="*/ 3033712 w 3352800"/>
              <a:gd name="connsiteY1" fmla="*/ 157162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988469 w 3352800"/>
              <a:gd name="connsiteY1" fmla="*/ 59530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33966 w 3352800"/>
              <a:gd name="connsiteY1" fmla="*/ 425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45314 w 3352800"/>
              <a:gd name="connsiteY1" fmla="*/ 12246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34839 w 3352800"/>
              <a:gd name="connsiteY1" fmla="*/ 425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75865 w 3352800"/>
              <a:gd name="connsiteY1" fmla="*/ 81782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901 h 2002901"/>
              <a:gd name="connsiteX1" fmla="*/ 2836585 w 3352800"/>
              <a:gd name="connsiteY1" fmla="*/ 0 h 2002901"/>
              <a:gd name="connsiteX2" fmla="*/ 3352800 w 3352800"/>
              <a:gd name="connsiteY2" fmla="*/ 270 h 2002901"/>
              <a:gd name="connsiteX3" fmla="*/ 3352800 w 3352800"/>
              <a:gd name="connsiteY3" fmla="*/ 2002901 h 2002901"/>
              <a:gd name="connsiteX4" fmla="*/ 0 w 3352800"/>
              <a:gd name="connsiteY4" fmla="*/ 2002901 h 2002901"/>
              <a:gd name="connsiteX0" fmla="*/ 0 w 3352800"/>
              <a:gd name="connsiteY0" fmla="*/ 2002631 h 2002631"/>
              <a:gd name="connsiteX1" fmla="*/ 754045 w 3352800"/>
              <a:gd name="connsiteY1" fmla="*/ 1468326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534305 h 534305"/>
              <a:gd name="connsiteX1" fmla="*/ 754045 w 3352800"/>
              <a:gd name="connsiteY1" fmla="*/ 0 h 534305"/>
              <a:gd name="connsiteX2" fmla="*/ 3352800 w 3352800"/>
              <a:gd name="connsiteY2" fmla="*/ 7687 h 534305"/>
              <a:gd name="connsiteX3" fmla="*/ 3352800 w 3352800"/>
              <a:gd name="connsiteY3" fmla="*/ 534305 h 534305"/>
              <a:gd name="connsiteX4" fmla="*/ 0 w 3352800"/>
              <a:gd name="connsiteY4" fmla="*/ 534305 h 534305"/>
              <a:gd name="connsiteX0" fmla="*/ 0 w 3352800"/>
              <a:gd name="connsiteY0" fmla="*/ 534305 h 534305"/>
              <a:gd name="connsiteX1" fmla="*/ 754045 w 3352800"/>
              <a:gd name="connsiteY1" fmla="*/ 0 h 534305"/>
              <a:gd name="connsiteX2" fmla="*/ 3352800 w 3352800"/>
              <a:gd name="connsiteY2" fmla="*/ 7687 h 534305"/>
              <a:gd name="connsiteX3" fmla="*/ 3352800 w 3352800"/>
              <a:gd name="connsiteY3" fmla="*/ 534305 h 534305"/>
              <a:gd name="connsiteX4" fmla="*/ 0 w 3352800"/>
              <a:gd name="connsiteY4" fmla="*/ 534305 h 534305"/>
              <a:gd name="connsiteX0" fmla="*/ 0 w 3352800"/>
              <a:gd name="connsiteY0" fmla="*/ 526618 h 526618"/>
              <a:gd name="connsiteX1" fmla="*/ 980611 w 3352800"/>
              <a:gd name="connsiteY1" fmla="*/ 93681 h 526618"/>
              <a:gd name="connsiteX2" fmla="*/ 3352800 w 3352800"/>
              <a:gd name="connsiteY2" fmla="*/ 0 h 526618"/>
              <a:gd name="connsiteX3" fmla="*/ 3352800 w 3352800"/>
              <a:gd name="connsiteY3" fmla="*/ 526618 h 526618"/>
              <a:gd name="connsiteX4" fmla="*/ 0 w 3352800"/>
              <a:gd name="connsiteY4" fmla="*/ 526618 h 526618"/>
              <a:gd name="connsiteX0" fmla="*/ 0 w 3352800"/>
              <a:gd name="connsiteY0" fmla="*/ 526888 h 526888"/>
              <a:gd name="connsiteX1" fmla="*/ 744735 w 3352800"/>
              <a:gd name="connsiteY1" fmla="*/ 0 h 526888"/>
              <a:gd name="connsiteX2" fmla="*/ 3352800 w 3352800"/>
              <a:gd name="connsiteY2" fmla="*/ 270 h 526888"/>
              <a:gd name="connsiteX3" fmla="*/ 3352800 w 3352800"/>
              <a:gd name="connsiteY3" fmla="*/ 526888 h 526888"/>
              <a:gd name="connsiteX4" fmla="*/ 0 w 3352800"/>
              <a:gd name="connsiteY4" fmla="*/ 526888 h 526888"/>
              <a:gd name="connsiteX0" fmla="*/ 0 w 3352800"/>
              <a:gd name="connsiteY0" fmla="*/ 526618 h 526618"/>
              <a:gd name="connsiteX1" fmla="*/ 811948 w 3352800"/>
              <a:gd name="connsiteY1" fmla="*/ 60921 h 526618"/>
              <a:gd name="connsiteX2" fmla="*/ 3352800 w 3352800"/>
              <a:gd name="connsiteY2" fmla="*/ 0 h 526618"/>
              <a:gd name="connsiteX3" fmla="*/ 3352800 w 3352800"/>
              <a:gd name="connsiteY3" fmla="*/ 526618 h 526618"/>
              <a:gd name="connsiteX4" fmla="*/ 0 w 3352800"/>
              <a:gd name="connsiteY4" fmla="*/ 526618 h 526618"/>
              <a:gd name="connsiteX0" fmla="*/ 0 w 3352800"/>
              <a:gd name="connsiteY0" fmla="*/ 527584 h 527584"/>
              <a:gd name="connsiteX1" fmla="*/ 751718 w 3352800"/>
              <a:gd name="connsiteY1" fmla="*/ 0 h 527584"/>
              <a:gd name="connsiteX2" fmla="*/ 3352800 w 3352800"/>
              <a:gd name="connsiteY2" fmla="*/ 966 h 527584"/>
              <a:gd name="connsiteX3" fmla="*/ 3352800 w 3352800"/>
              <a:gd name="connsiteY3" fmla="*/ 527584 h 527584"/>
              <a:gd name="connsiteX4" fmla="*/ 0 w 3352800"/>
              <a:gd name="connsiteY4" fmla="*/ 527584 h 527584"/>
              <a:gd name="connsiteX0" fmla="*/ 0 w 3352800"/>
              <a:gd name="connsiteY0" fmla="*/ 527584 h 527584"/>
              <a:gd name="connsiteX1" fmla="*/ 751718 w 3352800"/>
              <a:gd name="connsiteY1" fmla="*/ 0 h 527584"/>
              <a:gd name="connsiteX2" fmla="*/ 3241069 w 3352800"/>
              <a:gd name="connsiteY2" fmla="*/ 94144 h 527584"/>
              <a:gd name="connsiteX3" fmla="*/ 3352800 w 3352800"/>
              <a:gd name="connsiteY3" fmla="*/ 527584 h 527584"/>
              <a:gd name="connsiteX4" fmla="*/ 0 w 3352800"/>
              <a:gd name="connsiteY4" fmla="*/ 527584 h 527584"/>
              <a:gd name="connsiteX0" fmla="*/ 0 w 3352800"/>
              <a:gd name="connsiteY0" fmla="*/ 527584 h 527584"/>
              <a:gd name="connsiteX1" fmla="*/ 751718 w 3352800"/>
              <a:gd name="connsiteY1" fmla="*/ 0 h 527584"/>
              <a:gd name="connsiteX2" fmla="*/ 3352800 w 3352800"/>
              <a:gd name="connsiteY2" fmla="*/ 271 h 527584"/>
              <a:gd name="connsiteX3" fmla="*/ 3352800 w 3352800"/>
              <a:gd name="connsiteY3" fmla="*/ 527584 h 527584"/>
              <a:gd name="connsiteX4" fmla="*/ 0 w 3352800"/>
              <a:gd name="connsiteY4" fmla="*/ 527584 h 527584"/>
              <a:gd name="connsiteX0" fmla="*/ 0 w 3352800"/>
              <a:gd name="connsiteY0" fmla="*/ 527313 h 527313"/>
              <a:gd name="connsiteX1" fmla="*/ 900984 w 3352800"/>
              <a:gd name="connsiteY1" fmla="*/ 97774 h 527313"/>
              <a:gd name="connsiteX2" fmla="*/ 3352800 w 3352800"/>
              <a:gd name="connsiteY2" fmla="*/ 0 h 527313"/>
              <a:gd name="connsiteX3" fmla="*/ 3352800 w 3352800"/>
              <a:gd name="connsiteY3" fmla="*/ 527313 h 527313"/>
              <a:gd name="connsiteX4" fmla="*/ 0 w 3352800"/>
              <a:gd name="connsiteY4" fmla="*/ 527313 h 527313"/>
              <a:gd name="connsiteX0" fmla="*/ 0 w 3352800"/>
              <a:gd name="connsiteY0" fmla="*/ 527584 h 527584"/>
              <a:gd name="connsiteX1" fmla="*/ 748227 w 3352800"/>
              <a:gd name="connsiteY1" fmla="*/ 0 h 527584"/>
              <a:gd name="connsiteX2" fmla="*/ 3352800 w 3352800"/>
              <a:gd name="connsiteY2" fmla="*/ 271 h 527584"/>
              <a:gd name="connsiteX3" fmla="*/ 3352800 w 3352800"/>
              <a:gd name="connsiteY3" fmla="*/ 527584 h 527584"/>
              <a:gd name="connsiteX4" fmla="*/ 0 w 3352800"/>
              <a:gd name="connsiteY4" fmla="*/ 527584 h 5275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52800" h="527584">
                <a:moveTo>
                  <a:pt x="0" y="527584"/>
                </a:moveTo>
                <a:lnTo>
                  <a:pt x="748227" y="0"/>
                </a:lnTo>
                <a:lnTo>
                  <a:pt x="3352800" y="271"/>
                </a:lnTo>
                <a:lnTo>
                  <a:pt x="3352800" y="527584"/>
                </a:lnTo>
                <a:lnTo>
                  <a:pt x="0" y="527584"/>
                </a:lnTo>
                <a:close/>
              </a:path>
            </a:pathLst>
          </a:custGeom>
          <a:solidFill>
            <a:schemeClr val="accent3">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822960" y="365760"/>
            <a:ext cx="7520940" cy="548640"/>
          </a:xfrm>
          <a:prstGeom prst="rect">
            <a:avLst/>
          </a:prstGeom>
        </p:spPr>
        <p:txBody>
          <a:bodyPr vert="horz" lIns="91440" tIns="45720" rIns="91440" bIns="45720" rtlCol="0" anchor="ctr">
            <a:noAutofit/>
          </a:bodyPr>
          <a:lstStyle/>
          <a:p>
            <a:r>
              <a:rPr lang="en-US" smtClean="0"/>
              <a:t>Click to edit Master title style</a:t>
            </a:r>
            <a:endParaRPr lang="en-US" dirty="0"/>
          </a:p>
        </p:txBody>
      </p:sp>
      <p:sp>
        <p:nvSpPr>
          <p:cNvPr id="3" name="Text Placeholder 2"/>
          <p:cNvSpPr>
            <a:spLocks noGrp="1"/>
          </p:cNvSpPr>
          <p:nvPr>
            <p:ph type="body" idx="1"/>
          </p:nvPr>
        </p:nvSpPr>
        <p:spPr>
          <a:xfrm>
            <a:off x="822960" y="1100628"/>
            <a:ext cx="7520940" cy="3579849"/>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rot="19140000">
            <a:off x="201168" y="5870448"/>
            <a:ext cx="2176272" cy="201168"/>
          </a:xfrm>
          <a:prstGeom prst="rect">
            <a:avLst/>
          </a:prstGeom>
        </p:spPr>
        <p:txBody>
          <a:bodyPr vert="horz" lIns="91440" tIns="45720" rIns="91440" bIns="45720" rtlCol="0" anchor="ctr"/>
          <a:lstStyle>
            <a:lvl1pPr algn="l">
              <a:defRPr sz="1200">
                <a:solidFill>
                  <a:srgbClr val="FFFFFF"/>
                </a:solidFill>
              </a:defRPr>
            </a:lvl1pPr>
          </a:lstStyle>
          <a:p>
            <a:fld id="{2FF5F708-E6FD-45D6-9217-DC19B15E29CF}" type="datetimeFigureOut">
              <a:rPr lang="en-IN" smtClean="0"/>
              <a:t>13-08-2024</a:t>
            </a:fld>
            <a:endParaRPr lang="en-IN"/>
          </a:p>
        </p:txBody>
      </p:sp>
      <p:sp>
        <p:nvSpPr>
          <p:cNvPr id="5" name="Footer Placeholder 4"/>
          <p:cNvSpPr>
            <a:spLocks noGrp="1"/>
          </p:cNvSpPr>
          <p:nvPr>
            <p:ph type="ftr" sz="quarter" idx="3"/>
          </p:nvPr>
        </p:nvSpPr>
        <p:spPr>
          <a:xfrm>
            <a:off x="3517514" y="6285122"/>
            <a:ext cx="4724400" cy="274320"/>
          </a:xfrm>
          <a:prstGeom prst="rect">
            <a:avLst/>
          </a:prstGeom>
        </p:spPr>
        <p:txBody>
          <a:bodyPr vert="horz" lIns="91440" tIns="45720" rIns="91440" bIns="45720" rtlCol="0" anchor="ctr"/>
          <a:lstStyle>
            <a:lvl1pPr algn="r">
              <a:defRPr sz="1000" cap="all" spc="200" baseline="0">
                <a:solidFill>
                  <a:srgbClr val="FFFFFF"/>
                </a:solidFill>
              </a:defRPr>
            </a:lvl1pPr>
          </a:lstStyle>
          <a:p>
            <a:endParaRPr lang="en-IN"/>
          </a:p>
        </p:txBody>
      </p:sp>
      <p:sp>
        <p:nvSpPr>
          <p:cNvPr id="6" name="Slide Number Placeholder 5"/>
          <p:cNvSpPr>
            <a:spLocks noGrp="1"/>
          </p:cNvSpPr>
          <p:nvPr>
            <p:ph type="sldNum" sz="quarter" idx="4"/>
          </p:nvPr>
        </p:nvSpPr>
        <p:spPr>
          <a:xfrm>
            <a:off x="8401038" y="6170822"/>
            <a:ext cx="502920" cy="502920"/>
          </a:xfrm>
          <a:prstGeom prst="ellipse">
            <a:avLst/>
          </a:prstGeom>
          <a:ln w="19050">
            <a:solidFill>
              <a:srgbClr val="FFFFFF"/>
            </a:solidFill>
          </a:ln>
        </p:spPr>
        <p:txBody>
          <a:bodyPr vert="horz" lIns="9144" tIns="9144" rIns="9144" bIns="9144" rtlCol="0" anchor="ctr">
            <a:normAutofit/>
          </a:bodyPr>
          <a:lstStyle>
            <a:lvl1pPr algn="ctr">
              <a:defRPr sz="1650">
                <a:solidFill>
                  <a:srgbClr val="FFFFFF"/>
                </a:solidFill>
              </a:defRPr>
            </a:lvl1pPr>
          </a:lstStyle>
          <a:p>
            <a:fld id="{8E2AAB72-75EC-4EA6-96C0-A7C806862DFD}" type="slidenum">
              <a:rPr lang="en-IN" smtClean="0"/>
              <a:t>‹#›</a:t>
            </a:fld>
            <a:endParaRPr lang="en-IN"/>
          </a:p>
        </p:txBody>
      </p:sp>
    </p:spTree>
  </p:cSld>
  <p:clrMap bg1="lt1" tx1="dk1" bg2="lt2" tx2="dk2" accent1="accent1" accent2="accent2" accent3="accent3" accent4="accent4" accent5="accent5" accent6="accent6" hlink="hlink" folHlink="folHlink"/>
  <p:sldLayoutIdLst>
    <p:sldLayoutId id="2147483805" r:id="rId1"/>
    <p:sldLayoutId id="2147483806" r:id="rId2"/>
    <p:sldLayoutId id="2147483807" r:id="rId3"/>
    <p:sldLayoutId id="2147483808" r:id="rId4"/>
    <p:sldLayoutId id="2147483809" r:id="rId5"/>
    <p:sldLayoutId id="2147483810" r:id="rId6"/>
    <p:sldLayoutId id="2147483811" r:id="rId7"/>
    <p:sldLayoutId id="2147483812" r:id="rId8"/>
    <p:sldLayoutId id="2147483813" r:id="rId9"/>
    <p:sldLayoutId id="2147483814" r:id="rId10"/>
    <p:sldLayoutId id="2147483815" r:id="rId11"/>
  </p:sldLayoutIdLst>
  <p:txStyles>
    <p:titleStyle>
      <a:lvl1pPr algn="l" defTabSz="914400" rtl="0" eaLnBrk="1" latinLnBrk="0" hangingPunct="1">
        <a:spcBef>
          <a:spcPct val="0"/>
        </a:spcBef>
        <a:buNone/>
        <a:defRPr sz="2800" kern="1200" cap="all" baseline="0">
          <a:solidFill>
            <a:schemeClr val="tx1"/>
          </a:solidFill>
          <a:latin typeface="+mj-lt"/>
          <a:ea typeface="+mj-ea"/>
          <a:cs typeface="+mj-cs"/>
        </a:defRPr>
      </a:lvl1pPr>
    </p:titleStyle>
    <p:bodyStyle>
      <a:lvl1pPr marL="342900" indent="-342900" algn="l" defTabSz="914400" rtl="0" eaLnBrk="1" latinLnBrk="0" hangingPunct="1">
        <a:spcBef>
          <a:spcPts val="800"/>
        </a:spcBef>
        <a:buFont typeface="Arial" pitchFamily="34" charset="0"/>
        <a:buNone/>
        <a:defRPr sz="1600" b="1" kern="1200">
          <a:solidFill>
            <a:schemeClr val="tx1"/>
          </a:solidFill>
          <a:latin typeface="+mn-lt"/>
          <a:ea typeface="+mn-ea"/>
          <a:cs typeface="+mn-cs"/>
        </a:defRPr>
      </a:lvl1pPr>
      <a:lvl2pPr marL="173736" indent="-173736" algn="l" defTabSz="914400" rtl="0" eaLnBrk="1" latinLnBrk="0" hangingPunct="1">
        <a:spcBef>
          <a:spcPts val="300"/>
        </a:spcBef>
        <a:buClr>
          <a:schemeClr val="accent2"/>
        </a:buClr>
        <a:buFont typeface="Wingdings" pitchFamily="2" charset="2"/>
        <a:buChar char="§"/>
        <a:defRPr sz="1600" kern="1200">
          <a:solidFill>
            <a:schemeClr val="tx1"/>
          </a:solidFill>
          <a:latin typeface="+mn-lt"/>
          <a:ea typeface="+mn-ea"/>
          <a:cs typeface="+mn-cs"/>
        </a:defRPr>
      </a:lvl2pPr>
      <a:lvl3pPr marL="402336" indent="-164592" algn="l" defTabSz="914400" rtl="0" eaLnBrk="1" latinLnBrk="0" hangingPunct="1">
        <a:spcBef>
          <a:spcPts val="300"/>
        </a:spcBef>
        <a:buClr>
          <a:schemeClr val="accent2"/>
        </a:buClr>
        <a:buFont typeface="Wingdings" pitchFamily="2" charset="2"/>
        <a:buChar char="§"/>
        <a:defRPr sz="1600" kern="1200">
          <a:solidFill>
            <a:schemeClr val="tx1"/>
          </a:solidFill>
          <a:latin typeface="+mn-lt"/>
          <a:ea typeface="+mn-ea"/>
          <a:cs typeface="+mn-cs"/>
        </a:defRPr>
      </a:lvl3pPr>
      <a:lvl4pPr marL="630936" indent="-164592" algn="l" defTabSz="914400" rtl="0" eaLnBrk="1" latinLnBrk="0" hangingPunct="1">
        <a:spcBef>
          <a:spcPts val="300"/>
        </a:spcBef>
        <a:buClr>
          <a:schemeClr val="accent2"/>
        </a:buClr>
        <a:buFont typeface="Wingdings" pitchFamily="2" charset="2"/>
        <a:buChar char="§"/>
        <a:defRPr sz="1600" kern="1200">
          <a:solidFill>
            <a:schemeClr val="tx1"/>
          </a:solidFill>
          <a:latin typeface="+mn-lt"/>
          <a:ea typeface="+mn-ea"/>
          <a:cs typeface="+mn-cs"/>
        </a:defRPr>
      </a:lvl4pPr>
      <a:lvl5pPr marL="859536" indent="-173736" algn="l" defTabSz="914400" rtl="0" eaLnBrk="1" latinLnBrk="0" hangingPunct="1">
        <a:spcBef>
          <a:spcPts val="300"/>
        </a:spcBef>
        <a:buClr>
          <a:schemeClr val="accent2"/>
        </a:buClr>
        <a:buFont typeface="Wingdings" pitchFamily="2" charset="2"/>
        <a:buChar char="§"/>
        <a:defRPr sz="1600" kern="1200">
          <a:solidFill>
            <a:schemeClr val="tx1"/>
          </a:solidFill>
          <a:latin typeface="+mn-lt"/>
          <a:ea typeface="+mn-ea"/>
          <a:cs typeface="+mn-cs"/>
        </a:defRPr>
      </a:lvl5pPr>
      <a:lvl6pPr marL="1097280" indent="-173736"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6pPr>
      <a:lvl7pPr marL="1353312" indent="-164592"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7pPr>
      <a:lvl8pPr marL="1581912" indent="-164592"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8pPr>
      <a:lvl9pPr marL="1792224" indent="-164592"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6.png"/><Relationship Id="rId1" Type="http://schemas.openxmlformats.org/officeDocument/2006/relationships/slideLayout" Target="../slideLayouts/slideLayout13.xml"/><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6.png"/><Relationship Id="rId1" Type="http://schemas.openxmlformats.org/officeDocument/2006/relationships/slideLayout" Target="../slideLayouts/slideLayout13.xml"/><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9.jpg"/><Relationship Id="rId7" Type="http://schemas.openxmlformats.org/officeDocument/2006/relationships/image" Target="../media/image13.jpg"/><Relationship Id="rId2" Type="http://schemas.openxmlformats.org/officeDocument/2006/relationships/image" Target="../media/image8.jpg"/><Relationship Id="rId1" Type="http://schemas.openxmlformats.org/officeDocument/2006/relationships/slideLayout" Target="../slideLayouts/slideLayout13.xml"/><Relationship Id="rId6" Type="http://schemas.openxmlformats.org/officeDocument/2006/relationships/image" Target="../media/image12.jpg"/><Relationship Id="rId5" Type="http://schemas.openxmlformats.org/officeDocument/2006/relationships/image" Target="../media/image11.jpg"/><Relationship Id="rId4" Type="http://schemas.openxmlformats.org/officeDocument/2006/relationships/image" Target="../media/image10.jpg"/></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4.png"/><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4.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jpg"/><Relationship Id="rId1" Type="http://schemas.openxmlformats.org/officeDocument/2006/relationships/slideLayout" Target="../slideLayouts/slideLayout13.xml"/><Relationship Id="rId6" Type="http://schemas.openxmlformats.org/officeDocument/2006/relationships/image" Target="../media/image7.png"/><Relationship Id="rId5" Type="http://schemas.openxmlformats.org/officeDocument/2006/relationships/image" Target="../media/image18.jpg"/><Relationship Id="rId4" Type="http://schemas.openxmlformats.org/officeDocument/2006/relationships/image" Target="../media/image17.png"/></Relationships>
</file>

<file path=ppt/slides/_rels/slide1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13.xml"/><Relationship Id="rId6" Type="http://schemas.openxmlformats.org/officeDocument/2006/relationships/image" Target="../media/image7.png"/><Relationship Id="rId5" Type="http://schemas.openxmlformats.org/officeDocument/2006/relationships/image" Target="../media/image22.png"/><Relationship Id="rId4" Type="http://schemas.openxmlformats.org/officeDocument/2006/relationships/image" Target="../media/image21.png"/></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4.xml"/></Relationships>
</file>

<file path=ppt/slides/_rels/slide2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4.xml"/></Relationships>
</file>

<file path=ppt/slides/_rels/slide2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4.xml"/></Relationships>
</file>

<file path=ppt/slides/_rels/slide2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4.xml"/></Relationships>
</file>

<file path=ppt/slides/_rels/slide2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3" Type="http://schemas.openxmlformats.org/officeDocument/2006/relationships/image" Target="../media/image25.jfif"/><Relationship Id="rId2" Type="http://schemas.openxmlformats.org/officeDocument/2006/relationships/image" Target="../media/image23.png"/><Relationship Id="rId1" Type="http://schemas.openxmlformats.org/officeDocument/2006/relationships/slideLayout" Target="../slideLayouts/slideLayout24.xml"/><Relationship Id="rId5" Type="http://schemas.openxmlformats.org/officeDocument/2006/relationships/image" Target="../media/image27.jfif"/><Relationship Id="rId4" Type="http://schemas.openxmlformats.org/officeDocument/2006/relationships/image" Target="../media/image26.png"/></Relationships>
</file>

<file path=ppt/slides/_rels/slide2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4.xml"/></Relationships>
</file>

<file path=ppt/slides/_rels/slide2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4.xml"/></Relationships>
</file>

<file path=ppt/slides/_rels/slide3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46.xml"/></Relationships>
</file>

<file path=ppt/slides/_rels/slide3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3" Type="http://schemas.openxmlformats.org/officeDocument/2006/relationships/image" Target="../media/image28.jpg"/><Relationship Id="rId2" Type="http://schemas.openxmlformats.org/officeDocument/2006/relationships/image" Target="../media/image23.png"/><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3.xml"/></Relationships>
</file>

<file path=ppt/slides/_rels/slide47.xml.rels><?xml version="1.0" encoding="UTF-8" standalone="yes"?>
<Relationships xmlns="http://schemas.openxmlformats.org/package/2006/relationships"><Relationship Id="rId3" Type="http://schemas.openxmlformats.org/officeDocument/2006/relationships/image" Target="../media/image29.jpg"/><Relationship Id="rId2" Type="http://schemas.openxmlformats.org/officeDocument/2006/relationships/image" Target="../media/image23.png"/><Relationship Id="rId1" Type="http://schemas.openxmlformats.org/officeDocument/2006/relationships/slideLayout" Target="../slideLayouts/slideLayout13.xml"/></Relationships>
</file>

<file path=ppt/slides/_rels/slide4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3.xml"/></Relationships>
</file>

<file path=ppt/slides/_rels/slide4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3.xml"/></Relationships>
</file>

<file path=ppt/slides/_rels/slide5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4.xml"/></Relationships>
</file>

<file path=ppt/slides/_rels/slide5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3.xml"/></Relationships>
</file>

<file path=ppt/slides/_rels/slide5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3.xml"/></Relationships>
</file>

<file path=ppt/slides/_rels/slide5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3.xml"/></Relationships>
</file>

<file path=ppt/slides/_rels/slide5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3.png"/><Relationship Id="rId1" Type="http://schemas.openxmlformats.org/officeDocument/2006/relationships/slideLayout" Target="../slideLayouts/slideLayout24.xml"/></Relationships>
</file>

<file path=ppt/slides/_rels/slide5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3.xml"/></Relationships>
</file>

<file path=ppt/slides/_rels/slide5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4.xml"/></Relationships>
</file>

<file path=ppt/slides/_rels/slide5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4.xml"/></Relationships>
</file>

<file path=ppt/slides/_rels/slide5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31.png"/><Relationship Id="rId1" Type="http://schemas.openxmlformats.org/officeDocument/2006/relationships/slideLayout" Target="../slideLayouts/slideLayout13.xml"/></Relationships>
</file>

<file path=ppt/slides/_rels/slide5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32.png"/><Relationship Id="rId1" Type="http://schemas.openxmlformats.org/officeDocument/2006/relationships/slideLayout" Target="../slideLayouts/slideLayout13.xml"/></Relationships>
</file>

<file path=ppt/slides/_rels/slide6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5.xml"/></Relationships>
</file>

<file path=ppt/slides/_rels/slide6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3.xml"/></Relationships>
</file>

<file path=ppt/slides/_rels/slide6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4.xml"/></Relationships>
</file>

<file path=ppt/slides/_rels/slide6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4.xml"/></Relationships>
</file>

<file path=ppt/slides/_rels/slide6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4.xml"/></Relationships>
</file>

<file path=ppt/slides/_rels/slide6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smtClean="0"/>
              <a:t>CARD PAYMENT</a:t>
            </a:r>
            <a:endParaRPr lang="en-IN"/>
          </a:p>
        </p:txBody>
      </p:sp>
    </p:spTree>
    <p:extLst>
      <p:ext uri="{BB962C8B-B14F-4D97-AF65-F5344CB8AC3E}">
        <p14:creationId xmlns:p14="http://schemas.microsoft.com/office/powerpoint/2010/main" val="193001723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p:cNvPicPr>
            <a:picLocks noChangeAspect="1"/>
          </p:cNvPicPr>
          <p:nvPr/>
        </p:nvPicPr>
        <p:blipFill>
          <a:blip r:embed="rId2" cstate="print">
            <a:extLst>
              <a:ext uri="{BEBA8EAE-BF5A-486C-A8C5-ECC9F3942E4B}">
                <a14:imgProps xmlns:a14="http://schemas.microsoft.com/office/drawing/2010/main">
                  <a14:imgLayer r:embed="rId3">
                    <a14:imgEffect>
                      <a14:sharpenSoften amount="100000"/>
                    </a14:imgEffect>
                    <a14:imgEffect>
                      <a14:brightnessContrast bright="68000" contrast="-84000"/>
                    </a14:imgEffect>
                  </a14:imgLayer>
                </a14:imgProps>
              </a:ext>
              <a:ext uri="{28A0092B-C50C-407E-A947-70E740481C1C}">
                <a14:useLocalDpi xmlns:a14="http://schemas.microsoft.com/office/drawing/2010/main" val="0"/>
              </a:ext>
            </a:extLst>
          </a:blip>
          <a:stretch>
            <a:fillRect/>
          </a:stretch>
        </p:blipFill>
        <p:spPr>
          <a:xfrm>
            <a:off x="3224504" y="2511635"/>
            <a:ext cx="2304258" cy="1224137"/>
          </a:xfrm>
          <a:prstGeom prst="rect">
            <a:avLst/>
          </a:prstGeom>
        </p:spPr>
      </p:pic>
      <p:sp>
        <p:nvSpPr>
          <p:cNvPr id="4" name="Rounded Rectangle 3"/>
          <p:cNvSpPr/>
          <p:nvPr/>
        </p:nvSpPr>
        <p:spPr>
          <a:xfrm>
            <a:off x="632216" y="891456"/>
            <a:ext cx="2448272" cy="914400"/>
          </a:xfrm>
          <a:prstGeom prst="roundRect">
            <a:avLst/>
          </a:prstGeom>
          <a:solidFill>
            <a:srgbClr val="0099CC"/>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Card Holder</a:t>
            </a:r>
          </a:p>
          <a:p>
            <a:pPr algn="ctr"/>
            <a:r>
              <a:rPr lang="en-US" sz="1400" dirty="0" smtClean="0"/>
              <a:t>(consumer)</a:t>
            </a:r>
            <a:endParaRPr lang="en-IN" sz="1400" dirty="0"/>
          </a:p>
        </p:txBody>
      </p:sp>
      <p:sp>
        <p:nvSpPr>
          <p:cNvPr id="5" name="Rounded Rectangle 4"/>
          <p:cNvSpPr/>
          <p:nvPr/>
        </p:nvSpPr>
        <p:spPr>
          <a:xfrm>
            <a:off x="6032816" y="4347840"/>
            <a:ext cx="2448272" cy="914400"/>
          </a:xfrm>
          <a:prstGeom prst="roundRect">
            <a:avLst/>
          </a:prstGeom>
          <a:solidFill>
            <a:srgbClr val="0099C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Acquirer</a:t>
            </a:r>
          </a:p>
          <a:p>
            <a:pPr algn="ctr"/>
            <a:r>
              <a:rPr lang="en-US" sz="1400" dirty="0" smtClean="0"/>
              <a:t>(merchant’s bank)</a:t>
            </a:r>
            <a:endParaRPr lang="en-IN" sz="1400" dirty="0"/>
          </a:p>
        </p:txBody>
      </p:sp>
      <p:sp>
        <p:nvSpPr>
          <p:cNvPr id="6" name="Rounded Rectangle 5"/>
          <p:cNvSpPr/>
          <p:nvPr/>
        </p:nvSpPr>
        <p:spPr>
          <a:xfrm>
            <a:off x="6026041" y="891456"/>
            <a:ext cx="2448272" cy="914400"/>
          </a:xfrm>
          <a:prstGeom prst="roundRect">
            <a:avLst/>
          </a:prstGeom>
          <a:solidFill>
            <a:srgbClr val="0099C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Merchant</a:t>
            </a:r>
          </a:p>
          <a:p>
            <a:pPr algn="ctr"/>
            <a:r>
              <a:rPr lang="en-US" sz="1400" dirty="0" smtClean="0"/>
              <a:t>(accepts the card)</a:t>
            </a:r>
            <a:endParaRPr lang="en-IN" sz="1400" dirty="0"/>
          </a:p>
        </p:txBody>
      </p:sp>
      <p:sp>
        <p:nvSpPr>
          <p:cNvPr id="7" name="Rounded Rectangle 6"/>
          <p:cNvSpPr/>
          <p:nvPr/>
        </p:nvSpPr>
        <p:spPr>
          <a:xfrm>
            <a:off x="704224" y="4347840"/>
            <a:ext cx="2448272" cy="914400"/>
          </a:xfrm>
          <a:prstGeom prst="roundRect">
            <a:avLst/>
          </a:prstGeom>
          <a:solidFill>
            <a:srgbClr val="0099C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Issuer</a:t>
            </a:r>
          </a:p>
          <a:p>
            <a:pPr algn="ctr"/>
            <a:r>
              <a:rPr lang="en-US" sz="1400" dirty="0" smtClean="0"/>
              <a:t>(cardholder’s bank)</a:t>
            </a:r>
            <a:endParaRPr lang="en-IN" sz="1400" dirty="0"/>
          </a:p>
        </p:txBody>
      </p:sp>
      <p:sp>
        <p:nvSpPr>
          <p:cNvPr id="8" name="Rounded Rectangle 7"/>
          <p:cNvSpPr/>
          <p:nvPr/>
        </p:nvSpPr>
        <p:spPr>
          <a:xfrm>
            <a:off x="3224504" y="2511635"/>
            <a:ext cx="2304256" cy="1224136"/>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smtClean="0">
                <a:solidFill>
                  <a:schemeClr val="tx1">
                    <a:lumMod val="95000"/>
                    <a:lumOff val="5000"/>
                  </a:schemeClr>
                </a:solidFill>
                <a:latin typeface="+mj-lt"/>
              </a:rPr>
              <a:t>Network</a:t>
            </a:r>
            <a:endParaRPr lang="en-IN" sz="2800" dirty="0">
              <a:solidFill>
                <a:schemeClr val="tx1">
                  <a:lumMod val="95000"/>
                  <a:lumOff val="5000"/>
                </a:schemeClr>
              </a:solidFill>
              <a:latin typeface="+mj-lt"/>
            </a:endParaRPr>
          </a:p>
        </p:txBody>
      </p:sp>
      <p:cxnSp>
        <p:nvCxnSpPr>
          <p:cNvPr id="12" name="Straight Arrow Connector 11"/>
          <p:cNvCxnSpPr/>
          <p:nvPr/>
        </p:nvCxnSpPr>
        <p:spPr>
          <a:xfrm>
            <a:off x="3080488" y="1348656"/>
            <a:ext cx="2945553"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p:nvPr/>
        </p:nvCxnSpPr>
        <p:spPr>
          <a:xfrm>
            <a:off x="7040928" y="1770310"/>
            <a:ext cx="0" cy="254198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p:nvPr/>
        </p:nvCxnSpPr>
        <p:spPr>
          <a:xfrm flipV="1">
            <a:off x="7628440" y="1823629"/>
            <a:ext cx="0" cy="250643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p:nvPr/>
        </p:nvCxnSpPr>
        <p:spPr>
          <a:xfrm>
            <a:off x="4808680" y="3735772"/>
            <a:ext cx="1217361" cy="126014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a:endCxn id="10" idx="3"/>
          </p:cNvCxnSpPr>
          <p:nvPr/>
        </p:nvCxnSpPr>
        <p:spPr>
          <a:xfrm flipH="1" flipV="1">
            <a:off x="5528762" y="3123704"/>
            <a:ext cx="864096" cy="122413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p:nvPr/>
        </p:nvCxnSpPr>
        <p:spPr>
          <a:xfrm flipH="1">
            <a:off x="2264064" y="3356849"/>
            <a:ext cx="960440" cy="990991"/>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8" name="Straight Arrow Connector 27"/>
          <p:cNvCxnSpPr>
            <a:stCxn id="7" idx="3"/>
            <a:endCxn id="8" idx="2"/>
          </p:cNvCxnSpPr>
          <p:nvPr/>
        </p:nvCxnSpPr>
        <p:spPr>
          <a:xfrm flipV="1">
            <a:off x="3152496" y="3735771"/>
            <a:ext cx="1224136" cy="1069269"/>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4" name="Straight Arrow Connector 33"/>
          <p:cNvCxnSpPr>
            <a:endCxn id="4" idx="2"/>
          </p:cNvCxnSpPr>
          <p:nvPr/>
        </p:nvCxnSpPr>
        <p:spPr>
          <a:xfrm flipV="1">
            <a:off x="1819859" y="1805856"/>
            <a:ext cx="36493" cy="255998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35" name="TextBox 34"/>
          <p:cNvSpPr txBox="1"/>
          <p:nvPr/>
        </p:nvSpPr>
        <p:spPr>
          <a:xfrm>
            <a:off x="3601678" y="1082093"/>
            <a:ext cx="2016224" cy="261610"/>
          </a:xfrm>
          <a:prstGeom prst="rect">
            <a:avLst/>
          </a:prstGeom>
          <a:noFill/>
        </p:spPr>
        <p:txBody>
          <a:bodyPr wrap="square" rtlCol="0">
            <a:spAutoFit/>
          </a:bodyPr>
          <a:lstStyle/>
          <a:p>
            <a:pPr algn="ctr"/>
            <a:r>
              <a:rPr lang="en-US" sz="1100" dirty="0" smtClean="0"/>
              <a:t>1. Payment Initiation</a:t>
            </a:r>
            <a:endParaRPr lang="en-IN" sz="1100" dirty="0"/>
          </a:p>
        </p:txBody>
      </p:sp>
      <p:sp>
        <p:nvSpPr>
          <p:cNvPr id="36" name="TextBox 35"/>
          <p:cNvSpPr txBox="1"/>
          <p:nvPr/>
        </p:nvSpPr>
        <p:spPr>
          <a:xfrm>
            <a:off x="5869099" y="2511635"/>
            <a:ext cx="1181734" cy="261610"/>
          </a:xfrm>
          <a:prstGeom prst="rect">
            <a:avLst/>
          </a:prstGeom>
          <a:noFill/>
        </p:spPr>
        <p:txBody>
          <a:bodyPr wrap="none" rtlCol="0">
            <a:spAutoFit/>
          </a:bodyPr>
          <a:lstStyle/>
          <a:p>
            <a:r>
              <a:rPr lang="en-US" sz="1100" dirty="0" smtClean="0"/>
              <a:t>2. Auth Request</a:t>
            </a:r>
            <a:endParaRPr lang="en-IN" sz="1100" dirty="0"/>
          </a:p>
        </p:txBody>
      </p:sp>
      <p:sp>
        <p:nvSpPr>
          <p:cNvPr id="37" name="TextBox 36"/>
          <p:cNvSpPr txBox="1"/>
          <p:nvPr/>
        </p:nvSpPr>
        <p:spPr>
          <a:xfrm>
            <a:off x="7689977" y="2741657"/>
            <a:ext cx="1176925" cy="261610"/>
          </a:xfrm>
          <a:prstGeom prst="rect">
            <a:avLst/>
          </a:prstGeom>
          <a:noFill/>
        </p:spPr>
        <p:txBody>
          <a:bodyPr wrap="none" rtlCol="0">
            <a:spAutoFit/>
          </a:bodyPr>
          <a:lstStyle/>
          <a:p>
            <a:r>
              <a:rPr lang="en-US" sz="1100" dirty="0" smtClean="0"/>
              <a:t>5. Auth Request</a:t>
            </a:r>
            <a:endParaRPr lang="en-IN" sz="1100" dirty="0"/>
          </a:p>
        </p:txBody>
      </p:sp>
      <p:sp>
        <p:nvSpPr>
          <p:cNvPr id="38" name="TextBox 37"/>
          <p:cNvSpPr txBox="1"/>
          <p:nvPr/>
        </p:nvSpPr>
        <p:spPr>
          <a:xfrm>
            <a:off x="5848210" y="3356849"/>
            <a:ext cx="1181734" cy="261610"/>
          </a:xfrm>
          <a:prstGeom prst="rect">
            <a:avLst/>
          </a:prstGeom>
          <a:noFill/>
        </p:spPr>
        <p:txBody>
          <a:bodyPr wrap="none" rtlCol="0">
            <a:spAutoFit/>
          </a:bodyPr>
          <a:lstStyle/>
          <a:p>
            <a:r>
              <a:rPr lang="en-US" sz="1100" dirty="0"/>
              <a:t>3</a:t>
            </a:r>
            <a:r>
              <a:rPr lang="en-US" sz="1100" dirty="0" smtClean="0"/>
              <a:t>. Auth Request</a:t>
            </a:r>
            <a:endParaRPr lang="en-IN" sz="1100" dirty="0"/>
          </a:p>
        </p:txBody>
      </p:sp>
      <p:sp>
        <p:nvSpPr>
          <p:cNvPr id="39" name="TextBox 38"/>
          <p:cNvSpPr txBox="1"/>
          <p:nvPr/>
        </p:nvSpPr>
        <p:spPr>
          <a:xfrm>
            <a:off x="4553264" y="4589596"/>
            <a:ext cx="1183337" cy="261610"/>
          </a:xfrm>
          <a:prstGeom prst="rect">
            <a:avLst/>
          </a:prstGeom>
          <a:noFill/>
        </p:spPr>
        <p:txBody>
          <a:bodyPr wrap="none" rtlCol="0">
            <a:spAutoFit/>
          </a:bodyPr>
          <a:lstStyle/>
          <a:p>
            <a:r>
              <a:rPr lang="en-US" sz="1100" dirty="0"/>
              <a:t>4</a:t>
            </a:r>
            <a:r>
              <a:rPr lang="en-US" sz="1100" dirty="0" smtClean="0"/>
              <a:t>. Auth Request</a:t>
            </a:r>
            <a:endParaRPr lang="en-IN" sz="1100" dirty="0"/>
          </a:p>
        </p:txBody>
      </p:sp>
      <p:sp>
        <p:nvSpPr>
          <p:cNvPr id="40" name="TextBox 39"/>
          <p:cNvSpPr txBox="1"/>
          <p:nvPr/>
        </p:nvSpPr>
        <p:spPr>
          <a:xfrm>
            <a:off x="3582519" y="4290767"/>
            <a:ext cx="1183337" cy="261610"/>
          </a:xfrm>
          <a:prstGeom prst="rect">
            <a:avLst/>
          </a:prstGeom>
          <a:noFill/>
        </p:spPr>
        <p:txBody>
          <a:bodyPr wrap="none" rtlCol="0">
            <a:spAutoFit/>
          </a:bodyPr>
          <a:lstStyle/>
          <a:p>
            <a:r>
              <a:rPr lang="en-US" sz="1100" dirty="0" smtClean="0"/>
              <a:t>4. Auth Request</a:t>
            </a:r>
            <a:endParaRPr lang="en-IN" sz="1100" dirty="0"/>
          </a:p>
        </p:txBody>
      </p:sp>
      <p:sp>
        <p:nvSpPr>
          <p:cNvPr id="41" name="TextBox 40"/>
          <p:cNvSpPr txBox="1"/>
          <p:nvPr/>
        </p:nvSpPr>
        <p:spPr>
          <a:xfrm>
            <a:off x="2013299" y="3356849"/>
            <a:ext cx="1181734" cy="261610"/>
          </a:xfrm>
          <a:prstGeom prst="rect">
            <a:avLst/>
          </a:prstGeom>
          <a:noFill/>
        </p:spPr>
        <p:txBody>
          <a:bodyPr wrap="none" rtlCol="0">
            <a:spAutoFit/>
          </a:bodyPr>
          <a:lstStyle/>
          <a:p>
            <a:r>
              <a:rPr lang="en-US" sz="1100" dirty="0"/>
              <a:t>3</a:t>
            </a:r>
            <a:r>
              <a:rPr lang="en-US" sz="1100" dirty="0" smtClean="0"/>
              <a:t>. Auth Request</a:t>
            </a:r>
            <a:endParaRPr lang="en-IN" sz="1100" dirty="0"/>
          </a:p>
        </p:txBody>
      </p:sp>
      <p:sp>
        <p:nvSpPr>
          <p:cNvPr id="42" name="TextBox 41"/>
          <p:cNvSpPr txBox="1"/>
          <p:nvPr/>
        </p:nvSpPr>
        <p:spPr>
          <a:xfrm>
            <a:off x="806625" y="2619099"/>
            <a:ext cx="1079142" cy="430887"/>
          </a:xfrm>
          <a:prstGeom prst="rect">
            <a:avLst/>
          </a:prstGeom>
          <a:noFill/>
        </p:spPr>
        <p:txBody>
          <a:bodyPr wrap="none" rtlCol="0">
            <a:spAutoFit/>
          </a:bodyPr>
          <a:lstStyle/>
          <a:p>
            <a:r>
              <a:rPr lang="en-US" sz="1100" dirty="0"/>
              <a:t>6</a:t>
            </a:r>
            <a:r>
              <a:rPr lang="en-US" sz="1100" dirty="0" smtClean="0"/>
              <a:t>.Transaction </a:t>
            </a:r>
          </a:p>
          <a:p>
            <a:r>
              <a:rPr lang="en-US" sz="1100" dirty="0" smtClean="0"/>
              <a:t>   Notification</a:t>
            </a:r>
            <a:endParaRPr lang="en-IN" sz="1100" dirty="0"/>
          </a:p>
        </p:txBody>
      </p:sp>
      <p:sp>
        <p:nvSpPr>
          <p:cNvPr id="52" name="TextBox 51"/>
          <p:cNvSpPr txBox="1"/>
          <p:nvPr/>
        </p:nvSpPr>
        <p:spPr>
          <a:xfrm>
            <a:off x="593313" y="196149"/>
            <a:ext cx="7919902" cy="523220"/>
          </a:xfrm>
          <a:prstGeom prst="rect">
            <a:avLst/>
          </a:prstGeom>
          <a:noFill/>
        </p:spPr>
        <p:txBody>
          <a:bodyPr wrap="square" rtlCol="0">
            <a:spAutoFit/>
          </a:bodyPr>
          <a:lstStyle/>
          <a:p>
            <a:pPr algn="ctr"/>
            <a:r>
              <a:rPr lang="en-US" sz="2800" dirty="0" smtClean="0">
                <a:latin typeface="+mj-lt"/>
              </a:rPr>
              <a:t>Four Party Model</a:t>
            </a:r>
            <a:endParaRPr lang="en-IN" sz="2800" dirty="0">
              <a:latin typeface="+mj-lt"/>
            </a:endParaRPr>
          </a:p>
        </p:txBody>
      </p:sp>
      <p:sp>
        <p:nvSpPr>
          <p:cNvPr id="55" name="TextBox 54"/>
          <p:cNvSpPr txBox="1"/>
          <p:nvPr/>
        </p:nvSpPr>
        <p:spPr>
          <a:xfrm>
            <a:off x="5528762" y="5314923"/>
            <a:ext cx="3387834" cy="600164"/>
          </a:xfrm>
          <a:prstGeom prst="rect">
            <a:avLst/>
          </a:prstGeom>
          <a:noFill/>
        </p:spPr>
        <p:txBody>
          <a:bodyPr wrap="square" rtlCol="0">
            <a:spAutoFit/>
          </a:bodyPr>
          <a:lstStyle/>
          <a:p>
            <a:pPr algn="just"/>
            <a:r>
              <a:rPr lang="en-US" sz="1100" dirty="0" smtClean="0"/>
              <a:t>Financial institution that partners with merchant to process the transactions and connecting with network etc</a:t>
            </a:r>
            <a:endParaRPr lang="en-IN" sz="1100" dirty="0"/>
          </a:p>
        </p:txBody>
      </p:sp>
      <p:sp>
        <p:nvSpPr>
          <p:cNvPr id="56" name="TextBox 55"/>
          <p:cNvSpPr txBox="1"/>
          <p:nvPr/>
        </p:nvSpPr>
        <p:spPr>
          <a:xfrm>
            <a:off x="319382" y="5314923"/>
            <a:ext cx="3387834" cy="769441"/>
          </a:xfrm>
          <a:prstGeom prst="rect">
            <a:avLst/>
          </a:prstGeom>
          <a:noFill/>
        </p:spPr>
        <p:txBody>
          <a:bodyPr wrap="square" rtlCol="0">
            <a:spAutoFit/>
          </a:bodyPr>
          <a:lstStyle/>
          <a:p>
            <a:pPr algn="just"/>
            <a:r>
              <a:rPr lang="en-US" sz="1100" dirty="0" smtClean="0"/>
              <a:t>Financial institution that issues credit/debit cards to consumers responsible for approving/declining transactions based on cardholder’ status, etc.</a:t>
            </a:r>
            <a:endParaRPr lang="en-IN" sz="1100" dirty="0"/>
          </a:p>
        </p:txBody>
      </p:sp>
      <p:sp>
        <p:nvSpPr>
          <p:cNvPr id="57" name="TextBox 56"/>
          <p:cNvSpPr txBox="1"/>
          <p:nvPr/>
        </p:nvSpPr>
        <p:spPr>
          <a:xfrm>
            <a:off x="2638759" y="2049970"/>
            <a:ext cx="3387834" cy="461665"/>
          </a:xfrm>
          <a:prstGeom prst="rect">
            <a:avLst/>
          </a:prstGeom>
          <a:noFill/>
        </p:spPr>
        <p:txBody>
          <a:bodyPr wrap="square" rtlCol="0">
            <a:spAutoFit/>
          </a:bodyPr>
          <a:lstStyle/>
          <a:p>
            <a:pPr algn="ctr"/>
            <a:r>
              <a:rPr lang="en-US" sz="1200" dirty="0" smtClean="0"/>
              <a:t>It exchanges payment data between merchant, acquirer, issuer etc</a:t>
            </a:r>
            <a:endParaRPr lang="en-IN" sz="1200" dirty="0"/>
          </a:p>
        </p:txBody>
      </p:sp>
      <p:pic>
        <p:nvPicPr>
          <p:cNvPr id="2" name="Picture 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689977" y="15550"/>
            <a:ext cx="1419503" cy="361197"/>
          </a:xfrm>
          <a:prstGeom prst="rect">
            <a:avLst/>
          </a:prstGeom>
        </p:spPr>
      </p:pic>
    </p:spTree>
    <p:extLst>
      <p:ext uri="{BB962C8B-B14F-4D97-AF65-F5344CB8AC3E}">
        <p14:creationId xmlns:p14="http://schemas.microsoft.com/office/powerpoint/2010/main" val="44617130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p:cNvPicPr>
            <a:picLocks noChangeAspect="1"/>
          </p:cNvPicPr>
          <p:nvPr/>
        </p:nvPicPr>
        <p:blipFill>
          <a:blip r:embed="rId2" cstate="print">
            <a:extLst>
              <a:ext uri="{BEBA8EAE-BF5A-486C-A8C5-ECC9F3942E4B}">
                <a14:imgProps xmlns:a14="http://schemas.microsoft.com/office/drawing/2010/main">
                  <a14:imgLayer r:embed="rId3">
                    <a14:imgEffect>
                      <a14:sharpenSoften amount="100000"/>
                    </a14:imgEffect>
                    <a14:imgEffect>
                      <a14:brightnessContrast bright="68000" contrast="-84000"/>
                    </a14:imgEffect>
                  </a14:imgLayer>
                </a14:imgProps>
              </a:ext>
              <a:ext uri="{28A0092B-C50C-407E-A947-70E740481C1C}">
                <a14:useLocalDpi xmlns:a14="http://schemas.microsoft.com/office/drawing/2010/main" val="0"/>
              </a:ext>
            </a:extLst>
          </a:blip>
          <a:stretch>
            <a:fillRect/>
          </a:stretch>
        </p:blipFill>
        <p:spPr>
          <a:xfrm>
            <a:off x="3295534" y="2469934"/>
            <a:ext cx="2304258" cy="1224137"/>
          </a:xfrm>
          <a:prstGeom prst="rect">
            <a:avLst/>
          </a:prstGeom>
        </p:spPr>
      </p:pic>
      <p:sp>
        <p:nvSpPr>
          <p:cNvPr id="4" name="Rounded Rectangle 3"/>
          <p:cNvSpPr/>
          <p:nvPr/>
        </p:nvSpPr>
        <p:spPr>
          <a:xfrm>
            <a:off x="703246" y="849755"/>
            <a:ext cx="2448272" cy="914400"/>
          </a:xfrm>
          <a:prstGeom prst="roundRect">
            <a:avLst/>
          </a:prstGeom>
          <a:solidFill>
            <a:srgbClr val="0099CC"/>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Card Holder</a:t>
            </a:r>
          </a:p>
          <a:p>
            <a:pPr algn="ctr"/>
            <a:r>
              <a:rPr lang="en-US" sz="1400" dirty="0" smtClean="0"/>
              <a:t>(consumer)</a:t>
            </a:r>
            <a:endParaRPr lang="en-IN" sz="1400" dirty="0"/>
          </a:p>
        </p:txBody>
      </p:sp>
      <p:sp>
        <p:nvSpPr>
          <p:cNvPr id="5" name="Rounded Rectangle 4"/>
          <p:cNvSpPr/>
          <p:nvPr/>
        </p:nvSpPr>
        <p:spPr>
          <a:xfrm>
            <a:off x="6082276" y="5050992"/>
            <a:ext cx="2448272" cy="914400"/>
          </a:xfrm>
          <a:prstGeom prst="roundRect">
            <a:avLst/>
          </a:prstGeom>
          <a:solidFill>
            <a:srgbClr val="0099C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Acquirer</a:t>
            </a:r>
          </a:p>
          <a:p>
            <a:pPr algn="ctr"/>
            <a:r>
              <a:rPr lang="en-US" sz="1400" dirty="0" smtClean="0"/>
              <a:t>(merchant’s bank)</a:t>
            </a:r>
            <a:endParaRPr lang="en-IN" sz="1400" dirty="0"/>
          </a:p>
        </p:txBody>
      </p:sp>
      <p:sp>
        <p:nvSpPr>
          <p:cNvPr id="6" name="Rounded Rectangle 5"/>
          <p:cNvSpPr/>
          <p:nvPr/>
        </p:nvSpPr>
        <p:spPr>
          <a:xfrm>
            <a:off x="6097071" y="849755"/>
            <a:ext cx="2448272" cy="914400"/>
          </a:xfrm>
          <a:prstGeom prst="roundRect">
            <a:avLst/>
          </a:prstGeom>
          <a:solidFill>
            <a:srgbClr val="0099C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Merchant</a:t>
            </a:r>
          </a:p>
          <a:p>
            <a:pPr algn="ctr"/>
            <a:r>
              <a:rPr lang="en-US" sz="1400" dirty="0" smtClean="0"/>
              <a:t>(accepts the card)</a:t>
            </a:r>
            <a:endParaRPr lang="en-IN" sz="1400" dirty="0"/>
          </a:p>
        </p:txBody>
      </p:sp>
      <p:sp>
        <p:nvSpPr>
          <p:cNvPr id="7" name="Rounded Rectangle 6"/>
          <p:cNvSpPr/>
          <p:nvPr/>
        </p:nvSpPr>
        <p:spPr>
          <a:xfrm>
            <a:off x="780608" y="5044337"/>
            <a:ext cx="2448272" cy="914400"/>
          </a:xfrm>
          <a:prstGeom prst="roundRect">
            <a:avLst/>
          </a:prstGeom>
          <a:solidFill>
            <a:srgbClr val="0099C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Issuer</a:t>
            </a:r>
          </a:p>
          <a:p>
            <a:pPr algn="ctr"/>
            <a:r>
              <a:rPr lang="en-US" sz="1400" dirty="0" smtClean="0"/>
              <a:t>(cardholder’s bank)</a:t>
            </a:r>
            <a:endParaRPr lang="en-IN" sz="1400" dirty="0"/>
          </a:p>
        </p:txBody>
      </p:sp>
      <p:sp>
        <p:nvSpPr>
          <p:cNvPr id="8" name="Rounded Rectangle 7"/>
          <p:cNvSpPr/>
          <p:nvPr/>
        </p:nvSpPr>
        <p:spPr>
          <a:xfrm>
            <a:off x="3295534" y="2469934"/>
            <a:ext cx="2304256" cy="1224136"/>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smtClean="0">
                <a:solidFill>
                  <a:schemeClr val="tx1">
                    <a:lumMod val="95000"/>
                    <a:lumOff val="5000"/>
                  </a:schemeClr>
                </a:solidFill>
                <a:latin typeface="+mj-lt"/>
              </a:rPr>
              <a:t>Network</a:t>
            </a:r>
            <a:endParaRPr lang="en-IN" sz="2800" dirty="0">
              <a:solidFill>
                <a:schemeClr val="tx1">
                  <a:lumMod val="95000"/>
                  <a:lumOff val="5000"/>
                </a:schemeClr>
              </a:solidFill>
              <a:latin typeface="+mj-lt"/>
            </a:endParaRPr>
          </a:p>
        </p:txBody>
      </p:sp>
      <p:cxnSp>
        <p:nvCxnSpPr>
          <p:cNvPr id="12" name="Straight Arrow Connector 11"/>
          <p:cNvCxnSpPr/>
          <p:nvPr/>
        </p:nvCxnSpPr>
        <p:spPr>
          <a:xfrm>
            <a:off x="3151518" y="1306955"/>
            <a:ext cx="2945553"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p:nvPr/>
        </p:nvCxnSpPr>
        <p:spPr>
          <a:xfrm>
            <a:off x="6699135" y="1790929"/>
            <a:ext cx="0" cy="3260063"/>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p:nvPr/>
        </p:nvCxnSpPr>
        <p:spPr>
          <a:xfrm flipV="1">
            <a:off x="6987167" y="1764155"/>
            <a:ext cx="0" cy="3286837"/>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a:endCxn id="5" idx="1"/>
          </p:cNvCxnSpPr>
          <p:nvPr/>
        </p:nvCxnSpPr>
        <p:spPr>
          <a:xfrm>
            <a:off x="4879710" y="3694071"/>
            <a:ext cx="1202566" cy="1814121"/>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p:nvPr/>
        </p:nvCxnSpPr>
        <p:spPr>
          <a:xfrm flipH="1" flipV="1">
            <a:off x="5402991" y="3694071"/>
            <a:ext cx="864096" cy="1327173"/>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p:nvPr/>
        </p:nvCxnSpPr>
        <p:spPr>
          <a:xfrm flipH="1">
            <a:off x="2974175" y="3716888"/>
            <a:ext cx="556608" cy="130435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8" name="Straight Arrow Connector 27"/>
          <p:cNvCxnSpPr>
            <a:stCxn id="7" idx="3"/>
          </p:cNvCxnSpPr>
          <p:nvPr/>
        </p:nvCxnSpPr>
        <p:spPr>
          <a:xfrm flipV="1">
            <a:off x="3228880" y="3694071"/>
            <a:ext cx="661943" cy="180746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4" name="Straight Arrow Connector 33"/>
          <p:cNvCxnSpPr/>
          <p:nvPr/>
        </p:nvCxnSpPr>
        <p:spPr>
          <a:xfrm flipV="1">
            <a:off x="2234639" y="1741062"/>
            <a:ext cx="36493" cy="328018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52" name="TextBox 51"/>
          <p:cNvSpPr txBox="1"/>
          <p:nvPr/>
        </p:nvSpPr>
        <p:spPr>
          <a:xfrm>
            <a:off x="664343" y="154448"/>
            <a:ext cx="7919902" cy="523220"/>
          </a:xfrm>
          <a:prstGeom prst="rect">
            <a:avLst/>
          </a:prstGeom>
          <a:noFill/>
        </p:spPr>
        <p:txBody>
          <a:bodyPr wrap="square" rtlCol="0">
            <a:spAutoFit/>
          </a:bodyPr>
          <a:lstStyle/>
          <a:p>
            <a:pPr algn="ctr"/>
            <a:r>
              <a:rPr lang="en-US" sz="2800" dirty="0" smtClean="0">
                <a:latin typeface="+mj-lt"/>
              </a:rPr>
              <a:t>Four Party Model and other parties</a:t>
            </a:r>
            <a:endParaRPr lang="en-IN" sz="2800" dirty="0">
              <a:latin typeface="+mj-lt"/>
            </a:endParaRPr>
          </a:p>
        </p:txBody>
      </p:sp>
      <p:sp>
        <p:nvSpPr>
          <p:cNvPr id="29" name="Rounded Rectangle 28"/>
          <p:cNvSpPr/>
          <p:nvPr/>
        </p:nvSpPr>
        <p:spPr>
          <a:xfrm>
            <a:off x="7203191" y="1882640"/>
            <a:ext cx="1728192" cy="648072"/>
          </a:xfrm>
          <a:prstGeom prst="roundRect">
            <a:avLst/>
          </a:prstGeom>
          <a:solidFill>
            <a:srgbClr val="00CC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smtClean="0">
                <a:solidFill>
                  <a:schemeClr val="tx1">
                    <a:lumMod val="65000"/>
                    <a:lumOff val="35000"/>
                  </a:schemeClr>
                </a:solidFill>
              </a:rPr>
              <a:t>ISO</a:t>
            </a:r>
            <a:endParaRPr lang="en-IN" sz="1400" dirty="0">
              <a:solidFill>
                <a:schemeClr val="tx1">
                  <a:lumMod val="65000"/>
                  <a:lumOff val="35000"/>
                </a:schemeClr>
              </a:solidFill>
            </a:endParaRPr>
          </a:p>
        </p:txBody>
      </p:sp>
      <p:sp>
        <p:nvSpPr>
          <p:cNvPr id="30" name="Rounded Rectangle 29"/>
          <p:cNvSpPr/>
          <p:nvPr/>
        </p:nvSpPr>
        <p:spPr>
          <a:xfrm>
            <a:off x="7220532" y="2675511"/>
            <a:ext cx="1728192" cy="648072"/>
          </a:xfrm>
          <a:prstGeom prst="roundRect">
            <a:avLst/>
          </a:prstGeom>
          <a:solidFill>
            <a:srgbClr val="00CC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smtClean="0">
                <a:solidFill>
                  <a:schemeClr val="tx1">
                    <a:lumMod val="65000"/>
                    <a:lumOff val="35000"/>
                  </a:schemeClr>
                </a:solidFill>
              </a:rPr>
              <a:t>Acquirer Processor</a:t>
            </a:r>
            <a:endParaRPr lang="en-IN" sz="1400" dirty="0">
              <a:solidFill>
                <a:schemeClr val="tx1">
                  <a:lumMod val="65000"/>
                  <a:lumOff val="35000"/>
                </a:schemeClr>
              </a:solidFill>
            </a:endParaRPr>
          </a:p>
        </p:txBody>
      </p:sp>
      <p:sp>
        <p:nvSpPr>
          <p:cNvPr id="31" name="Rounded Rectangle 30"/>
          <p:cNvSpPr/>
          <p:nvPr/>
        </p:nvSpPr>
        <p:spPr>
          <a:xfrm>
            <a:off x="7223616" y="3466816"/>
            <a:ext cx="1728192" cy="648072"/>
          </a:xfrm>
          <a:prstGeom prst="roundRect">
            <a:avLst/>
          </a:prstGeom>
          <a:solidFill>
            <a:srgbClr val="00CC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smtClean="0">
                <a:solidFill>
                  <a:schemeClr val="tx1">
                    <a:lumMod val="65000"/>
                    <a:lumOff val="35000"/>
                  </a:schemeClr>
                </a:solidFill>
              </a:rPr>
              <a:t>Payment Gateway</a:t>
            </a:r>
            <a:endParaRPr lang="en-IN" sz="1400" dirty="0">
              <a:solidFill>
                <a:schemeClr val="tx1">
                  <a:lumMod val="65000"/>
                  <a:lumOff val="35000"/>
                </a:schemeClr>
              </a:solidFill>
            </a:endParaRPr>
          </a:p>
        </p:txBody>
      </p:sp>
      <p:sp>
        <p:nvSpPr>
          <p:cNvPr id="32" name="Rounded Rectangle 31"/>
          <p:cNvSpPr/>
          <p:nvPr/>
        </p:nvSpPr>
        <p:spPr>
          <a:xfrm>
            <a:off x="7223616" y="4260351"/>
            <a:ext cx="1728192" cy="648072"/>
          </a:xfrm>
          <a:prstGeom prst="roundRect">
            <a:avLst/>
          </a:prstGeom>
          <a:solidFill>
            <a:srgbClr val="00CC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smtClean="0">
                <a:solidFill>
                  <a:schemeClr val="tx1">
                    <a:lumMod val="65000"/>
                    <a:lumOff val="35000"/>
                  </a:schemeClr>
                </a:solidFill>
              </a:rPr>
              <a:t>Payment Facilitator</a:t>
            </a:r>
            <a:endParaRPr lang="en-IN" sz="1400" dirty="0">
              <a:solidFill>
                <a:schemeClr val="tx1">
                  <a:lumMod val="65000"/>
                  <a:lumOff val="35000"/>
                </a:schemeClr>
              </a:solidFill>
            </a:endParaRPr>
          </a:p>
        </p:txBody>
      </p:sp>
      <p:sp>
        <p:nvSpPr>
          <p:cNvPr id="44" name="Rounded Rectangle 43"/>
          <p:cNvSpPr/>
          <p:nvPr/>
        </p:nvSpPr>
        <p:spPr>
          <a:xfrm>
            <a:off x="229985" y="2035040"/>
            <a:ext cx="1728192" cy="648072"/>
          </a:xfrm>
          <a:prstGeom prst="roundRect">
            <a:avLst/>
          </a:prstGeom>
          <a:solidFill>
            <a:srgbClr val="00CC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smtClean="0">
                <a:solidFill>
                  <a:schemeClr val="tx1">
                    <a:lumMod val="65000"/>
                    <a:lumOff val="35000"/>
                  </a:schemeClr>
                </a:solidFill>
              </a:rPr>
              <a:t>Card Personalization</a:t>
            </a:r>
            <a:endParaRPr lang="en-IN" sz="1400" dirty="0">
              <a:solidFill>
                <a:schemeClr val="tx1">
                  <a:lumMod val="65000"/>
                  <a:lumOff val="35000"/>
                </a:schemeClr>
              </a:solidFill>
            </a:endParaRPr>
          </a:p>
        </p:txBody>
      </p:sp>
      <p:sp>
        <p:nvSpPr>
          <p:cNvPr id="45" name="Rounded Rectangle 44"/>
          <p:cNvSpPr/>
          <p:nvPr/>
        </p:nvSpPr>
        <p:spPr>
          <a:xfrm>
            <a:off x="228322" y="2999547"/>
            <a:ext cx="1728192" cy="648072"/>
          </a:xfrm>
          <a:prstGeom prst="roundRect">
            <a:avLst/>
          </a:prstGeom>
          <a:solidFill>
            <a:srgbClr val="00CC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smtClean="0">
                <a:solidFill>
                  <a:schemeClr val="tx1">
                    <a:lumMod val="65000"/>
                    <a:lumOff val="35000"/>
                  </a:schemeClr>
                </a:solidFill>
              </a:rPr>
              <a:t>Issuing Processor</a:t>
            </a:r>
            <a:endParaRPr lang="en-IN" sz="1400" dirty="0">
              <a:solidFill>
                <a:schemeClr val="tx1">
                  <a:lumMod val="65000"/>
                  <a:lumOff val="35000"/>
                </a:schemeClr>
              </a:solidFill>
            </a:endParaRPr>
          </a:p>
        </p:txBody>
      </p:sp>
      <p:sp>
        <p:nvSpPr>
          <p:cNvPr id="46" name="Rounded Rectangle 45"/>
          <p:cNvSpPr/>
          <p:nvPr/>
        </p:nvSpPr>
        <p:spPr>
          <a:xfrm>
            <a:off x="228322" y="3974790"/>
            <a:ext cx="1728192" cy="648072"/>
          </a:xfrm>
          <a:prstGeom prst="roundRect">
            <a:avLst/>
          </a:prstGeom>
          <a:solidFill>
            <a:srgbClr val="00CC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smtClean="0">
                <a:solidFill>
                  <a:schemeClr val="tx1">
                    <a:lumMod val="65000"/>
                    <a:lumOff val="35000"/>
                  </a:schemeClr>
                </a:solidFill>
              </a:rPr>
              <a:t>Card Management</a:t>
            </a:r>
            <a:endParaRPr lang="en-IN" sz="1400" dirty="0">
              <a:solidFill>
                <a:schemeClr val="tx1">
                  <a:lumMod val="65000"/>
                  <a:lumOff val="35000"/>
                </a:schemeClr>
              </a:solidFill>
            </a:endParaRPr>
          </a:p>
        </p:txBody>
      </p:sp>
      <p:pic>
        <p:nvPicPr>
          <p:cNvPr id="25" name="Picture 24"/>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673036" y="25052"/>
            <a:ext cx="1470964" cy="374292"/>
          </a:xfrm>
          <a:prstGeom prst="rect">
            <a:avLst/>
          </a:prstGeom>
        </p:spPr>
      </p:pic>
    </p:spTree>
    <p:extLst>
      <p:ext uri="{BB962C8B-B14F-4D97-AF65-F5344CB8AC3E}">
        <p14:creationId xmlns:p14="http://schemas.microsoft.com/office/powerpoint/2010/main" val="26364209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p:cNvSpPr/>
          <p:nvPr/>
        </p:nvSpPr>
        <p:spPr>
          <a:xfrm>
            <a:off x="2523602" y="129747"/>
            <a:ext cx="3672408" cy="576064"/>
          </a:xfrm>
          <a:prstGeom prst="roundRect">
            <a:avLst/>
          </a:prstGeom>
          <a:solidFill>
            <a:srgbClr val="0099C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smtClean="0">
                <a:solidFill>
                  <a:schemeClr val="tx1">
                    <a:lumMod val="75000"/>
                    <a:lumOff val="25000"/>
                  </a:schemeClr>
                </a:solidFill>
                <a:latin typeface="Lucida Sans" pitchFamily="34" charset="0"/>
              </a:rPr>
              <a:t>Payment Ecosystem</a:t>
            </a:r>
            <a:endParaRPr lang="en-IN" sz="2400" dirty="0">
              <a:solidFill>
                <a:schemeClr val="tx1">
                  <a:lumMod val="75000"/>
                  <a:lumOff val="25000"/>
                </a:schemeClr>
              </a:solidFill>
              <a:latin typeface="Lucida Sans" pitchFamily="34" charset="0"/>
            </a:endParaRPr>
          </a:p>
        </p:txBody>
      </p:sp>
      <p:sp>
        <p:nvSpPr>
          <p:cNvPr id="5" name="TextBox 4"/>
          <p:cNvSpPr txBox="1"/>
          <p:nvPr/>
        </p:nvSpPr>
        <p:spPr>
          <a:xfrm>
            <a:off x="138647" y="921835"/>
            <a:ext cx="8784976" cy="646331"/>
          </a:xfrm>
          <a:prstGeom prst="rect">
            <a:avLst/>
          </a:prstGeom>
          <a:noFill/>
        </p:spPr>
        <p:txBody>
          <a:bodyPr wrap="square" rtlCol="0">
            <a:spAutoFit/>
          </a:bodyPr>
          <a:lstStyle/>
          <a:p>
            <a:pPr algn="just"/>
            <a:r>
              <a:rPr lang="en-US" sz="1200" dirty="0">
                <a:latin typeface="Lucida Sans" pitchFamily="34" charset="0"/>
              </a:rPr>
              <a:t>Traditionally merchants could only connect to Payment Networks, such as Visa directly, </a:t>
            </a:r>
            <a:r>
              <a:rPr lang="en-US" sz="1200" dirty="0" smtClean="0">
                <a:latin typeface="Lucida Sans" pitchFamily="34" charset="0"/>
              </a:rPr>
              <a:t>through an </a:t>
            </a:r>
            <a:r>
              <a:rPr lang="en-US" sz="1200" dirty="0">
                <a:latin typeface="Lucida Sans" pitchFamily="34" charset="0"/>
              </a:rPr>
              <a:t>acquirer, but </a:t>
            </a:r>
            <a:r>
              <a:rPr lang="en-US" sz="1200" dirty="0" smtClean="0">
                <a:latin typeface="Lucida Sans" pitchFamily="34" charset="0"/>
              </a:rPr>
              <a:t>these days</a:t>
            </a:r>
            <a:r>
              <a:rPr lang="en-US" sz="1200" dirty="0">
                <a:latin typeface="Lucida Sans" pitchFamily="34" charset="0"/>
              </a:rPr>
              <a:t>, to meet the diverse range of merchant needs there are other entities </a:t>
            </a:r>
            <a:r>
              <a:rPr lang="en-US" sz="1200" dirty="0" smtClean="0">
                <a:latin typeface="Lucida Sans" pitchFamily="34" charset="0"/>
              </a:rPr>
              <a:t>who </a:t>
            </a:r>
            <a:r>
              <a:rPr lang="en-US" sz="1200" dirty="0">
                <a:latin typeface="Lucida Sans" pitchFamily="34" charset="0"/>
              </a:rPr>
              <a:t>play important roles between – or </a:t>
            </a:r>
            <a:r>
              <a:rPr lang="en-US" sz="1200" dirty="0" smtClean="0">
                <a:latin typeface="Lucida Sans" pitchFamily="34" charset="0"/>
              </a:rPr>
              <a:t>on behalf </a:t>
            </a:r>
            <a:r>
              <a:rPr lang="en-US" sz="1200" dirty="0">
                <a:latin typeface="Lucida Sans" pitchFamily="34" charset="0"/>
              </a:rPr>
              <a:t>of – the acquirer and merchant, that have </a:t>
            </a:r>
            <a:r>
              <a:rPr lang="en-US" sz="1200" dirty="0" smtClean="0">
                <a:latin typeface="Lucida Sans" pitchFamily="34" charset="0"/>
              </a:rPr>
              <a:t>become </a:t>
            </a:r>
            <a:r>
              <a:rPr lang="en-US" sz="1200" dirty="0">
                <a:latin typeface="Lucida Sans" pitchFamily="34" charset="0"/>
              </a:rPr>
              <a:t>increasingly integral to the acceptance ecosystem</a:t>
            </a:r>
            <a:r>
              <a:rPr lang="en-US" sz="1200" dirty="0" smtClean="0">
                <a:latin typeface="Lucida Sans" pitchFamily="34" charset="0"/>
              </a:rPr>
              <a:t>.</a:t>
            </a:r>
            <a:endParaRPr lang="en-IN" sz="1200" dirty="0">
              <a:latin typeface="Lucida Sans" pitchFamily="34" charset="0"/>
            </a:endParaRPr>
          </a:p>
        </p:txBody>
      </p:sp>
      <p:sp>
        <p:nvSpPr>
          <p:cNvPr id="6" name="TextBox 5"/>
          <p:cNvSpPr txBox="1"/>
          <p:nvPr/>
        </p:nvSpPr>
        <p:spPr>
          <a:xfrm>
            <a:off x="567219" y="1808208"/>
            <a:ext cx="4104455" cy="1015663"/>
          </a:xfrm>
          <a:prstGeom prst="rect">
            <a:avLst/>
          </a:prstGeom>
          <a:noFill/>
        </p:spPr>
        <p:txBody>
          <a:bodyPr wrap="square" rtlCol="0">
            <a:spAutoFit/>
          </a:bodyPr>
          <a:lstStyle/>
          <a:p>
            <a:pPr algn="just"/>
            <a:r>
              <a:rPr lang="en-IN" sz="1200" b="1" dirty="0">
                <a:latin typeface="Lucida Sans" pitchFamily="34" charset="0"/>
              </a:rPr>
              <a:t>Payment Service Providers (PSP)</a:t>
            </a:r>
          </a:p>
          <a:p>
            <a:pPr algn="just"/>
            <a:r>
              <a:rPr lang="en-US" sz="1200" dirty="0">
                <a:latin typeface="Lucida Sans" pitchFamily="34" charset="0"/>
              </a:rPr>
              <a:t>(also called Merchant Service Providers) </a:t>
            </a:r>
            <a:r>
              <a:rPr lang="en-US" sz="1200" dirty="0" smtClean="0">
                <a:latin typeface="Lucida Sans" pitchFamily="34" charset="0"/>
              </a:rPr>
              <a:t>are third </a:t>
            </a:r>
            <a:r>
              <a:rPr lang="en-US" sz="1200" dirty="0">
                <a:latin typeface="Lucida Sans" pitchFamily="34" charset="0"/>
              </a:rPr>
              <a:t>parties that help merchants </a:t>
            </a:r>
            <a:r>
              <a:rPr lang="en-US" sz="1200" dirty="0" smtClean="0">
                <a:latin typeface="Lucida Sans" pitchFamily="34" charset="0"/>
              </a:rPr>
              <a:t>accept payments </a:t>
            </a:r>
            <a:r>
              <a:rPr lang="en-US" sz="1200" dirty="0">
                <a:latin typeface="Lucida Sans" pitchFamily="34" charset="0"/>
              </a:rPr>
              <a:t>by providing value added </a:t>
            </a:r>
            <a:r>
              <a:rPr lang="en-US" sz="1200" dirty="0" smtClean="0">
                <a:latin typeface="Lucida Sans" pitchFamily="34" charset="0"/>
              </a:rPr>
              <a:t>services and </a:t>
            </a:r>
            <a:r>
              <a:rPr lang="en-US" sz="1200" dirty="0">
                <a:latin typeface="Lucida Sans" pitchFamily="34" charset="0"/>
              </a:rPr>
              <a:t>connectivity to payment networks.</a:t>
            </a:r>
            <a:endParaRPr lang="en-IN" sz="1200" dirty="0">
              <a:latin typeface="Lucida Sans" pitchFamily="34" charset="0"/>
            </a:endParaRPr>
          </a:p>
        </p:txBody>
      </p:sp>
      <p:sp>
        <p:nvSpPr>
          <p:cNvPr id="9" name="TextBox 8"/>
          <p:cNvSpPr txBox="1"/>
          <p:nvPr/>
        </p:nvSpPr>
        <p:spPr>
          <a:xfrm>
            <a:off x="579065" y="3584455"/>
            <a:ext cx="4092609" cy="1384995"/>
          </a:xfrm>
          <a:prstGeom prst="rect">
            <a:avLst/>
          </a:prstGeom>
          <a:noFill/>
        </p:spPr>
        <p:txBody>
          <a:bodyPr wrap="square" rtlCol="0">
            <a:spAutoFit/>
          </a:bodyPr>
          <a:lstStyle/>
          <a:p>
            <a:pPr algn="just"/>
            <a:r>
              <a:rPr lang="en-IN" sz="1200" b="1" dirty="0">
                <a:latin typeface="Lucida Sans" pitchFamily="34" charset="0"/>
              </a:rPr>
              <a:t>Independent Sales Organizations</a:t>
            </a:r>
          </a:p>
          <a:p>
            <a:pPr algn="just"/>
            <a:r>
              <a:rPr lang="en-US" sz="1200" b="1" dirty="0">
                <a:latin typeface="Lucida Sans" pitchFamily="34" charset="0"/>
              </a:rPr>
              <a:t>(ISOs), </a:t>
            </a:r>
            <a:r>
              <a:rPr lang="en-US" sz="1200" dirty="0">
                <a:latin typeface="Lucida Sans" pitchFamily="34" charset="0"/>
              </a:rPr>
              <a:t>work with acquirers to </a:t>
            </a:r>
            <a:r>
              <a:rPr lang="en-US" sz="1200" dirty="0" smtClean="0">
                <a:latin typeface="Lucida Sans" pitchFamily="34" charset="0"/>
              </a:rPr>
              <a:t>conduct multiple </a:t>
            </a:r>
            <a:r>
              <a:rPr lang="en-US" sz="1200" dirty="0">
                <a:latin typeface="Lucida Sans" pitchFamily="34" charset="0"/>
              </a:rPr>
              <a:t>activities, including seller </a:t>
            </a:r>
            <a:r>
              <a:rPr lang="en-US" sz="1200" dirty="0" smtClean="0">
                <a:latin typeface="Lucida Sans" pitchFamily="34" charset="0"/>
              </a:rPr>
              <a:t>account or </a:t>
            </a:r>
            <a:r>
              <a:rPr lang="en-US" sz="1200" dirty="0">
                <a:latin typeface="Lucida Sans" pitchFamily="34" charset="0"/>
              </a:rPr>
              <a:t>transaction processing solicitation, </a:t>
            </a:r>
            <a:r>
              <a:rPr lang="en-US" sz="1200" dirty="0" smtClean="0">
                <a:latin typeface="Lucida Sans" pitchFamily="34" charset="0"/>
              </a:rPr>
              <a:t>sales, customer </a:t>
            </a:r>
            <a:r>
              <a:rPr lang="en-US" sz="1200" dirty="0">
                <a:latin typeface="Lucida Sans" pitchFamily="34" charset="0"/>
              </a:rPr>
              <a:t>service, seller training activities </a:t>
            </a:r>
            <a:r>
              <a:rPr lang="en-US" sz="1200" dirty="0" smtClean="0">
                <a:latin typeface="Lucida Sans" pitchFamily="34" charset="0"/>
              </a:rPr>
              <a:t>or solicitation </a:t>
            </a:r>
            <a:r>
              <a:rPr lang="en-US" sz="1200" dirty="0">
                <a:latin typeface="Lucida Sans" pitchFamily="34" charset="0"/>
              </a:rPr>
              <a:t>and sales of POS terminals, </a:t>
            </a:r>
            <a:r>
              <a:rPr lang="en-US" sz="1200" dirty="0" smtClean="0">
                <a:latin typeface="Lucida Sans" pitchFamily="34" charset="0"/>
              </a:rPr>
              <a:t>Mpos </a:t>
            </a:r>
            <a:r>
              <a:rPr lang="en-IN" sz="1200" dirty="0" smtClean="0">
                <a:latin typeface="Lucida Sans" pitchFamily="34" charset="0"/>
              </a:rPr>
              <a:t>devices </a:t>
            </a:r>
            <a:r>
              <a:rPr lang="en-IN" sz="1200" dirty="0">
                <a:latin typeface="Lucida Sans" pitchFamily="34" charset="0"/>
              </a:rPr>
              <a:t>or other acquirer acceptance solutions.</a:t>
            </a:r>
          </a:p>
        </p:txBody>
      </p:sp>
      <p:sp>
        <p:nvSpPr>
          <p:cNvPr id="11" name="TextBox 10"/>
          <p:cNvSpPr txBox="1"/>
          <p:nvPr/>
        </p:nvSpPr>
        <p:spPr>
          <a:xfrm>
            <a:off x="5470698" y="3564058"/>
            <a:ext cx="3444544" cy="1384995"/>
          </a:xfrm>
          <a:prstGeom prst="rect">
            <a:avLst/>
          </a:prstGeom>
          <a:noFill/>
        </p:spPr>
        <p:txBody>
          <a:bodyPr wrap="square" rtlCol="0">
            <a:spAutoFit/>
          </a:bodyPr>
          <a:lstStyle/>
          <a:p>
            <a:pPr algn="just"/>
            <a:r>
              <a:rPr lang="en-US" sz="1200" b="1" dirty="0">
                <a:latin typeface="Lucida Sans" pitchFamily="34" charset="0"/>
              </a:rPr>
              <a:t>Payment facilitators (or Payfacs) </a:t>
            </a:r>
            <a:r>
              <a:rPr lang="en-US" sz="1200" dirty="0" smtClean="0">
                <a:latin typeface="Lucida Sans" pitchFamily="34" charset="0"/>
              </a:rPr>
              <a:t>act as </a:t>
            </a:r>
            <a:r>
              <a:rPr lang="en-US" sz="1200" dirty="0">
                <a:latin typeface="Lucida Sans" pitchFamily="34" charset="0"/>
              </a:rPr>
              <a:t>a “master merchant” who can both sign </a:t>
            </a:r>
            <a:r>
              <a:rPr lang="en-US" sz="1200" dirty="0" smtClean="0">
                <a:latin typeface="Lucida Sans" pitchFamily="34" charset="0"/>
              </a:rPr>
              <a:t>a merchant </a:t>
            </a:r>
            <a:r>
              <a:rPr lang="en-US" sz="1200" dirty="0">
                <a:latin typeface="Lucida Sans" pitchFamily="34" charset="0"/>
              </a:rPr>
              <a:t>acceptance agreement with a </a:t>
            </a:r>
            <a:r>
              <a:rPr lang="en-US" sz="1200" dirty="0" smtClean="0">
                <a:latin typeface="Lucida Sans" pitchFamily="34" charset="0"/>
              </a:rPr>
              <a:t>seller on </a:t>
            </a:r>
            <a:r>
              <a:rPr lang="en-US" sz="1200" dirty="0">
                <a:latin typeface="Lucida Sans" pitchFamily="34" charset="0"/>
              </a:rPr>
              <a:t>behalf of an acquirer, and receive </a:t>
            </a:r>
            <a:r>
              <a:rPr lang="en-US" sz="1200" dirty="0" smtClean="0">
                <a:latin typeface="Lucida Sans" pitchFamily="34" charset="0"/>
              </a:rPr>
              <a:t>settlement funds </a:t>
            </a:r>
            <a:r>
              <a:rPr lang="en-US" sz="1200" dirty="0">
                <a:latin typeface="Lucida Sans" pitchFamily="34" charset="0"/>
              </a:rPr>
              <a:t>proceeds from an </a:t>
            </a:r>
            <a:r>
              <a:rPr lang="en-US" sz="1200" dirty="0" smtClean="0">
                <a:latin typeface="Lucida Sans" pitchFamily="34" charset="0"/>
              </a:rPr>
              <a:t>acquirer</a:t>
            </a:r>
            <a:r>
              <a:rPr lang="en-US" sz="1200" dirty="0">
                <a:latin typeface="Lucida Sans" pitchFamily="34" charset="0"/>
              </a:rPr>
              <a:t>, on behalf of </a:t>
            </a:r>
            <a:r>
              <a:rPr lang="en-US" sz="1200" dirty="0" smtClean="0">
                <a:latin typeface="Lucida Sans" pitchFamily="34" charset="0"/>
              </a:rPr>
              <a:t>the underlying </a:t>
            </a:r>
            <a:r>
              <a:rPr lang="en-US" sz="1200" dirty="0">
                <a:latin typeface="Lucida Sans" pitchFamily="34" charset="0"/>
              </a:rPr>
              <a:t>merchant (known as a “sub-merchant”).</a:t>
            </a:r>
            <a:endParaRPr lang="en-IN" sz="1200" dirty="0">
              <a:latin typeface="Lucida Sans" pitchFamily="34" charset="0"/>
            </a:endParaRPr>
          </a:p>
        </p:txBody>
      </p:sp>
      <p:sp>
        <p:nvSpPr>
          <p:cNvPr id="13" name="TextBox 12"/>
          <p:cNvSpPr txBox="1"/>
          <p:nvPr/>
        </p:nvSpPr>
        <p:spPr>
          <a:xfrm>
            <a:off x="5511614" y="1844114"/>
            <a:ext cx="3412009" cy="1569660"/>
          </a:xfrm>
          <a:prstGeom prst="rect">
            <a:avLst/>
          </a:prstGeom>
          <a:noFill/>
        </p:spPr>
        <p:txBody>
          <a:bodyPr wrap="square" rtlCol="0">
            <a:spAutoFit/>
          </a:bodyPr>
          <a:lstStyle/>
          <a:p>
            <a:pPr algn="just"/>
            <a:r>
              <a:rPr lang="en-US" sz="1200" b="1" dirty="0">
                <a:latin typeface="Lucida Sans" pitchFamily="34" charset="0"/>
              </a:rPr>
              <a:t>Third party bill payment providers</a:t>
            </a:r>
            <a:r>
              <a:rPr lang="en-US" sz="1200" dirty="0">
                <a:latin typeface="Lucida Sans" pitchFamily="34" charset="0"/>
              </a:rPr>
              <a:t>,</a:t>
            </a:r>
          </a:p>
          <a:p>
            <a:pPr algn="just"/>
            <a:r>
              <a:rPr lang="en-US" sz="1200" dirty="0">
                <a:latin typeface="Lucida Sans" pitchFamily="34" charset="0"/>
              </a:rPr>
              <a:t>not all merchants accept electronic </a:t>
            </a:r>
            <a:r>
              <a:rPr lang="en-US" sz="1200" dirty="0" smtClean="0">
                <a:latin typeface="Lucida Sans" pitchFamily="34" charset="0"/>
              </a:rPr>
              <a:t>payments </a:t>
            </a:r>
            <a:r>
              <a:rPr lang="en-IN" sz="1200" dirty="0" smtClean="0">
                <a:latin typeface="Lucida Sans" pitchFamily="34" charset="0"/>
              </a:rPr>
              <a:t>(for </a:t>
            </a:r>
            <a:r>
              <a:rPr lang="en-IN" sz="1200" dirty="0">
                <a:latin typeface="Lucida Sans" pitchFamily="34" charset="0"/>
              </a:rPr>
              <a:t>instance public utilities or </a:t>
            </a:r>
            <a:r>
              <a:rPr lang="en-IN" sz="1200" dirty="0" smtClean="0">
                <a:latin typeface="Lucida Sans" pitchFamily="34" charset="0"/>
              </a:rPr>
              <a:t>commercial </a:t>
            </a:r>
            <a:r>
              <a:rPr lang="en-US" sz="1200" dirty="0" smtClean="0">
                <a:latin typeface="Lucida Sans" pitchFamily="34" charset="0"/>
              </a:rPr>
              <a:t>billers</a:t>
            </a:r>
            <a:r>
              <a:rPr lang="en-US" sz="1200" dirty="0">
                <a:latin typeface="Lucida Sans" pitchFamily="34" charset="0"/>
              </a:rPr>
              <a:t>), however, customers still want to </a:t>
            </a:r>
            <a:r>
              <a:rPr lang="en-US" sz="1200" dirty="0" smtClean="0">
                <a:latin typeface="Lucida Sans" pitchFamily="34" charset="0"/>
              </a:rPr>
              <a:t>pay with </a:t>
            </a:r>
            <a:r>
              <a:rPr lang="en-US" sz="1200" dirty="0">
                <a:latin typeface="Lucida Sans" pitchFamily="34" charset="0"/>
              </a:rPr>
              <a:t>their payment card and third </a:t>
            </a:r>
            <a:r>
              <a:rPr lang="en-US" sz="1200" dirty="0" smtClean="0">
                <a:latin typeface="Lucida Sans" pitchFamily="34" charset="0"/>
              </a:rPr>
              <a:t>parties who </a:t>
            </a:r>
            <a:r>
              <a:rPr lang="en-US" sz="1200" dirty="0">
                <a:latin typeface="Lucida Sans" pitchFamily="34" charset="0"/>
              </a:rPr>
              <a:t>have a pre-existing relationship </a:t>
            </a:r>
            <a:r>
              <a:rPr lang="en-US" sz="1200" dirty="0" smtClean="0">
                <a:latin typeface="Lucida Sans" pitchFamily="34" charset="0"/>
              </a:rPr>
              <a:t>between the </a:t>
            </a:r>
            <a:r>
              <a:rPr lang="en-US" sz="1200" dirty="0">
                <a:latin typeface="Lucida Sans" pitchFamily="34" charset="0"/>
              </a:rPr>
              <a:t>customer and merchant can step in.</a:t>
            </a:r>
            <a:endParaRPr lang="en-IN" sz="1200" dirty="0">
              <a:latin typeface="Lucida Sans" pitchFamily="34" charset="0"/>
            </a:endParaRPr>
          </a:p>
        </p:txBody>
      </p:sp>
      <p:sp>
        <p:nvSpPr>
          <p:cNvPr id="14" name="TextBox 13"/>
          <p:cNvSpPr txBox="1"/>
          <p:nvPr/>
        </p:nvSpPr>
        <p:spPr>
          <a:xfrm>
            <a:off x="579064" y="5259971"/>
            <a:ext cx="4092609" cy="646331"/>
          </a:xfrm>
          <a:prstGeom prst="rect">
            <a:avLst/>
          </a:prstGeom>
          <a:noFill/>
        </p:spPr>
        <p:txBody>
          <a:bodyPr wrap="square" rtlCol="0">
            <a:spAutoFit/>
          </a:bodyPr>
          <a:lstStyle/>
          <a:p>
            <a:pPr algn="just"/>
            <a:r>
              <a:rPr lang="en-IN" sz="1200" b="1" dirty="0">
                <a:latin typeface="Lucida Sans" pitchFamily="34" charset="0"/>
              </a:rPr>
              <a:t>Acquirer processors</a:t>
            </a:r>
            <a:r>
              <a:rPr lang="en-IN" sz="1200" dirty="0">
                <a:latin typeface="Lucida Sans" pitchFamily="34" charset="0"/>
              </a:rPr>
              <a:t>, are </a:t>
            </a:r>
            <a:r>
              <a:rPr lang="en-IN" sz="1200" dirty="0" smtClean="0">
                <a:latin typeface="Lucida Sans" pitchFamily="34" charset="0"/>
              </a:rPr>
              <a:t>appointed </a:t>
            </a:r>
            <a:r>
              <a:rPr lang="en-US" sz="1200" dirty="0" smtClean="0">
                <a:latin typeface="Lucida Sans" pitchFamily="34" charset="0"/>
              </a:rPr>
              <a:t>by </a:t>
            </a:r>
            <a:r>
              <a:rPr lang="en-US" sz="1200" dirty="0">
                <a:latin typeface="Lucida Sans" pitchFamily="34" charset="0"/>
              </a:rPr>
              <a:t>a merchant to handle transactions </a:t>
            </a:r>
            <a:r>
              <a:rPr lang="en-US" sz="1200" dirty="0" smtClean="0">
                <a:latin typeface="Lucida Sans" pitchFamily="34" charset="0"/>
              </a:rPr>
              <a:t>from various </a:t>
            </a:r>
            <a:r>
              <a:rPr lang="en-US" sz="1200" dirty="0">
                <a:latin typeface="Lucida Sans" pitchFamily="34" charset="0"/>
              </a:rPr>
              <a:t>channels for the acquiring bank.</a:t>
            </a:r>
            <a:endParaRPr lang="en-IN" sz="1200" dirty="0">
              <a:latin typeface="Lucida Sans" pitchFamily="34" charset="0"/>
            </a:endParaRPr>
          </a:p>
        </p:txBody>
      </p:sp>
      <p:sp>
        <p:nvSpPr>
          <p:cNvPr id="15" name="TextBox 14"/>
          <p:cNvSpPr txBox="1"/>
          <p:nvPr/>
        </p:nvSpPr>
        <p:spPr>
          <a:xfrm>
            <a:off x="5495347" y="5201665"/>
            <a:ext cx="3444544" cy="830997"/>
          </a:xfrm>
          <a:prstGeom prst="rect">
            <a:avLst/>
          </a:prstGeom>
          <a:noFill/>
        </p:spPr>
        <p:txBody>
          <a:bodyPr wrap="square" rtlCol="0">
            <a:spAutoFit/>
          </a:bodyPr>
          <a:lstStyle/>
          <a:p>
            <a:pPr algn="just"/>
            <a:r>
              <a:rPr lang="en-US" sz="1200" b="1" dirty="0">
                <a:latin typeface="Lucida Sans" pitchFamily="34" charset="0"/>
              </a:rPr>
              <a:t>Digital wallet operators </a:t>
            </a:r>
            <a:r>
              <a:rPr lang="en-US" sz="1200" dirty="0">
                <a:latin typeface="Lucida Sans" pitchFamily="34" charset="0"/>
              </a:rPr>
              <a:t>are </a:t>
            </a:r>
            <a:r>
              <a:rPr lang="en-US" sz="1200" dirty="0" smtClean="0">
                <a:latin typeface="Lucida Sans" pitchFamily="34" charset="0"/>
              </a:rPr>
              <a:t>softwarebased systems </a:t>
            </a:r>
            <a:r>
              <a:rPr lang="en-US" sz="1200" dirty="0">
                <a:latin typeface="Lucida Sans" pitchFamily="34" charset="0"/>
              </a:rPr>
              <a:t>that </a:t>
            </a:r>
            <a:r>
              <a:rPr lang="en-US" sz="1200" dirty="0" smtClean="0">
                <a:latin typeface="Lucida Sans" pitchFamily="34" charset="0"/>
              </a:rPr>
              <a:t>store </a:t>
            </a:r>
            <a:r>
              <a:rPr lang="en-US" sz="1200" dirty="0">
                <a:latin typeface="Lucida Sans" pitchFamily="34" charset="0"/>
              </a:rPr>
              <a:t>a </a:t>
            </a:r>
            <a:r>
              <a:rPr lang="en-US" sz="1200" dirty="0" smtClean="0">
                <a:latin typeface="Lucida Sans" pitchFamily="34" charset="0"/>
              </a:rPr>
              <a:t>customer’s payment card </a:t>
            </a:r>
            <a:r>
              <a:rPr lang="en-US" sz="1200" dirty="0">
                <a:latin typeface="Lucida Sans" pitchFamily="34" charset="0"/>
              </a:rPr>
              <a:t>details to fund a </a:t>
            </a:r>
            <a:r>
              <a:rPr lang="en-US" sz="1200" dirty="0" smtClean="0">
                <a:latin typeface="Lucida Sans" pitchFamily="34" charset="0"/>
              </a:rPr>
              <a:t>wallet account </a:t>
            </a:r>
            <a:r>
              <a:rPr lang="en-US" sz="1200" dirty="0">
                <a:latin typeface="Lucida Sans" pitchFamily="34" charset="0"/>
              </a:rPr>
              <a:t>and are used to </a:t>
            </a:r>
            <a:r>
              <a:rPr lang="en-US" sz="1200" dirty="0" smtClean="0">
                <a:latin typeface="Lucida Sans" pitchFamily="34" charset="0"/>
              </a:rPr>
              <a:t>make </a:t>
            </a:r>
            <a:r>
              <a:rPr lang="en-US" sz="1200" dirty="0">
                <a:latin typeface="Lucida Sans" pitchFamily="34" charset="0"/>
              </a:rPr>
              <a:t>payments.</a:t>
            </a:r>
            <a:endParaRPr lang="en-IN" sz="1200" dirty="0">
              <a:latin typeface="Lucida Sans" pitchFamily="34" charset="0"/>
            </a:endParaRPr>
          </a:p>
        </p:txBody>
      </p:sp>
      <p:pic>
        <p:nvPicPr>
          <p:cNvPr id="16" name="Picture 1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6917" y="5264792"/>
            <a:ext cx="497954" cy="408159"/>
          </a:xfrm>
          <a:prstGeom prst="rect">
            <a:avLst/>
          </a:prstGeom>
        </p:spPr>
      </p:pic>
      <p:pic>
        <p:nvPicPr>
          <p:cNvPr id="17" name="Picture 1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50520" y="5189522"/>
            <a:ext cx="459220" cy="393617"/>
          </a:xfrm>
          <a:prstGeom prst="rect">
            <a:avLst/>
          </a:prstGeom>
        </p:spPr>
      </p:pic>
      <p:pic>
        <p:nvPicPr>
          <p:cNvPr id="18" name="Picture 17"/>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908991" y="1879131"/>
            <a:ext cx="619082" cy="578353"/>
          </a:xfrm>
          <a:prstGeom prst="rect">
            <a:avLst/>
          </a:prstGeom>
        </p:spPr>
      </p:pic>
      <p:pic>
        <p:nvPicPr>
          <p:cNvPr id="19" name="Picture 18"/>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813209" y="3579024"/>
            <a:ext cx="662955" cy="497216"/>
          </a:xfrm>
          <a:prstGeom prst="rect">
            <a:avLst/>
          </a:prstGeom>
        </p:spPr>
      </p:pic>
      <p:pic>
        <p:nvPicPr>
          <p:cNvPr id="20" name="Picture 19"/>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906" y="3607642"/>
            <a:ext cx="651455" cy="537010"/>
          </a:xfrm>
          <a:prstGeom prst="rect">
            <a:avLst/>
          </a:prstGeom>
        </p:spPr>
      </p:pic>
      <p:pic>
        <p:nvPicPr>
          <p:cNvPr id="21" name="Picture 20"/>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906" y="1824141"/>
            <a:ext cx="626875" cy="539589"/>
          </a:xfrm>
          <a:prstGeom prst="rect">
            <a:avLst/>
          </a:prstGeom>
        </p:spPr>
      </p:pic>
      <p:pic>
        <p:nvPicPr>
          <p:cNvPr id="22" name="Picture 21"/>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7624529" y="38259"/>
            <a:ext cx="1491511" cy="379520"/>
          </a:xfrm>
          <a:prstGeom prst="rect">
            <a:avLst/>
          </a:prstGeom>
        </p:spPr>
      </p:pic>
    </p:spTree>
    <p:extLst>
      <p:ext uri="{BB962C8B-B14F-4D97-AF65-F5344CB8AC3E}">
        <p14:creationId xmlns:p14="http://schemas.microsoft.com/office/powerpoint/2010/main" val="49623327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p:cNvSpPr/>
          <p:nvPr/>
        </p:nvSpPr>
        <p:spPr>
          <a:xfrm>
            <a:off x="1526468" y="188640"/>
            <a:ext cx="6048672" cy="436230"/>
          </a:xfrm>
          <a:prstGeom prst="roundRect">
            <a:avLst/>
          </a:prstGeom>
          <a:solidFill>
            <a:srgbClr val="0099C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smtClean="0">
                <a:solidFill>
                  <a:schemeClr val="tx1">
                    <a:lumMod val="65000"/>
                    <a:lumOff val="35000"/>
                  </a:schemeClr>
                </a:solidFill>
                <a:latin typeface="Lucida Sans" pitchFamily="34" charset="0"/>
              </a:rPr>
              <a:t>Acquiring Bank vs Payment Processor</a:t>
            </a:r>
            <a:endParaRPr lang="en-IN" sz="1600" dirty="0">
              <a:solidFill>
                <a:schemeClr val="tx1">
                  <a:lumMod val="65000"/>
                  <a:lumOff val="35000"/>
                </a:schemeClr>
              </a:solidFill>
              <a:latin typeface="Lucida Sans" pitchFamily="34" charset="0"/>
            </a:endParaRPr>
          </a:p>
        </p:txBody>
      </p:sp>
      <p:sp>
        <p:nvSpPr>
          <p:cNvPr id="5" name="TextBox 4"/>
          <p:cNvSpPr txBox="1"/>
          <p:nvPr/>
        </p:nvSpPr>
        <p:spPr>
          <a:xfrm>
            <a:off x="209111" y="692696"/>
            <a:ext cx="8856984" cy="461665"/>
          </a:xfrm>
          <a:prstGeom prst="rect">
            <a:avLst/>
          </a:prstGeom>
          <a:noFill/>
        </p:spPr>
        <p:txBody>
          <a:bodyPr wrap="square" rtlCol="0">
            <a:spAutoFit/>
          </a:bodyPr>
          <a:lstStyle/>
          <a:p>
            <a:r>
              <a:rPr lang="en-US" sz="1200" dirty="0" smtClean="0">
                <a:latin typeface="Lucida Sans" pitchFamily="34" charset="0"/>
              </a:rPr>
              <a:t>Understanding </a:t>
            </a:r>
            <a:r>
              <a:rPr lang="en-US" sz="1200" dirty="0">
                <a:latin typeface="Lucida Sans" pitchFamily="34" charset="0"/>
              </a:rPr>
              <a:t>the difference between an acquiring bank and a payment </a:t>
            </a:r>
            <a:r>
              <a:rPr lang="en-US" sz="1200" dirty="0" smtClean="0">
                <a:latin typeface="Lucida Sans" pitchFamily="34" charset="0"/>
              </a:rPr>
              <a:t>processor </a:t>
            </a:r>
            <a:r>
              <a:rPr lang="en-US" sz="1200" dirty="0">
                <a:latin typeface="Lucida Sans" pitchFamily="34" charset="0"/>
              </a:rPr>
              <a:t>provides valuable insight into how your transactions are processed.</a:t>
            </a:r>
            <a:endParaRPr lang="en-IN" sz="1200" dirty="0">
              <a:latin typeface="Lucida Sans" pitchFamily="34" charset="0"/>
            </a:endParaRPr>
          </a:p>
        </p:txBody>
      </p:sp>
      <p:sp>
        <p:nvSpPr>
          <p:cNvPr id="6" name="Rounded Rectangle 5"/>
          <p:cNvSpPr/>
          <p:nvPr/>
        </p:nvSpPr>
        <p:spPr>
          <a:xfrm>
            <a:off x="729245" y="1360746"/>
            <a:ext cx="2232248" cy="309705"/>
          </a:xfrm>
          <a:prstGeom prst="roundRect">
            <a:avLst/>
          </a:prstGeom>
          <a:solidFill>
            <a:srgbClr val="0099C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smtClean="0">
                <a:latin typeface="Lucida Sans" pitchFamily="34" charset="0"/>
              </a:rPr>
              <a:t>Acquiring Bank</a:t>
            </a:r>
            <a:endParaRPr lang="en-IN" sz="1600" dirty="0">
              <a:latin typeface="Lucida Sans" pitchFamily="34" charset="0"/>
            </a:endParaRPr>
          </a:p>
        </p:txBody>
      </p:sp>
      <p:sp>
        <p:nvSpPr>
          <p:cNvPr id="7" name="Rounded Rectangle 6"/>
          <p:cNvSpPr/>
          <p:nvPr/>
        </p:nvSpPr>
        <p:spPr>
          <a:xfrm>
            <a:off x="5337757" y="1332491"/>
            <a:ext cx="2472421" cy="316482"/>
          </a:xfrm>
          <a:prstGeom prst="roundRect">
            <a:avLst/>
          </a:prstGeom>
          <a:solidFill>
            <a:srgbClr val="0099C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smtClean="0">
                <a:latin typeface="Lucida Sans" pitchFamily="34" charset="0"/>
              </a:rPr>
              <a:t>Payment Processor</a:t>
            </a:r>
            <a:endParaRPr lang="en-IN" sz="1600" dirty="0">
              <a:latin typeface="Lucida Sans" pitchFamily="34" charset="0"/>
            </a:endParaRPr>
          </a:p>
        </p:txBody>
      </p:sp>
      <p:sp>
        <p:nvSpPr>
          <p:cNvPr id="11" name="TextBox 10"/>
          <p:cNvSpPr txBox="1"/>
          <p:nvPr/>
        </p:nvSpPr>
        <p:spPr>
          <a:xfrm>
            <a:off x="266124" y="1772816"/>
            <a:ext cx="4464496" cy="3477875"/>
          </a:xfrm>
          <a:prstGeom prst="rect">
            <a:avLst/>
          </a:prstGeom>
          <a:noFill/>
        </p:spPr>
        <p:txBody>
          <a:bodyPr wrap="square" rtlCol="0">
            <a:spAutoFit/>
          </a:bodyPr>
          <a:lstStyle/>
          <a:p>
            <a:pPr marL="171450" indent="-171450" algn="just">
              <a:buFont typeface="Arial" pitchFamily="34" charset="0"/>
              <a:buChar char="•"/>
            </a:pPr>
            <a:r>
              <a:rPr lang="en-US" sz="1100" dirty="0" smtClean="0">
                <a:latin typeface="Lucida Sans" pitchFamily="34" charset="0"/>
              </a:rPr>
              <a:t>Financial Institution</a:t>
            </a:r>
          </a:p>
          <a:p>
            <a:pPr algn="just"/>
            <a:endParaRPr lang="en-US" sz="1100" dirty="0">
              <a:latin typeface="Lucida Sans" pitchFamily="34" charset="0"/>
            </a:endParaRPr>
          </a:p>
          <a:p>
            <a:pPr marL="171450" indent="-171450" algn="just">
              <a:buFont typeface="Arial" pitchFamily="34" charset="0"/>
              <a:buChar char="•"/>
            </a:pPr>
            <a:r>
              <a:rPr lang="en-US" sz="1100" dirty="0">
                <a:latin typeface="Lucida Sans" pitchFamily="34" charset="0"/>
              </a:rPr>
              <a:t>Holds the merchant’s account where </a:t>
            </a:r>
            <a:r>
              <a:rPr lang="en-US" sz="1100" dirty="0" smtClean="0">
                <a:latin typeface="Lucida Sans" pitchFamily="34" charset="0"/>
              </a:rPr>
              <a:t>funds </a:t>
            </a:r>
            <a:r>
              <a:rPr lang="en-US" sz="1100" dirty="0">
                <a:latin typeface="Lucida Sans" pitchFamily="34" charset="0"/>
              </a:rPr>
              <a:t>are initially </a:t>
            </a:r>
            <a:r>
              <a:rPr lang="en-US" sz="1100" dirty="0" smtClean="0">
                <a:latin typeface="Lucida Sans" pitchFamily="34" charset="0"/>
              </a:rPr>
              <a:t>deposited</a:t>
            </a:r>
          </a:p>
          <a:p>
            <a:pPr algn="just"/>
            <a:endParaRPr lang="en-US" sz="1100" dirty="0">
              <a:latin typeface="Lucida Sans" pitchFamily="34" charset="0"/>
            </a:endParaRPr>
          </a:p>
          <a:p>
            <a:pPr marL="171450" indent="-171450" algn="just">
              <a:buFont typeface="Arial" pitchFamily="34" charset="0"/>
              <a:buChar char="•"/>
            </a:pPr>
            <a:r>
              <a:rPr lang="en-US" sz="1100" dirty="0">
                <a:latin typeface="Lucida Sans" pitchFamily="34" charset="0"/>
              </a:rPr>
              <a:t>Receives transaction details from the </a:t>
            </a:r>
            <a:r>
              <a:rPr lang="en-US" sz="1100" dirty="0" smtClean="0">
                <a:latin typeface="Lucida Sans" pitchFamily="34" charset="0"/>
              </a:rPr>
              <a:t>payment processor</a:t>
            </a:r>
          </a:p>
          <a:p>
            <a:pPr algn="just"/>
            <a:endParaRPr lang="en-US" sz="1100" dirty="0">
              <a:latin typeface="Lucida Sans" pitchFamily="34" charset="0"/>
            </a:endParaRPr>
          </a:p>
          <a:p>
            <a:pPr marL="171450" indent="-171450" algn="just">
              <a:buFont typeface="Arial" pitchFamily="34" charset="0"/>
              <a:buChar char="•"/>
            </a:pPr>
            <a:r>
              <a:rPr lang="en-US" sz="1100" dirty="0">
                <a:latin typeface="Lucida Sans" pitchFamily="34" charset="0"/>
              </a:rPr>
              <a:t>Interacts directly with the card </a:t>
            </a:r>
            <a:r>
              <a:rPr lang="en-US" sz="1100" dirty="0" smtClean="0">
                <a:latin typeface="Lucida Sans" pitchFamily="34" charset="0"/>
              </a:rPr>
              <a:t>networks </a:t>
            </a:r>
            <a:r>
              <a:rPr lang="en-US" sz="1100" dirty="0">
                <a:latin typeface="Lucida Sans" pitchFamily="34" charset="0"/>
              </a:rPr>
              <a:t>(Visa, </a:t>
            </a:r>
            <a:endParaRPr lang="en-US" sz="1100" dirty="0" smtClean="0">
              <a:latin typeface="Lucida Sans" pitchFamily="34" charset="0"/>
            </a:endParaRPr>
          </a:p>
          <a:p>
            <a:pPr algn="just"/>
            <a:r>
              <a:rPr lang="en-US" sz="1100" dirty="0" smtClean="0">
                <a:latin typeface="Lucida Sans" pitchFamily="34" charset="0"/>
              </a:rPr>
              <a:t>    MasterCard</a:t>
            </a:r>
            <a:r>
              <a:rPr lang="en-US" sz="1100" dirty="0">
                <a:latin typeface="Lucida Sans" pitchFamily="34" charset="0"/>
              </a:rPr>
              <a:t>, etc.) to forward transaction </a:t>
            </a:r>
            <a:r>
              <a:rPr lang="en-US" sz="1100" dirty="0" smtClean="0">
                <a:latin typeface="Lucida Sans" pitchFamily="34" charset="0"/>
              </a:rPr>
              <a:t>details</a:t>
            </a:r>
          </a:p>
          <a:p>
            <a:pPr algn="just"/>
            <a:endParaRPr lang="en-US" sz="1100" dirty="0">
              <a:latin typeface="Lucida Sans" pitchFamily="34" charset="0"/>
            </a:endParaRPr>
          </a:p>
          <a:p>
            <a:pPr marL="171450" indent="-171450" algn="just">
              <a:buFont typeface="Arial" pitchFamily="34" charset="0"/>
              <a:buChar char="•"/>
            </a:pPr>
            <a:r>
              <a:rPr lang="en-US" sz="1100" dirty="0">
                <a:latin typeface="Lucida Sans" pitchFamily="34" charset="0"/>
              </a:rPr>
              <a:t>Handles risk assessment and underwriting for the </a:t>
            </a:r>
            <a:r>
              <a:rPr lang="en-US" sz="1100" dirty="0" smtClean="0">
                <a:latin typeface="Lucida Sans" pitchFamily="34" charset="0"/>
              </a:rPr>
              <a:t>merchant</a:t>
            </a:r>
          </a:p>
          <a:p>
            <a:pPr algn="just"/>
            <a:endParaRPr lang="en-US" sz="1100" dirty="0">
              <a:latin typeface="Lucida Sans" pitchFamily="34" charset="0"/>
            </a:endParaRPr>
          </a:p>
          <a:p>
            <a:pPr marL="171450" indent="-171450" algn="just">
              <a:buFont typeface="Arial" pitchFamily="34" charset="0"/>
              <a:buChar char="•"/>
            </a:pPr>
            <a:r>
              <a:rPr lang="en-US" sz="1100" dirty="0">
                <a:latin typeface="Lucida Sans" pitchFamily="34" charset="0"/>
              </a:rPr>
              <a:t>Provides the Merchant ID (MID) which identifies each </a:t>
            </a:r>
            <a:endParaRPr lang="en-US" sz="1100" dirty="0" smtClean="0">
              <a:latin typeface="Lucida Sans" pitchFamily="34" charset="0"/>
            </a:endParaRPr>
          </a:p>
          <a:p>
            <a:pPr algn="just"/>
            <a:r>
              <a:rPr lang="en-US" sz="1100" dirty="0" smtClean="0">
                <a:latin typeface="Lucida Sans" pitchFamily="34" charset="0"/>
              </a:rPr>
              <a:t>    merchant </a:t>
            </a:r>
            <a:r>
              <a:rPr lang="en-US" sz="1100" dirty="0">
                <a:latin typeface="Lucida Sans" pitchFamily="34" charset="0"/>
              </a:rPr>
              <a:t>for </a:t>
            </a:r>
            <a:r>
              <a:rPr lang="en-US" sz="1100" dirty="0" smtClean="0">
                <a:latin typeface="Lucida Sans" pitchFamily="34" charset="0"/>
              </a:rPr>
              <a:t>transactions</a:t>
            </a:r>
          </a:p>
          <a:p>
            <a:pPr algn="just"/>
            <a:endParaRPr lang="en-US" sz="1100" dirty="0">
              <a:latin typeface="Lucida Sans" pitchFamily="34" charset="0"/>
            </a:endParaRPr>
          </a:p>
          <a:p>
            <a:pPr marL="171450" indent="-171450" algn="just">
              <a:buFont typeface="Arial" pitchFamily="34" charset="0"/>
              <a:buChar char="•"/>
            </a:pPr>
            <a:r>
              <a:rPr lang="en-US" sz="1100" dirty="0" smtClean="0">
                <a:latin typeface="Lucida Sans" pitchFamily="34" charset="0"/>
              </a:rPr>
              <a:t>Works </a:t>
            </a:r>
            <a:r>
              <a:rPr lang="en-US" sz="1100" dirty="0">
                <a:latin typeface="Lucida Sans" pitchFamily="34" charset="0"/>
              </a:rPr>
              <a:t>primarily behind the scenes and has no direct interaction </a:t>
            </a:r>
            <a:r>
              <a:rPr lang="en-US" sz="1100" dirty="0" smtClean="0">
                <a:latin typeface="Lucida Sans" pitchFamily="34" charset="0"/>
              </a:rPr>
              <a:t>with </a:t>
            </a:r>
            <a:r>
              <a:rPr lang="en-US" sz="1100" dirty="0">
                <a:latin typeface="Lucida Sans" pitchFamily="34" charset="0"/>
              </a:rPr>
              <a:t>the </a:t>
            </a:r>
            <a:r>
              <a:rPr lang="en-US" sz="1100" dirty="0" smtClean="0">
                <a:latin typeface="Lucida Sans" pitchFamily="34" charset="0"/>
              </a:rPr>
              <a:t>customer</a:t>
            </a:r>
          </a:p>
          <a:p>
            <a:pPr algn="just"/>
            <a:endParaRPr lang="en-US" sz="1100" dirty="0">
              <a:latin typeface="Lucida Sans" pitchFamily="34" charset="0"/>
            </a:endParaRPr>
          </a:p>
          <a:p>
            <a:pPr marL="171450" indent="-171450" algn="just">
              <a:buFont typeface="Arial" pitchFamily="34" charset="0"/>
              <a:buChar char="•"/>
            </a:pPr>
            <a:r>
              <a:rPr lang="en-US" sz="1100" dirty="0">
                <a:latin typeface="Lucida Sans" pitchFamily="34" charset="0"/>
              </a:rPr>
              <a:t>Compliance with banking regulations and card network rules</a:t>
            </a:r>
            <a:endParaRPr lang="en-IN" sz="1100" dirty="0">
              <a:latin typeface="Lucida Sans" pitchFamily="34" charset="0"/>
            </a:endParaRPr>
          </a:p>
        </p:txBody>
      </p:sp>
      <p:sp>
        <p:nvSpPr>
          <p:cNvPr id="12" name="TextBox 11"/>
          <p:cNvSpPr txBox="1"/>
          <p:nvPr/>
        </p:nvSpPr>
        <p:spPr>
          <a:xfrm>
            <a:off x="4733957" y="1764840"/>
            <a:ext cx="4507965" cy="3477875"/>
          </a:xfrm>
          <a:prstGeom prst="rect">
            <a:avLst/>
          </a:prstGeom>
          <a:noFill/>
        </p:spPr>
        <p:txBody>
          <a:bodyPr wrap="none" rtlCol="0">
            <a:spAutoFit/>
          </a:bodyPr>
          <a:lstStyle/>
          <a:p>
            <a:pPr marL="171450" indent="-171450" algn="just">
              <a:buFont typeface="Arial" pitchFamily="34" charset="0"/>
              <a:buChar char="•"/>
            </a:pPr>
            <a:r>
              <a:rPr lang="en-IN" sz="1100" dirty="0">
                <a:latin typeface="Lucida Sans" pitchFamily="34" charset="0"/>
              </a:rPr>
              <a:t>Technology service </a:t>
            </a:r>
            <a:r>
              <a:rPr lang="en-IN" sz="1100" dirty="0" smtClean="0">
                <a:latin typeface="Lucida Sans" pitchFamily="34" charset="0"/>
              </a:rPr>
              <a:t>provider</a:t>
            </a:r>
          </a:p>
          <a:p>
            <a:pPr algn="just"/>
            <a:endParaRPr lang="en-US" sz="1100" dirty="0">
              <a:latin typeface="Lucida Sans" pitchFamily="34" charset="0"/>
            </a:endParaRPr>
          </a:p>
          <a:p>
            <a:pPr marL="171450" indent="-171450" algn="just">
              <a:buFont typeface="Arial" pitchFamily="34" charset="0"/>
              <a:buChar char="•"/>
            </a:pPr>
            <a:r>
              <a:rPr lang="en-US" sz="1100" dirty="0">
                <a:latin typeface="Lucida Sans" pitchFamily="34" charset="0"/>
              </a:rPr>
              <a:t>Does not hold merchant accounts but communicates </a:t>
            </a:r>
            <a:endParaRPr lang="en-US" sz="1100" dirty="0" smtClean="0">
              <a:latin typeface="Lucida Sans" pitchFamily="34" charset="0"/>
            </a:endParaRPr>
          </a:p>
          <a:p>
            <a:pPr algn="just"/>
            <a:r>
              <a:rPr lang="en-US" sz="1100" dirty="0">
                <a:latin typeface="Lucida Sans" pitchFamily="34" charset="0"/>
              </a:rPr>
              <a:t> </a:t>
            </a:r>
            <a:r>
              <a:rPr lang="en-US" sz="1100" dirty="0" smtClean="0">
                <a:latin typeface="Lucida Sans" pitchFamily="34" charset="0"/>
              </a:rPr>
              <a:t>   transaction </a:t>
            </a:r>
            <a:r>
              <a:rPr lang="en-US" sz="1100" dirty="0">
                <a:latin typeface="Lucida Sans" pitchFamily="34" charset="0"/>
              </a:rPr>
              <a:t>details to the acquiring </a:t>
            </a:r>
            <a:r>
              <a:rPr lang="en-US" sz="1100" dirty="0" smtClean="0">
                <a:latin typeface="Lucida Sans" pitchFamily="34" charset="0"/>
              </a:rPr>
              <a:t>bank</a:t>
            </a:r>
          </a:p>
          <a:p>
            <a:pPr algn="just"/>
            <a:endParaRPr lang="en-US" sz="1100" dirty="0">
              <a:latin typeface="Lucida Sans" pitchFamily="34" charset="0"/>
            </a:endParaRPr>
          </a:p>
          <a:p>
            <a:pPr marL="171450" indent="-171450" algn="just">
              <a:buFont typeface="Arial" pitchFamily="34" charset="0"/>
              <a:buChar char="•"/>
            </a:pPr>
            <a:r>
              <a:rPr lang="en-US" sz="1100" dirty="0">
                <a:latin typeface="Lucida Sans" pitchFamily="34" charset="0"/>
              </a:rPr>
              <a:t>Encrypts and sends transaction details to the acquiring </a:t>
            </a:r>
            <a:r>
              <a:rPr lang="en-US" sz="1100" dirty="0" smtClean="0">
                <a:latin typeface="Lucida Sans" pitchFamily="34" charset="0"/>
              </a:rPr>
              <a:t>bank</a:t>
            </a:r>
          </a:p>
          <a:p>
            <a:pPr algn="just"/>
            <a:endParaRPr lang="en-US" sz="1100" dirty="0">
              <a:latin typeface="Lucida Sans" pitchFamily="34" charset="0"/>
            </a:endParaRPr>
          </a:p>
          <a:p>
            <a:pPr marL="171450" indent="-171450" algn="just">
              <a:buFont typeface="Arial" pitchFamily="34" charset="0"/>
              <a:buChar char="•"/>
            </a:pPr>
            <a:r>
              <a:rPr lang="en-US" sz="1100" dirty="0">
                <a:latin typeface="Lucida Sans" pitchFamily="34" charset="0"/>
              </a:rPr>
              <a:t>Does not interact directly with card </a:t>
            </a:r>
            <a:r>
              <a:rPr lang="en-US" sz="1100" dirty="0" smtClean="0">
                <a:latin typeface="Lucida Sans" pitchFamily="34" charset="0"/>
              </a:rPr>
              <a:t>networks</a:t>
            </a:r>
          </a:p>
          <a:p>
            <a:pPr algn="just"/>
            <a:endParaRPr lang="en-US" sz="1100" dirty="0">
              <a:latin typeface="Lucida Sans" pitchFamily="34" charset="0"/>
            </a:endParaRPr>
          </a:p>
          <a:p>
            <a:pPr algn="just"/>
            <a:endParaRPr lang="en-US" sz="1100" dirty="0" smtClean="0">
              <a:latin typeface="Lucida Sans" pitchFamily="34" charset="0"/>
            </a:endParaRPr>
          </a:p>
          <a:p>
            <a:pPr marL="171450" indent="-171450" algn="just">
              <a:buFont typeface="Arial" pitchFamily="34" charset="0"/>
              <a:buChar char="•"/>
            </a:pPr>
            <a:r>
              <a:rPr lang="en-US" sz="1100" dirty="0" smtClean="0">
                <a:latin typeface="Lucida Sans" pitchFamily="34" charset="0"/>
              </a:rPr>
              <a:t>Provides </a:t>
            </a:r>
            <a:r>
              <a:rPr lang="en-US" sz="1100" dirty="0">
                <a:latin typeface="Lucida Sans" pitchFamily="34" charset="0"/>
              </a:rPr>
              <a:t>fraud detection and prevention </a:t>
            </a:r>
            <a:r>
              <a:rPr lang="en-US" sz="1100" dirty="0" smtClean="0">
                <a:latin typeface="Lucida Sans" pitchFamily="34" charset="0"/>
              </a:rPr>
              <a:t>mechanisms</a:t>
            </a:r>
          </a:p>
          <a:p>
            <a:pPr algn="just"/>
            <a:endParaRPr lang="en-US" sz="1100" dirty="0">
              <a:latin typeface="Lucida Sans" pitchFamily="34" charset="0"/>
            </a:endParaRPr>
          </a:p>
          <a:p>
            <a:pPr marL="171450" indent="-171450" algn="just">
              <a:buFont typeface="Arial" pitchFamily="34" charset="0"/>
              <a:buChar char="•"/>
            </a:pPr>
            <a:r>
              <a:rPr lang="en-US" sz="1100" dirty="0">
                <a:latin typeface="Lucida Sans" pitchFamily="34" charset="0"/>
              </a:rPr>
              <a:t>Provides the </a:t>
            </a:r>
            <a:r>
              <a:rPr lang="en-US" sz="1100" dirty="0" smtClean="0">
                <a:latin typeface="Lucida Sans" pitchFamily="34" charset="0"/>
              </a:rPr>
              <a:t>Payment </a:t>
            </a:r>
            <a:r>
              <a:rPr lang="en-US" sz="1100" dirty="0">
                <a:latin typeface="Lucida Sans" pitchFamily="34" charset="0"/>
              </a:rPr>
              <a:t>Gateway for the merchant to </a:t>
            </a:r>
            <a:r>
              <a:rPr lang="en-US" sz="1100" dirty="0" smtClean="0">
                <a:latin typeface="Lucida Sans" pitchFamily="34" charset="0"/>
              </a:rPr>
              <a:t>receive </a:t>
            </a:r>
          </a:p>
          <a:p>
            <a:pPr algn="just"/>
            <a:r>
              <a:rPr lang="en-US" sz="1100" dirty="0" smtClean="0">
                <a:latin typeface="Lucida Sans" pitchFamily="34" charset="0"/>
              </a:rPr>
              <a:t>    online </a:t>
            </a:r>
            <a:r>
              <a:rPr lang="en-US" sz="1100" dirty="0">
                <a:latin typeface="Lucida Sans" pitchFamily="34" charset="0"/>
              </a:rPr>
              <a:t>card </a:t>
            </a:r>
            <a:r>
              <a:rPr lang="en-US" sz="1100" dirty="0" smtClean="0">
                <a:latin typeface="Lucida Sans" pitchFamily="34" charset="0"/>
              </a:rPr>
              <a:t>payments</a:t>
            </a:r>
          </a:p>
          <a:p>
            <a:pPr algn="just"/>
            <a:endParaRPr lang="en-US" sz="1100" dirty="0">
              <a:latin typeface="Lucida Sans" pitchFamily="34" charset="0"/>
            </a:endParaRPr>
          </a:p>
          <a:p>
            <a:pPr marL="171450" indent="-171450" algn="just">
              <a:buFont typeface="Arial" pitchFamily="34" charset="0"/>
              <a:buChar char="•"/>
            </a:pPr>
            <a:r>
              <a:rPr lang="en-US" sz="1100" dirty="0" smtClean="0">
                <a:latin typeface="Lucida Sans" pitchFamily="34" charset="0"/>
              </a:rPr>
              <a:t>May </a:t>
            </a:r>
            <a:r>
              <a:rPr lang="en-US" sz="1100" dirty="0">
                <a:latin typeface="Lucida Sans" pitchFamily="34" charset="0"/>
              </a:rPr>
              <a:t>interact with customers during the transaction process </a:t>
            </a:r>
            <a:endParaRPr lang="en-US" sz="1100" dirty="0" smtClean="0">
              <a:latin typeface="Lucida Sans" pitchFamily="34" charset="0"/>
            </a:endParaRPr>
          </a:p>
          <a:p>
            <a:pPr algn="just"/>
            <a:r>
              <a:rPr lang="en-US" sz="1100" dirty="0" smtClean="0">
                <a:latin typeface="Lucida Sans" pitchFamily="34" charset="0"/>
              </a:rPr>
              <a:t>    (</a:t>
            </a:r>
            <a:r>
              <a:rPr lang="en-US" sz="1100" dirty="0">
                <a:latin typeface="Lucida Sans" pitchFamily="34" charset="0"/>
              </a:rPr>
              <a:t>e.g., entering card details, handling error messages, etc</a:t>
            </a:r>
            <a:r>
              <a:rPr lang="en-US" sz="1100" dirty="0" smtClean="0">
                <a:latin typeface="Lucida Sans" pitchFamily="34" charset="0"/>
              </a:rPr>
              <a:t>.)</a:t>
            </a:r>
          </a:p>
          <a:p>
            <a:pPr algn="just"/>
            <a:endParaRPr lang="en-US" sz="1100" dirty="0">
              <a:latin typeface="Lucida Sans" pitchFamily="34" charset="0"/>
            </a:endParaRPr>
          </a:p>
          <a:p>
            <a:pPr marL="171450" indent="-171450" algn="just">
              <a:buFont typeface="Arial" pitchFamily="34" charset="0"/>
              <a:buChar char="•"/>
            </a:pPr>
            <a:r>
              <a:rPr lang="en-US" sz="1100" dirty="0">
                <a:latin typeface="Lucida Sans" pitchFamily="34" charset="0"/>
              </a:rPr>
              <a:t>Ensures transactions comply with PCI DSS standards for </a:t>
            </a:r>
            <a:endParaRPr lang="en-US" sz="1100" dirty="0" smtClean="0">
              <a:latin typeface="Lucida Sans" pitchFamily="34" charset="0"/>
            </a:endParaRPr>
          </a:p>
          <a:p>
            <a:pPr algn="just"/>
            <a:r>
              <a:rPr lang="en-US" sz="1100" dirty="0" smtClean="0">
                <a:latin typeface="Lucida Sans" pitchFamily="34" charset="0"/>
              </a:rPr>
              <a:t>    data </a:t>
            </a:r>
            <a:r>
              <a:rPr lang="en-US" sz="1100" dirty="0">
                <a:latin typeface="Lucida Sans" pitchFamily="34" charset="0"/>
              </a:rPr>
              <a:t>security</a:t>
            </a:r>
            <a:endParaRPr lang="en-IN" sz="1100" dirty="0">
              <a:latin typeface="Lucida Sans" pitchFamily="34" charset="0"/>
            </a:endParaRPr>
          </a:p>
        </p:txBody>
      </p:sp>
      <p:sp>
        <p:nvSpPr>
          <p:cNvPr id="13" name="TextBox 12"/>
          <p:cNvSpPr txBox="1"/>
          <p:nvPr/>
        </p:nvSpPr>
        <p:spPr>
          <a:xfrm>
            <a:off x="225461" y="5373216"/>
            <a:ext cx="9076524" cy="830997"/>
          </a:xfrm>
          <a:prstGeom prst="rect">
            <a:avLst/>
          </a:prstGeom>
          <a:noFill/>
        </p:spPr>
        <p:txBody>
          <a:bodyPr wrap="none" rtlCol="0">
            <a:spAutoFit/>
          </a:bodyPr>
          <a:lstStyle/>
          <a:p>
            <a:pPr algn="just"/>
            <a:r>
              <a:rPr lang="en-US" sz="1200" dirty="0">
                <a:latin typeface="Lucida Sans" pitchFamily="34" charset="0"/>
              </a:rPr>
              <a:t>While the acquiring bank and the payment processor play significant roles in facilitating card transactions, their duties </a:t>
            </a:r>
            <a:endParaRPr lang="en-US" sz="1200" dirty="0" smtClean="0">
              <a:latin typeface="Lucida Sans" pitchFamily="34" charset="0"/>
            </a:endParaRPr>
          </a:p>
          <a:p>
            <a:pPr algn="just"/>
            <a:r>
              <a:rPr lang="en-US" sz="1200" dirty="0" smtClean="0">
                <a:latin typeface="Lucida Sans" pitchFamily="34" charset="0"/>
              </a:rPr>
              <a:t>and </a:t>
            </a:r>
            <a:r>
              <a:rPr lang="en-US" sz="1200" dirty="0">
                <a:latin typeface="Lucida Sans" pitchFamily="34" charset="0"/>
              </a:rPr>
              <a:t>areas of </a:t>
            </a:r>
            <a:r>
              <a:rPr lang="en-US" sz="1200" dirty="0" smtClean="0">
                <a:latin typeface="Lucida Sans" pitchFamily="34" charset="0"/>
              </a:rPr>
              <a:t>expertise </a:t>
            </a:r>
            <a:r>
              <a:rPr lang="en-US" sz="1200" dirty="0">
                <a:latin typeface="Lucida Sans" pitchFamily="34" charset="0"/>
              </a:rPr>
              <a:t>are </a:t>
            </a:r>
            <a:r>
              <a:rPr lang="en-US" sz="1200" dirty="0" smtClean="0">
                <a:latin typeface="Lucida Sans" pitchFamily="34" charset="0"/>
              </a:rPr>
              <a:t>distinct. The </a:t>
            </a:r>
            <a:r>
              <a:rPr lang="en-US" sz="1200" dirty="0">
                <a:latin typeface="Lucida Sans" pitchFamily="34" charset="0"/>
              </a:rPr>
              <a:t>acquiring bank operates mainly in the financial and regulatory domain, while </a:t>
            </a:r>
            <a:endParaRPr lang="en-US" sz="1200" dirty="0" smtClean="0">
              <a:latin typeface="Lucida Sans" pitchFamily="34" charset="0"/>
            </a:endParaRPr>
          </a:p>
          <a:p>
            <a:pPr algn="just"/>
            <a:r>
              <a:rPr lang="en-US" sz="1200" dirty="0" smtClean="0">
                <a:latin typeface="Lucida Sans" pitchFamily="34" charset="0"/>
              </a:rPr>
              <a:t>the payment </a:t>
            </a:r>
            <a:r>
              <a:rPr lang="en-US" sz="1200" dirty="0">
                <a:latin typeface="Lucida Sans" pitchFamily="34" charset="0"/>
              </a:rPr>
              <a:t>processor </a:t>
            </a:r>
            <a:r>
              <a:rPr lang="en-US" sz="1200" dirty="0" smtClean="0">
                <a:latin typeface="Lucida Sans" pitchFamily="34" charset="0"/>
              </a:rPr>
              <a:t>handles </a:t>
            </a:r>
            <a:r>
              <a:rPr lang="en-US" sz="1200" dirty="0">
                <a:latin typeface="Lucida Sans" pitchFamily="34" charset="0"/>
              </a:rPr>
              <a:t>the technological and customer-facing aspects of the transaction process.</a:t>
            </a:r>
          </a:p>
          <a:p>
            <a:pPr algn="just"/>
            <a:endParaRPr lang="en-IN" sz="1200" dirty="0">
              <a:latin typeface="Lucida Sans" pitchFamily="34" charset="0"/>
            </a:endParaRPr>
          </a:p>
        </p:txBody>
      </p:sp>
      <p:pic>
        <p:nvPicPr>
          <p:cNvPr id="9" name="Picture 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652489" y="34147"/>
            <a:ext cx="1491511" cy="379520"/>
          </a:xfrm>
          <a:prstGeom prst="rect">
            <a:avLst/>
          </a:prstGeom>
        </p:spPr>
      </p:pic>
    </p:spTree>
    <p:extLst>
      <p:ext uri="{BB962C8B-B14F-4D97-AF65-F5344CB8AC3E}">
        <p14:creationId xmlns:p14="http://schemas.microsoft.com/office/powerpoint/2010/main" val="369990084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340395" y="1053646"/>
            <a:ext cx="4380414" cy="1969770"/>
          </a:xfrm>
          <a:prstGeom prst="rect">
            <a:avLst/>
          </a:prstGeom>
          <a:noFill/>
        </p:spPr>
        <p:txBody>
          <a:bodyPr wrap="square" rtlCol="0">
            <a:spAutoFit/>
          </a:bodyPr>
          <a:lstStyle/>
          <a:p>
            <a:r>
              <a:rPr lang="en-US" sz="1400" b="1" dirty="0">
                <a:latin typeface="Lucida Sans" pitchFamily="34" charset="0"/>
              </a:rPr>
              <a:t>Bank-Owned Payment </a:t>
            </a:r>
            <a:r>
              <a:rPr lang="en-US" sz="1400" b="1" dirty="0" smtClean="0">
                <a:latin typeface="Lucida Sans" pitchFamily="34" charset="0"/>
              </a:rPr>
              <a:t>Processing:</a:t>
            </a:r>
          </a:p>
          <a:p>
            <a:endParaRPr lang="en-US" sz="1200" dirty="0">
              <a:latin typeface="Lucida Sans" pitchFamily="34" charset="0"/>
            </a:endParaRPr>
          </a:p>
          <a:p>
            <a:pPr marL="285750" indent="-285750">
              <a:buFont typeface="Arial" pitchFamily="34" charset="0"/>
              <a:buChar char="•"/>
            </a:pPr>
            <a:r>
              <a:rPr lang="en-US" sz="1200" dirty="0">
                <a:latin typeface="Lucida Sans" pitchFamily="34" charset="0"/>
              </a:rPr>
              <a:t>The payment processing system is owned and controlled by the bank</a:t>
            </a:r>
          </a:p>
          <a:p>
            <a:pPr marL="285750" indent="-285750">
              <a:buFont typeface="Arial" pitchFamily="34" charset="0"/>
              <a:buChar char="•"/>
            </a:pPr>
            <a:r>
              <a:rPr lang="en-US" sz="1200" dirty="0">
                <a:latin typeface="Lucida Sans" pitchFamily="34" charset="0"/>
              </a:rPr>
              <a:t>The bank manages the payment processing infrastructure, security, and customer service</a:t>
            </a:r>
          </a:p>
          <a:p>
            <a:pPr marL="285750" indent="-285750">
              <a:buFont typeface="Arial" pitchFamily="34" charset="0"/>
              <a:buChar char="•"/>
            </a:pPr>
            <a:r>
              <a:rPr lang="en-US" sz="1200" dirty="0">
                <a:latin typeface="Lucida Sans" pitchFamily="34" charset="0"/>
              </a:rPr>
              <a:t>Usually offered as part of a suite of banking services</a:t>
            </a:r>
          </a:p>
          <a:p>
            <a:pPr marL="285750" indent="-285750">
              <a:buFont typeface="Arial" pitchFamily="34" charset="0"/>
              <a:buChar char="•"/>
            </a:pPr>
            <a:r>
              <a:rPr lang="en-US" sz="1200" dirty="0">
                <a:latin typeface="Lucida Sans" pitchFamily="34" charset="0"/>
              </a:rPr>
              <a:t>May have higher fees and less flexible pricing compared to third-party payment processing</a:t>
            </a:r>
          </a:p>
          <a:p>
            <a:endParaRPr lang="en-IN" sz="1200" dirty="0">
              <a:latin typeface="Lucida Sans" pitchFamily="34" charset="0"/>
            </a:endParaRPr>
          </a:p>
        </p:txBody>
      </p:sp>
      <p:sp>
        <p:nvSpPr>
          <p:cNvPr id="2" name="Rounded Rectangle 1"/>
          <p:cNvSpPr/>
          <p:nvPr/>
        </p:nvSpPr>
        <p:spPr>
          <a:xfrm>
            <a:off x="386111" y="3033725"/>
            <a:ext cx="2736304" cy="432048"/>
          </a:xfrm>
          <a:prstGeom prst="roundRect">
            <a:avLst/>
          </a:prstGeom>
          <a:solidFill>
            <a:srgbClr val="0099C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latin typeface="Lucida Sans" pitchFamily="34" charset="0"/>
              </a:rPr>
              <a:t>Advantages</a:t>
            </a:r>
            <a:endParaRPr lang="en-IN" dirty="0">
              <a:latin typeface="Lucida Sans" pitchFamily="34" charset="0"/>
            </a:endParaRPr>
          </a:p>
        </p:txBody>
      </p:sp>
      <p:sp>
        <p:nvSpPr>
          <p:cNvPr id="3" name="TextBox 2"/>
          <p:cNvSpPr txBox="1"/>
          <p:nvPr/>
        </p:nvSpPr>
        <p:spPr>
          <a:xfrm>
            <a:off x="386111" y="3573016"/>
            <a:ext cx="2587568" cy="954107"/>
          </a:xfrm>
          <a:prstGeom prst="rect">
            <a:avLst/>
          </a:prstGeom>
          <a:noFill/>
        </p:spPr>
        <p:txBody>
          <a:bodyPr wrap="none" rtlCol="0">
            <a:spAutoFit/>
          </a:bodyPr>
          <a:lstStyle/>
          <a:p>
            <a:pPr marL="285750" indent="-285750">
              <a:buFont typeface="Arial" pitchFamily="34" charset="0"/>
              <a:buChar char="•"/>
            </a:pPr>
            <a:r>
              <a:rPr lang="en-US" sz="1400" dirty="0" smtClean="0">
                <a:latin typeface="Lucida Sans" pitchFamily="34" charset="0"/>
              </a:rPr>
              <a:t>Established Relationship</a:t>
            </a:r>
          </a:p>
          <a:p>
            <a:pPr marL="285750" indent="-285750">
              <a:buFont typeface="Arial" pitchFamily="34" charset="0"/>
              <a:buChar char="•"/>
            </a:pPr>
            <a:r>
              <a:rPr lang="en-US" sz="1400" dirty="0" smtClean="0">
                <a:latin typeface="Lucida Sans" pitchFamily="34" charset="0"/>
              </a:rPr>
              <a:t>Known Reputation</a:t>
            </a:r>
          </a:p>
          <a:p>
            <a:pPr marL="285750" indent="-285750">
              <a:buFont typeface="Arial" pitchFamily="34" charset="0"/>
              <a:buChar char="•"/>
            </a:pPr>
            <a:r>
              <a:rPr lang="en-US" sz="1400" dirty="0" smtClean="0">
                <a:latin typeface="Lucida Sans" pitchFamily="34" charset="0"/>
              </a:rPr>
              <a:t>Increased Control</a:t>
            </a:r>
          </a:p>
          <a:p>
            <a:endParaRPr lang="en-IN" sz="1400" dirty="0">
              <a:latin typeface="Lucida Sans" pitchFamily="34" charset="0"/>
            </a:endParaRPr>
          </a:p>
        </p:txBody>
      </p:sp>
      <p:sp>
        <p:nvSpPr>
          <p:cNvPr id="7" name="TextBox 6"/>
          <p:cNvSpPr txBox="1"/>
          <p:nvPr/>
        </p:nvSpPr>
        <p:spPr>
          <a:xfrm>
            <a:off x="340395" y="5444199"/>
            <a:ext cx="3472425" cy="738664"/>
          </a:xfrm>
          <a:prstGeom prst="rect">
            <a:avLst/>
          </a:prstGeom>
          <a:noFill/>
        </p:spPr>
        <p:txBody>
          <a:bodyPr wrap="none" rtlCol="0">
            <a:spAutoFit/>
          </a:bodyPr>
          <a:lstStyle/>
          <a:p>
            <a:pPr marL="285750" indent="-285750">
              <a:buFont typeface="Arial" pitchFamily="34" charset="0"/>
              <a:buChar char="•"/>
            </a:pPr>
            <a:r>
              <a:rPr lang="en-US" sz="1400" dirty="0" smtClean="0">
                <a:latin typeface="Lucida Sans" pitchFamily="34" charset="0"/>
              </a:rPr>
              <a:t>Limited Customization Options</a:t>
            </a:r>
          </a:p>
          <a:p>
            <a:pPr marL="285750" indent="-285750">
              <a:buFont typeface="Arial" pitchFamily="34" charset="0"/>
              <a:buChar char="•"/>
            </a:pPr>
            <a:r>
              <a:rPr lang="en-US" sz="1400" dirty="0" smtClean="0">
                <a:latin typeface="Lucida Sans" pitchFamily="34" charset="0"/>
              </a:rPr>
              <a:t>Dependent on Bank’s Performance</a:t>
            </a:r>
          </a:p>
          <a:p>
            <a:endParaRPr lang="en-IN" sz="1400" dirty="0">
              <a:latin typeface="Lucida Sans" pitchFamily="34" charset="0"/>
            </a:endParaRPr>
          </a:p>
        </p:txBody>
      </p:sp>
      <p:sp>
        <p:nvSpPr>
          <p:cNvPr id="8" name="Rounded Rectangle 7"/>
          <p:cNvSpPr/>
          <p:nvPr/>
        </p:nvSpPr>
        <p:spPr>
          <a:xfrm>
            <a:off x="386111" y="4871957"/>
            <a:ext cx="2736304" cy="432048"/>
          </a:xfrm>
          <a:prstGeom prst="roundRect">
            <a:avLst/>
          </a:prstGeom>
          <a:solidFill>
            <a:srgbClr val="0099C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latin typeface="Lucida Sans" pitchFamily="34" charset="0"/>
              </a:rPr>
              <a:t>Disadvantages</a:t>
            </a:r>
            <a:endParaRPr lang="en-IN" dirty="0">
              <a:latin typeface="Lucida Sans" pitchFamily="34" charset="0"/>
            </a:endParaRPr>
          </a:p>
        </p:txBody>
      </p:sp>
      <p:sp>
        <p:nvSpPr>
          <p:cNvPr id="9" name="Rounded Rectangle 8"/>
          <p:cNvSpPr/>
          <p:nvPr/>
        </p:nvSpPr>
        <p:spPr>
          <a:xfrm>
            <a:off x="5118354" y="3023416"/>
            <a:ext cx="2736304" cy="432048"/>
          </a:xfrm>
          <a:prstGeom prst="roundRect">
            <a:avLst/>
          </a:prstGeom>
          <a:solidFill>
            <a:srgbClr val="0099C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latin typeface="Lucida Sans" pitchFamily="34" charset="0"/>
              </a:rPr>
              <a:t>Advantages</a:t>
            </a:r>
            <a:endParaRPr lang="en-IN" dirty="0">
              <a:latin typeface="Lucida Sans" pitchFamily="34" charset="0"/>
            </a:endParaRPr>
          </a:p>
        </p:txBody>
      </p:sp>
      <p:sp>
        <p:nvSpPr>
          <p:cNvPr id="10" name="Rounded Rectangle 9"/>
          <p:cNvSpPr/>
          <p:nvPr/>
        </p:nvSpPr>
        <p:spPr>
          <a:xfrm>
            <a:off x="5138516" y="4862090"/>
            <a:ext cx="2736304" cy="432048"/>
          </a:xfrm>
          <a:prstGeom prst="roundRect">
            <a:avLst/>
          </a:prstGeom>
          <a:solidFill>
            <a:srgbClr val="0099C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latin typeface="Lucida Sans" pitchFamily="34" charset="0"/>
              </a:rPr>
              <a:t>Disadvantages</a:t>
            </a:r>
            <a:endParaRPr lang="en-IN" dirty="0">
              <a:latin typeface="Lucida Sans" pitchFamily="34" charset="0"/>
            </a:endParaRPr>
          </a:p>
        </p:txBody>
      </p:sp>
      <p:sp>
        <p:nvSpPr>
          <p:cNvPr id="11" name="TextBox 10"/>
          <p:cNvSpPr txBox="1"/>
          <p:nvPr/>
        </p:nvSpPr>
        <p:spPr>
          <a:xfrm>
            <a:off x="5138516" y="3558744"/>
            <a:ext cx="3724254" cy="1384995"/>
          </a:xfrm>
          <a:prstGeom prst="rect">
            <a:avLst/>
          </a:prstGeom>
          <a:noFill/>
        </p:spPr>
        <p:txBody>
          <a:bodyPr wrap="square" rtlCol="0">
            <a:spAutoFit/>
          </a:bodyPr>
          <a:lstStyle/>
          <a:p>
            <a:pPr marL="285750" indent="-285750">
              <a:buFont typeface="Arial" pitchFamily="34" charset="0"/>
              <a:buChar char="•"/>
            </a:pPr>
            <a:r>
              <a:rPr lang="en-US" sz="1400" dirty="0" smtClean="0">
                <a:latin typeface="Lucida Sans" pitchFamily="34" charset="0"/>
              </a:rPr>
              <a:t>Customization</a:t>
            </a:r>
          </a:p>
          <a:p>
            <a:pPr marL="285750" indent="-285750">
              <a:buFont typeface="Arial" pitchFamily="34" charset="0"/>
              <a:buChar char="•"/>
            </a:pPr>
            <a:r>
              <a:rPr lang="en-IN" sz="1400" dirty="0">
                <a:latin typeface="Lucida Sans" pitchFamily="34" charset="0"/>
              </a:rPr>
              <a:t>Integration </a:t>
            </a:r>
            <a:r>
              <a:rPr lang="en-IN" sz="1400" dirty="0" smtClean="0">
                <a:latin typeface="Lucida Sans" pitchFamily="34" charset="0"/>
              </a:rPr>
              <a:t>Capabilities</a:t>
            </a:r>
          </a:p>
          <a:p>
            <a:pPr marL="285750" indent="-285750">
              <a:buFont typeface="Arial" pitchFamily="34" charset="0"/>
              <a:buChar char="•"/>
            </a:pPr>
            <a:r>
              <a:rPr lang="en-US" sz="1400" dirty="0" smtClean="0">
                <a:latin typeface="Lucida Sans" pitchFamily="34" charset="0"/>
              </a:rPr>
              <a:t>Technical Expertise</a:t>
            </a:r>
          </a:p>
          <a:p>
            <a:pPr marL="285750" indent="-285750">
              <a:buFont typeface="Arial" pitchFamily="34" charset="0"/>
              <a:buChar char="•"/>
            </a:pPr>
            <a:r>
              <a:rPr lang="en-US" sz="1400" dirty="0" smtClean="0">
                <a:latin typeface="Lucida Sans" pitchFamily="34" charset="0"/>
              </a:rPr>
              <a:t>Scalability</a:t>
            </a:r>
          </a:p>
          <a:p>
            <a:pPr marL="285750" indent="-285750">
              <a:buFont typeface="Arial" pitchFamily="34" charset="0"/>
              <a:buChar char="•"/>
            </a:pPr>
            <a:r>
              <a:rPr lang="en-US" sz="1400" dirty="0" smtClean="0">
                <a:latin typeface="Lucida Sans" pitchFamily="34" charset="0"/>
              </a:rPr>
              <a:t>Innovation</a:t>
            </a:r>
          </a:p>
          <a:p>
            <a:endParaRPr lang="en-IN" sz="1400" dirty="0">
              <a:latin typeface="Lucida Sans" pitchFamily="34" charset="0"/>
            </a:endParaRPr>
          </a:p>
        </p:txBody>
      </p:sp>
      <p:sp>
        <p:nvSpPr>
          <p:cNvPr id="12" name="TextBox 11"/>
          <p:cNvSpPr txBox="1"/>
          <p:nvPr/>
        </p:nvSpPr>
        <p:spPr>
          <a:xfrm>
            <a:off x="5175567" y="5438997"/>
            <a:ext cx="2659702" cy="954107"/>
          </a:xfrm>
          <a:prstGeom prst="rect">
            <a:avLst/>
          </a:prstGeom>
          <a:noFill/>
        </p:spPr>
        <p:txBody>
          <a:bodyPr wrap="none" rtlCol="0">
            <a:spAutoFit/>
          </a:bodyPr>
          <a:lstStyle/>
          <a:p>
            <a:pPr marL="285750" indent="-285750">
              <a:buFont typeface="Arial" pitchFamily="34" charset="0"/>
              <a:buChar char="•"/>
            </a:pPr>
            <a:r>
              <a:rPr lang="en-US" sz="1400" dirty="0" smtClean="0">
                <a:latin typeface="Lucida Sans" pitchFamily="34" charset="0"/>
              </a:rPr>
              <a:t>Reduced Control</a:t>
            </a:r>
          </a:p>
          <a:p>
            <a:pPr marL="285750" indent="-285750">
              <a:buFont typeface="Arial" pitchFamily="34" charset="0"/>
              <a:buChar char="•"/>
            </a:pPr>
            <a:r>
              <a:rPr lang="en-US" sz="1400" dirty="0" smtClean="0">
                <a:latin typeface="Lucida Sans" pitchFamily="34" charset="0"/>
              </a:rPr>
              <a:t>Lack of In-House Support</a:t>
            </a:r>
          </a:p>
          <a:p>
            <a:pPr marL="285750" indent="-285750">
              <a:buFont typeface="Arial" pitchFamily="34" charset="0"/>
              <a:buChar char="•"/>
            </a:pPr>
            <a:r>
              <a:rPr lang="en-US" sz="1400" dirty="0" smtClean="0">
                <a:latin typeface="Lucida Sans" pitchFamily="34" charset="0"/>
              </a:rPr>
              <a:t>Security Concern</a:t>
            </a:r>
          </a:p>
          <a:p>
            <a:endParaRPr lang="en-IN" sz="1400" dirty="0">
              <a:latin typeface="Lucida Sans" pitchFamily="34" charset="0"/>
            </a:endParaRPr>
          </a:p>
        </p:txBody>
      </p:sp>
      <p:sp>
        <p:nvSpPr>
          <p:cNvPr id="13" name="TextBox 12"/>
          <p:cNvSpPr txBox="1"/>
          <p:nvPr/>
        </p:nvSpPr>
        <p:spPr>
          <a:xfrm>
            <a:off x="4960249" y="1053646"/>
            <a:ext cx="4176463" cy="1785104"/>
          </a:xfrm>
          <a:prstGeom prst="rect">
            <a:avLst/>
          </a:prstGeom>
          <a:noFill/>
        </p:spPr>
        <p:txBody>
          <a:bodyPr wrap="square" rtlCol="0">
            <a:spAutoFit/>
          </a:bodyPr>
          <a:lstStyle/>
          <a:p>
            <a:r>
              <a:rPr lang="en-US" sz="1400" b="1" dirty="0" smtClean="0">
                <a:latin typeface="Lucida Sans" pitchFamily="34" charset="0"/>
              </a:rPr>
              <a:t>Third Party </a:t>
            </a:r>
            <a:r>
              <a:rPr lang="en-US" sz="1400" b="1" dirty="0">
                <a:latin typeface="Lucida Sans" pitchFamily="34" charset="0"/>
              </a:rPr>
              <a:t>Payment Processing</a:t>
            </a:r>
            <a:r>
              <a:rPr lang="en-US" sz="1400" b="1" dirty="0" smtClean="0">
                <a:latin typeface="Lucida Sans" pitchFamily="34" charset="0"/>
              </a:rPr>
              <a:t>:</a:t>
            </a:r>
          </a:p>
          <a:p>
            <a:endParaRPr lang="en-US" sz="1200" dirty="0">
              <a:latin typeface="Lucida Sans" pitchFamily="34" charset="0"/>
            </a:endParaRPr>
          </a:p>
          <a:p>
            <a:pPr marL="285750" indent="-285750">
              <a:buFont typeface="Arial" pitchFamily="34" charset="0"/>
              <a:buChar char="•"/>
            </a:pPr>
            <a:r>
              <a:rPr lang="en-US" sz="1200" dirty="0">
                <a:latin typeface="Lucida Sans" pitchFamily="34" charset="0"/>
              </a:rPr>
              <a:t>The system is owned and controlled by a third-party provider</a:t>
            </a:r>
          </a:p>
          <a:p>
            <a:pPr marL="285750" indent="-285750">
              <a:buFont typeface="Arial" pitchFamily="34" charset="0"/>
              <a:buChar char="•"/>
            </a:pPr>
            <a:r>
              <a:rPr lang="en-US" sz="1200" dirty="0">
                <a:latin typeface="Lucida Sans" pitchFamily="34" charset="0"/>
              </a:rPr>
              <a:t>Typically offers more customization and flexibility compared to bank-owned payment processing.</a:t>
            </a:r>
          </a:p>
          <a:p>
            <a:pPr marL="285750" indent="-285750">
              <a:buFont typeface="Arial" pitchFamily="34" charset="0"/>
              <a:buChar char="•"/>
            </a:pPr>
            <a:r>
              <a:rPr lang="en-US" sz="1200" dirty="0">
                <a:latin typeface="Lucida Sans" pitchFamily="34" charset="0"/>
              </a:rPr>
              <a:t>Provides access to a larger network of merchants </a:t>
            </a:r>
            <a:r>
              <a:rPr lang="en-US" sz="1200" dirty="0" smtClean="0">
                <a:latin typeface="Lucida Sans" pitchFamily="34" charset="0"/>
              </a:rPr>
              <a:t>and B2B partner programs</a:t>
            </a:r>
            <a:endParaRPr lang="en-IN" sz="1200" dirty="0">
              <a:latin typeface="Lucida Sans" pitchFamily="34" charset="0"/>
            </a:endParaRPr>
          </a:p>
        </p:txBody>
      </p:sp>
      <p:pic>
        <p:nvPicPr>
          <p:cNvPr id="14" name="Picture 1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625867" y="0"/>
            <a:ext cx="1491511" cy="379520"/>
          </a:xfrm>
          <a:prstGeom prst="rect">
            <a:avLst/>
          </a:prstGeom>
        </p:spPr>
      </p:pic>
      <p:sp>
        <p:nvSpPr>
          <p:cNvPr id="4" name="Rounded Rectangle 3"/>
          <p:cNvSpPr/>
          <p:nvPr/>
        </p:nvSpPr>
        <p:spPr>
          <a:xfrm>
            <a:off x="509842" y="332656"/>
            <a:ext cx="8064896" cy="576064"/>
          </a:xfrm>
          <a:prstGeom prst="roundRect">
            <a:avLst/>
          </a:prstGeom>
          <a:solidFill>
            <a:srgbClr val="0099C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lumMod val="65000"/>
                    <a:lumOff val="35000"/>
                  </a:schemeClr>
                </a:solidFill>
                <a:latin typeface="Lucida Sans" pitchFamily="34" charset="0"/>
              </a:rPr>
              <a:t>Bank Owned Payment Processor and Third-Party Payment Processor</a:t>
            </a:r>
            <a:endParaRPr lang="en-IN" dirty="0">
              <a:solidFill>
                <a:schemeClr val="tx1">
                  <a:lumMod val="65000"/>
                  <a:lumOff val="35000"/>
                </a:schemeClr>
              </a:solidFill>
              <a:latin typeface="Lucida Sans" pitchFamily="34" charset="0"/>
            </a:endParaRPr>
          </a:p>
        </p:txBody>
      </p:sp>
    </p:spTree>
    <p:extLst>
      <p:ext uri="{BB962C8B-B14F-4D97-AF65-F5344CB8AC3E}">
        <p14:creationId xmlns:p14="http://schemas.microsoft.com/office/powerpoint/2010/main" val="11569821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340707" y="3328424"/>
            <a:ext cx="8640960" cy="2677656"/>
          </a:xfrm>
          <a:prstGeom prst="rect">
            <a:avLst/>
          </a:prstGeom>
          <a:noFill/>
        </p:spPr>
        <p:txBody>
          <a:bodyPr wrap="square" rtlCol="0">
            <a:spAutoFit/>
          </a:bodyPr>
          <a:lstStyle/>
          <a:p>
            <a:r>
              <a:rPr lang="en-US" sz="1400" b="1" dirty="0" smtClean="0">
                <a:latin typeface="Lucida Sans" pitchFamily="34" charset="0"/>
              </a:rPr>
              <a:t>When to choose Third Party </a:t>
            </a:r>
            <a:r>
              <a:rPr lang="en-US" sz="1400" b="1" dirty="0">
                <a:latin typeface="Lucida Sans" pitchFamily="34" charset="0"/>
              </a:rPr>
              <a:t>P</a:t>
            </a:r>
            <a:r>
              <a:rPr lang="en-US" sz="1400" b="1" dirty="0" smtClean="0">
                <a:latin typeface="Lucida Sans" pitchFamily="34" charset="0"/>
              </a:rPr>
              <a:t>rocessor?</a:t>
            </a:r>
          </a:p>
          <a:p>
            <a:endParaRPr lang="en-US" sz="1400" dirty="0" smtClean="0">
              <a:latin typeface="Lucida Sans" pitchFamily="34" charset="0"/>
            </a:endParaRPr>
          </a:p>
          <a:p>
            <a:pPr marL="285750" indent="-285750">
              <a:buFont typeface="Arial" pitchFamily="34" charset="0"/>
              <a:buChar char="•"/>
            </a:pPr>
            <a:r>
              <a:rPr lang="en-US" sz="1400" dirty="0" smtClean="0">
                <a:latin typeface="Lucida Sans" pitchFamily="34" charset="0"/>
              </a:rPr>
              <a:t>When you do not need to worry about creating the merchant account. Third party processor will create master merchant account by accumulating </a:t>
            </a:r>
            <a:r>
              <a:rPr lang="en-US" sz="1400" dirty="0">
                <a:latin typeface="Lucida Sans" pitchFamily="34" charset="0"/>
              </a:rPr>
              <a:t>all of their clients' transactions into a single </a:t>
            </a:r>
            <a:r>
              <a:rPr lang="en-US" sz="1400" dirty="0" smtClean="0">
                <a:latin typeface="Lucida Sans" pitchFamily="34" charset="0"/>
              </a:rPr>
              <a:t>merchant account</a:t>
            </a:r>
          </a:p>
          <a:p>
            <a:pPr marL="285750" indent="-285750">
              <a:buFont typeface="Arial" pitchFamily="34" charset="0"/>
              <a:buChar char="•"/>
            </a:pPr>
            <a:r>
              <a:rPr lang="en-US" sz="1400" dirty="0" smtClean="0">
                <a:latin typeface="Lucida Sans" pitchFamily="34" charset="0"/>
              </a:rPr>
              <a:t>When your sales volume and average transaction size is low</a:t>
            </a:r>
          </a:p>
          <a:p>
            <a:pPr marL="285750" indent="-285750">
              <a:buFont typeface="Arial" pitchFamily="34" charset="0"/>
              <a:buChar char="•"/>
            </a:pPr>
            <a:r>
              <a:rPr lang="en-US" sz="1400" dirty="0" smtClean="0">
                <a:latin typeface="Lucida Sans" pitchFamily="34" charset="0"/>
              </a:rPr>
              <a:t>When you don’t need control over the payments</a:t>
            </a:r>
          </a:p>
          <a:p>
            <a:pPr marL="285750" indent="-285750">
              <a:buFont typeface="Arial" pitchFamily="34" charset="0"/>
              <a:buChar char="•"/>
            </a:pPr>
            <a:endParaRPr lang="en-US" sz="1400" dirty="0" smtClean="0">
              <a:latin typeface="Lucida Sans" pitchFamily="34" charset="0"/>
            </a:endParaRPr>
          </a:p>
          <a:p>
            <a:r>
              <a:rPr lang="en-US" sz="1400" dirty="0" smtClean="0">
                <a:latin typeface="Lucida Sans" pitchFamily="34" charset="0"/>
              </a:rPr>
              <a:t>Unlike merchant accounts with banks that tend to be expensive and time-consuming to set up, </a:t>
            </a:r>
          </a:p>
          <a:p>
            <a:r>
              <a:rPr lang="en-US" sz="1400" dirty="0" smtClean="0">
                <a:latin typeface="Lucida Sans" pitchFamily="34" charset="0"/>
              </a:rPr>
              <a:t>third-party payment processors don’t charge a huge deposit fee for setup. You’re only charged for the transactions you make and per-transaction fee is higher than the acquirer processor. So, the third party processor is suitable for medium-level and small-medium enterprise merchants</a:t>
            </a:r>
            <a:endParaRPr lang="en-IN" sz="1400" dirty="0">
              <a:latin typeface="Lucida Sans" pitchFamily="34" charset="0"/>
            </a:endParaRPr>
          </a:p>
        </p:txBody>
      </p:sp>
      <p:sp>
        <p:nvSpPr>
          <p:cNvPr id="7" name="TextBox 6"/>
          <p:cNvSpPr txBox="1"/>
          <p:nvPr/>
        </p:nvSpPr>
        <p:spPr>
          <a:xfrm>
            <a:off x="360444" y="1081654"/>
            <a:ext cx="8496944" cy="2031325"/>
          </a:xfrm>
          <a:prstGeom prst="rect">
            <a:avLst/>
          </a:prstGeom>
          <a:noFill/>
        </p:spPr>
        <p:txBody>
          <a:bodyPr wrap="square" rtlCol="0">
            <a:spAutoFit/>
          </a:bodyPr>
          <a:lstStyle/>
          <a:p>
            <a:r>
              <a:rPr lang="en-US" sz="1400" b="1" dirty="0" smtClean="0">
                <a:latin typeface="Lucida Sans" pitchFamily="34" charset="0"/>
              </a:rPr>
              <a:t>When to choose Acquirer Processor?</a:t>
            </a:r>
          </a:p>
          <a:p>
            <a:endParaRPr lang="en-US" sz="1400" dirty="0" smtClean="0">
              <a:latin typeface="Lucida Sans" pitchFamily="34" charset="0"/>
            </a:endParaRPr>
          </a:p>
          <a:p>
            <a:pPr marL="285750" indent="-285750">
              <a:buFont typeface="Arial" pitchFamily="34" charset="0"/>
              <a:buChar char="•"/>
            </a:pPr>
            <a:r>
              <a:rPr lang="en-US" sz="1400" dirty="0" smtClean="0">
                <a:latin typeface="Lucida Sans" pitchFamily="34" charset="0"/>
              </a:rPr>
              <a:t>When you need to set up your business by creating own merchant account</a:t>
            </a:r>
          </a:p>
          <a:p>
            <a:pPr marL="285750" indent="-285750">
              <a:buFont typeface="Arial" pitchFamily="34" charset="0"/>
              <a:buChar char="•"/>
            </a:pPr>
            <a:r>
              <a:rPr lang="en-US" sz="1400" dirty="0" smtClean="0">
                <a:latin typeface="Lucida Sans" pitchFamily="34" charset="0"/>
              </a:rPr>
              <a:t>When your </a:t>
            </a:r>
            <a:r>
              <a:rPr lang="en-IN" sz="1400" dirty="0" smtClean="0">
                <a:latin typeface="Lucida Sans" pitchFamily="34" charset="0"/>
              </a:rPr>
              <a:t>sales volume and </a:t>
            </a:r>
            <a:r>
              <a:rPr lang="en-IN" sz="1400" dirty="0">
                <a:latin typeface="Lucida Sans" pitchFamily="34" charset="0"/>
              </a:rPr>
              <a:t>average transaction </a:t>
            </a:r>
            <a:r>
              <a:rPr lang="en-IN" sz="1400" dirty="0" smtClean="0">
                <a:latin typeface="Lucida Sans" pitchFamily="34" charset="0"/>
              </a:rPr>
              <a:t>size is higher</a:t>
            </a:r>
          </a:p>
          <a:p>
            <a:pPr marL="285750" indent="-285750">
              <a:buFont typeface="Arial" pitchFamily="34" charset="0"/>
              <a:buChar char="•"/>
            </a:pPr>
            <a:r>
              <a:rPr lang="en-US" sz="1400" dirty="0" smtClean="0">
                <a:latin typeface="Lucida Sans" pitchFamily="34" charset="0"/>
              </a:rPr>
              <a:t>When you need control over the payments</a:t>
            </a:r>
          </a:p>
          <a:p>
            <a:endParaRPr lang="en-US" sz="1400" dirty="0">
              <a:latin typeface="Lucida Sans" pitchFamily="34" charset="0"/>
            </a:endParaRPr>
          </a:p>
          <a:p>
            <a:r>
              <a:rPr lang="en-US" sz="1400" dirty="0" smtClean="0">
                <a:latin typeface="Lucida Sans" pitchFamily="34" charset="0"/>
              </a:rPr>
              <a:t>Acquirer processor charges setup fee, monthly fee, early termination fee ,transaction fee, annual fee. The transaction fee is less comparison to the third party processor. So, the Acquirer processor is well suitable for Enterprise merchants</a:t>
            </a:r>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652489" y="6365"/>
            <a:ext cx="1491511" cy="379520"/>
          </a:xfrm>
          <a:prstGeom prst="rect">
            <a:avLst/>
          </a:prstGeom>
        </p:spPr>
      </p:pic>
      <p:sp>
        <p:nvSpPr>
          <p:cNvPr id="4" name="Rounded Rectangle 3"/>
          <p:cNvSpPr/>
          <p:nvPr/>
        </p:nvSpPr>
        <p:spPr>
          <a:xfrm>
            <a:off x="340707" y="385885"/>
            <a:ext cx="8057537" cy="458312"/>
          </a:xfrm>
          <a:prstGeom prst="roundRect">
            <a:avLst/>
          </a:prstGeom>
          <a:solidFill>
            <a:srgbClr val="0099C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smtClean="0">
                <a:solidFill>
                  <a:schemeClr val="tx1">
                    <a:lumMod val="65000"/>
                    <a:lumOff val="35000"/>
                  </a:schemeClr>
                </a:solidFill>
                <a:latin typeface="Lucida Sans" pitchFamily="34" charset="0"/>
              </a:rPr>
              <a:t>Best choice between Acquirer Processor or Third Party Processor</a:t>
            </a:r>
            <a:endParaRPr lang="en-IN" sz="1600" dirty="0">
              <a:solidFill>
                <a:schemeClr val="tx1">
                  <a:lumMod val="65000"/>
                  <a:lumOff val="35000"/>
                </a:schemeClr>
              </a:solidFill>
              <a:latin typeface="Lucida Sans" pitchFamily="34" charset="0"/>
            </a:endParaRPr>
          </a:p>
        </p:txBody>
      </p:sp>
    </p:spTree>
    <p:extLst>
      <p:ext uri="{BB962C8B-B14F-4D97-AF65-F5344CB8AC3E}">
        <p14:creationId xmlns:p14="http://schemas.microsoft.com/office/powerpoint/2010/main" val="29674674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p:cNvSpPr/>
          <p:nvPr/>
        </p:nvSpPr>
        <p:spPr>
          <a:xfrm>
            <a:off x="2430180" y="188640"/>
            <a:ext cx="4176464" cy="504056"/>
          </a:xfrm>
          <a:prstGeom prst="roundRect">
            <a:avLst/>
          </a:prstGeom>
          <a:solidFill>
            <a:srgbClr val="0099C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smtClean="0">
                <a:solidFill>
                  <a:schemeClr val="tx1">
                    <a:lumMod val="75000"/>
                    <a:lumOff val="25000"/>
                  </a:schemeClr>
                </a:solidFill>
                <a:latin typeface="Lucida Sans" pitchFamily="34" charset="0"/>
              </a:rPr>
              <a:t>Payment Gateway</a:t>
            </a:r>
            <a:endParaRPr lang="en-IN" sz="2400" dirty="0">
              <a:solidFill>
                <a:schemeClr val="tx1">
                  <a:lumMod val="75000"/>
                  <a:lumOff val="25000"/>
                </a:schemeClr>
              </a:solidFill>
              <a:latin typeface="Lucida Sans" pitchFamily="34" charset="0"/>
            </a:endParaRPr>
          </a:p>
        </p:txBody>
      </p:sp>
      <p:sp>
        <p:nvSpPr>
          <p:cNvPr id="5" name="TextBox 4"/>
          <p:cNvSpPr txBox="1"/>
          <p:nvPr/>
        </p:nvSpPr>
        <p:spPr>
          <a:xfrm>
            <a:off x="197932" y="836712"/>
            <a:ext cx="8784976" cy="954107"/>
          </a:xfrm>
          <a:prstGeom prst="rect">
            <a:avLst/>
          </a:prstGeom>
          <a:noFill/>
        </p:spPr>
        <p:txBody>
          <a:bodyPr wrap="square" rtlCol="0">
            <a:spAutoFit/>
          </a:bodyPr>
          <a:lstStyle/>
          <a:p>
            <a:pPr algn="just"/>
            <a:r>
              <a:rPr lang="en-US" sz="1400" dirty="0">
                <a:latin typeface="Lucida Sans" pitchFamily="34" charset="0"/>
              </a:rPr>
              <a:t>A payment </a:t>
            </a:r>
            <a:r>
              <a:rPr lang="en-US" sz="1400" dirty="0" smtClean="0">
                <a:latin typeface="Lucida Sans" pitchFamily="34" charset="0"/>
              </a:rPr>
              <a:t>gateway is </a:t>
            </a:r>
            <a:r>
              <a:rPr lang="en-US" sz="1400" dirty="0">
                <a:latin typeface="Lucida Sans" pitchFamily="34" charset="0"/>
              </a:rPr>
              <a:t>an infrastructure company that provides software on a SaaS (Software as a Service) </a:t>
            </a:r>
            <a:r>
              <a:rPr lang="en-US" sz="1400" dirty="0" smtClean="0">
                <a:latin typeface="Lucida Sans" pitchFamily="34" charset="0"/>
              </a:rPr>
              <a:t>distribution </a:t>
            </a:r>
            <a:r>
              <a:rPr lang="en-US" sz="1400" dirty="0">
                <a:latin typeface="Lucida Sans" pitchFamily="34" charset="0"/>
              </a:rPr>
              <a:t>model. To put it simply, the </a:t>
            </a:r>
            <a:r>
              <a:rPr lang="en-US" sz="1400" dirty="0" smtClean="0">
                <a:latin typeface="Lucida Sans" pitchFamily="34" charset="0"/>
              </a:rPr>
              <a:t>gateway is </a:t>
            </a:r>
            <a:r>
              <a:rPr lang="en-US" sz="1400" dirty="0">
                <a:latin typeface="Lucida Sans" pitchFamily="34" charset="0"/>
              </a:rPr>
              <a:t>a bridge between the client and the merchant. </a:t>
            </a:r>
            <a:r>
              <a:rPr lang="en-US" sz="1400" dirty="0" smtClean="0">
                <a:latin typeface="Lucida Sans" pitchFamily="34" charset="0"/>
              </a:rPr>
              <a:t>Its </a:t>
            </a:r>
            <a:r>
              <a:rPr lang="en-US" sz="1400" dirty="0">
                <a:latin typeface="Lucida Sans" pitchFamily="34" charset="0"/>
              </a:rPr>
              <a:t>role is to transfer data between the major players involved in transaction processing: the customer, </a:t>
            </a:r>
            <a:r>
              <a:rPr lang="en-US" sz="1400" dirty="0" smtClean="0">
                <a:latin typeface="Lucida Sans" pitchFamily="34" charset="0"/>
              </a:rPr>
              <a:t>the </a:t>
            </a:r>
            <a:r>
              <a:rPr lang="en-US" sz="1400" dirty="0">
                <a:latin typeface="Lucida Sans" pitchFamily="34" charset="0"/>
              </a:rPr>
              <a:t>merchant, the acquiring bank, the issuing bank, and the card network. </a:t>
            </a:r>
            <a:endParaRPr lang="en-IN" sz="1400" dirty="0">
              <a:latin typeface="Lucida Sans" pitchFamily="34" charset="0"/>
            </a:endParaRPr>
          </a:p>
        </p:txBody>
      </p:sp>
      <p:sp>
        <p:nvSpPr>
          <p:cNvPr id="6" name="TextBox 5"/>
          <p:cNvSpPr txBox="1"/>
          <p:nvPr/>
        </p:nvSpPr>
        <p:spPr>
          <a:xfrm>
            <a:off x="223863" y="1916832"/>
            <a:ext cx="8866530" cy="954107"/>
          </a:xfrm>
          <a:prstGeom prst="rect">
            <a:avLst/>
          </a:prstGeom>
          <a:noFill/>
        </p:spPr>
        <p:txBody>
          <a:bodyPr wrap="none" rtlCol="0">
            <a:spAutoFit/>
          </a:bodyPr>
          <a:lstStyle/>
          <a:p>
            <a:pPr algn="just"/>
            <a:r>
              <a:rPr lang="en-US" sz="1400" b="1" dirty="0">
                <a:latin typeface="Lucida Sans" pitchFamily="34" charset="0"/>
              </a:rPr>
              <a:t>How </a:t>
            </a:r>
            <a:r>
              <a:rPr lang="en-US" sz="1400" b="1" dirty="0" smtClean="0">
                <a:latin typeface="Lucida Sans" pitchFamily="34" charset="0"/>
              </a:rPr>
              <a:t>Payment Gateways </a:t>
            </a:r>
            <a:r>
              <a:rPr lang="en-US" sz="1400" b="1" dirty="0">
                <a:latin typeface="Lucida Sans" pitchFamily="34" charset="0"/>
              </a:rPr>
              <a:t>make </a:t>
            </a:r>
            <a:r>
              <a:rPr lang="en-US" sz="1400" b="1" dirty="0" smtClean="0">
                <a:latin typeface="Lucida Sans" pitchFamily="34" charset="0"/>
              </a:rPr>
              <a:t>money</a:t>
            </a:r>
          </a:p>
          <a:p>
            <a:pPr algn="just"/>
            <a:endParaRPr lang="en-US" sz="1400" dirty="0" smtClean="0">
              <a:latin typeface="Lucida Sans" pitchFamily="34" charset="0"/>
            </a:endParaRPr>
          </a:p>
          <a:p>
            <a:pPr algn="just"/>
            <a:r>
              <a:rPr lang="en-US" sz="1400" dirty="0" smtClean="0">
                <a:latin typeface="Lucida Sans" pitchFamily="34" charset="0"/>
              </a:rPr>
              <a:t>Payment </a:t>
            </a:r>
            <a:r>
              <a:rPr lang="en-US" sz="1400" dirty="0">
                <a:latin typeface="Lucida Sans" pitchFamily="34" charset="0"/>
              </a:rPr>
              <a:t>G</a:t>
            </a:r>
            <a:r>
              <a:rPr lang="en-US" sz="1400" dirty="0" smtClean="0">
                <a:latin typeface="Lucida Sans" pitchFamily="34" charset="0"/>
              </a:rPr>
              <a:t>ateway </a:t>
            </a:r>
            <a:r>
              <a:rPr lang="en-US" sz="1400" dirty="0">
                <a:latin typeface="Lucida Sans" pitchFamily="34" charset="0"/>
              </a:rPr>
              <a:t>earns income from each transaction by taking a percentage </a:t>
            </a:r>
            <a:r>
              <a:rPr lang="en-US" sz="1400" dirty="0" smtClean="0">
                <a:latin typeface="Lucida Sans" pitchFamily="34" charset="0"/>
              </a:rPr>
              <a:t>and/or fixed fee that </a:t>
            </a:r>
          </a:p>
          <a:p>
            <a:pPr algn="just"/>
            <a:r>
              <a:rPr lang="en-US" sz="1400" dirty="0" smtClean="0">
                <a:latin typeface="Lucida Sans" pitchFamily="34" charset="0"/>
              </a:rPr>
              <a:t>is called Merchant Discount Rate (MDR). Detailed Information in Slide 12.</a:t>
            </a:r>
            <a:endParaRPr lang="en-IN" sz="1400" dirty="0">
              <a:latin typeface="Lucida Sans" pitchFamily="34" charset="0"/>
            </a:endParaRPr>
          </a:p>
        </p:txBody>
      </p:sp>
      <p:sp>
        <p:nvSpPr>
          <p:cNvPr id="8" name="TextBox 7"/>
          <p:cNvSpPr txBox="1"/>
          <p:nvPr/>
        </p:nvSpPr>
        <p:spPr>
          <a:xfrm>
            <a:off x="172791" y="2881246"/>
            <a:ext cx="8903399" cy="1415772"/>
          </a:xfrm>
          <a:prstGeom prst="rect">
            <a:avLst/>
          </a:prstGeom>
          <a:noFill/>
        </p:spPr>
        <p:txBody>
          <a:bodyPr wrap="none" rtlCol="0">
            <a:spAutoFit/>
          </a:bodyPr>
          <a:lstStyle/>
          <a:p>
            <a:r>
              <a:rPr lang="en-IN" sz="1400" b="1" dirty="0">
                <a:latin typeface="Lucida Sans" pitchFamily="34" charset="0"/>
              </a:rPr>
              <a:t>Payment Gateway Business Model</a:t>
            </a:r>
          </a:p>
          <a:p>
            <a:endParaRPr lang="en-US" sz="1400" dirty="0" smtClean="0">
              <a:latin typeface="Lucida Sans" pitchFamily="34" charset="0"/>
            </a:endParaRPr>
          </a:p>
          <a:p>
            <a:r>
              <a:rPr lang="en-US" sz="1400" dirty="0">
                <a:latin typeface="Lucida Sans" pitchFamily="34" charset="0"/>
              </a:rPr>
              <a:t>Payment gateways generate most of their revenue from MDR, but the amount of charge varies </a:t>
            </a:r>
            <a:endParaRPr lang="en-US" sz="1400" dirty="0" smtClean="0">
              <a:latin typeface="Lucida Sans" pitchFamily="34" charset="0"/>
            </a:endParaRPr>
          </a:p>
          <a:p>
            <a:r>
              <a:rPr lang="en-US" sz="1400" dirty="0" smtClean="0">
                <a:latin typeface="Lucida Sans" pitchFamily="34" charset="0"/>
              </a:rPr>
              <a:t>depending </a:t>
            </a:r>
            <a:r>
              <a:rPr lang="en-US" sz="1400" dirty="0">
                <a:latin typeface="Lucida Sans" pitchFamily="34" charset="0"/>
              </a:rPr>
              <a:t>on the mode of transaction. During the payment phase, the client chooses the preferred </a:t>
            </a:r>
            <a:endParaRPr lang="en-US" sz="1400" dirty="0" smtClean="0">
              <a:latin typeface="Lucida Sans" pitchFamily="34" charset="0"/>
            </a:endParaRPr>
          </a:p>
          <a:p>
            <a:r>
              <a:rPr lang="en-US" sz="1400" dirty="0" smtClean="0">
                <a:latin typeface="Lucida Sans" pitchFamily="34" charset="0"/>
              </a:rPr>
              <a:t>way </a:t>
            </a:r>
            <a:r>
              <a:rPr lang="en-US" sz="1400" dirty="0">
                <a:latin typeface="Lucida Sans" pitchFamily="34" charset="0"/>
              </a:rPr>
              <a:t>to pay for the purchase. Depending on whether the client chooses a credit card or a debit card, </a:t>
            </a:r>
            <a:endParaRPr lang="en-US" sz="1400" dirty="0" smtClean="0">
              <a:latin typeface="Lucida Sans" pitchFamily="34" charset="0"/>
            </a:endParaRPr>
          </a:p>
          <a:p>
            <a:r>
              <a:rPr lang="en-US" sz="1400" dirty="0" smtClean="0">
                <a:latin typeface="Lucida Sans" pitchFamily="34" charset="0"/>
              </a:rPr>
              <a:t>an </a:t>
            </a:r>
            <a:r>
              <a:rPr lang="en-US" sz="1400" dirty="0">
                <a:latin typeface="Lucida Sans" pitchFamily="34" charset="0"/>
              </a:rPr>
              <a:t>e-wallet, Internet banking, or a prepaid wallet, the MDR charge will differ. </a:t>
            </a:r>
            <a:endParaRPr lang="en-IN" sz="1400" dirty="0">
              <a:latin typeface="Lucida Sans" pitchFamily="34" charset="0"/>
            </a:endParaRPr>
          </a:p>
        </p:txBody>
      </p:sp>
      <p:pic>
        <p:nvPicPr>
          <p:cNvPr id="9" name="Picture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79711" y="4365104"/>
            <a:ext cx="7104727" cy="1831231"/>
          </a:xfrm>
          <a:prstGeom prst="rect">
            <a:avLst/>
          </a:prstGeom>
        </p:spPr>
      </p:pic>
      <p:pic>
        <p:nvPicPr>
          <p:cNvPr id="7" name="Picture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652489" y="0"/>
            <a:ext cx="1491511" cy="379520"/>
          </a:xfrm>
          <a:prstGeom prst="rect">
            <a:avLst/>
          </a:prstGeom>
        </p:spPr>
      </p:pic>
    </p:spTree>
    <p:extLst>
      <p:ext uri="{BB962C8B-B14F-4D97-AF65-F5344CB8AC3E}">
        <p14:creationId xmlns:p14="http://schemas.microsoft.com/office/powerpoint/2010/main" val="368356255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p:cNvSpPr/>
          <p:nvPr/>
        </p:nvSpPr>
        <p:spPr>
          <a:xfrm>
            <a:off x="2536116" y="332656"/>
            <a:ext cx="3672408" cy="432048"/>
          </a:xfrm>
          <a:prstGeom prst="roundRect">
            <a:avLst/>
          </a:prstGeom>
          <a:solidFill>
            <a:srgbClr val="0099C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lumMod val="75000"/>
                    <a:lumOff val="25000"/>
                  </a:schemeClr>
                </a:solidFill>
                <a:latin typeface="Lucida Sans" pitchFamily="34" charset="0"/>
              </a:rPr>
              <a:t>Payment Facilitator or PayFacs</a:t>
            </a:r>
            <a:endParaRPr lang="en-IN" dirty="0">
              <a:solidFill>
                <a:schemeClr val="tx1">
                  <a:lumMod val="75000"/>
                  <a:lumOff val="25000"/>
                </a:schemeClr>
              </a:solidFill>
              <a:latin typeface="Lucida Sans" pitchFamily="34" charset="0"/>
            </a:endParaRPr>
          </a:p>
        </p:txBody>
      </p:sp>
      <p:sp>
        <p:nvSpPr>
          <p:cNvPr id="5" name="TextBox 4"/>
          <p:cNvSpPr txBox="1"/>
          <p:nvPr/>
        </p:nvSpPr>
        <p:spPr>
          <a:xfrm>
            <a:off x="166580" y="825766"/>
            <a:ext cx="8748520" cy="1169551"/>
          </a:xfrm>
          <a:prstGeom prst="rect">
            <a:avLst/>
          </a:prstGeom>
          <a:noFill/>
        </p:spPr>
        <p:txBody>
          <a:bodyPr wrap="square" rtlCol="0">
            <a:spAutoFit/>
          </a:bodyPr>
          <a:lstStyle/>
          <a:p>
            <a:pPr algn="just"/>
            <a:r>
              <a:rPr lang="en-US" sz="1400" dirty="0" smtClean="0">
                <a:latin typeface="Lucida Sans" pitchFamily="34" charset="0"/>
              </a:rPr>
              <a:t>A </a:t>
            </a:r>
            <a:r>
              <a:rPr lang="en-US" sz="1400" dirty="0">
                <a:latin typeface="Lucida Sans" pitchFamily="34" charset="0"/>
              </a:rPr>
              <a:t>Payfac will sign up </a:t>
            </a:r>
            <a:r>
              <a:rPr lang="en-US" sz="1400" dirty="0" smtClean="0">
                <a:latin typeface="Lucida Sans" pitchFamily="34" charset="0"/>
              </a:rPr>
              <a:t>for a </a:t>
            </a:r>
            <a:r>
              <a:rPr lang="en-US" sz="1400" dirty="0">
                <a:latin typeface="Lucida Sans" pitchFamily="34" charset="0"/>
              </a:rPr>
              <a:t>master merchant account with an acquirer and sign-up individual </a:t>
            </a:r>
            <a:r>
              <a:rPr lang="en-US" sz="1400" dirty="0" smtClean="0">
                <a:latin typeface="Lucida Sans" pitchFamily="34" charset="0"/>
              </a:rPr>
              <a:t>merchants(</a:t>
            </a:r>
            <a:r>
              <a:rPr lang="en-US" sz="1400" dirty="0">
                <a:latin typeface="Lucida Sans" pitchFamily="34" charset="0"/>
              </a:rPr>
              <a:t>micro, small and medium sized enterprises</a:t>
            </a:r>
            <a:r>
              <a:rPr lang="en-US" sz="1400" dirty="0" smtClean="0">
                <a:latin typeface="Lucida Sans" pitchFamily="34" charset="0"/>
              </a:rPr>
              <a:t>) </a:t>
            </a:r>
            <a:r>
              <a:rPr lang="en-US" sz="1400" dirty="0">
                <a:latin typeface="Lucida Sans" pitchFamily="34" charset="0"/>
              </a:rPr>
              <a:t>as sub-merchants who fall under the </a:t>
            </a:r>
            <a:r>
              <a:rPr lang="en-US" sz="1400" dirty="0" smtClean="0">
                <a:latin typeface="Lucida Sans" pitchFamily="34" charset="0"/>
              </a:rPr>
              <a:t>Payfac’s master </a:t>
            </a:r>
            <a:r>
              <a:rPr lang="en-US" sz="1400" dirty="0">
                <a:latin typeface="Lucida Sans" pitchFamily="34" charset="0"/>
              </a:rPr>
              <a:t>merchant relationship with the acquirer for transaction clearing and settlement with the Payfac underwriting </a:t>
            </a:r>
            <a:r>
              <a:rPr lang="en-US" sz="1400" dirty="0" smtClean="0">
                <a:latin typeface="Lucida Sans" pitchFamily="34" charset="0"/>
              </a:rPr>
              <a:t>their sub-merchants</a:t>
            </a:r>
            <a:r>
              <a:rPr lang="en-US" sz="1400" dirty="0">
                <a:latin typeface="Lucida Sans" pitchFamily="34" charset="0"/>
              </a:rPr>
              <a:t>’ sales on behalf of the </a:t>
            </a:r>
            <a:r>
              <a:rPr lang="en-US" sz="1400" dirty="0" smtClean="0">
                <a:latin typeface="Lucida Sans" pitchFamily="34" charset="0"/>
              </a:rPr>
              <a:t>acquirer.</a:t>
            </a:r>
          </a:p>
          <a:p>
            <a:pPr algn="just"/>
            <a:r>
              <a:rPr lang="en-US" sz="1400" b="1" dirty="0" smtClean="0">
                <a:latin typeface="Lucida Sans" pitchFamily="34" charset="0"/>
              </a:rPr>
              <a:t>Example</a:t>
            </a:r>
            <a:r>
              <a:rPr lang="en-US" sz="1400" dirty="0" smtClean="0">
                <a:latin typeface="Lucida Sans" pitchFamily="34" charset="0"/>
              </a:rPr>
              <a:t> : </a:t>
            </a:r>
            <a:r>
              <a:rPr lang="en-IN" sz="1400" dirty="0" smtClean="0">
                <a:latin typeface="Lucida Sans" pitchFamily="34" charset="0"/>
              </a:rPr>
              <a:t>Freecharge,</a:t>
            </a:r>
            <a:r>
              <a:rPr lang="en-IN" sz="1400" dirty="0">
                <a:latin typeface="Lucida Sans" pitchFamily="34" charset="0"/>
              </a:rPr>
              <a:t> </a:t>
            </a:r>
            <a:r>
              <a:rPr lang="en-IN" sz="1400" dirty="0" smtClean="0">
                <a:latin typeface="Lucida Sans" pitchFamily="34" charset="0"/>
              </a:rPr>
              <a:t>Paytm, PayU, PhonePe, RazorPay</a:t>
            </a:r>
            <a:r>
              <a:rPr lang="en-IN" sz="1400" dirty="0">
                <a:latin typeface="Lucida Sans" pitchFamily="34" charset="0"/>
              </a:rPr>
              <a:t> </a:t>
            </a:r>
            <a:r>
              <a:rPr lang="en-IN" sz="1400" dirty="0" smtClean="0">
                <a:latin typeface="Lucida Sans" pitchFamily="34" charset="0"/>
              </a:rPr>
              <a:t>,</a:t>
            </a:r>
            <a:r>
              <a:rPr lang="en-IN" sz="1400" dirty="0">
                <a:latin typeface="Lucida Sans" pitchFamily="34" charset="0"/>
              </a:rPr>
              <a:t> </a:t>
            </a:r>
            <a:r>
              <a:rPr lang="en-IN" sz="1400" dirty="0" smtClean="0">
                <a:latin typeface="Lucida Sans" pitchFamily="34" charset="0"/>
              </a:rPr>
              <a:t>Instamojo</a:t>
            </a:r>
            <a:endParaRPr lang="en-IN" sz="1400" dirty="0">
              <a:latin typeface="Lucida Sans" pitchFamily="34" charset="0"/>
            </a:endParaRPr>
          </a:p>
        </p:txBody>
      </p:sp>
      <p:sp>
        <p:nvSpPr>
          <p:cNvPr id="6" name="TextBox 5"/>
          <p:cNvSpPr txBox="1"/>
          <p:nvPr/>
        </p:nvSpPr>
        <p:spPr>
          <a:xfrm>
            <a:off x="156090" y="2065853"/>
            <a:ext cx="8759009" cy="2092881"/>
          </a:xfrm>
          <a:prstGeom prst="rect">
            <a:avLst/>
          </a:prstGeom>
          <a:noFill/>
        </p:spPr>
        <p:txBody>
          <a:bodyPr wrap="square" rtlCol="0">
            <a:spAutoFit/>
          </a:bodyPr>
          <a:lstStyle/>
          <a:p>
            <a:pPr algn="just"/>
            <a:r>
              <a:rPr lang="en-US" sz="1400" b="1" dirty="0">
                <a:latin typeface="Lucida Sans" pitchFamily="34" charset="0"/>
              </a:rPr>
              <a:t>How do Payment Facilitators Work</a:t>
            </a:r>
            <a:r>
              <a:rPr lang="en-US" sz="1400" b="1" dirty="0" smtClean="0">
                <a:latin typeface="Lucida Sans" pitchFamily="34" charset="0"/>
              </a:rPr>
              <a:t>?</a:t>
            </a:r>
            <a:endParaRPr lang="en-US" sz="1400" dirty="0" smtClean="0">
              <a:latin typeface="Lucida Sans" pitchFamily="34" charset="0"/>
            </a:endParaRPr>
          </a:p>
          <a:p>
            <a:pPr algn="just"/>
            <a:r>
              <a:rPr lang="en-US" sz="1400" dirty="0">
                <a:latin typeface="Lucida Sans" pitchFamily="34" charset="0"/>
              </a:rPr>
              <a:t>The payment facilitator owns the master merchant identification account (MID). </a:t>
            </a:r>
            <a:r>
              <a:rPr lang="en-US" sz="1400" dirty="0" smtClean="0">
                <a:latin typeface="Lucida Sans" pitchFamily="34" charset="0"/>
              </a:rPr>
              <a:t>To</a:t>
            </a:r>
            <a:r>
              <a:rPr lang="en-US" sz="1400" dirty="0">
                <a:latin typeface="Lucida Sans" pitchFamily="34" charset="0"/>
              </a:rPr>
              <a:t> process transactions, the acquirer (merchant) must apply for a merchant account. This includes an application with 7-8 key data points, an underwriting process, working out a pricing agreement, and integrating the latest payment technology. </a:t>
            </a:r>
          </a:p>
          <a:p>
            <a:pPr algn="just"/>
            <a:r>
              <a:rPr lang="en-US" sz="1400" dirty="0">
                <a:latin typeface="Lucida Sans" pitchFamily="34" charset="0"/>
              </a:rPr>
              <a:t>During the onboarding process, the data points are evaluated by an underwriting tool and approved or declined in real-time. </a:t>
            </a:r>
            <a:r>
              <a:rPr lang="en-US" sz="1400" dirty="0" smtClean="0">
                <a:latin typeface="Lucida Sans" pitchFamily="34" charset="0"/>
              </a:rPr>
              <a:t>Then,</a:t>
            </a:r>
            <a:r>
              <a:rPr lang="en-US" sz="1400" dirty="0">
                <a:latin typeface="Lucida Sans" pitchFamily="34" charset="0"/>
              </a:rPr>
              <a:t> payment gateway is opened and the merchant is boarded as a sub-merchant under the PayFac‘s master merchant ID.</a:t>
            </a:r>
          </a:p>
          <a:p>
            <a:pPr algn="just"/>
            <a:endParaRPr lang="en-IN" dirty="0">
              <a:latin typeface="Lucida Sans" pitchFamily="34" charset="0"/>
            </a:endParaRPr>
          </a:p>
        </p:txBody>
      </p:sp>
      <p:sp>
        <p:nvSpPr>
          <p:cNvPr id="7" name="Rounded Rectangle 6"/>
          <p:cNvSpPr/>
          <p:nvPr/>
        </p:nvSpPr>
        <p:spPr>
          <a:xfrm>
            <a:off x="1006783" y="4015627"/>
            <a:ext cx="2160240" cy="350761"/>
          </a:xfrm>
          <a:prstGeom prst="roundRect">
            <a:avLst/>
          </a:prstGeom>
          <a:solidFill>
            <a:srgbClr val="0099C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smtClean="0">
                <a:latin typeface="Lucida Sans" pitchFamily="34" charset="0"/>
              </a:rPr>
              <a:t>Traditional Acquirer</a:t>
            </a:r>
            <a:endParaRPr lang="en-IN" sz="1400" dirty="0">
              <a:latin typeface="Lucida Sans" pitchFamily="34" charset="0"/>
            </a:endParaRPr>
          </a:p>
        </p:txBody>
      </p:sp>
      <p:sp>
        <p:nvSpPr>
          <p:cNvPr id="8" name="Rounded Rectangle 7"/>
          <p:cNvSpPr/>
          <p:nvPr/>
        </p:nvSpPr>
        <p:spPr>
          <a:xfrm>
            <a:off x="5632460" y="4005064"/>
            <a:ext cx="2160240" cy="358779"/>
          </a:xfrm>
          <a:prstGeom prst="roundRect">
            <a:avLst/>
          </a:prstGeom>
          <a:solidFill>
            <a:srgbClr val="0099C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smtClean="0">
                <a:latin typeface="Lucida Sans" pitchFamily="34" charset="0"/>
              </a:rPr>
              <a:t>Payment Facilitator</a:t>
            </a:r>
            <a:endParaRPr lang="en-IN" sz="1400" dirty="0">
              <a:latin typeface="Lucida Sans" pitchFamily="34" charset="0"/>
            </a:endParaRPr>
          </a:p>
        </p:txBody>
      </p:sp>
      <p:sp>
        <p:nvSpPr>
          <p:cNvPr id="9" name="TextBox 8"/>
          <p:cNvSpPr txBox="1"/>
          <p:nvPr/>
        </p:nvSpPr>
        <p:spPr>
          <a:xfrm>
            <a:off x="176451" y="4509120"/>
            <a:ext cx="4364389" cy="2123658"/>
          </a:xfrm>
          <a:prstGeom prst="rect">
            <a:avLst/>
          </a:prstGeom>
          <a:noFill/>
        </p:spPr>
        <p:txBody>
          <a:bodyPr wrap="square" rtlCol="0">
            <a:spAutoFit/>
          </a:bodyPr>
          <a:lstStyle/>
          <a:p>
            <a:pPr algn="just"/>
            <a:r>
              <a:rPr lang="en-US" sz="1200" dirty="0">
                <a:latin typeface="Lucida Sans" pitchFamily="34" charset="0"/>
              </a:rPr>
              <a:t>A merchant contracts with an acquirer to </a:t>
            </a:r>
            <a:r>
              <a:rPr lang="en-US" sz="1200" dirty="0" smtClean="0">
                <a:latin typeface="Lucida Sans" pitchFamily="34" charset="0"/>
              </a:rPr>
              <a:t>accept </a:t>
            </a:r>
            <a:r>
              <a:rPr lang="en-US" sz="1200" dirty="0">
                <a:latin typeface="Lucida Sans" pitchFamily="34" charset="0"/>
              </a:rPr>
              <a:t>and process payments</a:t>
            </a:r>
            <a:r>
              <a:rPr lang="en-US" sz="1200" dirty="0" smtClean="0">
                <a:latin typeface="Lucida Sans" pitchFamily="34" charset="0"/>
              </a:rPr>
              <a:t>.</a:t>
            </a:r>
          </a:p>
          <a:p>
            <a:pPr algn="just"/>
            <a:endParaRPr lang="en-US" sz="1200" dirty="0">
              <a:latin typeface="Lucida Sans" pitchFamily="34" charset="0"/>
            </a:endParaRPr>
          </a:p>
          <a:p>
            <a:pPr algn="just"/>
            <a:r>
              <a:rPr lang="en-US" sz="1200" dirty="0">
                <a:latin typeface="Lucida Sans" pitchFamily="34" charset="0"/>
              </a:rPr>
              <a:t>The merchant uses a merchant bank account </a:t>
            </a:r>
            <a:r>
              <a:rPr lang="en-US" sz="1200" dirty="0" smtClean="0">
                <a:latin typeface="Lucida Sans" pitchFamily="34" charset="0"/>
              </a:rPr>
              <a:t>to </a:t>
            </a:r>
            <a:r>
              <a:rPr lang="en-US" sz="1200" dirty="0">
                <a:latin typeface="Lucida Sans" pitchFamily="34" charset="0"/>
              </a:rPr>
              <a:t>accept payment types like credit, debit, and other forms</a:t>
            </a:r>
            <a:r>
              <a:rPr lang="en-US" sz="1200" dirty="0" smtClean="0">
                <a:latin typeface="Lucida Sans" pitchFamily="34" charset="0"/>
              </a:rPr>
              <a:t>.</a:t>
            </a:r>
          </a:p>
          <a:p>
            <a:pPr algn="just"/>
            <a:endParaRPr lang="en-US" sz="1200" dirty="0">
              <a:latin typeface="Lucida Sans" pitchFamily="34" charset="0"/>
            </a:endParaRPr>
          </a:p>
          <a:p>
            <a:pPr algn="just"/>
            <a:r>
              <a:rPr lang="en-US" sz="1200" dirty="0">
                <a:latin typeface="Lucida Sans" pitchFamily="34" charset="0"/>
              </a:rPr>
              <a:t>The acquirer issues each merchant their own account</a:t>
            </a:r>
            <a:r>
              <a:rPr lang="en-US" sz="1200" dirty="0" smtClean="0">
                <a:latin typeface="Lucida Sans" pitchFamily="34" charset="0"/>
              </a:rPr>
              <a:t>.</a:t>
            </a:r>
          </a:p>
          <a:p>
            <a:pPr algn="just"/>
            <a:endParaRPr lang="en-US" sz="1200" dirty="0" smtClean="0">
              <a:latin typeface="Lucida Sans" pitchFamily="34" charset="0"/>
            </a:endParaRPr>
          </a:p>
          <a:p>
            <a:pPr algn="just"/>
            <a:endParaRPr lang="en-US" sz="1200" dirty="0">
              <a:latin typeface="Lucida Sans" pitchFamily="34" charset="0"/>
            </a:endParaRPr>
          </a:p>
          <a:p>
            <a:pPr algn="just"/>
            <a:r>
              <a:rPr lang="en-US" sz="1200" dirty="0">
                <a:latin typeface="Lucida Sans" pitchFamily="34" charset="0"/>
              </a:rPr>
              <a:t>The acquirer directs funds from the buyer to the merchant account. </a:t>
            </a:r>
            <a:endParaRPr lang="en-IN" sz="1200" dirty="0">
              <a:latin typeface="Lucida Sans" pitchFamily="34" charset="0"/>
            </a:endParaRPr>
          </a:p>
        </p:txBody>
      </p:sp>
      <p:sp>
        <p:nvSpPr>
          <p:cNvPr id="10" name="TextBox 9"/>
          <p:cNvSpPr txBox="1"/>
          <p:nvPr/>
        </p:nvSpPr>
        <p:spPr>
          <a:xfrm>
            <a:off x="4711063" y="4508743"/>
            <a:ext cx="4297698" cy="2123658"/>
          </a:xfrm>
          <a:prstGeom prst="rect">
            <a:avLst/>
          </a:prstGeom>
          <a:noFill/>
        </p:spPr>
        <p:txBody>
          <a:bodyPr wrap="square" rtlCol="0">
            <a:spAutoFit/>
          </a:bodyPr>
          <a:lstStyle/>
          <a:p>
            <a:pPr algn="just"/>
            <a:r>
              <a:rPr lang="en-US" sz="1200" dirty="0">
                <a:latin typeface="Lucida Sans" pitchFamily="34" charset="0"/>
              </a:rPr>
              <a:t>A PayFac contracts with an acquirer to accept payments on behalf of their sub-merchants</a:t>
            </a:r>
            <a:r>
              <a:rPr lang="en-US" sz="1200" dirty="0" smtClean="0">
                <a:latin typeface="Lucida Sans" pitchFamily="34" charset="0"/>
              </a:rPr>
              <a:t>.</a:t>
            </a:r>
          </a:p>
          <a:p>
            <a:pPr algn="just"/>
            <a:endParaRPr lang="en-US" sz="1200" dirty="0">
              <a:latin typeface="Lucida Sans" pitchFamily="34" charset="0"/>
            </a:endParaRPr>
          </a:p>
          <a:p>
            <a:pPr algn="just"/>
            <a:r>
              <a:rPr lang="en-US" sz="1200" dirty="0">
                <a:latin typeface="Lucida Sans" pitchFamily="34" charset="0"/>
              </a:rPr>
              <a:t>PayFac uses a master merchant account to accept all payments for the sub-merchant. </a:t>
            </a:r>
            <a:endParaRPr lang="en-US" sz="1200" dirty="0" smtClean="0">
              <a:latin typeface="Lucida Sans" pitchFamily="34" charset="0"/>
            </a:endParaRPr>
          </a:p>
          <a:p>
            <a:pPr algn="just"/>
            <a:endParaRPr lang="en-US" sz="1200" dirty="0">
              <a:latin typeface="Lucida Sans" pitchFamily="34" charset="0"/>
            </a:endParaRPr>
          </a:p>
          <a:p>
            <a:pPr algn="just"/>
            <a:r>
              <a:rPr lang="en-US" sz="1200" dirty="0">
                <a:latin typeface="Lucida Sans" pitchFamily="34" charset="0"/>
              </a:rPr>
              <a:t>The acquirer issues the PayFac a master merchant account</a:t>
            </a:r>
            <a:r>
              <a:rPr lang="en-US" sz="1200" dirty="0" smtClean="0">
                <a:latin typeface="Lucida Sans" pitchFamily="34" charset="0"/>
              </a:rPr>
              <a:t>.</a:t>
            </a:r>
          </a:p>
          <a:p>
            <a:pPr algn="just"/>
            <a:endParaRPr lang="en-US" sz="1200" dirty="0">
              <a:latin typeface="Lucida Sans" pitchFamily="34" charset="0"/>
            </a:endParaRPr>
          </a:p>
          <a:p>
            <a:pPr algn="just"/>
            <a:r>
              <a:rPr lang="en-US" sz="1200" dirty="0">
                <a:latin typeface="Lucida Sans" pitchFamily="34" charset="0"/>
              </a:rPr>
              <a:t>The PayFac directs the funds from the buyer to the sub-merchant account.</a:t>
            </a:r>
            <a:endParaRPr lang="en-IN" sz="1200" dirty="0">
              <a:latin typeface="Lucida Sans" pitchFamily="34" charset="0"/>
            </a:endParaRPr>
          </a:p>
        </p:txBody>
      </p:sp>
      <p:pic>
        <p:nvPicPr>
          <p:cNvPr id="11" name="Picture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652489" y="0"/>
            <a:ext cx="1491511" cy="379520"/>
          </a:xfrm>
          <a:prstGeom prst="rect">
            <a:avLst/>
          </a:prstGeom>
        </p:spPr>
      </p:pic>
    </p:spTree>
    <p:extLst>
      <p:ext uri="{BB962C8B-B14F-4D97-AF65-F5344CB8AC3E}">
        <p14:creationId xmlns:p14="http://schemas.microsoft.com/office/powerpoint/2010/main" val="58706193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ounded Rectangle 4"/>
          <p:cNvSpPr/>
          <p:nvPr/>
        </p:nvSpPr>
        <p:spPr>
          <a:xfrm>
            <a:off x="6516216" y="5733256"/>
            <a:ext cx="2448272" cy="914400"/>
          </a:xfrm>
          <a:prstGeom prst="roundRect">
            <a:avLst/>
          </a:prstGeom>
          <a:solidFill>
            <a:srgbClr val="0099C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Issuer</a:t>
            </a:r>
          </a:p>
          <a:p>
            <a:pPr algn="ctr"/>
            <a:r>
              <a:rPr lang="en-US" sz="1400" dirty="0" smtClean="0"/>
              <a:t>(cardholder’s bank)</a:t>
            </a:r>
            <a:endParaRPr lang="en-IN" sz="1400" dirty="0"/>
          </a:p>
        </p:txBody>
      </p:sp>
      <p:sp>
        <p:nvSpPr>
          <p:cNvPr id="6" name="Rounded Rectangle 5"/>
          <p:cNvSpPr/>
          <p:nvPr/>
        </p:nvSpPr>
        <p:spPr>
          <a:xfrm>
            <a:off x="6516216" y="1124744"/>
            <a:ext cx="2448272" cy="914400"/>
          </a:xfrm>
          <a:prstGeom prst="roundRect">
            <a:avLst/>
          </a:prstGeom>
          <a:solidFill>
            <a:srgbClr val="0099C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Cardholder</a:t>
            </a:r>
          </a:p>
          <a:p>
            <a:pPr algn="ctr"/>
            <a:r>
              <a:rPr lang="en-US" sz="1400" dirty="0" smtClean="0"/>
              <a:t>(consumer)</a:t>
            </a:r>
            <a:endParaRPr lang="en-IN" sz="1400" dirty="0"/>
          </a:p>
        </p:txBody>
      </p:sp>
      <p:cxnSp>
        <p:nvCxnSpPr>
          <p:cNvPr id="16" name="Straight Arrow Connector 15"/>
          <p:cNvCxnSpPr/>
          <p:nvPr/>
        </p:nvCxnSpPr>
        <p:spPr>
          <a:xfrm flipV="1">
            <a:off x="7884368" y="2030256"/>
            <a:ext cx="0" cy="37030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9" name="Rounded Rectangle 8"/>
          <p:cNvSpPr/>
          <p:nvPr/>
        </p:nvSpPr>
        <p:spPr>
          <a:xfrm>
            <a:off x="5724128" y="2426380"/>
            <a:ext cx="1728192" cy="648072"/>
          </a:xfrm>
          <a:prstGeom prst="roundRect">
            <a:avLst/>
          </a:prstGeom>
          <a:solidFill>
            <a:srgbClr val="00CC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smtClean="0">
                <a:solidFill>
                  <a:schemeClr val="tx1">
                    <a:lumMod val="65000"/>
                    <a:lumOff val="35000"/>
                  </a:schemeClr>
                </a:solidFill>
              </a:rPr>
              <a:t>Card Personalization</a:t>
            </a:r>
            <a:endParaRPr lang="en-IN" sz="1400" dirty="0">
              <a:solidFill>
                <a:schemeClr val="tx1">
                  <a:lumMod val="65000"/>
                  <a:lumOff val="35000"/>
                </a:schemeClr>
              </a:solidFill>
            </a:endParaRPr>
          </a:p>
        </p:txBody>
      </p:sp>
      <p:sp>
        <p:nvSpPr>
          <p:cNvPr id="31" name="Rounded Rectangle 30"/>
          <p:cNvSpPr/>
          <p:nvPr/>
        </p:nvSpPr>
        <p:spPr>
          <a:xfrm>
            <a:off x="5724128" y="3552731"/>
            <a:ext cx="1728192" cy="648072"/>
          </a:xfrm>
          <a:prstGeom prst="roundRect">
            <a:avLst/>
          </a:prstGeom>
          <a:solidFill>
            <a:srgbClr val="00CC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smtClean="0">
                <a:solidFill>
                  <a:schemeClr val="tx1">
                    <a:lumMod val="65000"/>
                    <a:lumOff val="35000"/>
                  </a:schemeClr>
                </a:solidFill>
              </a:rPr>
              <a:t>Issuing</a:t>
            </a:r>
          </a:p>
          <a:p>
            <a:pPr algn="ctr"/>
            <a:r>
              <a:rPr lang="en-US" sz="1400" dirty="0" smtClean="0">
                <a:solidFill>
                  <a:schemeClr val="tx1">
                    <a:lumMod val="65000"/>
                    <a:lumOff val="35000"/>
                  </a:schemeClr>
                </a:solidFill>
              </a:rPr>
              <a:t>Processor</a:t>
            </a:r>
            <a:endParaRPr lang="en-IN" sz="1400" dirty="0">
              <a:solidFill>
                <a:schemeClr val="tx1">
                  <a:lumMod val="65000"/>
                  <a:lumOff val="35000"/>
                </a:schemeClr>
              </a:solidFill>
            </a:endParaRPr>
          </a:p>
        </p:txBody>
      </p:sp>
      <p:sp>
        <p:nvSpPr>
          <p:cNvPr id="32" name="Rounded Rectangle 31"/>
          <p:cNvSpPr/>
          <p:nvPr/>
        </p:nvSpPr>
        <p:spPr>
          <a:xfrm>
            <a:off x="5738660" y="4653136"/>
            <a:ext cx="1728192" cy="648072"/>
          </a:xfrm>
          <a:prstGeom prst="roundRect">
            <a:avLst/>
          </a:prstGeom>
          <a:solidFill>
            <a:srgbClr val="00CC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smtClean="0">
                <a:solidFill>
                  <a:schemeClr val="tx1">
                    <a:lumMod val="65000"/>
                    <a:lumOff val="35000"/>
                  </a:schemeClr>
                </a:solidFill>
              </a:rPr>
              <a:t>Card Management</a:t>
            </a:r>
            <a:endParaRPr lang="en-IN" sz="1400" dirty="0">
              <a:solidFill>
                <a:schemeClr val="tx1">
                  <a:lumMod val="65000"/>
                  <a:lumOff val="35000"/>
                </a:schemeClr>
              </a:solidFill>
            </a:endParaRPr>
          </a:p>
        </p:txBody>
      </p:sp>
      <p:sp>
        <p:nvSpPr>
          <p:cNvPr id="2" name="TextBox 1"/>
          <p:cNvSpPr txBox="1"/>
          <p:nvPr/>
        </p:nvSpPr>
        <p:spPr>
          <a:xfrm>
            <a:off x="251520" y="2426380"/>
            <a:ext cx="5360586" cy="738664"/>
          </a:xfrm>
          <a:prstGeom prst="rect">
            <a:avLst/>
          </a:prstGeom>
          <a:noFill/>
        </p:spPr>
        <p:txBody>
          <a:bodyPr wrap="square" rtlCol="0">
            <a:spAutoFit/>
          </a:bodyPr>
          <a:lstStyle/>
          <a:p>
            <a:r>
              <a:rPr lang="en-US" sz="1400" dirty="0" smtClean="0">
                <a:latin typeface="Lucida Sans" pitchFamily="34" charset="0"/>
              </a:rPr>
              <a:t>It refers to the process of customizing a payment card with the cardholder’s specific info like printing cardholder’s name, card number, expiration date and CVV, etc</a:t>
            </a:r>
            <a:endParaRPr lang="en-IN" sz="1400" dirty="0">
              <a:latin typeface="Lucida Sans" pitchFamily="34" charset="0"/>
            </a:endParaRPr>
          </a:p>
        </p:txBody>
      </p:sp>
      <p:sp>
        <p:nvSpPr>
          <p:cNvPr id="3" name="TextBox 2"/>
          <p:cNvSpPr txBox="1"/>
          <p:nvPr/>
        </p:nvSpPr>
        <p:spPr>
          <a:xfrm>
            <a:off x="251520" y="3552731"/>
            <a:ext cx="5184576" cy="954107"/>
          </a:xfrm>
          <a:prstGeom prst="rect">
            <a:avLst/>
          </a:prstGeom>
          <a:noFill/>
        </p:spPr>
        <p:txBody>
          <a:bodyPr wrap="square" rtlCol="0">
            <a:spAutoFit/>
          </a:bodyPr>
          <a:lstStyle/>
          <a:p>
            <a:pPr algn="just"/>
            <a:r>
              <a:rPr lang="en-US" sz="1400" dirty="0" smtClean="0">
                <a:latin typeface="Lucida Sans" pitchFamily="34" charset="0"/>
              </a:rPr>
              <a:t>It is responsible for managing the technical processing of card transactions by verifying the card details and the cardholder’s account status on behalf of card issuer</a:t>
            </a:r>
            <a:endParaRPr lang="en-IN" sz="1400" dirty="0" smtClean="0">
              <a:latin typeface="Lucida Sans" pitchFamily="34" charset="0"/>
            </a:endParaRPr>
          </a:p>
          <a:p>
            <a:endParaRPr lang="en-IN" sz="1400" dirty="0">
              <a:latin typeface="Lucida Sans" pitchFamily="34" charset="0"/>
            </a:endParaRPr>
          </a:p>
        </p:txBody>
      </p:sp>
      <p:sp>
        <p:nvSpPr>
          <p:cNvPr id="15" name="TextBox 14"/>
          <p:cNvSpPr txBox="1"/>
          <p:nvPr/>
        </p:nvSpPr>
        <p:spPr>
          <a:xfrm>
            <a:off x="251520" y="4635133"/>
            <a:ext cx="5360586" cy="954107"/>
          </a:xfrm>
          <a:prstGeom prst="rect">
            <a:avLst/>
          </a:prstGeom>
          <a:noFill/>
        </p:spPr>
        <p:txBody>
          <a:bodyPr wrap="square" rtlCol="0">
            <a:spAutoFit/>
          </a:bodyPr>
          <a:lstStyle/>
          <a:p>
            <a:pPr algn="just"/>
            <a:r>
              <a:rPr lang="en-US" sz="1400" dirty="0" smtClean="0">
                <a:latin typeface="Lucida Sans" pitchFamily="34" charset="0"/>
              </a:rPr>
              <a:t>It is responsible for managing the technical processing of card transactions by verifying the card details and the cardholder’s account status on behalf of card issuer</a:t>
            </a:r>
            <a:endParaRPr lang="en-IN" sz="1400" dirty="0" smtClean="0">
              <a:latin typeface="Lucida Sans" pitchFamily="34" charset="0"/>
            </a:endParaRPr>
          </a:p>
          <a:p>
            <a:endParaRPr lang="en-IN" sz="1400" dirty="0">
              <a:latin typeface="Lucida Sans" pitchFamily="34" charset="0"/>
            </a:endParaRPr>
          </a:p>
        </p:txBody>
      </p:sp>
      <p:sp>
        <p:nvSpPr>
          <p:cNvPr id="17" name="TextBox 16"/>
          <p:cNvSpPr txBox="1"/>
          <p:nvPr/>
        </p:nvSpPr>
        <p:spPr>
          <a:xfrm>
            <a:off x="1916709" y="390366"/>
            <a:ext cx="4543210" cy="523220"/>
          </a:xfrm>
          <a:prstGeom prst="rect">
            <a:avLst/>
          </a:prstGeom>
          <a:noFill/>
        </p:spPr>
        <p:txBody>
          <a:bodyPr wrap="square" rtlCol="0">
            <a:spAutoFit/>
          </a:bodyPr>
          <a:lstStyle/>
          <a:p>
            <a:pPr algn="ctr"/>
            <a:r>
              <a:rPr lang="en-US" sz="2800" dirty="0" smtClean="0">
                <a:latin typeface="+mj-lt"/>
              </a:rPr>
              <a:t>Other Participants</a:t>
            </a:r>
            <a:endParaRPr lang="en-IN" sz="2800" dirty="0">
              <a:latin typeface="+mj-lt"/>
            </a:endParaRPr>
          </a:p>
        </p:txBody>
      </p:sp>
      <p:pic>
        <p:nvPicPr>
          <p:cNvPr id="12" name="Picture 1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652489" y="0"/>
            <a:ext cx="1491511" cy="379520"/>
          </a:xfrm>
          <a:prstGeom prst="rect">
            <a:avLst/>
          </a:prstGeom>
        </p:spPr>
      </p:pic>
    </p:spTree>
    <p:extLst>
      <p:ext uri="{BB962C8B-B14F-4D97-AF65-F5344CB8AC3E}">
        <p14:creationId xmlns:p14="http://schemas.microsoft.com/office/powerpoint/2010/main" val="176786678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27891" y="1484784"/>
            <a:ext cx="8712968" cy="4431983"/>
          </a:xfrm>
          <a:prstGeom prst="rect">
            <a:avLst/>
          </a:prstGeom>
          <a:noFill/>
        </p:spPr>
        <p:txBody>
          <a:bodyPr wrap="square" rtlCol="0">
            <a:spAutoFit/>
          </a:bodyPr>
          <a:lstStyle/>
          <a:p>
            <a:pPr algn="just"/>
            <a:r>
              <a:rPr lang="en-US" sz="1600" dirty="0" smtClean="0">
                <a:latin typeface="Lucida Sans" pitchFamily="34" charset="0"/>
              </a:rPr>
              <a:t>On </a:t>
            </a:r>
            <a:r>
              <a:rPr lang="en-US" sz="1600" dirty="0">
                <a:latin typeface="Lucida Sans" pitchFamily="34" charset="0"/>
              </a:rPr>
              <a:t>average, the merchant is charged 1-3% of </a:t>
            </a:r>
            <a:r>
              <a:rPr lang="en-US" sz="1600" dirty="0" smtClean="0">
                <a:latin typeface="Lucida Sans" pitchFamily="34" charset="0"/>
              </a:rPr>
              <a:t>MDR (</a:t>
            </a:r>
            <a:r>
              <a:rPr lang="en-IN" sz="1600" dirty="0">
                <a:latin typeface="Lucida Sans" pitchFamily="34" charset="0"/>
              </a:rPr>
              <a:t>Merchant Discount Rate</a:t>
            </a:r>
            <a:r>
              <a:rPr lang="en-US" sz="1600" dirty="0" smtClean="0">
                <a:latin typeface="Lucida Sans" pitchFamily="34" charset="0"/>
              </a:rPr>
              <a:t>) </a:t>
            </a:r>
            <a:r>
              <a:rPr lang="en-US" sz="1600" dirty="0">
                <a:latin typeface="Lucida Sans" pitchFamily="34" charset="0"/>
              </a:rPr>
              <a:t>for each </a:t>
            </a:r>
            <a:endParaRPr lang="en-US" sz="1600" dirty="0" smtClean="0">
              <a:latin typeface="Lucida Sans" pitchFamily="34" charset="0"/>
            </a:endParaRPr>
          </a:p>
          <a:p>
            <a:pPr algn="just"/>
            <a:r>
              <a:rPr lang="en-US" sz="1600" dirty="0" smtClean="0">
                <a:latin typeface="Lucida Sans" pitchFamily="34" charset="0"/>
              </a:rPr>
              <a:t>transaction processing</a:t>
            </a:r>
            <a:r>
              <a:rPr lang="en-US" sz="1600" dirty="0">
                <a:latin typeface="Lucida Sans" pitchFamily="34" charset="0"/>
              </a:rPr>
              <a:t>. MDR is a general </a:t>
            </a:r>
            <a:r>
              <a:rPr lang="en-US" sz="1600" dirty="0" smtClean="0">
                <a:latin typeface="Lucida Sans" pitchFamily="34" charset="0"/>
              </a:rPr>
              <a:t>amount </a:t>
            </a:r>
            <a:r>
              <a:rPr lang="en-US" sz="1600" dirty="0">
                <a:latin typeface="Lucida Sans" pitchFamily="34" charset="0"/>
              </a:rPr>
              <a:t>of fees that a merchant pays for the </a:t>
            </a:r>
            <a:endParaRPr lang="en-US" sz="1600" dirty="0" smtClean="0">
              <a:latin typeface="Lucida Sans" pitchFamily="34" charset="0"/>
            </a:endParaRPr>
          </a:p>
          <a:p>
            <a:pPr algn="just"/>
            <a:r>
              <a:rPr lang="en-US" sz="1600" dirty="0" smtClean="0">
                <a:latin typeface="Lucida Sans" pitchFamily="34" charset="0"/>
              </a:rPr>
              <a:t>transaction </a:t>
            </a:r>
            <a:r>
              <a:rPr lang="en-US" sz="1600" dirty="0">
                <a:latin typeface="Lucida Sans" pitchFamily="34" charset="0"/>
              </a:rPr>
              <a:t>processing. Assuming that the whole amount </a:t>
            </a:r>
            <a:r>
              <a:rPr lang="en-US" sz="1600" dirty="0" smtClean="0">
                <a:latin typeface="Lucida Sans" pitchFamily="34" charset="0"/>
              </a:rPr>
              <a:t>of </a:t>
            </a:r>
            <a:r>
              <a:rPr lang="en-US" sz="1600" dirty="0">
                <a:latin typeface="Lucida Sans" pitchFamily="34" charset="0"/>
              </a:rPr>
              <a:t>MDR a merchant should </a:t>
            </a:r>
          </a:p>
          <a:p>
            <a:pPr algn="just"/>
            <a:r>
              <a:rPr lang="en-US" sz="1600" dirty="0">
                <a:latin typeface="Lucida Sans" pitchFamily="34" charset="0"/>
              </a:rPr>
              <a:t>pay is </a:t>
            </a:r>
            <a:r>
              <a:rPr lang="en-US" sz="1600" dirty="0" smtClean="0">
                <a:latin typeface="Lucida Sans" pitchFamily="34" charset="0"/>
              </a:rPr>
              <a:t>1.0</a:t>
            </a:r>
            <a:r>
              <a:rPr lang="en-US" sz="1600" dirty="0">
                <a:latin typeface="Lucida Sans" pitchFamily="34" charset="0"/>
              </a:rPr>
              <a:t>%, </a:t>
            </a:r>
            <a:r>
              <a:rPr lang="en-US" sz="1600" dirty="0" smtClean="0">
                <a:latin typeface="Lucida Sans" pitchFamily="34" charset="0"/>
              </a:rPr>
              <a:t>it will split into:</a:t>
            </a:r>
            <a:endParaRPr lang="en-US" sz="1600" dirty="0">
              <a:latin typeface="Lucida Sans" pitchFamily="34" charset="0"/>
            </a:endParaRPr>
          </a:p>
          <a:p>
            <a:pPr algn="just"/>
            <a:endParaRPr lang="en-US" sz="1400" b="1" dirty="0">
              <a:latin typeface="Lucida Sans" pitchFamily="34" charset="0"/>
            </a:endParaRPr>
          </a:p>
          <a:p>
            <a:pPr algn="just"/>
            <a:r>
              <a:rPr lang="en-US" sz="1600" b="1" dirty="0">
                <a:latin typeface="Lucida Sans" pitchFamily="34" charset="0"/>
              </a:rPr>
              <a:t>0.35% fee to the card network;</a:t>
            </a:r>
            <a:endParaRPr lang="en-US" sz="1600" dirty="0">
              <a:latin typeface="Lucida Sans" pitchFamily="34" charset="0"/>
            </a:endParaRPr>
          </a:p>
          <a:p>
            <a:pPr algn="just"/>
            <a:r>
              <a:rPr lang="en-US" sz="1600" b="1" dirty="0">
                <a:latin typeface="Lucida Sans" pitchFamily="34" charset="0"/>
              </a:rPr>
              <a:t>0.35% fee to the acquiring bank.</a:t>
            </a:r>
            <a:endParaRPr lang="en-US" sz="1600" dirty="0">
              <a:latin typeface="Lucida Sans" pitchFamily="34" charset="0"/>
            </a:endParaRPr>
          </a:p>
          <a:p>
            <a:pPr algn="just"/>
            <a:r>
              <a:rPr lang="en-US" sz="1600" b="1" dirty="0">
                <a:latin typeface="Lucida Sans" pitchFamily="34" charset="0"/>
              </a:rPr>
              <a:t>0.20% fee to the payment gateway </a:t>
            </a:r>
            <a:r>
              <a:rPr lang="en-US" sz="1600" b="1" dirty="0" smtClean="0">
                <a:latin typeface="Lucida Sans" pitchFamily="34" charset="0"/>
              </a:rPr>
              <a:t>service </a:t>
            </a:r>
            <a:r>
              <a:rPr lang="en-US" sz="1600" b="1" dirty="0">
                <a:latin typeface="Lucida Sans" pitchFamily="34" charset="0"/>
              </a:rPr>
              <a:t>provider;</a:t>
            </a:r>
            <a:endParaRPr lang="en-US" sz="1600" dirty="0">
              <a:latin typeface="Lucida Sans" pitchFamily="34" charset="0"/>
            </a:endParaRPr>
          </a:p>
          <a:p>
            <a:pPr algn="just"/>
            <a:r>
              <a:rPr lang="en-US" sz="1600" b="1" dirty="0">
                <a:latin typeface="Lucida Sans" pitchFamily="34" charset="0"/>
              </a:rPr>
              <a:t>0.10% fee to the payment orchestration platform;</a:t>
            </a:r>
          </a:p>
          <a:p>
            <a:pPr algn="just"/>
            <a:endParaRPr lang="en-US" sz="1400" dirty="0" smtClean="0">
              <a:latin typeface="Lucida Sans" pitchFamily="34" charset="0"/>
            </a:endParaRPr>
          </a:p>
          <a:p>
            <a:pPr algn="just"/>
            <a:endParaRPr lang="en-US" sz="1400" dirty="0">
              <a:latin typeface="Lucida Sans" pitchFamily="34" charset="0"/>
            </a:endParaRPr>
          </a:p>
          <a:p>
            <a:pPr algn="just"/>
            <a:r>
              <a:rPr lang="en-US" sz="1600" dirty="0">
                <a:latin typeface="Lucida Sans" pitchFamily="34" charset="0"/>
              </a:rPr>
              <a:t>For instance, a customer makes a $1,000 purchase at the online store by Visa credit </a:t>
            </a:r>
            <a:endParaRPr lang="en-US" sz="1600" dirty="0" smtClean="0">
              <a:latin typeface="Lucida Sans" pitchFamily="34" charset="0"/>
            </a:endParaRPr>
          </a:p>
          <a:p>
            <a:pPr algn="just"/>
            <a:r>
              <a:rPr lang="en-US" sz="1600" dirty="0" smtClean="0">
                <a:latin typeface="Lucida Sans" pitchFamily="34" charset="0"/>
              </a:rPr>
              <a:t>card</a:t>
            </a:r>
            <a:r>
              <a:rPr lang="en-US" sz="1600" dirty="0">
                <a:latin typeface="Lucida Sans" pitchFamily="34" charset="0"/>
              </a:rPr>
              <a:t>. </a:t>
            </a:r>
            <a:r>
              <a:rPr lang="en-US" sz="1600" dirty="0" smtClean="0">
                <a:latin typeface="Lucida Sans" pitchFamily="34" charset="0"/>
              </a:rPr>
              <a:t>From </a:t>
            </a:r>
            <a:r>
              <a:rPr lang="en-US" sz="1600" dirty="0">
                <a:latin typeface="Lucida Sans" pitchFamily="34" charset="0"/>
              </a:rPr>
              <a:t>this amount, the merchant will pay $3.50 to the card network, $2 to the payment gateway, </a:t>
            </a:r>
            <a:r>
              <a:rPr lang="en-US" sz="1600" dirty="0" smtClean="0">
                <a:latin typeface="Lucida Sans" pitchFamily="34" charset="0"/>
              </a:rPr>
              <a:t>$</a:t>
            </a:r>
            <a:r>
              <a:rPr lang="en-US" sz="1600" dirty="0">
                <a:latin typeface="Lucida Sans" pitchFamily="34" charset="0"/>
              </a:rPr>
              <a:t>1 to the payment orchestration </a:t>
            </a:r>
            <a:r>
              <a:rPr lang="en-US" sz="1600" dirty="0" smtClean="0">
                <a:latin typeface="Lucida Sans" pitchFamily="34" charset="0"/>
              </a:rPr>
              <a:t>platform (includes ISVs, Payment Processor, PayFacs, POS Providers </a:t>
            </a:r>
            <a:r>
              <a:rPr lang="en-US" sz="1600" dirty="0" err="1" smtClean="0">
                <a:latin typeface="Lucida Sans" pitchFamily="34" charset="0"/>
              </a:rPr>
              <a:t>etc</a:t>
            </a:r>
            <a:r>
              <a:rPr lang="en-US" sz="1600" dirty="0" smtClean="0">
                <a:latin typeface="Lucida Sans" pitchFamily="34" charset="0"/>
              </a:rPr>
              <a:t>), </a:t>
            </a:r>
            <a:r>
              <a:rPr lang="en-US" sz="1600" dirty="0">
                <a:latin typeface="Lucida Sans" pitchFamily="34" charset="0"/>
              </a:rPr>
              <a:t>and $3.50 to the acquiring bank. </a:t>
            </a:r>
            <a:r>
              <a:rPr lang="en-US" sz="1600" dirty="0" smtClean="0">
                <a:latin typeface="Lucida Sans" pitchFamily="34" charset="0"/>
              </a:rPr>
              <a:t>Thus</a:t>
            </a:r>
            <a:r>
              <a:rPr lang="en-US" sz="1600" dirty="0">
                <a:latin typeface="Lucida Sans" pitchFamily="34" charset="0"/>
              </a:rPr>
              <a:t>, a merchant would receive 990$ out of 1000$ paid by the customer. </a:t>
            </a:r>
          </a:p>
          <a:p>
            <a:pPr algn="just"/>
            <a:endParaRPr lang="en-IN" sz="1600" dirty="0">
              <a:latin typeface="Lucida Sans" pitchFamily="34" charset="0"/>
            </a:endParaRPr>
          </a:p>
          <a:p>
            <a:pPr algn="just"/>
            <a:endParaRPr lang="en-IN" sz="1600" dirty="0">
              <a:latin typeface="Lucida Sans" pitchFamily="34" charset="0"/>
            </a:endParaRPr>
          </a:p>
        </p:txBody>
      </p:sp>
      <p:sp>
        <p:nvSpPr>
          <p:cNvPr id="5" name="Rounded Rectangle 4"/>
          <p:cNvSpPr/>
          <p:nvPr/>
        </p:nvSpPr>
        <p:spPr>
          <a:xfrm>
            <a:off x="1907704" y="260648"/>
            <a:ext cx="4968552" cy="792088"/>
          </a:xfrm>
          <a:prstGeom prst="roundRect">
            <a:avLst/>
          </a:prstGeom>
          <a:solidFill>
            <a:srgbClr val="0099C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lumMod val="75000"/>
                    <a:lumOff val="25000"/>
                  </a:schemeClr>
                </a:solidFill>
                <a:latin typeface="Lucida Sans" pitchFamily="34" charset="0"/>
              </a:rPr>
              <a:t>Calculating Transaction Discount Rate </a:t>
            </a:r>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652489" y="0"/>
            <a:ext cx="1491511" cy="379520"/>
          </a:xfrm>
          <a:prstGeom prst="rect">
            <a:avLst/>
          </a:prstGeom>
        </p:spPr>
      </p:pic>
    </p:spTree>
    <p:extLst>
      <p:ext uri="{BB962C8B-B14F-4D97-AF65-F5344CB8AC3E}">
        <p14:creationId xmlns:p14="http://schemas.microsoft.com/office/powerpoint/2010/main" val="187090603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5"/>
          <p:cNvSpPr/>
          <p:nvPr/>
        </p:nvSpPr>
        <p:spPr>
          <a:xfrm>
            <a:off x="323526" y="1268760"/>
            <a:ext cx="4536506" cy="43204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TextBox 6"/>
          <p:cNvSpPr txBox="1"/>
          <p:nvPr/>
        </p:nvSpPr>
        <p:spPr>
          <a:xfrm>
            <a:off x="323526" y="1268760"/>
            <a:ext cx="8654933" cy="4832092"/>
          </a:xfrm>
          <a:prstGeom prst="rect">
            <a:avLst/>
          </a:prstGeom>
          <a:noFill/>
        </p:spPr>
        <p:txBody>
          <a:bodyPr wrap="none" rtlCol="0">
            <a:spAutoFit/>
          </a:bodyPr>
          <a:lstStyle/>
          <a:p>
            <a:r>
              <a:rPr lang="en-US" b="1" dirty="0" smtClean="0">
                <a:solidFill>
                  <a:schemeClr val="bg1"/>
                </a:solidFill>
                <a:latin typeface="Lucida Sans" pitchFamily="34" charset="0"/>
              </a:rPr>
              <a:t>Independent Software Vendors(ISVs)</a:t>
            </a:r>
          </a:p>
          <a:p>
            <a:endParaRPr lang="en-US" b="1" dirty="0">
              <a:solidFill>
                <a:schemeClr val="bg1"/>
              </a:solidFill>
              <a:latin typeface="Lucida Sans" pitchFamily="34" charset="0"/>
            </a:endParaRPr>
          </a:p>
          <a:p>
            <a:pPr marL="109728" indent="0">
              <a:buNone/>
            </a:pPr>
            <a:r>
              <a:rPr lang="en-US" sz="1600" dirty="0">
                <a:latin typeface="Lucida Sans" pitchFamily="34" charset="0"/>
              </a:rPr>
              <a:t>	These are the companies that develops and sell </a:t>
            </a:r>
            <a:r>
              <a:rPr lang="en-US" sz="1600" dirty="0" smtClean="0">
                <a:latin typeface="Lucida Sans" pitchFamily="34" charset="0"/>
              </a:rPr>
              <a:t>software </a:t>
            </a:r>
            <a:r>
              <a:rPr lang="en-US" sz="1600" dirty="0">
                <a:latin typeface="Lucida Sans" pitchFamily="34" charset="0"/>
              </a:rPr>
              <a:t>that can </a:t>
            </a:r>
            <a:endParaRPr lang="en-US" sz="1600" dirty="0" smtClean="0">
              <a:latin typeface="Lucida Sans" pitchFamily="34" charset="0"/>
            </a:endParaRPr>
          </a:p>
          <a:p>
            <a:pPr marL="109728" indent="0">
              <a:buNone/>
            </a:pPr>
            <a:r>
              <a:rPr lang="en-US" sz="1600" dirty="0" smtClean="0">
                <a:latin typeface="Lucida Sans" pitchFamily="34" charset="0"/>
              </a:rPr>
              <a:t>integrate </a:t>
            </a:r>
            <a:r>
              <a:rPr lang="en-US" sz="1600" dirty="0">
                <a:latin typeface="Lucida Sans" pitchFamily="34" charset="0"/>
              </a:rPr>
              <a:t>with various payment system and platforms</a:t>
            </a:r>
          </a:p>
          <a:p>
            <a:pPr marL="109728" indent="0">
              <a:buNone/>
            </a:pPr>
            <a:endParaRPr lang="en-US" dirty="0">
              <a:latin typeface="Lucida Sans" pitchFamily="34" charset="0"/>
            </a:endParaRPr>
          </a:p>
          <a:p>
            <a:pPr marL="109728" indent="0">
              <a:buNone/>
            </a:pPr>
            <a:endParaRPr lang="en-US" dirty="0">
              <a:latin typeface="Lucida Sans" pitchFamily="34" charset="0"/>
            </a:endParaRPr>
          </a:p>
          <a:p>
            <a:r>
              <a:rPr lang="en-US" b="1" dirty="0">
                <a:latin typeface="Lucida Sans" pitchFamily="34" charset="0"/>
              </a:rPr>
              <a:t>POS Providers</a:t>
            </a:r>
            <a:r>
              <a:rPr lang="en-US" b="1" dirty="0" smtClean="0">
                <a:latin typeface="Lucida Sans" pitchFamily="34" charset="0"/>
              </a:rPr>
              <a:t>:</a:t>
            </a:r>
          </a:p>
          <a:p>
            <a:endParaRPr lang="en-US" b="1" dirty="0">
              <a:latin typeface="Lucida Sans" pitchFamily="34" charset="0"/>
            </a:endParaRPr>
          </a:p>
          <a:p>
            <a:pPr marL="109728" indent="0">
              <a:buNone/>
            </a:pPr>
            <a:r>
              <a:rPr lang="en-US" sz="1600" dirty="0">
                <a:latin typeface="Lucida Sans" pitchFamily="34" charset="0"/>
              </a:rPr>
              <a:t>	Point-of-Sale providers are the companies that offer hardware and software </a:t>
            </a:r>
            <a:endParaRPr lang="en-US" sz="1600" dirty="0" smtClean="0">
              <a:latin typeface="Lucida Sans" pitchFamily="34" charset="0"/>
            </a:endParaRPr>
          </a:p>
          <a:p>
            <a:pPr marL="109728" indent="0">
              <a:buNone/>
            </a:pPr>
            <a:r>
              <a:rPr lang="en-US" sz="1600" dirty="0" smtClean="0">
                <a:latin typeface="Lucida Sans" pitchFamily="34" charset="0"/>
              </a:rPr>
              <a:t>necessary </a:t>
            </a:r>
            <a:r>
              <a:rPr lang="en-US" sz="1600" dirty="0">
                <a:latin typeface="Lucida Sans" pitchFamily="34" charset="0"/>
              </a:rPr>
              <a:t>for processing transactions at retail locations.</a:t>
            </a:r>
          </a:p>
          <a:p>
            <a:endParaRPr lang="en-US" dirty="0">
              <a:latin typeface="Lucida Sans" pitchFamily="34" charset="0"/>
            </a:endParaRPr>
          </a:p>
          <a:p>
            <a:endParaRPr lang="en-US" dirty="0">
              <a:latin typeface="Lucida Sans" pitchFamily="34" charset="0"/>
            </a:endParaRPr>
          </a:p>
          <a:p>
            <a:r>
              <a:rPr lang="en-US" b="1" dirty="0" smtClean="0">
                <a:latin typeface="Lucida Sans" pitchFamily="34" charset="0"/>
              </a:rPr>
              <a:t>Value </a:t>
            </a:r>
            <a:r>
              <a:rPr lang="en-US" b="1" dirty="0">
                <a:latin typeface="Lucida Sans" pitchFamily="34" charset="0"/>
              </a:rPr>
              <a:t>Added Resellers (VARs</a:t>
            </a:r>
            <a:r>
              <a:rPr lang="en-US" b="1" dirty="0" smtClean="0">
                <a:latin typeface="Lucida Sans" pitchFamily="34" charset="0"/>
              </a:rPr>
              <a:t>):</a:t>
            </a:r>
          </a:p>
          <a:p>
            <a:endParaRPr lang="en-US" b="1" dirty="0">
              <a:latin typeface="Lucida Sans" pitchFamily="34" charset="0"/>
            </a:endParaRPr>
          </a:p>
          <a:p>
            <a:pPr marL="109728" indent="0">
              <a:buNone/>
            </a:pPr>
            <a:r>
              <a:rPr lang="en-US" sz="1600" dirty="0">
                <a:latin typeface="Lucida Sans" pitchFamily="34" charset="0"/>
              </a:rPr>
              <a:t>	Company that resells software, hardware and other products and services </a:t>
            </a:r>
            <a:endParaRPr lang="en-US" sz="1600" dirty="0" smtClean="0">
              <a:latin typeface="Lucida Sans" pitchFamily="34" charset="0"/>
            </a:endParaRPr>
          </a:p>
          <a:p>
            <a:pPr marL="109728" indent="0">
              <a:buNone/>
            </a:pPr>
            <a:r>
              <a:rPr lang="en-US" sz="1600" dirty="0" smtClean="0">
                <a:latin typeface="Lucida Sans" pitchFamily="34" charset="0"/>
              </a:rPr>
              <a:t>that </a:t>
            </a:r>
            <a:r>
              <a:rPr lang="en-US" sz="1600" dirty="0">
                <a:latin typeface="Lucida Sans" pitchFamily="34" charset="0"/>
              </a:rPr>
              <a:t>customize third-party products in an effort to add value and resell them with </a:t>
            </a:r>
            <a:endParaRPr lang="en-US" sz="1600" dirty="0" smtClean="0">
              <a:latin typeface="Lucida Sans" pitchFamily="34" charset="0"/>
            </a:endParaRPr>
          </a:p>
          <a:p>
            <a:pPr marL="109728" indent="0">
              <a:buNone/>
            </a:pPr>
            <a:r>
              <a:rPr lang="en-US" sz="1600" dirty="0" smtClean="0">
                <a:latin typeface="Lucida Sans" pitchFamily="34" charset="0"/>
              </a:rPr>
              <a:t>additional </a:t>
            </a:r>
            <a:r>
              <a:rPr lang="en-US" sz="1600" dirty="0">
                <a:latin typeface="Lucida Sans" pitchFamily="34" charset="0"/>
              </a:rPr>
              <a:t>offerings bundled in.</a:t>
            </a:r>
          </a:p>
          <a:p>
            <a:endParaRPr lang="en-IN" sz="1600" dirty="0">
              <a:latin typeface="Lucida Sans" pitchFamily="34" charset="0"/>
            </a:endParaRPr>
          </a:p>
        </p:txBody>
      </p:sp>
      <p:sp>
        <p:nvSpPr>
          <p:cNvPr id="3" name="Rounded Rectangle 2"/>
          <p:cNvSpPr/>
          <p:nvPr/>
        </p:nvSpPr>
        <p:spPr>
          <a:xfrm>
            <a:off x="2994809" y="189760"/>
            <a:ext cx="3312368" cy="79208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smtClean="0">
                <a:solidFill>
                  <a:schemeClr val="tx1">
                    <a:lumMod val="75000"/>
                    <a:lumOff val="25000"/>
                  </a:schemeClr>
                </a:solidFill>
              </a:rPr>
              <a:t>Other Entities</a:t>
            </a:r>
            <a:endParaRPr lang="en-IN" sz="2800" dirty="0">
              <a:solidFill>
                <a:schemeClr val="tx1">
                  <a:lumMod val="75000"/>
                  <a:lumOff val="25000"/>
                </a:schemeClr>
              </a:solidFill>
            </a:endParaRPr>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652489" y="0"/>
            <a:ext cx="1491511" cy="379520"/>
          </a:xfrm>
          <a:prstGeom prst="rect">
            <a:avLst/>
          </a:prstGeom>
        </p:spPr>
      </p:pic>
      <p:sp>
        <p:nvSpPr>
          <p:cNvPr id="8" name="Rounded Rectangle 7"/>
          <p:cNvSpPr/>
          <p:nvPr/>
        </p:nvSpPr>
        <p:spPr>
          <a:xfrm>
            <a:off x="356214" y="2780928"/>
            <a:ext cx="4536506" cy="43204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t>POS Providers</a:t>
            </a:r>
            <a:endParaRPr lang="en-IN" b="1" dirty="0"/>
          </a:p>
        </p:txBody>
      </p:sp>
      <p:sp>
        <p:nvSpPr>
          <p:cNvPr id="10" name="Rounded Rectangle 9"/>
          <p:cNvSpPr/>
          <p:nvPr/>
        </p:nvSpPr>
        <p:spPr>
          <a:xfrm>
            <a:off x="319802" y="4437112"/>
            <a:ext cx="4536506" cy="43204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t>Value Added Resellers (VARs)</a:t>
            </a:r>
            <a:endParaRPr lang="en-IN" b="1" dirty="0"/>
          </a:p>
        </p:txBody>
      </p:sp>
    </p:spTree>
    <p:extLst>
      <p:ext uri="{BB962C8B-B14F-4D97-AF65-F5344CB8AC3E}">
        <p14:creationId xmlns:p14="http://schemas.microsoft.com/office/powerpoint/2010/main" val="2040386714"/>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p:cNvSpPr/>
          <p:nvPr/>
        </p:nvSpPr>
        <p:spPr>
          <a:xfrm>
            <a:off x="2216848" y="142925"/>
            <a:ext cx="4819458" cy="720080"/>
          </a:xfrm>
          <a:prstGeom prst="roundRect">
            <a:avLst/>
          </a:prstGeom>
          <a:solidFill>
            <a:srgbClr val="0099C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smtClean="0">
                <a:solidFill>
                  <a:schemeClr val="tx1">
                    <a:lumMod val="75000"/>
                    <a:lumOff val="25000"/>
                  </a:schemeClr>
                </a:solidFill>
                <a:latin typeface="Lucida Sans" pitchFamily="34" charset="0"/>
              </a:rPr>
              <a:t>Independent Software Vendors (ISVs)</a:t>
            </a:r>
            <a:endParaRPr lang="en-IN" sz="2000" dirty="0">
              <a:solidFill>
                <a:schemeClr val="tx1">
                  <a:lumMod val="75000"/>
                  <a:lumOff val="25000"/>
                </a:schemeClr>
              </a:solidFill>
              <a:latin typeface="Lucida Sans" pitchFamily="34" charset="0"/>
            </a:endParaRPr>
          </a:p>
        </p:txBody>
      </p:sp>
      <p:sp>
        <p:nvSpPr>
          <p:cNvPr id="5" name="TextBox 4"/>
          <p:cNvSpPr txBox="1"/>
          <p:nvPr/>
        </p:nvSpPr>
        <p:spPr>
          <a:xfrm>
            <a:off x="202274" y="1139463"/>
            <a:ext cx="9034846" cy="830997"/>
          </a:xfrm>
          <a:prstGeom prst="rect">
            <a:avLst/>
          </a:prstGeom>
          <a:noFill/>
        </p:spPr>
        <p:txBody>
          <a:bodyPr wrap="none" rtlCol="0">
            <a:spAutoFit/>
          </a:bodyPr>
          <a:lstStyle/>
          <a:p>
            <a:r>
              <a:rPr lang="en-US" sz="1600" dirty="0" smtClean="0">
                <a:latin typeface="Lucida Sans" pitchFamily="34" charset="0"/>
              </a:rPr>
              <a:t>ISVs</a:t>
            </a:r>
            <a:r>
              <a:rPr lang="en-US" sz="1600" dirty="0">
                <a:latin typeface="Lucida Sans" pitchFamily="34" charset="0"/>
              </a:rPr>
              <a:t>, or Independent Software Vendors, are businesses that develop and distribute </a:t>
            </a:r>
            <a:endParaRPr lang="en-US" sz="1600" dirty="0" smtClean="0">
              <a:latin typeface="Lucida Sans" pitchFamily="34" charset="0"/>
            </a:endParaRPr>
          </a:p>
          <a:p>
            <a:r>
              <a:rPr lang="en-US" sz="1600" dirty="0" smtClean="0">
                <a:latin typeface="Lucida Sans" pitchFamily="34" charset="0"/>
              </a:rPr>
              <a:t>software </a:t>
            </a:r>
            <a:r>
              <a:rPr lang="en-US" sz="1600" dirty="0">
                <a:latin typeface="Lucida Sans" pitchFamily="34" charset="0"/>
              </a:rPr>
              <a:t>products to end-users. They operate independently of hardware manufacturers </a:t>
            </a:r>
            <a:endParaRPr lang="en-US" sz="1600" dirty="0" smtClean="0">
              <a:latin typeface="Lucida Sans" pitchFamily="34" charset="0"/>
            </a:endParaRPr>
          </a:p>
          <a:p>
            <a:r>
              <a:rPr lang="en-US" sz="1600" dirty="0" smtClean="0">
                <a:latin typeface="Lucida Sans" pitchFamily="34" charset="0"/>
              </a:rPr>
              <a:t>or </a:t>
            </a:r>
            <a:r>
              <a:rPr lang="en-US" sz="1600" dirty="0">
                <a:latin typeface="Lucida Sans" pitchFamily="34" charset="0"/>
              </a:rPr>
              <a:t>platform providers, but collaborations with these entities are feasible. </a:t>
            </a:r>
            <a:endParaRPr lang="en-IN" sz="1600" dirty="0">
              <a:latin typeface="Lucida Sans" pitchFamily="34" charset="0"/>
            </a:endParaRPr>
          </a:p>
        </p:txBody>
      </p:sp>
      <p:sp>
        <p:nvSpPr>
          <p:cNvPr id="6" name="TextBox 5"/>
          <p:cNvSpPr txBox="1"/>
          <p:nvPr/>
        </p:nvSpPr>
        <p:spPr>
          <a:xfrm>
            <a:off x="200624" y="2165869"/>
            <a:ext cx="8964487" cy="1815882"/>
          </a:xfrm>
          <a:prstGeom prst="rect">
            <a:avLst/>
          </a:prstGeom>
          <a:noFill/>
        </p:spPr>
        <p:txBody>
          <a:bodyPr wrap="square" rtlCol="0">
            <a:spAutoFit/>
          </a:bodyPr>
          <a:lstStyle/>
          <a:p>
            <a:r>
              <a:rPr lang="en-US" sz="1600" b="1" dirty="0" smtClean="0">
                <a:latin typeface="Lucida Sans" pitchFamily="34" charset="0"/>
              </a:rPr>
              <a:t>How ISVs generates revenue?</a:t>
            </a:r>
          </a:p>
          <a:p>
            <a:endParaRPr lang="en-US" sz="1600" dirty="0">
              <a:latin typeface="Lucida Sans" pitchFamily="34" charset="0"/>
            </a:endParaRPr>
          </a:p>
          <a:p>
            <a:r>
              <a:rPr lang="en-US" sz="1600" dirty="0">
                <a:latin typeface="Lucida Sans" pitchFamily="34" charset="0"/>
              </a:rPr>
              <a:t>ISVs generate revenue through software licensing via </a:t>
            </a:r>
            <a:r>
              <a:rPr lang="en-US" sz="1600" i="1" dirty="0">
                <a:latin typeface="Lucida Sans" pitchFamily="34" charset="0"/>
              </a:rPr>
              <a:t>subscription </a:t>
            </a:r>
            <a:r>
              <a:rPr lang="en-US" sz="1600" dirty="0">
                <a:latin typeface="Lucida Sans" pitchFamily="34" charset="0"/>
              </a:rPr>
              <a:t>or </a:t>
            </a:r>
            <a:r>
              <a:rPr lang="en-US" sz="1600" i="1" dirty="0">
                <a:latin typeface="Lucida Sans" pitchFamily="34" charset="0"/>
              </a:rPr>
              <a:t>one-time </a:t>
            </a:r>
            <a:r>
              <a:rPr lang="en-US" sz="1600" i="1" dirty="0" smtClean="0">
                <a:latin typeface="Lucida Sans" pitchFamily="34" charset="0"/>
              </a:rPr>
              <a:t>purchase</a:t>
            </a:r>
            <a:r>
              <a:rPr lang="en-US" sz="1600" i="1" dirty="0">
                <a:latin typeface="Lucida Sans" pitchFamily="34" charset="0"/>
              </a:rPr>
              <a:t>.</a:t>
            </a:r>
            <a:r>
              <a:rPr lang="en-US" sz="1600" dirty="0">
                <a:latin typeface="Lucida Sans" pitchFamily="34" charset="0"/>
              </a:rPr>
              <a:t> </a:t>
            </a:r>
            <a:endParaRPr lang="en-US" sz="1600" dirty="0" smtClean="0">
              <a:latin typeface="Lucida Sans" pitchFamily="34" charset="0"/>
            </a:endParaRPr>
          </a:p>
          <a:p>
            <a:r>
              <a:rPr lang="en-US" sz="1600" dirty="0" smtClean="0">
                <a:latin typeface="Lucida Sans" pitchFamily="34" charset="0"/>
              </a:rPr>
              <a:t>That means either through upfront </a:t>
            </a:r>
            <a:r>
              <a:rPr lang="en-US" sz="1600" dirty="0">
                <a:latin typeface="Lucida Sans" pitchFamily="34" charset="0"/>
              </a:rPr>
              <a:t>payments or recurring maintenance </a:t>
            </a:r>
            <a:r>
              <a:rPr lang="en-US" sz="1600" dirty="0" smtClean="0">
                <a:latin typeface="Lucida Sans" pitchFamily="34" charset="0"/>
              </a:rPr>
              <a:t>contracts.</a:t>
            </a:r>
          </a:p>
          <a:p>
            <a:r>
              <a:rPr lang="en-US" sz="1600" dirty="0" smtClean="0">
                <a:latin typeface="Lucida Sans" pitchFamily="34" charset="0"/>
              </a:rPr>
              <a:t>As </a:t>
            </a:r>
            <a:r>
              <a:rPr lang="en-US" sz="1600" dirty="0">
                <a:latin typeface="Lucida Sans" pitchFamily="34" charset="0"/>
              </a:rPr>
              <a:t>an example, </a:t>
            </a:r>
            <a:r>
              <a:rPr lang="en-US" sz="1600" b="1" dirty="0">
                <a:latin typeface="Lucida Sans" pitchFamily="34" charset="0"/>
              </a:rPr>
              <a:t>Intuit software </a:t>
            </a:r>
            <a:r>
              <a:rPr lang="en-US" sz="1600" dirty="0">
                <a:latin typeface="Lucida Sans" pitchFamily="34" charset="0"/>
              </a:rPr>
              <a:t>operates on a subscription-based model, which users pay for on a </a:t>
            </a:r>
            <a:r>
              <a:rPr lang="en-US" sz="1600" dirty="0" smtClean="0">
                <a:latin typeface="Lucida Sans" pitchFamily="34" charset="0"/>
              </a:rPr>
              <a:t>monthly </a:t>
            </a:r>
            <a:r>
              <a:rPr lang="en-US" sz="1600" dirty="0">
                <a:latin typeface="Lucida Sans" pitchFamily="34" charset="0"/>
              </a:rPr>
              <a:t>or annual basis. While </a:t>
            </a:r>
            <a:r>
              <a:rPr lang="en-US" sz="1600" b="1" dirty="0">
                <a:latin typeface="Lucida Sans" pitchFamily="34" charset="0"/>
              </a:rPr>
              <a:t>Autodesk</a:t>
            </a:r>
            <a:r>
              <a:rPr lang="en-US" sz="1600" dirty="0">
                <a:latin typeface="Lucida Sans" pitchFamily="34" charset="0"/>
              </a:rPr>
              <a:t> allows subscriptions and one-time purchases for </a:t>
            </a:r>
            <a:r>
              <a:rPr lang="en-US" sz="1600" dirty="0" smtClean="0">
                <a:latin typeface="Lucida Sans" pitchFamily="34" charset="0"/>
              </a:rPr>
              <a:t>permanent </a:t>
            </a:r>
            <a:r>
              <a:rPr lang="en-US" sz="1600" dirty="0">
                <a:latin typeface="Lucida Sans" pitchFamily="34" charset="0"/>
              </a:rPr>
              <a:t>software access. </a:t>
            </a:r>
            <a:endParaRPr lang="en-IN" sz="1600" dirty="0">
              <a:latin typeface="Lucida Sans" pitchFamily="34" charset="0"/>
            </a:endParaRPr>
          </a:p>
        </p:txBody>
      </p:sp>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84378" y="4640050"/>
            <a:ext cx="1312540" cy="1312540"/>
          </a:xfrm>
          <a:prstGeom prst="rect">
            <a:avLst/>
          </a:prstGeom>
        </p:spPr>
      </p:pic>
      <p:pic>
        <p:nvPicPr>
          <p:cNvPr id="9" name="Picture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38250" y="5079080"/>
            <a:ext cx="2992709" cy="678432"/>
          </a:xfrm>
          <a:prstGeom prst="rect">
            <a:avLst/>
          </a:prstGeom>
        </p:spPr>
      </p:pic>
      <p:pic>
        <p:nvPicPr>
          <p:cNvPr id="10" name="Picture 9"/>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360864" y="4523840"/>
            <a:ext cx="1544960" cy="1544960"/>
          </a:xfrm>
          <a:prstGeom prst="rect">
            <a:avLst/>
          </a:prstGeom>
        </p:spPr>
      </p:pic>
      <p:pic>
        <p:nvPicPr>
          <p:cNvPr id="11" name="Picture 10"/>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88656" y="4523840"/>
            <a:ext cx="1368152" cy="1368152"/>
          </a:xfrm>
          <a:prstGeom prst="rect">
            <a:avLst/>
          </a:prstGeom>
        </p:spPr>
      </p:pic>
      <p:pic>
        <p:nvPicPr>
          <p:cNvPr id="12" name="Picture 11"/>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7652489" y="0"/>
            <a:ext cx="1491511" cy="379520"/>
          </a:xfrm>
          <a:prstGeom prst="rect">
            <a:avLst/>
          </a:prstGeom>
        </p:spPr>
      </p:pic>
    </p:spTree>
    <p:extLst>
      <p:ext uri="{BB962C8B-B14F-4D97-AF65-F5344CB8AC3E}">
        <p14:creationId xmlns:p14="http://schemas.microsoft.com/office/powerpoint/2010/main" val="4211519578"/>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p:cNvSpPr/>
          <p:nvPr/>
        </p:nvSpPr>
        <p:spPr>
          <a:xfrm>
            <a:off x="3024167" y="215597"/>
            <a:ext cx="3073395" cy="482220"/>
          </a:xfrm>
          <a:prstGeom prst="roundRect">
            <a:avLst/>
          </a:prstGeom>
          <a:solidFill>
            <a:srgbClr val="0099C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smtClean="0">
                <a:solidFill>
                  <a:schemeClr val="tx1">
                    <a:lumMod val="75000"/>
                    <a:lumOff val="25000"/>
                  </a:schemeClr>
                </a:solidFill>
                <a:latin typeface="Lucida Sans" pitchFamily="34" charset="0"/>
              </a:rPr>
              <a:t>POS Providers</a:t>
            </a:r>
            <a:endParaRPr lang="en-IN" sz="2400" dirty="0">
              <a:solidFill>
                <a:schemeClr val="tx1">
                  <a:lumMod val="75000"/>
                  <a:lumOff val="25000"/>
                </a:schemeClr>
              </a:solidFill>
              <a:latin typeface="Lucida Sans" pitchFamily="34" charset="0"/>
            </a:endParaRPr>
          </a:p>
        </p:txBody>
      </p:sp>
      <p:sp>
        <p:nvSpPr>
          <p:cNvPr id="5" name="TextBox 4"/>
          <p:cNvSpPr txBox="1"/>
          <p:nvPr/>
        </p:nvSpPr>
        <p:spPr>
          <a:xfrm>
            <a:off x="107503" y="1005757"/>
            <a:ext cx="8906725" cy="1077218"/>
          </a:xfrm>
          <a:prstGeom prst="rect">
            <a:avLst/>
          </a:prstGeom>
          <a:noFill/>
        </p:spPr>
        <p:txBody>
          <a:bodyPr wrap="square" rtlCol="0">
            <a:spAutoFit/>
          </a:bodyPr>
          <a:lstStyle/>
          <a:p>
            <a:pPr algn="just"/>
            <a:r>
              <a:rPr lang="en-US" sz="1600" dirty="0">
                <a:latin typeface="Lucida Sans" pitchFamily="34" charset="0"/>
              </a:rPr>
              <a:t>A POS system, or point-of-sale system, is a combination of hardware, software and payment </a:t>
            </a:r>
            <a:r>
              <a:rPr lang="en-US" sz="1600" dirty="0" smtClean="0">
                <a:latin typeface="Lucida Sans" pitchFamily="34" charset="0"/>
              </a:rPr>
              <a:t>services </a:t>
            </a:r>
            <a:r>
              <a:rPr lang="en-US" sz="1600" dirty="0">
                <a:latin typeface="Lucida Sans" pitchFamily="34" charset="0"/>
              </a:rPr>
              <a:t>that businesses use to make sales. And as its name implies, this system exists at </a:t>
            </a:r>
            <a:r>
              <a:rPr lang="en-US" sz="1600" dirty="0" smtClean="0">
                <a:latin typeface="Lucida Sans" pitchFamily="34" charset="0"/>
              </a:rPr>
              <a:t>the physical </a:t>
            </a:r>
            <a:r>
              <a:rPr lang="en-US" sz="1600" dirty="0">
                <a:latin typeface="Lucida Sans" pitchFamily="34" charset="0"/>
              </a:rPr>
              <a:t>or virtual point of sale. Online-only businesses, however, do not require hardware </a:t>
            </a:r>
            <a:r>
              <a:rPr lang="en-US" sz="1600" dirty="0" smtClean="0">
                <a:latin typeface="Lucida Sans" pitchFamily="34" charset="0"/>
              </a:rPr>
              <a:t>to complete </a:t>
            </a:r>
            <a:r>
              <a:rPr lang="en-US" sz="1600" dirty="0">
                <a:latin typeface="Lucida Sans" pitchFamily="34" charset="0"/>
              </a:rPr>
              <a:t>their POS systems.</a:t>
            </a:r>
            <a:endParaRPr lang="en-IN" sz="1600" dirty="0">
              <a:latin typeface="Lucida Sans" pitchFamily="34" charset="0"/>
            </a:endParaRPr>
          </a:p>
        </p:txBody>
      </p:sp>
      <p:sp>
        <p:nvSpPr>
          <p:cNvPr id="8" name="TextBox 7"/>
          <p:cNvSpPr txBox="1"/>
          <p:nvPr/>
        </p:nvSpPr>
        <p:spPr>
          <a:xfrm>
            <a:off x="107867" y="2373909"/>
            <a:ext cx="8906725" cy="1877437"/>
          </a:xfrm>
          <a:prstGeom prst="rect">
            <a:avLst/>
          </a:prstGeom>
          <a:noFill/>
        </p:spPr>
        <p:txBody>
          <a:bodyPr wrap="square" rtlCol="0">
            <a:spAutoFit/>
          </a:bodyPr>
          <a:lstStyle/>
          <a:p>
            <a:pPr algn="just"/>
            <a:r>
              <a:rPr lang="en-US" sz="1600" b="1" dirty="0" smtClean="0">
                <a:latin typeface="Lucida Sans" pitchFamily="34" charset="0"/>
              </a:rPr>
              <a:t>Business model of POS devices:</a:t>
            </a:r>
          </a:p>
          <a:p>
            <a:pPr algn="just"/>
            <a:endParaRPr lang="en-US" sz="1600" dirty="0" smtClean="0">
              <a:latin typeface="Lucida Sans" pitchFamily="34" charset="0"/>
            </a:endParaRPr>
          </a:p>
          <a:p>
            <a:pPr algn="just"/>
            <a:r>
              <a:rPr lang="en-US" sz="1400" dirty="0" smtClean="0">
                <a:latin typeface="Lucida Sans" pitchFamily="34" charset="0"/>
              </a:rPr>
              <a:t>There are several </a:t>
            </a:r>
            <a:r>
              <a:rPr lang="en-US" sz="1400" dirty="0">
                <a:latin typeface="Lucida Sans" pitchFamily="34" charset="0"/>
              </a:rPr>
              <a:t>types of POS devices that merchants can use to accept electronic payments. </a:t>
            </a:r>
            <a:r>
              <a:rPr lang="en-US" sz="1400" dirty="0" smtClean="0">
                <a:latin typeface="Lucida Sans" pitchFamily="34" charset="0"/>
              </a:rPr>
              <a:t>These </a:t>
            </a:r>
            <a:r>
              <a:rPr lang="en-US" sz="1400" dirty="0">
                <a:latin typeface="Lucida Sans" pitchFamily="34" charset="0"/>
              </a:rPr>
              <a:t>devices range from basic countertop terminals to more advanced mobile and wireless </a:t>
            </a:r>
            <a:r>
              <a:rPr lang="en-US" sz="1400" dirty="0" smtClean="0">
                <a:latin typeface="Lucida Sans" pitchFamily="34" charset="0"/>
              </a:rPr>
              <a:t>solutions</a:t>
            </a:r>
            <a:r>
              <a:rPr lang="en-US" sz="1400" dirty="0">
                <a:latin typeface="Lucida Sans" pitchFamily="34" charset="0"/>
              </a:rPr>
              <a:t>. The company charges a transaction fee for each payment processed through its </a:t>
            </a:r>
            <a:r>
              <a:rPr lang="en-US" sz="1400" dirty="0" smtClean="0">
                <a:latin typeface="Lucida Sans" pitchFamily="34" charset="0"/>
              </a:rPr>
              <a:t>POS </a:t>
            </a:r>
            <a:r>
              <a:rPr lang="en-US" sz="1400" dirty="0">
                <a:latin typeface="Lucida Sans" pitchFamily="34" charset="0"/>
              </a:rPr>
              <a:t>devices. The fee is typically a percentage of the transaction value, ranging from 0.5% to 2%, </a:t>
            </a:r>
            <a:r>
              <a:rPr lang="en-US" sz="1400" dirty="0" smtClean="0">
                <a:latin typeface="Lucida Sans" pitchFamily="34" charset="0"/>
              </a:rPr>
              <a:t>depending </a:t>
            </a:r>
            <a:r>
              <a:rPr lang="en-US" sz="1400" dirty="0">
                <a:latin typeface="Lucida Sans" pitchFamily="34" charset="0"/>
              </a:rPr>
              <a:t>on the payment type and the merchant’s pricing plan. </a:t>
            </a:r>
            <a:r>
              <a:rPr lang="en-US" sz="1400" dirty="0" smtClean="0">
                <a:latin typeface="Lucida Sans" pitchFamily="34" charset="0"/>
              </a:rPr>
              <a:t>Some POS providers also charges </a:t>
            </a:r>
            <a:r>
              <a:rPr lang="en-US" sz="1400" dirty="0">
                <a:latin typeface="Lucida Sans" pitchFamily="34" charset="0"/>
              </a:rPr>
              <a:t>a fixed </a:t>
            </a:r>
            <a:r>
              <a:rPr lang="en-US" sz="1400" dirty="0" smtClean="0">
                <a:latin typeface="Lucida Sans" pitchFamily="34" charset="0"/>
              </a:rPr>
              <a:t>monthly </a:t>
            </a:r>
            <a:r>
              <a:rPr lang="en-US" sz="1400" dirty="0">
                <a:latin typeface="Lucida Sans" pitchFamily="34" charset="0"/>
              </a:rPr>
              <a:t>rental fee for its POS devices.</a:t>
            </a:r>
            <a:endParaRPr lang="en-IN" sz="1400" dirty="0">
              <a:latin typeface="Lucida Sans" pitchFamily="34" charset="0"/>
            </a:endParaRPr>
          </a:p>
        </p:txBody>
      </p:sp>
      <p:pic>
        <p:nvPicPr>
          <p:cNvPr id="9" name="Picture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62707" y="4917453"/>
            <a:ext cx="1873778" cy="985245"/>
          </a:xfrm>
          <a:prstGeom prst="rect">
            <a:avLst/>
          </a:prstGeom>
        </p:spPr>
      </p:pic>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30200" y="4966197"/>
            <a:ext cx="3227446" cy="936501"/>
          </a:xfrm>
          <a:prstGeom prst="rect">
            <a:avLst/>
          </a:prstGeom>
        </p:spPr>
      </p:pic>
      <p:pic>
        <p:nvPicPr>
          <p:cNvPr id="12" name="Picture 1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67544" y="4908500"/>
            <a:ext cx="1902478" cy="994198"/>
          </a:xfrm>
          <a:prstGeom prst="rect">
            <a:avLst/>
          </a:prstGeom>
        </p:spPr>
      </p:pic>
      <p:pic>
        <p:nvPicPr>
          <p:cNvPr id="10" name="Picture 9"/>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220071" y="4634110"/>
            <a:ext cx="1437586" cy="1437586"/>
          </a:xfrm>
          <a:prstGeom prst="rect">
            <a:avLst/>
          </a:prstGeom>
        </p:spPr>
      </p:pic>
      <p:pic>
        <p:nvPicPr>
          <p:cNvPr id="13" name="Picture 12"/>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7652489" y="0"/>
            <a:ext cx="1491511" cy="379520"/>
          </a:xfrm>
          <a:prstGeom prst="rect">
            <a:avLst/>
          </a:prstGeom>
        </p:spPr>
      </p:pic>
    </p:spTree>
    <p:extLst>
      <p:ext uri="{BB962C8B-B14F-4D97-AF65-F5344CB8AC3E}">
        <p14:creationId xmlns:p14="http://schemas.microsoft.com/office/powerpoint/2010/main" val="3245498069"/>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p:cNvSpPr/>
          <p:nvPr/>
        </p:nvSpPr>
        <p:spPr>
          <a:xfrm>
            <a:off x="2937622" y="116632"/>
            <a:ext cx="3140612" cy="504056"/>
          </a:xfrm>
          <a:prstGeom prst="roundRect">
            <a:avLst/>
          </a:prstGeom>
          <a:solidFill>
            <a:srgbClr val="0099C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smtClean="0">
                <a:solidFill>
                  <a:schemeClr val="tx1">
                    <a:lumMod val="75000"/>
                    <a:lumOff val="25000"/>
                  </a:schemeClr>
                </a:solidFill>
                <a:latin typeface="Lucida Sans" pitchFamily="34" charset="0"/>
              </a:rPr>
              <a:t>Value Added Resellers</a:t>
            </a:r>
            <a:endParaRPr lang="en-IN" sz="2000" dirty="0">
              <a:solidFill>
                <a:schemeClr val="tx1">
                  <a:lumMod val="75000"/>
                  <a:lumOff val="25000"/>
                </a:schemeClr>
              </a:solidFill>
              <a:latin typeface="Lucida Sans" pitchFamily="34" charset="0"/>
            </a:endParaRPr>
          </a:p>
        </p:txBody>
      </p:sp>
      <p:sp>
        <p:nvSpPr>
          <p:cNvPr id="5" name="TextBox 4"/>
          <p:cNvSpPr txBox="1"/>
          <p:nvPr/>
        </p:nvSpPr>
        <p:spPr>
          <a:xfrm>
            <a:off x="54565" y="764704"/>
            <a:ext cx="8906725" cy="954107"/>
          </a:xfrm>
          <a:prstGeom prst="rect">
            <a:avLst/>
          </a:prstGeom>
          <a:noFill/>
        </p:spPr>
        <p:txBody>
          <a:bodyPr wrap="square" rtlCol="0">
            <a:spAutoFit/>
          </a:bodyPr>
          <a:lstStyle/>
          <a:p>
            <a:pPr algn="just"/>
            <a:r>
              <a:rPr lang="en-US" sz="1400" dirty="0">
                <a:latin typeface="Lucida Sans" pitchFamily="34" charset="0"/>
              </a:rPr>
              <a:t>A </a:t>
            </a:r>
            <a:r>
              <a:rPr lang="en-US" sz="1400" dirty="0" smtClean="0">
                <a:latin typeface="Lucida Sans" pitchFamily="34" charset="0"/>
              </a:rPr>
              <a:t>Value-Added </a:t>
            </a:r>
            <a:r>
              <a:rPr lang="en-US" sz="1400" dirty="0">
                <a:latin typeface="Lucida Sans" pitchFamily="34" charset="0"/>
              </a:rPr>
              <a:t>R</a:t>
            </a:r>
            <a:r>
              <a:rPr lang="en-US" sz="1400" dirty="0" smtClean="0">
                <a:latin typeface="Lucida Sans" pitchFamily="34" charset="0"/>
              </a:rPr>
              <a:t>eseller </a:t>
            </a:r>
            <a:r>
              <a:rPr lang="en-US" sz="1400" dirty="0">
                <a:latin typeface="Lucida Sans" pitchFamily="34" charset="0"/>
              </a:rPr>
              <a:t>(VAR) is a business or entity that acts as a middleman between a manufacturer and end customers. The VAR buys products from the manufacturer and then resells them to its customers, adding value by offering additional services, support, and customization</a:t>
            </a:r>
            <a:r>
              <a:rPr lang="en-US" sz="1400" dirty="0" smtClean="0">
                <a:latin typeface="Lucida Sans" pitchFamily="34" charset="0"/>
              </a:rPr>
              <a:t>.</a:t>
            </a:r>
          </a:p>
          <a:p>
            <a:pPr algn="just"/>
            <a:r>
              <a:rPr lang="en-US" sz="1400" b="1" dirty="0" smtClean="0">
                <a:latin typeface="Lucida Sans" pitchFamily="34" charset="0"/>
              </a:rPr>
              <a:t>Example</a:t>
            </a:r>
            <a:r>
              <a:rPr lang="en-US" sz="1400" dirty="0" smtClean="0">
                <a:latin typeface="Lucida Sans" pitchFamily="34" charset="0"/>
              </a:rPr>
              <a:t>: AVI-SPL, Servers Direct, CDW, Globenet Internation</a:t>
            </a:r>
            <a:endParaRPr lang="en-IN" sz="1400" dirty="0">
              <a:latin typeface="Lucida Sans" pitchFamily="34" charset="0"/>
            </a:endParaRPr>
          </a:p>
        </p:txBody>
      </p:sp>
      <p:sp>
        <p:nvSpPr>
          <p:cNvPr id="8" name="TextBox 7"/>
          <p:cNvSpPr txBox="1"/>
          <p:nvPr/>
        </p:nvSpPr>
        <p:spPr>
          <a:xfrm>
            <a:off x="54565" y="1799753"/>
            <a:ext cx="8906726" cy="4524315"/>
          </a:xfrm>
          <a:prstGeom prst="rect">
            <a:avLst/>
          </a:prstGeom>
          <a:noFill/>
        </p:spPr>
        <p:txBody>
          <a:bodyPr wrap="square" rtlCol="0">
            <a:spAutoFit/>
          </a:bodyPr>
          <a:lstStyle/>
          <a:p>
            <a:pPr algn="just"/>
            <a:r>
              <a:rPr lang="en-US" sz="1600" b="1" dirty="0" smtClean="0">
                <a:latin typeface="Lucida Sans" pitchFamily="34" charset="0"/>
              </a:rPr>
              <a:t>Business Model of VARs</a:t>
            </a:r>
          </a:p>
          <a:p>
            <a:pPr algn="just"/>
            <a:endParaRPr lang="en-US" sz="1600" dirty="0" smtClean="0">
              <a:latin typeface="Lucida Sans" pitchFamily="34" charset="0"/>
            </a:endParaRPr>
          </a:p>
          <a:p>
            <a:pPr marL="285750" indent="-285750" algn="just">
              <a:buFont typeface="Arial" pitchFamily="34" charset="0"/>
              <a:buChar char="•"/>
            </a:pPr>
            <a:r>
              <a:rPr lang="en-IN" sz="1600" b="1" dirty="0" smtClean="0">
                <a:latin typeface="Lucida Sans" pitchFamily="34" charset="0"/>
              </a:rPr>
              <a:t>Resell </a:t>
            </a:r>
            <a:r>
              <a:rPr lang="en-IN" sz="1600" b="1" dirty="0">
                <a:latin typeface="Lucida Sans" pitchFamily="34" charset="0"/>
              </a:rPr>
              <a:t>Your </a:t>
            </a:r>
            <a:r>
              <a:rPr lang="en-IN" sz="1600" b="1" dirty="0" smtClean="0">
                <a:latin typeface="Lucida Sans" pitchFamily="34" charset="0"/>
              </a:rPr>
              <a:t>Product/Service :</a:t>
            </a:r>
          </a:p>
          <a:p>
            <a:pPr algn="just"/>
            <a:r>
              <a:rPr lang="en-US" sz="1600" b="1" dirty="0" smtClean="0">
                <a:latin typeface="Lucida Sans" pitchFamily="34" charset="0"/>
              </a:rPr>
              <a:t>	</a:t>
            </a:r>
            <a:r>
              <a:rPr lang="en-US" sz="1400" dirty="0" smtClean="0">
                <a:latin typeface="Lucida Sans" pitchFamily="34" charset="0"/>
              </a:rPr>
              <a:t>VARs  purchase </a:t>
            </a:r>
            <a:r>
              <a:rPr lang="en-US" sz="1400" dirty="0">
                <a:latin typeface="Lucida Sans" pitchFamily="34" charset="0"/>
              </a:rPr>
              <a:t>products or services from manufacturers or distributors and resell them to </a:t>
            </a:r>
            <a:r>
              <a:rPr lang="en-US" sz="1400" dirty="0" smtClean="0">
                <a:latin typeface="Lucida Sans" pitchFamily="34" charset="0"/>
              </a:rPr>
              <a:t>their </a:t>
            </a:r>
            <a:r>
              <a:rPr lang="en-US" sz="1400" dirty="0">
                <a:latin typeface="Lucida Sans" pitchFamily="34" charset="0"/>
              </a:rPr>
              <a:t>customers</a:t>
            </a:r>
            <a:endParaRPr lang="en-US" sz="1400" b="1" dirty="0">
              <a:latin typeface="Lucida Sans" pitchFamily="34" charset="0"/>
            </a:endParaRPr>
          </a:p>
          <a:p>
            <a:pPr algn="just"/>
            <a:endParaRPr lang="en-US" sz="1600" b="1" dirty="0" smtClean="0">
              <a:latin typeface="Lucida Sans" pitchFamily="34" charset="0"/>
            </a:endParaRPr>
          </a:p>
          <a:p>
            <a:pPr marL="285750" indent="-285750" algn="just">
              <a:buFont typeface="Arial" pitchFamily="34" charset="0"/>
              <a:buChar char="•"/>
            </a:pPr>
            <a:r>
              <a:rPr lang="en-US" sz="1600" b="1" dirty="0" smtClean="0">
                <a:latin typeface="Lucida Sans" pitchFamily="34" charset="0"/>
              </a:rPr>
              <a:t>Add </a:t>
            </a:r>
            <a:r>
              <a:rPr lang="en-US" sz="1600" b="1" dirty="0">
                <a:latin typeface="Lucida Sans" pitchFamily="34" charset="0"/>
              </a:rPr>
              <a:t>Value to Your </a:t>
            </a:r>
            <a:r>
              <a:rPr lang="en-US" sz="1600" b="1" dirty="0" smtClean="0">
                <a:latin typeface="Lucida Sans" pitchFamily="34" charset="0"/>
              </a:rPr>
              <a:t>Product/Service</a:t>
            </a:r>
          </a:p>
          <a:p>
            <a:pPr algn="just"/>
            <a:r>
              <a:rPr lang="en-US" sz="1400" dirty="0" smtClean="0">
                <a:latin typeface="Lucida Sans" pitchFamily="34" charset="0"/>
              </a:rPr>
              <a:t>	VARs add </a:t>
            </a:r>
            <a:r>
              <a:rPr lang="en-US" sz="1400" dirty="0">
                <a:latin typeface="Lucida Sans" pitchFamily="34" charset="0"/>
              </a:rPr>
              <a:t>value to the products or professional services they resell through various means, </a:t>
            </a:r>
            <a:r>
              <a:rPr lang="en-US" sz="1400" dirty="0" smtClean="0">
                <a:latin typeface="Lucida Sans" pitchFamily="34" charset="0"/>
              </a:rPr>
              <a:t>such </a:t>
            </a:r>
            <a:r>
              <a:rPr lang="en-US" sz="1400" dirty="0">
                <a:latin typeface="Lucida Sans" pitchFamily="34" charset="0"/>
              </a:rPr>
              <a:t>as customization, integration, software installation services</a:t>
            </a:r>
            <a:r>
              <a:rPr lang="en-US" sz="1400" i="1" dirty="0">
                <a:latin typeface="Lucida Sans" pitchFamily="34" charset="0"/>
              </a:rPr>
              <a:t>, </a:t>
            </a:r>
            <a:r>
              <a:rPr lang="en-US" sz="1400" dirty="0">
                <a:latin typeface="Lucida Sans" pitchFamily="34" charset="0"/>
              </a:rPr>
              <a:t>training, or support.</a:t>
            </a:r>
            <a:endParaRPr lang="en-US" sz="1400" b="1" dirty="0">
              <a:latin typeface="Lucida Sans" pitchFamily="34" charset="0"/>
            </a:endParaRPr>
          </a:p>
          <a:p>
            <a:pPr algn="just"/>
            <a:endParaRPr lang="en-US" sz="1600" b="1" dirty="0" smtClean="0">
              <a:latin typeface="Lucida Sans" pitchFamily="34" charset="0"/>
            </a:endParaRPr>
          </a:p>
          <a:p>
            <a:pPr marL="285750" indent="-285750" algn="just">
              <a:buFont typeface="Arial" pitchFamily="34" charset="0"/>
              <a:buChar char="•"/>
            </a:pPr>
            <a:r>
              <a:rPr lang="en-US" sz="1600" b="1" dirty="0" smtClean="0">
                <a:latin typeface="Lucida Sans" pitchFamily="34" charset="0"/>
              </a:rPr>
              <a:t>Maintain </a:t>
            </a:r>
            <a:r>
              <a:rPr lang="en-US" sz="1600" b="1" dirty="0">
                <a:latin typeface="Lucida Sans" pitchFamily="34" charset="0"/>
              </a:rPr>
              <a:t>Their Own </a:t>
            </a:r>
            <a:r>
              <a:rPr lang="en-US" sz="1600" b="1" dirty="0" smtClean="0">
                <a:latin typeface="Lucida Sans" pitchFamily="34" charset="0"/>
              </a:rPr>
              <a:t>Profitability</a:t>
            </a:r>
          </a:p>
          <a:p>
            <a:pPr algn="just"/>
            <a:r>
              <a:rPr lang="en-US" sz="1400" dirty="0" smtClean="0">
                <a:latin typeface="Lucida Sans" pitchFamily="34" charset="0"/>
              </a:rPr>
              <a:t>	VARs must </a:t>
            </a:r>
            <a:r>
              <a:rPr lang="en-US" sz="1400" dirty="0">
                <a:latin typeface="Lucida Sans" pitchFamily="34" charset="0"/>
              </a:rPr>
              <a:t>balance the cost of acquiring products and services with the price they charge customers </a:t>
            </a:r>
            <a:r>
              <a:rPr lang="en-US" sz="1400" dirty="0" smtClean="0">
                <a:latin typeface="Lucida Sans" pitchFamily="34" charset="0"/>
              </a:rPr>
              <a:t>and </a:t>
            </a:r>
            <a:r>
              <a:rPr lang="en-US" sz="1400" dirty="0">
                <a:latin typeface="Lucida Sans" pitchFamily="34" charset="0"/>
              </a:rPr>
              <a:t>find ways to increase revenue and profits through value addition and other means.</a:t>
            </a:r>
            <a:endParaRPr lang="en-US" sz="1400" b="1" dirty="0">
              <a:latin typeface="Lucida Sans" pitchFamily="34" charset="0"/>
            </a:endParaRPr>
          </a:p>
          <a:p>
            <a:pPr algn="just"/>
            <a:endParaRPr lang="en-US" sz="1600" b="1" dirty="0" smtClean="0">
              <a:latin typeface="Lucida Sans" pitchFamily="34" charset="0"/>
            </a:endParaRPr>
          </a:p>
          <a:p>
            <a:pPr marL="285750" indent="-285750" algn="just">
              <a:buFont typeface="Arial" pitchFamily="34" charset="0"/>
              <a:buChar char="•"/>
            </a:pPr>
            <a:r>
              <a:rPr lang="en-US" sz="1600" b="1" dirty="0" smtClean="0">
                <a:latin typeface="Lucida Sans" pitchFamily="34" charset="0"/>
              </a:rPr>
              <a:t>Provide </a:t>
            </a:r>
            <a:r>
              <a:rPr lang="en-US" sz="1600" b="1" dirty="0">
                <a:latin typeface="Lucida Sans" pitchFamily="34" charset="0"/>
              </a:rPr>
              <a:t>Customer Service &amp; </a:t>
            </a:r>
            <a:r>
              <a:rPr lang="en-US" sz="1600" b="1" dirty="0" smtClean="0">
                <a:latin typeface="Lucida Sans" pitchFamily="34" charset="0"/>
              </a:rPr>
              <a:t>Support</a:t>
            </a:r>
          </a:p>
          <a:p>
            <a:pPr algn="just"/>
            <a:r>
              <a:rPr lang="en-US" sz="1400" dirty="0" smtClean="0">
                <a:latin typeface="Lucida Sans" pitchFamily="34" charset="0"/>
              </a:rPr>
              <a:t>	VARs are </a:t>
            </a:r>
            <a:r>
              <a:rPr lang="en-US" sz="1400" dirty="0">
                <a:latin typeface="Lucida Sans" pitchFamily="34" charset="0"/>
              </a:rPr>
              <a:t>responsible for providing ongoing support and customer service to their customers. </a:t>
            </a:r>
            <a:r>
              <a:rPr lang="en-US" sz="1400" dirty="0" smtClean="0">
                <a:latin typeface="Lucida Sans" pitchFamily="34" charset="0"/>
              </a:rPr>
              <a:t>This </a:t>
            </a:r>
            <a:r>
              <a:rPr lang="en-US" sz="1400" dirty="0">
                <a:latin typeface="Lucida Sans" pitchFamily="34" charset="0"/>
              </a:rPr>
              <a:t>helps them build their own customer loyalty and drive repeat business through excellent customer </a:t>
            </a:r>
            <a:r>
              <a:rPr lang="en-US" sz="1400" dirty="0" smtClean="0">
                <a:latin typeface="Lucida Sans" pitchFamily="34" charset="0"/>
              </a:rPr>
              <a:t>experiences</a:t>
            </a:r>
            <a:r>
              <a:rPr lang="en-US" sz="1400" dirty="0">
                <a:latin typeface="Lucida Sans" pitchFamily="34" charset="0"/>
              </a:rPr>
              <a:t>.</a:t>
            </a:r>
            <a:endParaRPr lang="en-US" sz="1400" b="1" dirty="0">
              <a:latin typeface="Lucida Sans" pitchFamily="34" charset="0"/>
            </a:endParaRPr>
          </a:p>
          <a:p>
            <a:pPr algn="just"/>
            <a:endParaRPr lang="en-IN" sz="1600" b="1" dirty="0">
              <a:latin typeface="Lucida Sans" pitchFamily="34" charset="0"/>
            </a:endParaRPr>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652489" y="0"/>
            <a:ext cx="1491511" cy="379520"/>
          </a:xfrm>
          <a:prstGeom prst="rect">
            <a:avLst/>
          </a:prstGeom>
        </p:spPr>
      </p:pic>
    </p:spTree>
    <p:extLst>
      <p:ext uri="{BB962C8B-B14F-4D97-AF65-F5344CB8AC3E}">
        <p14:creationId xmlns:p14="http://schemas.microsoft.com/office/powerpoint/2010/main" val="18614651"/>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p:cNvSpPr/>
          <p:nvPr/>
        </p:nvSpPr>
        <p:spPr>
          <a:xfrm>
            <a:off x="440868" y="547007"/>
            <a:ext cx="8088766" cy="103686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 name="Title 1">
            <a:extLst>
              <a:ext uri="{FF2B5EF4-FFF2-40B4-BE49-F238E27FC236}">
                <a16:creationId xmlns:a16="http://schemas.microsoft.com/office/drawing/2014/main" xmlns="" id="{4D283D38-AA42-5B2E-ADF4-45F3F0B201FF}"/>
              </a:ext>
            </a:extLst>
          </p:cNvPr>
          <p:cNvSpPr>
            <a:spLocks noGrp="1"/>
          </p:cNvSpPr>
          <p:nvPr>
            <p:ph type="title"/>
          </p:nvPr>
        </p:nvSpPr>
        <p:spPr>
          <a:xfrm>
            <a:off x="642938" y="481694"/>
            <a:ext cx="7886700" cy="1120775"/>
          </a:xfrm>
        </p:spPr>
        <p:txBody>
          <a:bodyPr/>
          <a:lstStyle/>
          <a:p>
            <a:pPr marL="0" indent="0" algn="ctr">
              <a:lnSpc>
                <a:spcPts val="5249"/>
              </a:lnSpc>
            </a:pPr>
            <a:r>
              <a:rPr lang="en-US" sz="3600" dirty="0" smtClean="0">
                <a:solidFill>
                  <a:srgbClr val="F5F0F0"/>
                </a:solidFill>
                <a:latin typeface="Asar" pitchFamily="34" charset="0"/>
                <a:ea typeface="Asar" pitchFamily="34" charset="-122"/>
              </a:rPr>
              <a:t>Payment Process overview</a:t>
            </a:r>
            <a:endParaRPr lang="en-US" sz="3600" dirty="0"/>
          </a:p>
        </p:txBody>
      </p:sp>
      <p:sp>
        <p:nvSpPr>
          <p:cNvPr id="3" name="Content Placeholder 2">
            <a:extLst>
              <a:ext uri="{FF2B5EF4-FFF2-40B4-BE49-F238E27FC236}">
                <a16:creationId xmlns:a16="http://schemas.microsoft.com/office/drawing/2014/main" xmlns="" id="{F683723B-F119-4302-BF18-666FE5899D10}"/>
              </a:ext>
            </a:extLst>
          </p:cNvPr>
          <p:cNvSpPr>
            <a:spLocks noGrp="1"/>
          </p:cNvSpPr>
          <p:nvPr>
            <p:ph idx="1"/>
          </p:nvPr>
        </p:nvSpPr>
        <p:spPr>
          <a:xfrm>
            <a:off x="440872" y="2779060"/>
            <a:ext cx="8229600" cy="3582393"/>
          </a:xfrm>
        </p:spPr>
        <p:txBody>
          <a:bodyPr>
            <a:normAutofit/>
          </a:bodyPr>
          <a:lstStyle/>
          <a:p>
            <a:pPr marL="0" indent="0" algn="just">
              <a:lnSpc>
                <a:spcPts val="3110"/>
              </a:lnSpc>
              <a:buNone/>
            </a:pPr>
            <a:r>
              <a:rPr lang="en-US" sz="1800" dirty="0">
                <a:latin typeface="Raleway" pitchFamily="34" charset="0"/>
                <a:ea typeface="Raleway" pitchFamily="34" charset="-122"/>
                <a:cs typeface="Raleway" pitchFamily="34" charset="-120"/>
              </a:rPr>
              <a:t>This presentation provides an overview of the payment process, including the transaction life cycle, revenue sharing, and transaction types. </a:t>
            </a:r>
            <a:endParaRPr lang="en-US" sz="1800" dirty="0" smtClean="0">
              <a:latin typeface="Raleway" pitchFamily="34" charset="0"/>
              <a:ea typeface="Raleway" pitchFamily="34" charset="-122"/>
              <a:cs typeface="Raleway" pitchFamily="34" charset="-120"/>
            </a:endParaRPr>
          </a:p>
          <a:p>
            <a:pPr marL="0" indent="0" algn="just">
              <a:lnSpc>
                <a:spcPts val="3110"/>
              </a:lnSpc>
              <a:buNone/>
            </a:pPr>
            <a:r>
              <a:rPr lang="en-US" sz="1800" dirty="0" smtClean="0">
                <a:latin typeface="Raleway" pitchFamily="34" charset="0"/>
                <a:ea typeface="Raleway" pitchFamily="34" charset="-122"/>
                <a:cs typeface="Raleway" pitchFamily="34" charset="-120"/>
              </a:rPr>
              <a:t>Understanding </a:t>
            </a:r>
            <a:r>
              <a:rPr lang="en-US" sz="1800" dirty="0">
                <a:latin typeface="Raleway" pitchFamily="34" charset="0"/>
                <a:ea typeface="Raleway" pitchFamily="34" charset="-122"/>
                <a:cs typeface="Raleway" pitchFamily="34" charset="-120"/>
              </a:rPr>
              <a:t>these elements is crucial for navigating the payment landscape.</a:t>
            </a:r>
            <a:endParaRPr lang="en-US" sz="1800" dirty="0"/>
          </a:p>
        </p:txBody>
      </p:sp>
      <p:pic>
        <p:nvPicPr>
          <p:cNvPr id="7" name="Google Shape;23;p3"/>
          <p:cNvPicPr preferRelativeResize="0"/>
          <p:nvPr/>
        </p:nvPicPr>
        <p:blipFill rotWithShape="1">
          <a:blip r:embed="rId2">
            <a:alphaModFix/>
          </a:blip>
          <a:srcRect/>
          <a:stretch/>
        </p:blipFill>
        <p:spPr>
          <a:xfrm>
            <a:off x="7775848" y="118105"/>
            <a:ext cx="1220840" cy="321479"/>
          </a:xfrm>
          <a:prstGeom prst="rect">
            <a:avLst/>
          </a:prstGeom>
          <a:noFill/>
          <a:ln>
            <a:noFill/>
          </a:ln>
        </p:spPr>
      </p:pic>
    </p:spTree>
    <p:extLst>
      <p:ext uri="{BB962C8B-B14F-4D97-AF65-F5344CB8AC3E}">
        <p14:creationId xmlns:p14="http://schemas.microsoft.com/office/powerpoint/2010/main" val="158349287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p:cNvSpPr/>
          <p:nvPr/>
        </p:nvSpPr>
        <p:spPr>
          <a:xfrm>
            <a:off x="1340984" y="498021"/>
            <a:ext cx="6815138" cy="66130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 name="Title 1">
            <a:extLst>
              <a:ext uri="{FF2B5EF4-FFF2-40B4-BE49-F238E27FC236}">
                <a16:creationId xmlns:a16="http://schemas.microsoft.com/office/drawing/2014/main" xmlns="" id="{A6D0C247-18C0-0897-6E8C-0FB53434DF94}"/>
              </a:ext>
            </a:extLst>
          </p:cNvPr>
          <p:cNvSpPr>
            <a:spLocks noGrp="1"/>
          </p:cNvSpPr>
          <p:nvPr>
            <p:ph type="title"/>
          </p:nvPr>
        </p:nvSpPr>
        <p:spPr>
          <a:xfrm>
            <a:off x="1340984" y="444951"/>
            <a:ext cx="6984410" cy="767446"/>
          </a:xfrm>
        </p:spPr>
        <p:txBody>
          <a:bodyPr>
            <a:normAutofit/>
          </a:bodyPr>
          <a:lstStyle/>
          <a:p>
            <a:pPr algn="ctr"/>
            <a:r>
              <a:rPr lang="en-US" sz="3200" dirty="0" smtClean="0">
                <a:latin typeface="+mn-lt"/>
              </a:rPr>
              <a:t>Transaction Life Cycle </a:t>
            </a:r>
            <a:endParaRPr lang="en-IN" sz="3200" dirty="0">
              <a:latin typeface="+mn-lt"/>
            </a:endParaRPr>
          </a:p>
        </p:txBody>
      </p:sp>
      <p:sp>
        <p:nvSpPr>
          <p:cNvPr id="5" name="Rounded Rectangle 4"/>
          <p:cNvSpPr/>
          <p:nvPr/>
        </p:nvSpPr>
        <p:spPr>
          <a:xfrm>
            <a:off x="195943" y="1637734"/>
            <a:ext cx="2123675" cy="45312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smtClean="0"/>
              <a:t>Authorization </a:t>
            </a:r>
            <a:endParaRPr lang="en-IN" sz="1400" dirty="0"/>
          </a:p>
        </p:txBody>
      </p:sp>
      <p:sp>
        <p:nvSpPr>
          <p:cNvPr id="6" name="Rounded Rectangle 5"/>
          <p:cNvSpPr/>
          <p:nvPr/>
        </p:nvSpPr>
        <p:spPr>
          <a:xfrm>
            <a:off x="195943" y="2803789"/>
            <a:ext cx="2123675" cy="38632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smtClean="0"/>
              <a:t>Timing</a:t>
            </a:r>
            <a:endParaRPr lang="en-IN" sz="1400" dirty="0"/>
          </a:p>
        </p:txBody>
      </p:sp>
      <p:sp>
        <p:nvSpPr>
          <p:cNvPr id="7" name="Rounded Rectangle 6"/>
          <p:cNvSpPr/>
          <p:nvPr/>
        </p:nvSpPr>
        <p:spPr>
          <a:xfrm>
            <a:off x="195943" y="3846959"/>
            <a:ext cx="2123675" cy="44458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smtClean="0"/>
              <a:t>Settlement </a:t>
            </a:r>
            <a:endParaRPr lang="en-IN" sz="1400" dirty="0"/>
          </a:p>
        </p:txBody>
      </p:sp>
      <p:sp>
        <p:nvSpPr>
          <p:cNvPr id="8" name="Rounded Rectangle 7"/>
          <p:cNvSpPr/>
          <p:nvPr/>
        </p:nvSpPr>
        <p:spPr>
          <a:xfrm>
            <a:off x="195943" y="4938771"/>
            <a:ext cx="2123675" cy="454481"/>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smtClean="0"/>
              <a:t>Timing </a:t>
            </a:r>
            <a:endParaRPr lang="en-IN" sz="1400" dirty="0"/>
          </a:p>
        </p:txBody>
      </p:sp>
      <p:sp>
        <p:nvSpPr>
          <p:cNvPr id="10" name="TextBox 9"/>
          <p:cNvSpPr txBox="1"/>
          <p:nvPr/>
        </p:nvSpPr>
        <p:spPr>
          <a:xfrm>
            <a:off x="2400298" y="1557051"/>
            <a:ext cx="6557962" cy="489878"/>
          </a:xfrm>
          <a:prstGeom prst="rect">
            <a:avLst/>
          </a:prstGeom>
          <a:noFill/>
        </p:spPr>
        <p:txBody>
          <a:bodyPr wrap="square" rtlCol="0">
            <a:spAutoFit/>
          </a:bodyPr>
          <a:lstStyle/>
          <a:p>
            <a:pPr>
              <a:lnSpc>
                <a:spcPts val="3110"/>
              </a:lnSpc>
            </a:pPr>
            <a:r>
              <a:rPr lang="en-US" sz="1400" dirty="0">
                <a:latin typeface="Raleway" pitchFamily="34" charset="0"/>
                <a:ea typeface="Raleway" pitchFamily="34" charset="-122"/>
                <a:cs typeface="Raleway" pitchFamily="34" charset="-120"/>
              </a:rPr>
              <a:t>The bank approves or declines a card transaction.</a:t>
            </a:r>
            <a:endParaRPr lang="en-US" sz="1400" dirty="0"/>
          </a:p>
        </p:txBody>
      </p:sp>
      <p:sp>
        <p:nvSpPr>
          <p:cNvPr id="11" name="TextBox 10"/>
          <p:cNvSpPr txBox="1"/>
          <p:nvPr/>
        </p:nvSpPr>
        <p:spPr>
          <a:xfrm>
            <a:off x="2400300" y="2700239"/>
            <a:ext cx="6441141" cy="489878"/>
          </a:xfrm>
          <a:prstGeom prst="rect">
            <a:avLst/>
          </a:prstGeom>
          <a:noFill/>
        </p:spPr>
        <p:txBody>
          <a:bodyPr wrap="square" rtlCol="0">
            <a:spAutoFit/>
          </a:bodyPr>
          <a:lstStyle/>
          <a:p>
            <a:pPr>
              <a:lnSpc>
                <a:spcPts val="3110"/>
              </a:lnSpc>
            </a:pPr>
            <a:r>
              <a:rPr lang="en-US" sz="1400" dirty="0">
                <a:latin typeface="Raleway" pitchFamily="34" charset="0"/>
                <a:ea typeface="Raleway" pitchFamily="34" charset="-122"/>
                <a:cs typeface="Raleway" pitchFamily="34" charset="-120"/>
              </a:rPr>
              <a:t>This process happens instantly.</a:t>
            </a:r>
            <a:endParaRPr lang="en-US" sz="1400" dirty="0"/>
          </a:p>
        </p:txBody>
      </p:sp>
      <p:sp>
        <p:nvSpPr>
          <p:cNvPr id="12" name="TextBox 11"/>
          <p:cNvSpPr txBox="1"/>
          <p:nvPr/>
        </p:nvSpPr>
        <p:spPr>
          <a:xfrm>
            <a:off x="2400300" y="3710648"/>
            <a:ext cx="6557962" cy="489878"/>
          </a:xfrm>
          <a:prstGeom prst="rect">
            <a:avLst/>
          </a:prstGeom>
          <a:noFill/>
        </p:spPr>
        <p:txBody>
          <a:bodyPr wrap="square" rtlCol="0">
            <a:spAutoFit/>
          </a:bodyPr>
          <a:lstStyle/>
          <a:p>
            <a:pPr>
              <a:lnSpc>
                <a:spcPts val="3110"/>
              </a:lnSpc>
            </a:pPr>
            <a:r>
              <a:rPr lang="en-US" sz="1400" dirty="0">
                <a:latin typeface="Raleway" pitchFamily="34" charset="0"/>
                <a:ea typeface="Raleway" pitchFamily="34" charset="-122"/>
                <a:cs typeface="Raleway" pitchFamily="34" charset="-120"/>
              </a:rPr>
              <a:t>Money moves from the cardholder's bank to the merchant's bank.</a:t>
            </a:r>
            <a:endParaRPr lang="en-US" sz="1400" dirty="0"/>
          </a:p>
        </p:txBody>
      </p:sp>
      <p:sp>
        <p:nvSpPr>
          <p:cNvPr id="13" name="TextBox 12"/>
          <p:cNvSpPr txBox="1"/>
          <p:nvPr/>
        </p:nvSpPr>
        <p:spPr>
          <a:xfrm>
            <a:off x="2476077" y="4869485"/>
            <a:ext cx="5614850" cy="489878"/>
          </a:xfrm>
          <a:prstGeom prst="rect">
            <a:avLst/>
          </a:prstGeom>
          <a:noFill/>
        </p:spPr>
        <p:txBody>
          <a:bodyPr wrap="square" rtlCol="0">
            <a:spAutoFit/>
          </a:bodyPr>
          <a:lstStyle/>
          <a:p>
            <a:pPr>
              <a:lnSpc>
                <a:spcPts val="3110"/>
              </a:lnSpc>
            </a:pPr>
            <a:r>
              <a:rPr lang="en-US" sz="1400" dirty="0">
                <a:latin typeface="Raleway" pitchFamily="34" charset="0"/>
                <a:ea typeface="Raleway" pitchFamily="34" charset="-122"/>
                <a:cs typeface="Raleway" pitchFamily="34" charset="-120"/>
              </a:rPr>
              <a:t>Usually done at the end of the day.</a:t>
            </a:r>
            <a:endParaRPr lang="en-US" sz="1400" dirty="0"/>
          </a:p>
        </p:txBody>
      </p:sp>
      <p:pic>
        <p:nvPicPr>
          <p:cNvPr id="14" name="Google Shape;23;p3"/>
          <p:cNvPicPr preferRelativeResize="0"/>
          <p:nvPr/>
        </p:nvPicPr>
        <p:blipFill rotWithShape="1">
          <a:blip r:embed="rId2">
            <a:alphaModFix/>
          </a:blip>
          <a:srcRect/>
          <a:stretch/>
        </p:blipFill>
        <p:spPr>
          <a:xfrm>
            <a:off x="7737422" y="110217"/>
            <a:ext cx="1220840" cy="318405"/>
          </a:xfrm>
          <a:prstGeom prst="rect">
            <a:avLst/>
          </a:prstGeom>
          <a:noFill/>
          <a:ln>
            <a:noFill/>
          </a:ln>
        </p:spPr>
      </p:pic>
    </p:spTree>
    <p:extLst>
      <p:ext uri="{BB962C8B-B14F-4D97-AF65-F5344CB8AC3E}">
        <p14:creationId xmlns:p14="http://schemas.microsoft.com/office/powerpoint/2010/main" val="167849319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p:cNvSpPr/>
          <p:nvPr/>
        </p:nvSpPr>
        <p:spPr>
          <a:xfrm>
            <a:off x="1340984" y="498021"/>
            <a:ext cx="6815138" cy="66130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 name="Title 1">
            <a:extLst>
              <a:ext uri="{FF2B5EF4-FFF2-40B4-BE49-F238E27FC236}">
                <a16:creationId xmlns:a16="http://schemas.microsoft.com/office/drawing/2014/main" xmlns="" id="{A6D0C247-18C0-0897-6E8C-0FB53434DF94}"/>
              </a:ext>
            </a:extLst>
          </p:cNvPr>
          <p:cNvSpPr>
            <a:spLocks noGrp="1"/>
          </p:cNvSpPr>
          <p:nvPr>
            <p:ph type="title"/>
          </p:nvPr>
        </p:nvSpPr>
        <p:spPr>
          <a:xfrm>
            <a:off x="1340984" y="444951"/>
            <a:ext cx="6984410" cy="767446"/>
          </a:xfrm>
        </p:spPr>
        <p:txBody>
          <a:bodyPr>
            <a:noAutofit/>
          </a:bodyPr>
          <a:lstStyle/>
          <a:p>
            <a:pPr algn="ctr"/>
            <a:r>
              <a:rPr lang="en-US" sz="2400" dirty="0" smtClean="0">
                <a:latin typeface="+mn-lt"/>
              </a:rPr>
              <a:t>Revenue Sharing (Actual Rates May Vary)</a:t>
            </a:r>
            <a:endParaRPr lang="en-IN" sz="2400" dirty="0">
              <a:latin typeface="+mn-lt"/>
            </a:endParaRPr>
          </a:p>
        </p:txBody>
      </p:sp>
      <p:pic>
        <p:nvPicPr>
          <p:cNvPr id="14" name="Google Shape;23;p3"/>
          <p:cNvPicPr preferRelativeResize="0"/>
          <p:nvPr/>
        </p:nvPicPr>
        <p:blipFill rotWithShape="1">
          <a:blip r:embed="rId2">
            <a:alphaModFix/>
          </a:blip>
          <a:srcRect/>
          <a:stretch/>
        </p:blipFill>
        <p:spPr>
          <a:xfrm>
            <a:off x="7737422" y="110217"/>
            <a:ext cx="1220840" cy="318405"/>
          </a:xfrm>
          <a:prstGeom prst="rect">
            <a:avLst/>
          </a:prstGeom>
          <a:noFill/>
          <a:ln>
            <a:noFill/>
          </a:ln>
        </p:spPr>
      </p:pic>
      <p:sp>
        <p:nvSpPr>
          <p:cNvPr id="28" name="Google Shape;132;p18"/>
          <p:cNvSpPr/>
          <p:nvPr/>
        </p:nvSpPr>
        <p:spPr>
          <a:xfrm>
            <a:off x="1883925" y="1749566"/>
            <a:ext cx="1123425" cy="5727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ctr" rtl="0">
              <a:spcBef>
                <a:spcPts val="0"/>
              </a:spcBef>
              <a:spcAft>
                <a:spcPts val="0"/>
              </a:spcAft>
              <a:buNone/>
            </a:pPr>
            <a:r>
              <a:rPr lang="en"/>
              <a:t>Card Holder</a:t>
            </a:r>
            <a:endParaRPr/>
          </a:p>
        </p:txBody>
      </p:sp>
      <p:sp>
        <p:nvSpPr>
          <p:cNvPr id="29" name="Google Shape;133;p18"/>
          <p:cNvSpPr/>
          <p:nvPr/>
        </p:nvSpPr>
        <p:spPr>
          <a:xfrm>
            <a:off x="1883925" y="2518441"/>
            <a:ext cx="1123425" cy="5727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ctr" rtl="0">
              <a:spcBef>
                <a:spcPts val="0"/>
              </a:spcBef>
              <a:spcAft>
                <a:spcPts val="0"/>
              </a:spcAft>
              <a:buNone/>
            </a:pPr>
            <a:r>
              <a:rPr lang="en"/>
              <a:t>$100</a:t>
            </a:r>
            <a:endParaRPr/>
          </a:p>
        </p:txBody>
      </p:sp>
      <p:sp>
        <p:nvSpPr>
          <p:cNvPr id="30" name="Google Shape;134;p18"/>
          <p:cNvSpPr/>
          <p:nvPr/>
        </p:nvSpPr>
        <p:spPr>
          <a:xfrm>
            <a:off x="6136650" y="1749566"/>
            <a:ext cx="1123425" cy="5727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ctr" rtl="0">
              <a:spcBef>
                <a:spcPts val="0"/>
              </a:spcBef>
              <a:spcAft>
                <a:spcPts val="0"/>
              </a:spcAft>
              <a:buNone/>
            </a:pPr>
            <a:r>
              <a:rPr lang="en"/>
              <a:t>Merchant</a:t>
            </a:r>
            <a:endParaRPr/>
          </a:p>
        </p:txBody>
      </p:sp>
      <p:sp>
        <p:nvSpPr>
          <p:cNvPr id="31" name="Google Shape;135;p18"/>
          <p:cNvSpPr/>
          <p:nvPr/>
        </p:nvSpPr>
        <p:spPr>
          <a:xfrm>
            <a:off x="6136650" y="2518441"/>
            <a:ext cx="1123425" cy="5727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ctr" rtl="0">
              <a:spcBef>
                <a:spcPts val="0"/>
              </a:spcBef>
              <a:spcAft>
                <a:spcPts val="0"/>
              </a:spcAft>
              <a:buNone/>
            </a:pPr>
            <a:r>
              <a:rPr lang="en"/>
              <a:t>$98</a:t>
            </a:r>
            <a:endParaRPr/>
          </a:p>
        </p:txBody>
      </p:sp>
      <p:sp>
        <p:nvSpPr>
          <p:cNvPr id="32" name="Google Shape;136;p18"/>
          <p:cNvSpPr/>
          <p:nvPr/>
        </p:nvSpPr>
        <p:spPr>
          <a:xfrm>
            <a:off x="2249719" y="3205434"/>
            <a:ext cx="951975" cy="5727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ctr" rtl="0">
              <a:spcBef>
                <a:spcPts val="0"/>
              </a:spcBef>
              <a:spcAft>
                <a:spcPts val="0"/>
              </a:spcAft>
              <a:buNone/>
            </a:pPr>
            <a:r>
              <a:rPr lang="en" sz="1200" dirty="0"/>
              <a:t>Issuer</a:t>
            </a:r>
            <a:endParaRPr sz="1200" dirty="0"/>
          </a:p>
        </p:txBody>
      </p:sp>
      <p:sp>
        <p:nvSpPr>
          <p:cNvPr id="33" name="Google Shape;137;p18"/>
          <p:cNvSpPr/>
          <p:nvPr/>
        </p:nvSpPr>
        <p:spPr>
          <a:xfrm>
            <a:off x="2249719" y="3870584"/>
            <a:ext cx="951975" cy="5727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ctr" rtl="0">
              <a:spcBef>
                <a:spcPts val="0"/>
              </a:spcBef>
              <a:spcAft>
                <a:spcPts val="0"/>
              </a:spcAft>
              <a:buNone/>
            </a:pPr>
            <a:r>
              <a:rPr lang="en"/>
              <a:t>$1.40</a:t>
            </a:r>
            <a:endParaRPr/>
          </a:p>
        </p:txBody>
      </p:sp>
      <p:sp>
        <p:nvSpPr>
          <p:cNvPr id="34" name="Google Shape;138;p18"/>
          <p:cNvSpPr/>
          <p:nvPr/>
        </p:nvSpPr>
        <p:spPr>
          <a:xfrm>
            <a:off x="3328275" y="3205434"/>
            <a:ext cx="951975" cy="5727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ctr" rtl="0">
              <a:spcBef>
                <a:spcPts val="0"/>
              </a:spcBef>
              <a:spcAft>
                <a:spcPts val="0"/>
              </a:spcAft>
              <a:buNone/>
            </a:pPr>
            <a:r>
              <a:rPr lang="en" sz="1200" dirty="0"/>
              <a:t>Network</a:t>
            </a:r>
            <a:endParaRPr sz="1200" dirty="0"/>
          </a:p>
        </p:txBody>
      </p:sp>
      <p:sp>
        <p:nvSpPr>
          <p:cNvPr id="35" name="Google Shape;139;p18"/>
          <p:cNvSpPr/>
          <p:nvPr/>
        </p:nvSpPr>
        <p:spPr>
          <a:xfrm>
            <a:off x="3328275" y="3870584"/>
            <a:ext cx="951975" cy="5727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ctr" rtl="0">
              <a:spcBef>
                <a:spcPts val="0"/>
              </a:spcBef>
              <a:spcAft>
                <a:spcPts val="0"/>
              </a:spcAft>
              <a:buNone/>
            </a:pPr>
            <a:r>
              <a:rPr lang="en"/>
              <a:t>$0.10</a:t>
            </a:r>
            <a:endParaRPr/>
          </a:p>
        </p:txBody>
      </p:sp>
      <p:sp>
        <p:nvSpPr>
          <p:cNvPr id="36" name="Google Shape;140;p18"/>
          <p:cNvSpPr/>
          <p:nvPr/>
        </p:nvSpPr>
        <p:spPr>
          <a:xfrm>
            <a:off x="5485388" y="3205434"/>
            <a:ext cx="951975" cy="5727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ctr" rtl="0">
              <a:spcBef>
                <a:spcPts val="0"/>
              </a:spcBef>
              <a:spcAft>
                <a:spcPts val="0"/>
              </a:spcAft>
              <a:buNone/>
            </a:pPr>
            <a:r>
              <a:rPr lang="en" sz="1200" dirty="0"/>
              <a:t>Acquirer</a:t>
            </a:r>
            <a:endParaRPr sz="1200" dirty="0"/>
          </a:p>
        </p:txBody>
      </p:sp>
      <p:sp>
        <p:nvSpPr>
          <p:cNvPr id="37" name="Google Shape;141;p18"/>
          <p:cNvSpPr/>
          <p:nvPr/>
        </p:nvSpPr>
        <p:spPr>
          <a:xfrm>
            <a:off x="5485388" y="3870584"/>
            <a:ext cx="951975" cy="5727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ctr" rtl="0">
              <a:spcBef>
                <a:spcPts val="0"/>
              </a:spcBef>
              <a:spcAft>
                <a:spcPts val="0"/>
              </a:spcAft>
              <a:buNone/>
            </a:pPr>
            <a:r>
              <a:rPr lang="en"/>
              <a:t>$0.45</a:t>
            </a:r>
            <a:endParaRPr/>
          </a:p>
        </p:txBody>
      </p:sp>
      <p:sp>
        <p:nvSpPr>
          <p:cNvPr id="38" name="Google Shape;142;p18"/>
          <p:cNvSpPr/>
          <p:nvPr/>
        </p:nvSpPr>
        <p:spPr>
          <a:xfrm>
            <a:off x="4406831" y="3205434"/>
            <a:ext cx="951975" cy="5727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ctr" rtl="0">
              <a:spcBef>
                <a:spcPts val="0"/>
              </a:spcBef>
              <a:spcAft>
                <a:spcPts val="0"/>
              </a:spcAft>
              <a:buNone/>
            </a:pPr>
            <a:r>
              <a:rPr lang="en" sz="1200" dirty="0"/>
              <a:t>Processor</a:t>
            </a:r>
            <a:endParaRPr sz="1200" dirty="0"/>
          </a:p>
        </p:txBody>
      </p:sp>
      <p:sp>
        <p:nvSpPr>
          <p:cNvPr id="39" name="Google Shape;143;p18"/>
          <p:cNvSpPr/>
          <p:nvPr/>
        </p:nvSpPr>
        <p:spPr>
          <a:xfrm>
            <a:off x="4406831" y="3870584"/>
            <a:ext cx="951975" cy="5727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ctr" rtl="0">
              <a:spcBef>
                <a:spcPts val="0"/>
              </a:spcBef>
              <a:spcAft>
                <a:spcPts val="0"/>
              </a:spcAft>
              <a:buNone/>
            </a:pPr>
            <a:r>
              <a:rPr lang="en"/>
              <a:t>$0.05</a:t>
            </a:r>
            <a:endParaRPr/>
          </a:p>
        </p:txBody>
      </p:sp>
      <p:sp>
        <p:nvSpPr>
          <p:cNvPr id="40" name="Google Shape;144;p18"/>
          <p:cNvSpPr/>
          <p:nvPr/>
        </p:nvSpPr>
        <p:spPr>
          <a:xfrm>
            <a:off x="4406831" y="4535734"/>
            <a:ext cx="2664450" cy="5727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ctr" rtl="0">
              <a:spcBef>
                <a:spcPts val="0"/>
              </a:spcBef>
              <a:spcAft>
                <a:spcPts val="0"/>
              </a:spcAft>
              <a:buNone/>
            </a:pPr>
            <a:r>
              <a:rPr lang="en" sz="1200" dirty="0"/>
              <a:t>Acquirer distributes to other channel partners (ISO, ISV, Gateway etc) including processors.</a:t>
            </a:r>
            <a:endParaRPr sz="1200" dirty="0"/>
          </a:p>
        </p:txBody>
      </p:sp>
    </p:spTree>
    <p:extLst>
      <p:ext uri="{BB962C8B-B14F-4D97-AF65-F5344CB8AC3E}">
        <p14:creationId xmlns:p14="http://schemas.microsoft.com/office/powerpoint/2010/main" val="64137927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p:cNvSpPr/>
          <p:nvPr/>
        </p:nvSpPr>
        <p:spPr>
          <a:xfrm>
            <a:off x="1340984" y="498021"/>
            <a:ext cx="6815138" cy="66130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 name="Title 1">
            <a:extLst>
              <a:ext uri="{FF2B5EF4-FFF2-40B4-BE49-F238E27FC236}">
                <a16:creationId xmlns:a16="http://schemas.microsoft.com/office/drawing/2014/main" xmlns="" id="{A6D0C247-18C0-0897-6E8C-0FB53434DF94}"/>
              </a:ext>
            </a:extLst>
          </p:cNvPr>
          <p:cNvSpPr>
            <a:spLocks noGrp="1"/>
          </p:cNvSpPr>
          <p:nvPr>
            <p:ph type="title"/>
          </p:nvPr>
        </p:nvSpPr>
        <p:spPr>
          <a:xfrm>
            <a:off x="1340984" y="444951"/>
            <a:ext cx="6984410" cy="767446"/>
          </a:xfrm>
        </p:spPr>
        <p:txBody>
          <a:bodyPr>
            <a:noAutofit/>
          </a:bodyPr>
          <a:lstStyle/>
          <a:p>
            <a:pPr algn="ctr"/>
            <a:r>
              <a:rPr lang="en-US" sz="2400" dirty="0" smtClean="0">
                <a:latin typeface="+mn-lt"/>
              </a:rPr>
              <a:t>Transaction Type : Card Present (Offline)</a:t>
            </a:r>
            <a:endParaRPr lang="en-IN" sz="2400" dirty="0">
              <a:latin typeface="+mn-lt"/>
            </a:endParaRPr>
          </a:p>
        </p:txBody>
      </p:sp>
      <p:sp>
        <p:nvSpPr>
          <p:cNvPr id="5" name="Rounded Rectangle 4"/>
          <p:cNvSpPr/>
          <p:nvPr/>
        </p:nvSpPr>
        <p:spPr>
          <a:xfrm>
            <a:off x="467544" y="1609346"/>
            <a:ext cx="2123675" cy="45312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smtClean="0"/>
              <a:t>Magstripe (Swipe)</a:t>
            </a:r>
            <a:endParaRPr lang="en-IN" sz="1400" dirty="0"/>
          </a:p>
        </p:txBody>
      </p:sp>
      <p:sp>
        <p:nvSpPr>
          <p:cNvPr id="6" name="Rounded Rectangle 5"/>
          <p:cNvSpPr/>
          <p:nvPr/>
        </p:nvSpPr>
        <p:spPr>
          <a:xfrm>
            <a:off x="5796136" y="1614180"/>
            <a:ext cx="2123675" cy="44829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smtClean="0"/>
              <a:t>Chip (Dip)</a:t>
            </a:r>
            <a:endParaRPr lang="en-IN" sz="1400" dirty="0"/>
          </a:p>
        </p:txBody>
      </p:sp>
      <p:sp>
        <p:nvSpPr>
          <p:cNvPr id="7" name="Rounded Rectangle 6"/>
          <p:cNvSpPr/>
          <p:nvPr/>
        </p:nvSpPr>
        <p:spPr>
          <a:xfrm>
            <a:off x="539552" y="3838333"/>
            <a:ext cx="2123675" cy="44458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smtClean="0"/>
              <a:t>Contactless (Tap)</a:t>
            </a:r>
            <a:endParaRPr lang="en-IN" sz="1400" dirty="0"/>
          </a:p>
        </p:txBody>
      </p:sp>
      <p:sp>
        <p:nvSpPr>
          <p:cNvPr id="8" name="Rounded Rectangle 7"/>
          <p:cNvSpPr/>
          <p:nvPr/>
        </p:nvSpPr>
        <p:spPr>
          <a:xfrm>
            <a:off x="5940152" y="3864423"/>
            <a:ext cx="2123675" cy="454481"/>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smtClean="0"/>
              <a:t>NFC (Near Field Communication)</a:t>
            </a:r>
            <a:endParaRPr lang="en-IN" sz="1400" dirty="0"/>
          </a:p>
        </p:txBody>
      </p:sp>
      <p:pic>
        <p:nvPicPr>
          <p:cNvPr id="14" name="Google Shape;23;p3"/>
          <p:cNvPicPr preferRelativeResize="0"/>
          <p:nvPr/>
        </p:nvPicPr>
        <p:blipFill rotWithShape="1">
          <a:blip r:embed="rId2">
            <a:alphaModFix/>
          </a:blip>
          <a:srcRect/>
          <a:stretch/>
        </p:blipFill>
        <p:spPr>
          <a:xfrm>
            <a:off x="7737422" y="110217"/>
            <a:ext cx="1220840" cy="318405"/>
          </a:xfrm>
          <a:prstGeom prst="rect">
            <a:avLst/>
          </a:prstGeom>
          <a:noFill/>
          <a:ln>
            <a:noFill/>
          </a:ln>
        </p:spPr>
      </p:pic>
      <p:sp>
        <p:nvSpPr>
          <p:cNvPr id="17" name="Rounded Rectangle 16"/>
          <p:cNvSpPr/>
          <p:nvPr/>
        </p:nvSpPr>
        <p:spPr>
          <a:xfrm>
            <a:off x="3563888" y="4941168"/>
            <a:ext cx="2123675" cy="454481"/>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smtClean="0"/>
              <a:t>QR Code</a:t>
            </a:r>
            <a:endParaRPr lang="en-IN" sz="1400" dirty="0"/>
          </a:p>
        </p:txBody>
      </p:sp>
    </p:spTree>
    <p:extLst>
      <p:ext uri="{BB962C8B-B14F-4D97-AF65-F5344CB8AC3E}">
        <p14:creationId xmlns:p14="http://schemas.microsoft.com/office/powerpoint/2010/main" val="4279144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p:cNvSpPr/>
          <p:nvPr/>
        </p:nvSpPr>
        <p:spPr>
          <a:xfrm>
            <a:off x="942534" y="428621"/>
            <a:ext cx="6815138" cy="661309"/>
          </a:xfrm>
          <a:prstGeom prst="roundRect">
            <a:avLst/>
          </a:prstGeom>
          <a:solidFill>
            <a:srgbClr val="0099C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 name="Title 1">
            <a:extLst>
              <a:ext uri="{FF2B5EF4-FFF2-40B4-BE49-F238E27FC236}">
                <a16:creationId xmlns:a16="http://schemas.microsoft.com/office/drawing/2014/main" xmlns="" id="{A6D0C247-18C0-0897-6E8C-0FB53434DF94}"/>
              </a:ext>
            </a:extLst>
          </p:cNvPr>
          <p:cNvSpPr>
            <a:spLocks noGrp="1"/>
          </p:cNvSpPr>
          <p:nvPr>
            <p:ph type="title"/>
          </p:nvPr>
        </p:nvSpPr>
        <p:spPr>
          <a:xfrm>
            <a:off x="857898" y="375552"/>
            <a:ext cx="6984410" cy="767446"/>
          </a:xfrm>
        </p:spPr>
        <p:txBody>
          <a:bodyPr>
            <a:noAutofit/>
          </a:bodyPr>
          <a:lstStyle/>
          <a:p>
            <a:pPr algn="ctr"/>
            <a:r>
              <a:rPr lang="en-US" sz="2400" dirty="0"/>
              <a:t>Transaction Type : Card Present (Offline)</a:t>
            </a:r>
            <a:endParaRPr lang="en-IN" sz="2400" dirty="0">
              <a:latin typeface="+mn-lt"/>
            </a:endParaRPr>
          </a:p>
        </p:txBody>
      </p:sp>
      <p:pic>
        <p:nvPicPr>
          <p:cNvPr id="14" name="Google Shape;23;p3"/>
          <p:cNvPicPr preferRelativeResize="0"/>
          <p:nvPr/>
        </p:nvPicPr>
        <p:blipFill rotWithShape="1">
          <a:blip r:embed="rId2">
            <a:alphaModFix/>
          </a:blip>
          <a:srcRect/>
          <a:stretch/>
        </p:blipFill>
        <p:spPr>
          <a:xfrm>
            <a:off x="7737422" y="110217"/>
            <a:ext cx="1220840" cy="318405"/>
          </a:xfrm>
          <a:prstGeom prst="rect">
            <a:avLst/>
          </a:prstGeom>
          <a:noFill/>
          <a:ln>
            <a:noFill/>
          </a:ln>
        </p:spPr>
      </p:pic>
      <p:sp>
        <p:nvSpPr>
          <p:cNvPr id="15" name="TextBox 14"/>
          <p:cNvSpPr txBox="1"/>
          <p:nvPr/>
        </p:nvSpPr>
        <p:spPr>
          <a:xfrm>
            <a:off x="323528" y="1772816"/>
            <a:ext cx="4176464" cy="4616648"/>
          </a:xfrm>
          <a:prstGeom prst="rect">
            <a:avLst/>
          </a:prstGeom>
          <a:noFill/>
        </p:spPr>
        <p:txBody>
          <a:bodyPr wrap="square" rtlCol="0">
            <a:spAutoFit/>
          </a:bodyPr>
          <a:lstStyle/>
          <a:p>
            <a:pPr algn="just"/>
            <a:r>
              <a:rPr lang="en-US" sz="1400" b="1" dirty="0">
                <a:solidFill>
                  <a:schemeClr val="tx1">
                    <a:lumMod val="85000"/>
                  </a:schemeClr>
                </a:solidFill>
                <a:latin typeface="Raleway" pitchFamily="2" charset="0"/>
              </a:rPr>
              <a:t>Advantages</a:t>
            </a:r>
            <a:r>
              <a:rPr lang="en-US" sz="1400" b="1" dirty="0" smtClean="0">
                <a:solidFill>
                  <a:schemeClr val="tx1">
                    <a:lumMod val="85000"/>
                  </a:schemeClr>
                </a:solidFill>
                <a:latin typeface="Raleway" pitchFamily="2" charset="0"/>
              </a:rPr>
              <a:t>:</a:t>
            </a:r>
          </a:p>
          <a:p>
            <a:pPr algn="just"/>
            <a:endParaRPr lang="en-US" sz="1400" dirty="0">
              <a:solidFill>
                <a:schemeClr val="tx1">
                  <a:lumMod val="85000"/>
                </a:schemeClr>
              </a:solidFill>
              <a:latin typeface="Raleway" pitchFamily="2" charset="0"/>
            </a:endParaRPr>
          </a:p>
          <a:p>
            <a:pPr algn="just">
              <a:buFont typeface="Arial" panose="020B0604020202020204" pitchFamily="34" charset="0"/>
              <a:buChar char="•"/>
            </a:pPr>
            <a:r>
              <a:rPr lang="en-US" sz="1400" b="1" dirty="0">
                <a:solidFill>
                  <a:schemeClr val="tx1">
                    <a:lumMod val="85000"/>
                  </a:schemeClr>
                </a:solidFill>
                <a:latin typeface="Raleway" pitchFamily="2" charset="0"/>
              </a:rPr>
              <a:t>Ubiquity:</a:t>
            </a:r>
            <a:r>
              <a:rPr lang="en-US" sz="1400" dirty="0">
                <a:solidFill>
                  <a:schemeClr val="tx1">
                    <a:lumMod val="85000"/>
                  </a:schemeClr>
                </a:solidFill>
                <a:latin typeface="Raleway" pitchFamily="2" charset="0"/>
              </a:rPr>
              <a:t> Widely available and supported by most card readers.</a:t>
            </a:r>
          </a:p>
          <a:p>
            <a:pPr algn="just">
              <a:buFont typeface="Arial" panose="020B0604020202020204" pitchFamily="34" charset="0"/>
              <a:buChar char="•"/>
            </a:pPr>
            <a:r>
              <a:rPr lang="en-US" sz="1400" b="1" dirty="0">
                <a:solidFill>
                  <a:schemeClr val="tx1">
                    <a:lumMod val="85000"/>
                  </a:schemeClr>
                </a:solidFill>
                <a:latin typeface="Raleway" pitchFamily="2" charset="0"/>
              </a:rPr>
              <a:t>Ease of Use:</a:t>
            </a:r>
            <a:r>
              <a:rPr lang="en-US" sz="1400" dirty="0">
                <a:solidFill>
                  <a:schemeClr val="tx1">
                    <a:lumMod val="85000"/>
                  </a:schemeClr>
                </a:solidFill>
                <a:latin typeface="Raleway" pitchFamily="2" charset="0"/>
              </a:rPr>
              <a:t> Simple to use by swiping the card through a reader.</a:t>
            </a:r>
          </a:p>
          <a:p>
            <a:pPr algn="just">
              <a:buFont typeface="Arial" panose="020B0604020202020204" pitchFamily="34" charset="0"/>
              <a:buChar char="•"/>
            </a:pPr>
            <a:r>
              <a:rPr lang="en-US" sz="1400" b="1" dirty="0">
                <a:solidFill>
                  <a:schemeClr val="tx1">
                    <a:lumMod val="85000"/>
                  </a:schemeClr>
                </a:solidFill>
                <a:latin typeface="Raleway" pitchFamily="2" charset="0"/>
              </a:rPr>
              <a:t>Speed:</a:t>
            </a:r>
            <a:r>
              <a:rPr lang="en-US" sz="1400" dirty="0">
                <a:solidFill>
                  <a:schemeClr val="tx1">
                    <a:lumMod val="85000"/>
                  </a:schemeClr>
                </a:solidFill>
                <a:latin typeface="Raleway" pitchFamily="2" charset="0"/>
              </a:rPr>
              <a:t> Generally quick transaction processing</a:t>
            </a:r>
            <a:r>
              <a:rPr lang="en-US" sz="1400" dirty="0" smtClean="0">
                <a:solidFill>
                  <a:schemeClr val="tx1">
                    <a:lumMod val="85000"/>
                  </a:schemeClr>
                </a:solidFill>
                <a:latin typeface="Raleway" pitchFamily="2" charset="0"/>
              </a:rPr>
              <a:t>.</a:t>
            </a:r>
          </a:p>
          <a:p>
            <a:pPr algn="just">
              <a:buFont typeface="Arial" panose="020B0604020202020204" pitchFamily="34" charset="0"/>
              <a:buChar char="•"/>
            </a:pPr>
            <a:endParaRPr lang="en-US" sz="1400" dirty="0" smtClean="0">
              <a:solidFill>
                <a:schemeClr val="tx1">
                  <a:lumMod val="85000"/>
                </a:schemeClr>
              </a:solidFill>
              <a:latin typeface="Raleway" pitchFamily="2" charset="0"/>
            </a:endParaRPr>
          </a:p>
          <a:p>
            <a:pPr algn="just">
              <a:buFont typeface="Arial" panose="020B0604020202020204" pitchFamily="34" charset="0"/>
              <a:buChar char="•"/>
            </a:pPr>
            <a:endParaRPr lang="en-US" sz="1400" dirty="0">
              <a:solidFill>
                <a:schemeClr val="tx1">
                  <a:lumMod val="85000"/>
                </a:schemeClr>
              </a:solidFill>
              <a:latin typeface="Raleway" pitchFamily="2" charset="0"/>
            </a:endParaRPr>
          </a:p>
          <a:p>
            <a:pPr algn="just">
              <a:buFont typeface="Arial" panose="020B0604020202020204" pitchFamily="34" charset="0"/>
              <a:buChar char="•"/>
            </a:pPr>
            <a:endParaRPr lang="en-US" sz="1400" dirty="0">
              <a:solidFill>
                <a:schemeClr val="tx1">
                  <a:lumMod val="85000"/>
                </a:schemeClr>
              </a:solidFill>
              <a:latin typeface="Raleway" pitchFamily="2" charset="0"/>
            </a:endParaRPr>
          </a:p>
          <a:p>
            <a:pPr algn="just"/>
            <a:r>
              <a:rPr lang="en-US" sz="1400" b="1" dirty="0">
                <a:solidFill>
                  <a:schemeClr val="tx1">
                    <a:lumMod val="85000"/>
                  </a:schemeClr>
                </a:solidFill>
                <a:latin typeface="Raleway" pitchFamily="2" charset="0"/>
              </a:rPr>
              <a:t>Disadvantages</a:t>
            </a:r>
            <a:r>
              <a:rPr lang="en-US" sz="1400" b="1" dirty="0" smtClean="0">
                <a:solidFill>
                  <a:schemeClr val="tx1">
                    <a:lumMod val="85000"/>
                  </a:schemeClr>
                </a:solidFill>
                <a:latin typeface="Raleway" pitchFamily="2" charset="0"/>
              </a:rPr>
              <a:t>:</a:t>
            </a:r>
          </a:p>
          <a:p>
            <a:pPr algn="just"/>
            <a:endParaRPr lang="en-US" sz="1400" dirty="0">
              <a:solidFill>
                <a:schemeClr val="tx1">
                  <a:lumMod val="85000"/>
                </a:schemeClr>
              </a:solidFill>
              <a:latin typeface="Raleway" pitchFamily="2" charset="0"/>
            </a:endParaRPr>
          </a:p>
          <a:p>
            <a:pPr algn="just">
              <a:buFont typeface="Arial" panose="020B0604020202020204" pitchFamily="34" charset="0"/>
              <a:buChar char="•"/>
            </a:pPr>
            <a:r>
              <a:rPr lang="en-US" sz="1400" b="1" dirty="0">
                <a:solidFill>
                  <a:schemeClr val="tx1">
                    <a:lumMod val="85000"/>
                  </a:schemeClr>
                </a:solidFill>
                <a:latin typeface="Raleway" pitchFamily="2" charset="0"/>
              </a:rPr>
              <a:t>Security:</a:t>
            </a:r>
            <a:r>
              <a:rPr lang="en-US" sz="1400" dirty="0">
                <a:solidFill>
                  <a:schemeClr val="tx1">
                    <a:lumMod val="85000"/>
                  </a:schemeClr>
                </a:solidFill>
                <a:latin typeface="Raleway" pitchFamily="2" charset="0"/>
              </a:rPr>
              <a:t> Less secure than chip-based methods; magnetic stripes can be easily cloned.</a:t>
            </a:r>
          </a:p>
          <a:p>
            <a:pPr algn="just">
              <a:buFont typeface="Arial" panose="020B0604020202020204" pitchFamily="34" charset="0"/>
              <a:buChar char="•"/>
            </a:pPr>
            <a:r>
              <a:rPr lang="en-US" sz="1400" b="1" dirty="0">
                <a:solidFill>
                  <a:schemeClr val="tx1">
                    <a:lumMod val="85000"/>
                  </a:schemeClr>
                </a:solidFill>
                <a:latin typeface="Raleway" pitchFamily="2" charset="0"/>
              </a:rPr>
              <a:t>Wear and Tear:</a:t>
            </a:r>
            <a:r>
              <a:rPr lang="en-US" sz="1400" dirty="0">
                <a:solidFill>
                  <a:schemeClr val="tx1">
                    <a:lumMod val="85000"/>
                  </a:schemeClr>
                </a:solidFill>
                <a:latin typeface="Raleway" pitchFamily="2" charset="0"/>
              </a:rPr>
              <a:t> Magnetic stripes can get demagnetized or worn out over time.</a:t>
            </a:r>
          </a:p>
          <a:p>
            <a:pPr algn="just">
              <a:buFont typeface="Arial" panose="020B0604020202020204" pitchFamily="34" charset="0"/>
              <a:buChar char="•"/>
            </a:pPr>
            <a:r>
              <a:rPr lang="en-US" sz="1400" b="1" dirty="0">
                <a:solidFill>
                  <a:schemeClr val="tx1">
                    <a:lumMod val="85000"/>
                  </a:schemeClr>
                </a:solidFill>
                <a:latin typeface="Raleway" pitchFamily="2" charset="0"/>
              </a:rPr>
              <a:t>Fraud:</a:t>
            </a:r>
            <a:r>
              <a:rPr lang="en-US" sz="1400" dirty="0">
                <a:solidFill>
                  <a:schemeClr val="tx1">
                    <a:lumMod val="85000"/>
                  </a:schemeClr>
                </a:solidFill>
                <a:latin typeface="Raleway" pitchFamily="2" charset="0"/>
              </a:rPr>
              <a:t> Higher risk of skimming and data theft.</a:t>
            </a:r>
          </a:p>
          <a:p>
            <a:pPr algn="just"/>
            <a:r>
              <a:rPr lang="en-US" sz="1400" b="1" dirty="0">
                <a:solidFill>
                  <a:schemeClr val="tx1">
                    <a:lumMod val="85000"/>
                  </a:schemeClr>
                </a:solidFill>
                <a:latin typeface="Raleway" pitchFamily="2" charset="0"/>
              </a:rPr>
              <a:t>Usage:</a:t>
            </a:r>
            <a:endParaRPr lang="en-US" sz="1400" dirty="0">
              <a:solidFill>
                <a:schemeClr val="tx1">
                  <a:lumMod val="85000"/>
                </a:schemeClr>
              </a:solidFill>
              <a:latin typeface="Raleway" pitchFamily="2" charset="0"/>
            </a:endParaRPr>
          </a:p>
          <a:p>
            <a:pPr algn="just">
              <a:buFont typeface="Arial" panose="020B0604020202020204" pitchFamily="34" charset="0"/>
              <a:buChar char="•"/>
            </a:pPr>
            <a:r>
              <a:rPr lang="en-US" sz="1400" dirty="0">
                <a:solidFill>
                  <a:schemeClr val="tx1">
                    <a:lumMod val="85000"/>
                  </a:schemeClr>
                </a:solidFill>
                <a:latin typeface="Raleway" pitchFamily="2" charset="0"/>
              </a:rPr>
              <a:t>Once the most common method, its usage has declined with the rise of chip cards due to security concerns.</a:t>
            </a:r>
          </a:p>
        </p:txBody>
      </p:sp>
      <p:sp>
        <p:nvSpPr>
          <p:cNvPr id="18" name="TextBox 17"/>
          <p:cNvSpPr txBox="1"/>
          <p:nvPr/>
        </p:nvSpPr>
        <p:spPr>
          <a:xfrm>
            <a:off x="4716015" y="1772816"/>
            <a:ext cx="4143213" cy="4185761"/>
          </a:xfrm>
          <a:prstGeom prst="rect">
            <a:avLst/>
          </a:prstGeom>
          <a:noFill/>
        </p:spPr>
        <p:txBody>
          <a:bodyPr wrap="square" rtlCol="0">
            <a:spAutoFit/>
          </a:bodyPr>
          <a:lstStyle/>
          <a:p>
            <a:pPr algn="just"/>
            <a:r>
              <a:rPr lang="en-US" sz="1400" b="1" dirty="0">
                <a:solidFill>
                  <a:schemeClr val="tx1">
                    <a:lumMod val="85000"/>
                  </a:schemeClr>
                </a:solidFill>
                <a:latin typeface="Raleway" pitchFamily="2" charset="0"/>
              </a:rPr>
              <a:t>Advantages</a:t>
            </a:r>
            <a:r>
              <a:rPr lang="en-US" sz="1400" b="1" dirty="0" smtClean="0">
                <a:solidFill>
                  <a:schemeClr val="tx1">
                    <a:lumMod val="85000"/>
                  </a:schemeClr>
                </a:solidFill>
                <a:latin typeface="Raleway" pitchFamily="2" charset="0"/>
              </a:rPr>
              <a:t>:</a:t>
            </a:r>
          </a:p>
          <a:p>
            <a:pPr algn="just"/>
            <a:endParaRPr lang="en-US" sz="1400" dirty="0">
              <a:solidFill>
                <a:schemeClr val="tx1">
                  <a:lumMod val="85000"/>
                </a:schemeClr>
              </a:solidFill>
              <a:latin typeface="Raleway" pitchFamily="2" charset="0"/>
            </a:endParaRPr>
          </a:p>
          <a:p>
            <a:pPr algn="just">
              <a:buFont typeface="Arial" panose="020B0604020202020204" pitchFamily="34" charset="0"/>
              <a:buChar char="•"/>
            </a:pPr>
            <a:r>
              <a:rPr lang="en-US" sz="1400" b="1" dirty="0">
                <a:solidFill>
                  <a:schemeClr val="tx1">
                    <a:lumMod val="85000"/>
                  </a:schemeClr>
                </a:solidFill>
                <a:latin typeface="Raleway" pitchFamily="2" charset="0"/>
              </a:rPr>
              <a:t>Security:</a:t>
            </a:r>
            <a:r>
              <a:rPr lang="en-US" sz="1400" dirty="0">
                <a:solidFill>
                  <a:schemeClr val="tx1">
                    <a:lumMod val="85000"/>
                  </a:schemeClr>
                </a:solidFill>
                <a:latin typeface="Raleway" pitchFamily="2" charset="0"/>
              </a:rPr>
              <a:t> More secure than magnetic stripes due to EMV (</a:t>
            </a:r>
            <a:r>
              <a:rPr lang="en-US" sz="1400" dirty="0" err="1">
                <a:solidFill>
                  <a:schemeClr val="tx1">
                    <a:lumMod val="85000"/>
                  </a:schemeClr>
                </a:solidFill>
                <a:latin typeface="Raleway" pitchFamily="2" charset="0"/>
              </a:rPr>
              <a:t>Europay</a:t>
            </a:r>
            <a:r>
              <a:rPr lang="en-US" sz="1400" dirty="0">
                <a:solidFill>
                  <a:schemeClr val="tx1">
                    <a:lumMod val="85000"/>
                  </a:schemeClr>
                </a:solidFill>
                <a:latin typeface="Raleway" pitchFamily="2" charset="0"/>
              </a:rPr>
              <a:t>, MasterCard, and Visa) technology, which uses encrypted data.</a:t>
            </a:r>
          </a:p>
          <a:p>
            <a:pPr algn="just">
              <a:buFont typeface="Arial" panose="020B0604020202020204" pitchFamily="34" charset="0"/>
              <a:buChar char="•"/>
            </a:pPr>
            <a:r>
              <a:rPr lang="en-US" sz="1400" b="1" dirty="0">
                <a:solidFill>
                  <a:schemeClr val="tx1">
                    <a:lumMod val="85000"/>
                  </a:schemeClr>
                </a:solidFill>
                <a:latin typeface="Raleway" pitchFamily="2" charset="0"/>
              </a:rPr>
              <a:t>Fraud Prevention:</a:t>
            </a:r>
            <a:r>
              <a:rPr lang="en-US" sz="1400" dirty="0">
                <a:solidFill>
                  <a:schemeClr val="tx1">
                    <a:lumMod val="85000"/>
                  </a:schemeClr>
                </a:solidFill>
                <a:latin typeface="Raleway" pitchFamily="2" charset="0"/>
              </a:rPr>
              <a:t> Difficult to clone, reducing the risk of card-present fraud.</a:t>
            </a:r>
          </a:p>
          <a:p>
            <a:pPr algn="just">
              <a:buFont typeface="Arial" panose="020B0604020202020204" pitchFamily="34" charset="0"/>
              <a:buChar char="•"/>
            </a:pPr>
            <a:r>
              <a:rPr lang="en-US" sz="1400" b="1" dirty="0">
                <a:solidFill>
                  <a:schemeClr val="tx1">
                    <a:lumMod val="85000"/>
                  </a:schemeClr>
                </a:solidFill>
                <a:latin typeface="Raleway" pitchFamily="2" charset="0"/>
              </a:rPr>
              <a:t>Global Standard:</a:t>
            </a:r>
            <a:r>
              <a:rPr lang="en-US" sz="1400" dirty="0">
                <a:solidFill>
                  <a:schemeClr val="tx1">
                    <a:lumMod val="85000"/>
                  </a:schemeClr>
                </a:solidFill>
                <a:latin typeface="Raleway" pitchFamily="2" charset="0"/>
              </a:rPr>
              <a:t> Widely accepted and becoming the standard in many countries</a:t>
            </a:r>
            <a:r>
              <a:rPr lang="en-US" sz="1400" dirty="0" smtClean="0">
                <a:solidFill>
                  <a:schemeClr val="tx1">
                    <a:lumMod val="85000"/>
                  </a:schemeClr>
                </a:solidFill>
                <a:latin typeface="Raleway" pitchFamily="2" charset="0"/>
              </a:rPr>
              <a:t>.</a:t>
            </a:r>
          </a:p>
          <a:p>
            <a:pPr algn="just">
              <a:buFont typeface="Arial" panose="020B0604020202020204" pitchFamily="34" charset="0"/>
              <a:buChar char="•"/>
            </a:pPr>
            <a:endParaRPr lang="en-US" sz="1400" dirty="0">
              <a:solidFill>
                <a:schemeClr val="tx1">
                  <a:lumMod val="85000"/>
                </a:schemeClr>
              </a:solidFill>
              <a:latin typeface="Raleway" pitchFamily="2" charset="0"/>
            </a:endParaRPr>
          </a:p>
          <a:p>
            <a:pPr algn="just"/>
            <a:r>
              <a:rPr lang="en-US" sz="1400" b="1" dirty="0">
                <a:solidFill>
                  <a:schemeClr val="tx1">
                    <a:lumMod val="85000"/>
                  </a:schemeClr>
                </a:solidFill>
                <a:latin typeface="Raleway" pitchFamily="2" charset="0"/>
              </a:rPr>
              <a:t>Disadvantages</a:t>
            </a:r>
            <a:r>
              <a:rPr lang="en-US" sz="1400" b="1" dirty="0" smtClean="0">
                <a:solidFill>
                  <a:schemeClr val="tx1">
                    <a:lumMod val="85000"/>
                  </a:schemeClr>
                </a:solidFill>
                <a:latin typeface="Raleway" pitchFamily="2" charset="0"/>
              </a:rPr>
              <a:t>:</a:t>
            </a:r>
          </a:p>
          <a:p>
            <a:pPr algn="just"/>
            <a:endParaRPr lang="en-US" sz="1400" dirty="0">
              <a:solidFill>
                <a:schemeClr val="tx1">
                  <a:lumMod val="85000"/>
                </a:schemeClr>
              </a:solidFill>
              <a:latin typeface="Raleway" pitchFamily="2" charset="0"/>
            </a:endParaRPr>
          </a:p>
          <a:p>
            <a:pPr algn="just">
              <a:buFont typeface="Arial" panose="020B0604020202020204" pitchFamily="34" charset="0"/>
              <a:buChar char="•"/>
            </a:pPr>
            <a:r>
              <a:rPr lang="en-US" sz="1400" b="1" dirty="0">
                <a:solidFill>
                  <a:schemeClr val="tx1">
                    <a:lumMod val="85000"/>
                  </a:schemeClr>
                </a:solidFill>
                <a:latin typeface="Raleway" pitchFamily="2" charset="0"/>
              </a:rPr>
              <a:t>Speed:</a:t>
            </a:r>
            <a:r>
              <a:rPr lang="en-US" sz="1400" dirty="0">
                <a:solidFill>
                  <a:schemeClr val="tx1">
                    <a:lumMod val="85000"/>
                  </a:schemeClr>
                </a:solidFill>
                <a:latin typeface="Raleway" pitchFamily="2" charset="0"/>
              </a:rPr>
              <a:t> Slightly slower than swipe transactions due to the time taken to read the chip.</a:t>
            </a:r>
          </a:p>
          <a:p>
            <a:pPr algn="just">
              <a:buFont typeface="Arial" panose="020B0604020202020204" pitchFamily="34" charset="0"/>
              <a:buChar char="•"/>
            </a:pPr>
            <a:r>
              <a:rPr lang="en-US" sz="1400" b="1" dirty="0">
                <a:solidFill>
                  <a:schemeClr val="tx1">
                    <a:lumMod val="85000"/>
                  </a:schemeClr>
                </a:solidFill>
                <a:latin typeface="Raleway" pitchFamily="2" charset="0"/>
              </a:rPr>
              <a:t>Compatibility:</a:t>
            </a:r>
            <a:r>
              <a:rPr lang="en-US" sz="1400" dirty="0">
                <a:solidFill>
                  <a:schemeClr val="tx1">
                    <a:lumMod val="85000"/>
                  </a:schemeClr>
                </a:solidFill>
                <a:latin typeface="Raleway" pitchFamily="2" charset="0"/>
              </a:rPr>
              <a:t> Not all older terminals can read chip cards.</a:t>
            </a:r>
          </a:p>
          <a:p>
            <a:pPr algn="just"/>
            <a:r>
              <a:rPr lang="en-US" sz="1400" b="1" dirty="0">
                <a:solidFill>
                  <a:schemeClr val="tx1">
                    <a:lumMod val="85000"/>
                  </a:schemeClr>
                </a:solidFill>
                <a:latin typeface="Raleway" pitchFamily="2" charset="0"/>
              </a:rPr>
              <a:t>Usage:</a:t>
            </a:r>
            <a:endParaRPr lang="en-US" sz="1400" dirty="0">
              <a:solidFill>
                <a:schemeClr val="tx1">
                  <a:lumMod val="85000"/>
                </a:schemeClr>
              </a:solidFill>
              <a:latin typeface="Raleway" pitchFamily="2" charset="0"/>
            </a:endParaRPr>
          </a:p>
          <a:p>
            <a:pPr algn="just">
              <a:buFont typeface="Arial" panose="020B0604020202020204" pitchFamily="34" charset="0"/>
              <a:buChar char="•"/>
            </a:pPr>
            <a:r>
              <a:rPr lang="en-US" sz="1400" dirty="0">
                <a:solidFill>
                  <a:schemeClr val="tx1">
                    <a:lumMod val="85000"/>
                  </a:schemeClr>
                </a:solidFill>
                <a:latin typeface="Raleway" pitchFamily="2" charset="0"/>
              </a:rPr>
              <a:t>Rapidly becoming the standard method globally, especially in Europe and North America.</a:t>
            </a:r>
          </a:p>
        </p:txBody>
      </p:sp>
      <p:sp>
        <p:nvSpPr>
          <p:cNvPr id="5" name="Rounded Rectangle 4"/>
          <p:cNvSpPr/>
          <p:nvPr/>
        </p:nvSpPr>
        <p:spPr>
          <a:xfrm>
            <a:off x="1187624" y="1292562"/>
            <a:ext cx="2016224" cy="394606"/>
          </a:xfrm>
          <a:prstGeom prst="roundRect">
            <a:avLst/>
          </a:prstGeom>
          <a:solidFill>
            <a:srgbClr val="00CC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Magstripe (Swipe)</a:t>
            </a:r>
            <a:endParaRPr lang="en-IN" dirty="0"/>
          </a:p>
        </p:txBody>
      </p:sp>
      <p:sp>
        <p:nvSpPr>
          <p:cNvPr id="10" name="Rounded Rectangle 9"/>
          <p:cNvSpPr/>
          <p:nvPr/>
        </p:nvSpPr>
        <p:spPr>
          <a:xfrm>
            <a:off x="5741448" y="1308415"/>
            <a:ext cx="2016224" cy="394606"/>
          </a:xfrm>
          <a:prstGeom prst="roundRect">
            <a:avLst/>
          </a:prstGeom>
          <a:solidFill>
            <a:srgbClr val="00CC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Chip (Dip)</a:t>
            </a:r>
            <a:endParaRPr lang="en-IN" dirty="0"/>
          </a:p>
        </p:txBody>
      </p:sp>
    </p:spTree>
    <p:extLst>
      <p:ext uri="{BB962C8B-B14F-4D97-AF65-F5344CB8AC3E}">
        <p14:creationId xmlns:p14="http://schemas.microsoft.com/office/powerpoint/2010/main" val="360219576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p:cNvSpPr/>
          <p:nvPr/>
        </p:nvSpPr>
        <p:spPr>
          <a:xfrm>
            <a:off x="1259632" y="594395"/>
            <a:ext cx="6815138" cy="661309"/>
          </a:xfrm>
          <a:prstGeom prst="roundRect">
            <a:avLst/>
          </a:prstGeom>
          <a:solidFill>
            <a:srgbClr val="0099C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 name="Title 1">
            <a:extLst>
              <a:ext uri="{FF2B5EF4-FFF2-40B4-BE49-F238E27FC236}">
                <a16:creationId xmlns:a16="http://schemas.microsoft.com/office/drawing/2014/main" xmlns="" id="{A6D0C247-18C0-0897-6E8C-0FB53434DF94}"/>
              </a:ext>
            </a:extLst>
          </p:cNvPr>
          <p:cNvSpPr>
            <a:spLocks noGrp="1"/>
          </p:cNvSpPr>
          <p:nvPr>
            <p:ph type="title"/>
          </p:nvPr>
        </p:nvSpPr>
        <p:spPr>
          <a:xfrm>
            <a:off x="1115616" y="531390"/>
            <a:ext cx="6984410" cy="767446"/>
          </a:xfrm>
        </p:spPr>
        <p:txBody>
          <a:bodyPr>
            <a:noAutofit/>
          </a:bodyPr>
          <a:lstStyle/>
          <a:p>
            <a:pPr algn="ctr"/>
            <a:r>
              <a:rPr lang="en-US" sz="2400" dirty="0"/>
              <a:t>Transaction Type : Card Present (Offline)</a:t>
            </a:r>
            <a:endParaRPr lang="en-IN" sz="2400" dirty="0">
              <a:latin typeface="+mn-lt"/>
            </a:endParaRPr>
          </a:p>
        </p:txBody>
      </p:sp>
      <p:sp>
        <p:nvSpPr>
          <p:cNvPr id="3" name="Content Placeholder 2">
            <a:extLst>
              <a:ext uri="{FF2B5EF4-FFF2-40B4-BE49-F238E27FC236}">
                <a16:creationId xmlns:a16="http://schemas.microsoft.com/office/drawing/2014/main" xmlns="" id="{842A01C3-5F33-0E31-F76A-1EAE7EE22438}"/>
              </a:ext>
            </a:extLst>
          </p:cNvPr>
          <p:cNvSpPr>
            <a:spLocks noGrp="1"/>
          </p:cNvSpPr>
          <p:nvPr>
            <p:ph idx="1"/>
          </p:nvPr>
        </p:nvSpPr>
        <p:spPr>
          <a:xfrm>
            <a:off x="1115616" y="1519665"/>
            <a:ext cx="3582683" cy="394606"/>
          </a:xfrm>
        </p:spPr>
        <p:txBody>
          <a:bodyPr>
            <a:normAutofit/>
          </a:bodyPr>
          <a:lstStyle/>
          <a:p>
            <a:pPr marL="0" indent="0" algn="just">
              <a:buNone/>
            </a:pPr>
            <a:r>
              <a:rPr lang="en-US" sz="1800" b="1" dirty="0" smtClean="0"/>
              <a:t>QR Code</a:t>
            </a:r>
            <a:endParaRPr lang="en-IN" dirty="0"/>
          </a:p>
        </p:txBody>
      </p:sp>
      <p:pic>
        <p:nvPicPr>
          <p:cNvPr id="14" name="Google Shape;23;p3"/>
          <p:cNvPicPr preferRelativeResize="0"/>
          <p:nvPr/>
        </p:nvPicPr>
        <p:blipFill rotWithShape="1">
          <a:blip r:embed="rId2">
            <a:alphaModFix/>
          </a:blip>
          <a:srcRect/>
          <a:stretch/>
        </p:blipFill>
        <p:spPr>
          <a:xfrm>
            <a:off x="7737422" y="110217"/>
            <a:ext cx="1220840" cy="318405"/>
          </a:xfrm>
          <a:prstGeom prst="rect">
            <a:avLst/>
          </a:prstGeom>
          <a:noFill/>
          <a:ln>
            <a:noFill/>
          </a:ln>
        </p:spPr>
      </p:pic>
      <p:sp>
        <p:nvSpPr>
          <p:cNvPr id="15" name="TextBox 14"/>
          <p:cNvSpPr txBox="1"/>
          <p:nvPr/>
        </p:nvSpPr>
        <p:spPr>
          <a:xfrm>
            <a:off x="179512" y="2204284"/>
            <a:ext cx="4487689" cy="4185761"/>
          </a:xfrm>
          <a:prstGeom prst="rect">
            <a:avLst/>
          </a:prstGeom>
          <a:noFill/>
        </p:spPr>
        <p:txBody>
          <a:bodyPr wrap="square" rtlCol="0">
            <a:spAutoFit/>
          </a:bodyPr>
          <a:lstStyle/>
          <a:p>
            <a:pPr algn="just"/>
            <a:r>
              <a:rPr lang="en-US" sz="1400" b="1" dirty="0">
                <a:solidFill>
                  <a:schemeClr val="tx1">
                    <a:lumMod val="85000"/>
                  </a:schemeClr>
                </a:solidFill>
                <a:latin typeface="Raleway" pitchFamily="2" charset="0"/>
              </a:rPr>
              <a:t>Advantages</a:t>
            </a:r>
            <a:r>
              <a:rPr lang="en-US" sz="1400" b="1" dirty="0" smtClean="0">
                <a:solidFill>
                  <a:schemeClr val="tx1">
                    <a:lumMod val="85000"/>
                  </a:schemeClr>
                </a:solidFill>
                <a:latin typeface="Raleway" pitchFamily="2" charset="0"/>
              </a:rPr>
              <a:t>:</a:t>
            </a:r>
          </a:p>
          <a:p>
            <a:pPr algn="just"/>
            <a:endParaRPr lang="en-US" sz="1400" dirty="0">
              <a:solidFill>
                <a:schemeClr val="tx1">
                  <a:lumMod val="85000"/>
                </a:schemeClr>
              </a:solidFill>
              <a:latin typeface="Raleway" pitchFamily="2" charset="0"/>
            </a:endParaRPr>
          </a:p>
          <a:p>
            <a:pPr algn="just">
              <a:buFont typeface="Arial" panose="020B0604020202020204" pitchFamily="34" charset="0"/>
              <a:buChar char="•"/>
            </a:pPr>
            <a:r>
              <a:rPr lang="en-US" sz="1400" b="1" dirty="0">
                <a:solidFill>
                  <a:schemeClr val="tx1">
                    <a:lumMod val="85000"/>
                  </a:schemeClr>
                </a:solidFill>
                <a:latin typeface="Raleway" pitchFamily="2" charset="0"/>
              </a:rPr>
              <a:t>Accessibility:</a:t>
            </a:r>
            <a:r>
              <a:rPr lang="en-US" sz="1400" dirty="0">
                <a:solidFill>
                  <a:schemeClr val="tx1">
                    <a:lumMod val="85000"/>
                  </a:schemeClr>
                </a:solidFill>
                <a:latin typeface="Raleway" pitchFamily="2" charset="0"/>
              </a:rPr>
              <a:t> Can be used by anyone with a smartphone, even without NFC.</a:t>
            </a:r>
          </a:p>
          <a:p>
            <a:pPr algn="just">
              <a:buFont typeface="Arial" panose="020B0604020202020204" pitchFamily="34" charset="0"/>
              <a:buChar char="•"/>
            </a:pPr>
            <a:r>
              <a:rPr lang="en-US" sz="1400" b="1" dirty="0">
                <a:solidFill>
                  <a:schemeClr val="tx1">
                    <a:lumMod val="85000"/>
                  </a:schemeClr>
                </a:solidFill>
                <a:latin typeface="Raleway" pitchFamily="2" charset="0"/>
              </a:rPr>
              <a:t>Cost-effective:</a:t>
            </a:r>
            <a:r>
              <a:rPr lang="en-US" sz="1400" dirty="0">
                <a:solidFill>
                  <a:schemeClr val="tx1">
                    <a:lumMod val="85000"/>
                  </a:schemeClr>
                </a:solidFill>
                <a:latin typeface="Raleway" pitchFamily="2" charset="0"/>
              </a:rPr>
              <a:t> Merchants can use it without needing special hardware.</a:t>
            </a:r>
          </a:p>
          <a:p>
            <a:pPr algn="just">
              <a:buFont typeface="Arial" panose="020B0604020202020204" pitchFamily="34" charset="0"/>
              <a:buChar char="•"/>
            </a:pPr>
            <a:r>
              <a:rPr lang="en-US" sz="1400" b="1" dirty="0">
                <a:solidFill>
                  <a:schemeClr val="tx1">
                    <a:lumMod val="85000"/>
                  </a:schemeClr>
                </a:solidFill>
                <a:latin typeface="Raleway" pitchFamily="2" charset="0"/>
              </a:rPr>
              <a:t>Security:</a:t>
            </a:r>
            <a:r>
              <a:rPr lang="en-US" sz="1400" dirty="0">
                <a:solidFill>
                  <a:schemeClr val="tx1">
                    <a:lumMod val="85000"/>
                  </a:schemeClr>
                </a:solidFill>
                <a:latin typeface="Raleway" pitchFamily="2" charset="0"/>
              </a:rPr>
              <a:t> Can be quite secure when implemented correctly</a:t>
            </a:r>
            <a:r>
              <a:rPr lang="en-US" sz="1400" dirty="0" smtClean="0">
                <a:solidFill>
                  <a:schemeClr val="tx1">
                    <a:lumMod val="85000"/>
                  </a:schemeClr>
                </a:solidFill>
                <a:latin typeface="Raleway" pitchFamily="2" charset="0"/>
              </a:rPr>
              <a:t>.</a:t>
            </a:r>
          </a:p>
          <a:p>
            <a:pPr algn="just">
              <a:buFont typeface="Arial" panose="020B0604020202020204" pitchFamily="34" charset="0"/>
              <a:buChar char="•"/>
            </a:pPr>
            <a:endParaRPr lang="en-US" sz="1400" dirty="0">
              <a:solidFill>
                <a:schemeClr val="tx1">
                  <a:lumMod val="85000"/>
                </a:schemeClr>
              </a:solidFill>
              <a:latin typeface="Raleway" pitchFamily="2" charset="0"/>
            </a:endParaRPr>
          </a:p>
          <a:p>
            <a:pPr algn="just"/>
            <a:r>
              <a:rPr lang="en-US" sz="1400" b="1" dirty="0">
                <a:solidFill>
                  <a:schemeClr val="tx1">
                    <a:lumMod val="85000"/>
                  </a:schemeClr>
                </a:solidFill>
                <a:latin typeface="Raleway" pitchFamily="2" charset="0"/>
              </a:rPr>
              <a:t>Disadvantages</a:t>
            </a:r>
            <a:r>
              <a:rPr lang="en-US" sz="1400" b="1" dirty="0" smtClean="0">
                <a:solidFill>
                  <a:schemeClr val="tx1">
                    <a:lumMod val="85000"/>
                  </a:schemeClr>
                </a:solidFill>
                <a:latin typeface="Raleway" pitchFamily="2" charset="0"/>
              </a:rPr>
              <a:t>:</a:t>
            </a:r>
          </a:p>
          <a:p>
            <a:pPr algn="just"/>
            <a:endParaRPr lang="en-US" sz="1400" dirty="0">
              <a:solidFill>
                <a:schemeClr val="tx1">
                  <a:lumMod val="85000"/>
                </a:schemeClr>
              </a:solidFill>
              <a:latin typeface="Raleway" pitchFamily="2" charset="0"/>
            </a:endParaRPr>
          </a:p>
          <a:p>
            <a:pPr algn="just">
              <a:buFont typeface="Arial" panose="020B0604020202020204" pitchFamily="34" charset="0"/>
              <a:buChar char="•"/>
            </a:pPr>
            <a:r>
              <a:rPr lang="en-US" sz="1400" b="1" dirty="0">
                <a:solidFill>
                  <a:schemeClr val="tx1">
                    <a:lumMod val="85000"/>
                  </a:schemeClr>
                </a:solidFill>
                <a:latin typeface="Raleway" pitchFamily="2" charset="0"/>
              </a:rPr>
              <a:t>Speed:</a:t>
            </a:r>
            <a:r>
              <a:rPr lang="en-US" sz="1400" dirty="0">
                <a:solidFill>
                  <a:schemeClr val="tx1">
                    <a:lumMod val="85000"/>
                  </a:schemeClr>
                </a:solidFill>
                <a:latin typeface="Raleway" pitchFamily="2" charset="0"/>
              </a:rPr>
              <a:t> Generally slower than NFC and contactless methods due to scanning and manual input.</a:t>
            </a:r>
          </a:p>
          <a:p>
            <a:pPr algn="just">
              <a:buFont typeface="Arial" panose="020B0604020202020204" pitchFamily="34" charset="0"/>
              <a:buChar char="•"/>
            </a:pPr>
            <a:r>
              <a:rPr lang="en-US" sz="1400" b="1" dirty="0">
                <a:solidFill>
                  <a:schemeClr val="tx1">
                    <a:lumMod val="85000"/>
                  </a:schemeClr>
                </a:solidFill>
                <a:latin typeface="Raleway" pitchFamily="2" charset="0"/>
              </a:rPr>
              <a:t>User Experience:</a:t>
            </a:r>
            <a:r>
              <a:rPr lang="en-US" sz="1400" dirty="0">
                <a:solidFill>
                  <a:schemeClr val="tx1">
                    <a:lumMod val="85000"/>
                  </a:schemeClr>
                </a:solidFill>
                <a:latin typeface="Raleway" pitchFamily="2" charset="0"/>
              </a:rPr>
              <a:t> Can be less seamless than other methods, as it requires scanning.</a:t>
            </a:r>
          </a:p>
          <a:p>
            <a:pPr algn="just"/>
            <a:r>
              <a:rPr lang="en-US" sz="1400" b="1" dirty="0">
                <a:solidFill>
                  <a:schemeClr val="tx1">
                    <a:lumMod val="85000"/>
                  </a:schemeClr>
                </a:solidFill>
                <a:latin typeface="Raleway" pitchFamily="2" charset="0"/>
              </a:rPr>
              <a:t>Usage:</a:t>
            </a:r>
            <a:endParaRPr lang="en-US" sz="1400" dirty="0">
              <a:solidFill>
                <a:schemeClr val="tx1">
                  <a:lumMod val="85000"/>
                </a:schemeClr>
              </a:solidFill>
              <a:latin typeface="Raleway" pitchFamily="2" charset="0"/>
            </a:endParaRPr>
          </a:p>
          <a:p>
            <a:pPr algn="just">
              <a:buFont typeface="Arial" panose="020B0604020202020204" pitchFamily="34" charset="0"/>
              <a:buChar char="•"/>
            </a:pPr>
            <a:r>
              <a:rPr lang="en-US" sz="1400" dirty="0">
                <a:solidFill>
                  <a:schemeClr val="tx1">
                    <a:lumMod val="85000"/>
                  </a:schemeClr>
                </a:solidFill>
                <a:latin typeface="Raleway" pitchFamily="2" charset="0"/>
              </a:rPr>
              <a:t>Widely used in regions like Asia, particularly China, where QR code payments via platforms like </a:t>
            </a:r>
            <a:r>
              <a:rPr lang="en-US" sz="1400" dirty="0" err="1">
                <a:solidFill>
                  <a:schemeClr val="tx1">
                    <a:lumMod val="85000"/>
                  </a:schemeClr>
                </a:solidFill>
                <a:latin typeface="Raleway" pitchFamily="2" charset="0"/>
              </a:rPr>
              <a:t>Alipay</a:t>
            </a:r>
            <a:r>
              <a:rPr lang="en-US" sz="1400" dirty="0">
                <a:solidFill>
                  <a:schemeClr val="tx1">
                    <a:lumMod val="85000"/>
                  </a:schemeClr>
                </a:solidFill>
                <a:latin typeface="Raleway" pitchFamily="2" charset="0"/>
              </a:rPr>
              <a:t> and </a:t>
            </a:r>
            <a:r>
              <a:rPr lang="en-US" sz="1400" dirty="0" err="1">
                <a:solidFill>
                  <a:schemeClr val="tx1">
                    <a:lumMod val="85000"/>
                  </a:schemeClr>
                </a:solidFill>
                <a:latin typeface="Raleway" pitchFamily="2" charset="0"/>
              </a:rPr>
              <a:t>WeChat</a:t>
            </a:r>
            <a:r>
              <a:rPr lang="en-US" sz="1400" dirty="0">
                <a:solidFill>
                  <a:schemeClr val="tx1">
                    <a:lumMod val="85000"/>
                  </a:schemeClr>
                </a:solidFill>
                <a:latin typeface="Raleway" pitchFamily="2" charset="0"/>
              </a:rPr>
              <a:t> Pay are dominant.</a:t>
            </a:r>
          </a:p>
        </p:txBody>
      </p:sp>
      <p:sp>
        <p:nvSpPr>
          <p:cNvPr id="18" name="TextBox 17"/>
          <p:cNvSpPr txBox="1"/>
          <p:nvPr/>
        </p:nvSpPr>
        <p:spPr>
          <a:xfrm>
            <a:off x="4932039" y="2204284"/>
            <a:ext cx="3987035" cy="4401205"/>
          </a:xfrm>
          <a:prstGeom prst="rect">
            <a:avLst/>
          </a:prstGeom>
          <a:noFill/>
        </p:spPr>
        <p:txBody>
          <a:bodyPr wrap="square" rtlCol="0">
            <a:spAutoFit/>
          </a:bodyPr>
          <a:lstStyle/>
          <a:p>
            <a:pPr algn="just"/>
            <a:r>
              <a:rPr lang="en-US" sz="1400" b="1" dirty="0">
                <a:solidFill>
                  <a:schemeClr val="tx1">
                    <a:lumMod val="85000"/>
                  </a:schemeClr>
                </a:solidFill>
                <a:latin typeface="Raleway" pitchFamily="2" charset="0"/>
              </a:rPr>
              <a:t>Advantages</a:t>
            </a:r>
            <a:r>
              <a:rPr lang="en-US" sz="1400" b="1" dirty="0" smtClean="0">
                <a:solidFill>
                  <a:schemeClr val="tx1">
                    <a:lumMod val="85000"/>
                  </a:schemeClr>
                </a:solidFill>
                <a:latin typeface="Raleway" pitchFamily="2" charset="0"/>
              </a:rPr>
              <a:t>:</a:t>
            </a:r>
          </a:p>
          <a:p>
            <a:pPr algn="just"/>
            <a:endParaRPr lang="en-US" sz="1400" dirty="0">
              <a:solidFill>
                <a:schemeClr val="tx1">
                  <a:lumMod val="85000"/>
                </a:schemeClr>
              </a:solidFill>
              <a:latin typeface="Raleway" pitchFamily="2" charset="0"/>
            </a:endParaRPr>
          </a:p>
          <a:p>
            <a:pPr algn="just">
              <a:buFont typeface="Arial" panose="020B0604020202020204" pitchFamily="34" charset="0"/>
              <a:buChar char="•"/>
            </a:pPr>
            <a:r>
              <a:rPr lang="en-US" sz="1400" b="1" dirty="0">
                <a:solidFill>
                  <a:schemeClr val="tx1">
                    <a:lumMod val="85000"/>
                  </a:schemeClr>
                </a:solidFill>
                <a:latin typeface="Raleway" pitchFamily="2" charset="0"/>
              </a:rPr>
              <a:t>Convenience:</a:t>
            </a:r>
            <a:r>
              <a:rPr lang="en-US" sz="1400" dirty="0">
                <a:solidFill>
                  <a:schemeClr val="tx1">
                    <a:lumMod val="85000"/>
                  </a:schemeClr>
                </a:solidFill>
                <a:latin typeface="Raleway" pitchFamily="2" charset="0"/>
              </a:rPr>
              <a:t> Quick and easy transactions by simply tapping the card.</a:t>
            </a:r>
          </a:p>
          <a:p>
            <a:pPr algn="just">
              <a:buFont typeface="Arial" panose="020B0604020202020204" pitchFamily="34" charset="0"/>
              <a:buChar char="•"/>
            </a:pPr>
            <a:r>
              <a:rPr lang="en-US" sz="1400" b="1" dirty="0">
                <a:solidFill>
                  <a:schemeClr val="tx1">
                    <a:lumMod val="85000"/>
                  </a:schemeClr>
                </a:solidFill>
                <a:latin typeface="Raleway" pitchFamily="2" charset="0"/>
              </a:rPr>
              <a:t>Speed:</a:t>
            </a:r>
            <a:r>
              <a:rPr lang="en-US" sz="1400" dirty="0">
                <a:solidFill>
                  <a:schemeClr val="tx1">
                    <a:lumMod val="85000"/>
                  </a:schemeClr>
                </a:solidFill>
                <a:latin typeface="Raleway" pitchFamily="2" charset="0"/>
              </a:rPr>
              <a:t> Faster than both swipe and dip methods.</a:t>
            </a:r>
          </a:p>
          <a:p>
            <a:pPr algn="just">
              <a:buFont typeface="Arial" panose="020B0604020202020204" pitchFamily="34" charset="0"/>
              <a:buChar char="•"/>
            </a:pPr>
            <a:r>
              <a:rPr lang="en-US" sz="1400" b="1" dirty="0">
                <a:solidFill>
                  <a:schemeClr val="tx1">
                    <a:lumMod val="85000"/>
                  </a:schemeClr>
                </a:solidFill>
                <a:latin typeface="Raleway" pitchFamily="2" charset="0"/>
              </a:rPr>
              <a:t>Hygiene:</a:t>
            </a:r>
            <a:r>
              <a:rPr lang="en-US" sz="1400" dirty="0">
                <a:solidFill>
                  <a:schemeClr val="tx1">
                    <a:lumMod val="85000"/>
                  </a:schemeClr>
                </a:solidFill>
                <a:latin typeface="Raleway" pitchFamily="2" charset="0"/>
              </a:rPr>
              <a:t> No physical contact with the reader, beneficial in contexts like pandemics</a:t>
            </a:r>
            <a:r>
              <a:rPr lang="en-US" sz="1400" dirty="0" smtClean="0">
                <a:solidFill>
                  <a:schemeClr val="tx1">
                    <a:lumMod val="85000"/>
                  </a:schemeClr>
                </a:solidFill>
                <a:latin typeface="Raleway" pitchFamily="2" charset="0"/>
              </a:rPr>
              <a:t>.</a:t>
            </a:r>
          </a:p>
          <a:p>
            <a:pPr algn="just">
              <a:buFont typeface="Arial" panose="020B0604020202020204" pitchFamily="34" charset="0"/>
              <a:buChar char="•"/>
            </a:pPr>
            <a:endParaRPr lang="en-US" sz="1400" dirty="0">
              <a:solidFill>
                <a:schemeClr val="tx1">
                  <a:lumMod val="85000"/>
                </a:schemeClr>
              </a:solidFill>
              <a:latin typeface="Raleway" pitchFamily="2" charset="0"/>
            </a:endParaRPr>
          </a:p>
          <a:p>
            <a:pPr algn="just"/>
            <a:r>
              <a:rPr lang="en-US" sz="1400" b="1" dirty="0">
                <a:solidFill>
                  <a:schemeClr val="tx1">
                    <a:lumMod val="85000"/>
                  </a:schemeClr>
                </a:solidFill>
                <a:latin typeface="Raleway" pitchFamily="2" charset="0"/>
              </a:rPr>
              <a:t>Disadvantages</a:t>
            </a:r>
            <a:r>
              <a:rPr lang="en-US" sz="1400" b="1" dirty="0" smtClean="0">
                <a:solidFill>
                  <a:schemeClr val="tx1">
                    <a:lumMod val="85000"/>
                  </a:schemeClr>
                </a:solidFill>
                <a:latin typeface="Raleway" pitchFamily="2" charset="0"/>
              </a:rPr>
              <a:t>:</a:t>
            </a:r>
          </a:p>
          <a:p>
            <a:pPr algn="just"/>
            <a:endParaRPr lang="en-US" sz="1400" dirty="0">
              <a:solidFill>
                <a:schemeClr val="tx1">
                  <a:lumMod val="85000"/>
                </a:schemeClr>
              </a:solidFill>
              <a:latin typeface="Raleway" pitchFamily="2" charset="0"/>
            </a:endParaRPr>
          </a:p>
          <a:p>
            <a:pPr algn="just">
              <a:buFont typeface="Arial" panose="020B0604020202020204" pitchFamily="34" charset="0"/>
              <a:buChar char="•"/>
            </a:pPr>
            <a:r>
              <a:rPr lang="en-US" sz="1400" b="1" dirty="0">
                <a:solidFill>
                  <a:schemeClr val="tx1">
                    <a:lumMod val="85000"/>
                  </a:schemeClr>
                </a:solidFill>
                <a:latin typeface="Raleway" pitchFamily="2" charset="0"/>
              </a:rPr>
              <a:t>Limitations:</a:t>
            </a:r>
            <a:r>
              <a:rPr lang="en-US" sz="1400" dirty="0">
                <a:solidFill>
                  <a:schemeClr val="tx1">
                    <a:lumMod val="85000"/>
                  </a:schemeClr>
                </a:solidFill>
                <a:latin typeface="Raleway" pitchFamily="2" charset="0"/>
              </a:rPr>
              <a:t> Often has a transaction limit for contactless payments, requiring PIN entry for larger amounts.</a:t>
            </a:r>
          </a:p>
          <a:p>
            <a:pPr algn="just">
              <a:buFont typeface="Arial" panose="020B0604020202020204" pitchFamily="34" charset="0"/>
              <a:buChar char="•"/>
            </a:pPr>
            <a:r>
              <a:rPr lang="en-US" sz="1400" b="1" dirty="0">
                <a:solidFill>
                  <a:schemeClr val="tx1">
                    <a:lumMod val="85000"/>
                  </a:schemeClr>
                </a:solidFill>
                <a:latin typeface="Raleway" pitchFamily="2" charset="0"/>
              </a:rPr>
              <a:t>Security Concerns:</a:t>
            </a:r>
            <a:r>
              <a:rPr lang="en-US" sz="1400" dirty="0">
                <a:solidFill>
                  <a:schemeClr val="tx1">
                    <a:lumMod val="85000"/>
                  </a:schemeClr>
                </a:solidFill>
                <a:latin typeface="Raleway" pitchFamily="2" charset="0"/>
              </a:rPr>
              <a:t> Though generally secure, there is a minor risk of unauthorized transactions if the card is lost.</a:t>
            </a:r>
          </a:p>
          <a:p>
            <a:pPr algn="just"/>
            <a:r>
              <a:rPr lang="en-US" sz="1400" b="1" dirty="0">
                <a:solidFill>
                  <a:schemeClr val="tx1">
                    <a:lumMod val="85000"/>
                  </a:schemeClr>
                </a:solidFill>
                <a:latin typeface="Raleway" pitchFamily="2" charset="0"/>
              </a:rPr>
              <a:t>Usage:</a:t>
            </a:r>
            <a:endParaRPr lang="en-US" sz="1400" dirty="0">
              <a:solidFill>
                <a:schemeClr val="tx1">
                  <a:lumMod val="85000"/>
                </a:schemeClr>
              </a:solidFill>
              <a:latin typeface="Raleway" pitchFamily="2" charset="0"/>
            </a:endParaRPr>
          </a:p>
          <a:p>
            <a:pPr algn="just">
              <a:buFont typeface="Arial" panose="020B0604020202020204" pitchFamily="34" charset="0"/>
              <a:buChar char="•"/>
            </a:pPr>
            <a:r>
              <a:rPr lang="en-US" sz="1400" dirty="0">
                <a:solidFill>
                  <a:schemeClr val="tx1">
                    <a:lumMod val="85000"/>
                  </a:schemeClr>
                </a:solidFill>
                <a:latin typeface="Raleway" pitchFamily="2" charset="0"/>
              </a:rPr>
              <a:t>Increasingly popular worldwide, especially in urban areas and for small transactions.</a:t>
            </a:r>
          </a:p>
        </p:txBody>
      </p:sp>
      <p:sp>
        <p:nvSpPr>
          <p:cNvPr id="5" name="Rounded Rectangle 4"/>
          <p:cNvSpPr/>
          <p:nvPr/>
        </p:nvSpPr>
        <p:spPr>
          <a:xfrm>
            <a:off x="5753347" y="1518205"/>
            <a:ext cx="2016224" cy="394606"/>
          </a:xfrm>
          <a:prstGeom prst="roundRect">
            <a:avLst/>
          </a:prstGeom>
          <a:solidFill>
            <a:srgbClr val="00CC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Contactless (Tap)</a:t>
            </a:r>
            <a:endParaRPr lang="en-IN" dirty="0"/>
          </a:p>
        </p:txBody>
      </p:sp>
      <p:sp>
        <p:nvSpPr>
          <p:cNvPr id="10" name="Rounded Rectangle 9"/>
          <p:cNvSpPr/>
          <p:nvPr/>
        </p:nvSpPr>
        <p:spPr>
          <a:xfrm>
            <a:off x="1187624" y="1518205"/>
            <a:ext cx="2016224" cy="394606"/>
          </a:xfrm>
          <a:prstGeom prst="roundRect">
            <a:avLst/>
          </a:prstGeom>
          <a:solidFill>
            <a:srgbClr val="00CC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QR Code</a:t>
            </a:r>
            <a:endParaRPr lang="en-IN" dirty="0"/>
          </a:p>
        </p:txBody>
      </p:sp>
    </p:spTree>
    <p:extLst>
      <p:ext uri="{BB962C8B-B14F-4D97-AF65-F5344CB8AC3E}">
        <p14:creationId xmlns:p14="http://schemas.microsoft.com/office/powerpoint/2010/main" val="182107760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p:cNvSpPr/>
          <p:nvPr/>
        </p:nvSpPr>
        <p:spPr>
          <a:xfrm>
            <a:off x="881161" y="428621"/>
            <a:ext cx="6815138" cy="66130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3" name="Content Placeholder 2">
            <a:extLst>
              <a:ext uri="{FF2B5EF4-FFF2-40B4-BE49-F238E27FC236}">
                <a16:creationId xmlns:a16="http://schemas.microsoft.com/office/drawing/2014/main" xmlns="" id="{842A01C3-5F33-0E31-F76A-1EAE7EE22438}"/>
              </a:ext>
            </a:extLst>
          </p:cNvPr>
          <p:cNvSpPr>
            <a:spLocks noGrp="1"/>
          </p:cNvSpPr>
          <p:nvPr>
            <p:ph idx="1"/>
          </p:nvPr>
        </p:nvSpPr>
        <p:spPr>
          <a:xfrm>
            <a:off x="2924674" y="1196752"/>
            <a:ext cx="3582683" cy="394606"/>
          </a:xfrm>
        </p:spPr>
        <p:txBody>
          <a:bodyPr>
            <a:normAutofit fontScale="85000" lnSpcReduction="10000"/>
          </a:bodyPr>
          <a:lstStyle/>
          <a:p>
            <a:pPr marL="0" indent="0" algn="just">
              <a:buNone/>
            </a:pPr>
            <a:r>
              <a:rPr lang="en-US" sz="1800" b="1" dirty="0" smtClean="0"/>
              <a:t>NFC (Near Field Communication)</a:t>
            </a:r>
            <a:endParaRPr lang="en-IN" dirty="0"/>
          </a:p>
        </p:txBody>
      </p:sp>
      <p:sp>
        <p:nvSpPr>
          <p:cNvPr id="2" name="Title 1">
            <a:extLst>
              <a:ext uri="{FF2B5EF4-FFF2-40B4-BE49-F238E27FC236}">
                <a16:creationId xmlns:a16="http://schemas.microsoft.com/office/drawing/2014/main" xmlns="" id="{A6D0C247-18C0-0897-6E8C-0FB53434DF94}"/>
              </a:ext>
            </a:extLst>
          </p:cNvPr>
          <p:cNvSpPr>
            <a:spLocks noGrp="1"/>
          </p:cNvSpPr>
          <p:nvPr>
            <p:ph type="title"/>
          </p:nvPr>
        </p:nvSpPr>
        <p:spPr>
          <a:xfrm>
            <a:off x="867181" y="413368"/>
            <a:ext cx="6984410" cy="767446"/>
          </a:xfrm>
        </p:spPr>
        <p:txBody>
          <a:bodyPr>
            <a:noAutofit/>
          </a:bodyPr>
          <a:lstStyle/>
          <a:p>
            <a:pPr algn="ctr"/>
            <a:r>
              <a:rPr lang="en-US" sz="2400" dirty="0"/>
              <a:t>Transaction Type : Card Present (Offline)</a:t>
            </a:r>
            <a:endParaRPr lang="en-IN" sz="2400" dirty="0">
              <a:latin typeface="+mn-lt"/>
            </a:endParaRPr>
          </a:p>
        </p:txBody>
      </p:sp>
      <p:pic>
        <p:nvPicPr>
          <p:cNvPr id="14" name="Google Shape;23;p3"/>
          <p:cNvPicPr preferRelativeResize="0"/>
          <p:nvPr/>
        </p:nvPicPr>
        <p:blipFill rotWithShape="1">
          <a:blip r:embed="rId2">
            <a:alphaModFix/>
          </a:blip>
          <a:srcRect/>
          <a:stretch/>
        </p:blipFill>
        <p:spPr>
          <a:xfrm>
            <a:off x="7737422" y="110217"/>
            <a:ext cx="1220840" cy="318405"/>
          </a:xfrm>
          <a:prstGeom prst="rect">
            <a:avLst/>
          </a:prstGeom>
          <a:noFill/>
          <a:ln>
            <a:noFill/>
          </a:ln>
        </p:spPr>
      </p:pic>
      <p:sp>
        <p:nvSpPr>
          <p:cNvPr id="15" name="TextBox 14"/>
          <p:cNvSpPr txBox="1"/>
          <p:nvPr/>
        </p:nvSpPr>
        <p:spPr>
          <a:xfrm>
            <a:off x="251520" y="1484784"/>
            <a:ext cx="8706742" cy="4616648"/>
          </a:xfrm>
          <a:prstGeom prst="rect">
            <a:avLst/>
          </a:prstGeom>
          <a:noFill/>
        </p:spPr>
        <p:txBody>
          <a:bodyPr wrap="square" rtlCol="0">
            <a:spAutoFit/>
          </a:bodyPr>
          <a:lstStyle/>
          <a:p>
            <a:pPr algn="just"/>
            <a:r>
              <a:rPr lang="en-US" sz="1400" b="1" dirty="0">
                <a:solidFill>
                  <a:schemeClr val="tx1">
                    <a:lumMod val="85000"/>
                  </a:schemeClr>
                </a:solidFill>
                <a:latin typeface="Raleway" pitchFamily="2" charset="0"/>
              </a:rPr>
              <a:t>Advantages</a:t>
            </a:r>
            <a:r>
              <a:rPr lang="en-US" sz="1400" b="1" dirty="0" smtClean="0">
                <a:solidFill>
                  <a:schemeClr val="tx1">
                    <a:lumMod val="85000"/>
                  </a:schemeClr>
                </a:solidFill>
                <a:latin typeface="Raleway" pitchFamily="2" charset="0"/>
              </a:rPr>
              <a:t>:</a:t>
            </a:r>
          </a:p>
          <a:p>
            <a:pPr algn="just"/>
            <a:endParaRPr lang="en-US" sz="1400" dirty="0">
              <a:solidFill>
                <a:schemeClr val="tx1">
                  <a:lumMod val="85000"/>
                </a:schemeClr>
              </a:solidFill>
              <a:latin typeface="Raleway" pitchFamily="2" charset="0"/>
            </a:endParaRPr>
          </a:p>
          <a:p>
            <a:pPr algn="just">
              <a:buFont typeface="Arial" panose="020B0604020202020204" pitchFamily="34" charset="0"/>
              <a:buChar char="•"/>
            </a:pPr>
            <a:r>
              <a:rPr lang="en-US" sz="1400" b="1" dirty="0">
                <a:solidFill>
                  <a:schemeClr val="tx1">
                    <a:lumMod val="85000"/>
                  </a:schemeClr>
                </a:solidFill>
                <a:latin typeface="Raleway" pitchFamily="2" charset="0"/>
              </a:rPr>
              <a:t>Convenience:</a:t>
            </a:r>
            <a:r>
              <a:rPr lang="en-US" sz="1400" dirty="0">
                <a:solidFill>
                  <a:schemeClr val="tx1">
                    <a:lumMod val="85000"/>
                  </a:schemeClr>
                </a:solidFill>
                <a:latin typeface="Raleway" pitchFamily="2" charset="0"/>
              </a:rPr>
              <a:t> Allows mobile payments with smartphones, eliminating the need for carrying physical cards</a:t>
            </a:r>
            <a:r>
              <a:rPr lang="en-US" sz="1400" dirty="0" smtClean="0">
                <a:solidFill>
                  <a:schemeClr val="tx1">
                    <a:lumMod val="85000"/>
                  </a:schemeClr>
                </a:solidFill>
                <a:latin typeface="Raleway" pitchFamily="2" charset="0"/>
              </a:rPr>
              <a:t>.</a:t>
            </a:r>
          </a:p>
          <a:p>
            <a:pPr algn="just">
              <a:buFont typeface="Arial" panose="020B0604020202020204" pitchFamily="34" charset="0"/>
              <a:buChar char="•"/>
            </a:pPr>
            <a:endParaRPr lang="en-US" sz="1400" dirty="0">
              <a:solidFill>
                <a:schemeClr val="tx1">
                  <a:lumMod val="85000"/>
                </a:schemeClr>
              </a:solidFill>
              <a:latin typeface="Raleway" pitchFamily="2" charset="0"/>
            </a:endParaRPr>
          </a:p>
          <a:p>
            <a:pPr algn="just">
              <a:buFont typeface="Arial" panose="020B0604020202020204" pitchFamily="34" charset="0"/>
              <a:buChar char="•"/>
            </a:pPr>
            <a:r>
              <a:rPr lang="en-US" sz="1400" b="1" dirty="0">
                <a:solidFill>
                  <a:schemeClr val="tx1">
                    <a:lumMod val="85000"/>
                  </a:schemeClr>
                </a:solidFill>
                <a:latin typeface="Raleway" pitchFamily="2" charset="0"/>
              </a:rPr>
              <a:t>Security:</a:t>
            </a:r>
            <a:r>
              <a:rPr lang="en-US" sz="1400" dirty="0">
                <a:solidFill>
                  <a:schemeClr val="tx1">
                    <a:lumMod val="85000"/>
                  </a:schemeClr>
                </a:solidFill>
                <a:latin typeface="Raleway" pitchFamily="2" charset="0"/>
              </a:rPr>
              <a:t> Uses tokenization, making transactions very secure</a:t>
            </a:r>
            <a:r>
              <a:rPr lang="en-US" sz="1400" dirty="0" smtClean="0">
                <a:solidFill>
                  <a:schemeClr val="tx1">
                    <a:lumMod val="85000"/>
                  </a:schemeClr>
                </a:solidFill>
                <a:latin typeface="Raleway" pitchFamily="2" charset="0"/>
              </a:rPr>
              <a:t>.</a:t>
            </a:r>
          </a:p>
          <a:p>
            <a:pPr algn="just">
              <a:buFont typeface="Arial" panose="020B0604020202020204" pitchFamily="34" charset="0"/>
              <a:buChar char="•"/>
            </a:pPr>
            <a:endParaRPr lang="en-US" sz="1400" dirty="0">
              <a:solidFill>
                <a:schemeClr val="tx1">
                  <a:lumMod val="85000"/>
                </a:schemeClr>
              </a:solidFill>
              <a:latin typeface="Raleway" pitchFamily="2" charset="0"/>
            </a:endParaRPr>
          </a:p>
          <a:p>
            <a:pPr algn="just">
              <a:buFont typeface="Arial" panose="020B0604020202020204" pitchFamily="34" charset="0"/>
              <a:buChar char="•"/>
            </a:pPr>
            <a:r>
              <a:rPr lang="en-US" sz="1400" b="1" dirty="0">
                <a:solidFill>
                  <a:schemeClr val="tx1">
                    <a:lumMod val="85000"/>
                  </a:schemeClr>
                </a:solidFill>
                <a:latin typeface="Raleway" pitchFamily="2" charset="0"/>
              </a:rPr>
              <a:t>Speed:</a:t>
            </a:r>
            <a:r>
              <a:rPr lang="en-US" sz="1400" dirty="0">
                <a:solidFill>
                  <a:schemeClr val="tx1">
                    <a:lumMod val="85000"/>
                  </a:schemeClr>
                </a:solidFill>
                <a:latin typeface="Raleway" pitchFamily="2" charset="0"/>
              </a:rPr>
              <a:t> Very quick, similar to contactless card payments</a:t>
            </a:r>
            <a:r>
              <a:rPr lang="en-US" sz="1400" dirty="0" smtClean="0">
                <a:solidFill>
                  <a:schemeClr val="tx1">
                    <a:lumMod val="85000"/>
                  </a:schemeClr>
                </a:solidFill>
                <a:latin typeface="Raleway" pitchFamily="2" charset="0"/>
              </a:rPr>
              <a:t>.</a:t>
            </a:r>
          </a:p>
          <a:p>
            <a:pPr algn="just">
              <a:buFont typeface="Arial" panose="020B0604020202020204" pitchFamily="34" charset="0"/>
              <a:buChar char="•"/>
            </a:pPr>
            <a:endParaRPr lang="en-US" sz="1400" dirty="0">
              <a:solidFill>
                <a:schemeClr val="tx1">
                  <a:lumMod val="85000"/>
                </a:schemeClr>
              </a:solidFill>
              <a:latin typeface="Raleway" pitchFamily="2" charset="0"/>
            </a:endParaRPr>
          </a:p>
          <a:p>
            <a:pPr algn="just">
              <a:buFont typeface="Arial" panose="020B0604020202020204" pitchFamily="34" charset="0"/>
              <a:buChar char="•"/>
            </a:pPr>
            <a:r>
              <a:rPr lang="en-US" sz="1400" b="1" dirty="0">
                <a:solidFill>
                  <a:schemeClr val="tx1">
                    <a:lumMod val="85000"/>
                  </a:schemeClr>
                </a:solidFill>
                <a:latin typeface="Raleway" pitchFamily="2" charset="0"/>
              </a:rPr>
              <a:t>Versatility:</a:t>
            </a:r>
            <a:r>
              <a:rPr lang="en-US" sz="1400" dirty="0">
                <a:solidFill>
                  <a:schemeClr val="tx1">
                    <a:lumMod val="85000"/>
                  </a:schemeClr>
                </a:solidFill>
                <a:latin typeface="Raleway" pitchFamily="2" charset="0"/>
              </a:rPr>
              <a:t> Can integrate with loyalty programs, tickets, etc</a:t>
            </a:r>
            <a:r>
              <a:rPr lang="en-US" sz="1400" dirty="0" smtClean="0">
                <a:solidFill>
                  <a:schemeClr val="tx1">
                    <a:lumMod val="85000"/>
                  </a:schemeClr>
                </a:solidFill>
                <a:latin typeface="Raleway" pitchFamily="2" charset="0"/>
              </a:rPr>
              <a:t>.</a:t>
            </a:r>
          </a:p>
          <a:p>
            <a:pPr algn="just">
              <a:buFont typeface="Arial" panose="020B0604020202020204" pitchFamily="34" charset="0"/>
              <a:buChar char="•"/>
            </a:pPr>
            <a:endParaRPr lang="en-US" sz="1400" dirty="0">
              <a:solidFill>
                <a:schemeClr val="tx1">
                  <a:lumMod val="85000"/>
                </a:schemeClr>
              </a:solidFill>
              <a:latin typeface="Raleway" pitchFamily="2" charset="0"/>
            </a:endParaRPr>
          </a:p>
          <a:p>
            <a:pPr algn="just"/>
            <a:r>
              <a:rPr lang="en-US" sz="1400" b="1" dirty="0">
                <a:solidFill>
                  <a:schemeClr val="tx1">
                    <a:lumMod val="85000"/>
                  </a:schemeClr>
                </a:solidFill>
                <a:latin typeface="Raleway" pitchFamily="2" charset="0"/>
              </a:rPr>
              <a:t>Disadvantages</a:t>
            </a:r>
            <a:r>
              <a:rPr lang="en-US" sz="1400" b="1" dirty="0" smtClean="0">
                <a:solidFill>
                  <a:schemeClr val="tx1">
                    <a:lumMod val="85000"/>
                  </a:schemeClr>
                </a:solidFill>
                <a:latin typeface="Raleway" pitchFamily="2" charset="0"/>
              </a:rPr>
              <a:t>:</a:t>
            </a:r>
          </a:p>
          <a:p>
            <a:pPr algn="just"/>
            <a:endParaRPr lang="en-US" sz="1400" dirty="0">
              <a:solidFill>
                <a:schemeClr val="tx1">
                  <a:lumMod val="85000"/>
                </a:schemeClr>
              </a:solidFill>
              <a:latin typeface="Raleway" pitchFamily="2" charset="0"/>
            </a:endParaRPr>
          </a:p>
          <a:p>
            <a:pPr algn="just">
              <a:buFont typeface="Arial" panose="020B0604020202020204" pitchFamily="34" charset="0"/>
              <a:buChar char="•"/>
            </a:pPr>
            <a:r>
              <a:rPr lang="en-US" sz="1400" b="1" dirty="0">
                <a:solidFill>
                  <a:schemeClr val="tx1">
                    <a:lumMod val="85000"/>
                  </a:schemeClr>
                </a:solidFill>
                <a:latin typeface="Raleway" pitchFamily="2" charset="0"/>
              </a:rPr>
              <a:t>Dependency on Battery:</a:t>
            </a:r>
            <a:r>
              <a:rPr lang="en-US" sz="1400" dirty="0">
                <a:solidFill>
                  <a:schemeClr val="tx1">
                    <a:lumMod val="85000"/>
                  </a:schemeClr>
                </a:solidFill>
                <a:latin typeface="Raleway" pitchFamily="2" charset="0"/>
              </a:rPr>
              <a:t> Requires a charged smartphone</a:t>
            </a:r>
            <a:r>
              <a:rPr lang="en-US" sz="1400" dirty="0" smtClean="0">
                <a:solidFill>
                  <a:schemeClr val="tx1">
                    <a:lumMod val="85000"/>
                  </a:schemeClr>
                </a:solidFill>
                <a:latin typeface="Raleway" pitchFamily="2" charset="0"/>
              </a:rPr>
              <a:t>.</a:t>
            </a:r>
          </a:p>
          <a:p>
            <a:pPr algn="just">
              <a:buFont typeface="Arial" panose="020B0604020202020204" pitchFamily="34" charset="0"/>
              <a:buChar char="•"/>
            </a:pPr>
            <a:endParaRPr lang="en-US" sz="1400" dirty="0">
              <a:solidFill>
                <a:schemeClr val="tx1">
                  <a:lumMod val="85000"/>
                </a:schemeClr>
              </a:solidFill>
              <a:latin typeface="Raleway" pitchFamily="2" charset="0"/>
            </a:endParaRPr>
          </a:p>
          <a:p>
            <a:pPr algn="just">
              <a:buFont typeface="Arial" panose="020B0604020202020204" pitchFamily="34" charset="0"/>
              <a:buChar char="•"/>
            </a:pPr>
            <a:r>
              <a:rPr lang="en-US" sz="1400" b="1" dirty="0">
                <a:solidFill>
                  <a:schemeClr val="tx1">
                    <a:lumMod val="85000"/>
                  </a:schemeClr>
                </a:solidFill>
                <a:latin typeface="Raleway" pitchFamily="2" charset="0"/>
              </a:rPr>
              <a:t>Device Compatibility:</a:t>
            </a:r>
            <a:r>
              <a:rPr lang="en-US" sz="1400" dirty="0">
                <a:solidFill>
                  <a:schemeClr val="tx1">
                    <a:lumMod val="85000"/>
                  </a:schemeClr>
                </a:solidFill>
                <a:latin typeface="Raleway" pitchFamily="2" charset="0"/>
              </a:rPr>
              <a:t> Not all smartphones and terminals support NFC</a:t>
            </a:r>
            <a:r>
              <a:rPr lang="en-US" sz="1400" dirty="0" smtClean="0">
                <a:solidFill>
                  <a:schemeClr val="tx1">
                    <a:lumMod val="85000"/>
                  </a:schemeClr>
                </a:solidFill>
                <a:latin typeface="Raleway" pitchFamily="2" charset="0"/>
              </a:rPr>
              <a:t>.</a:t>
            </a:r>
          </a:p>
          <a:p>
            <a:pPr algn="just">
              <a:buFont typeface="Arial" panose="020B0604020202020204" pitchFamily="34" charset="0"/>
              <a:buChar char="•"/>
            </a:pPr>
            <a:endParaRPr lang="en-US" sz="1400" dirty="0">
              <a:solidFill>
                <a:schemeClr val="tx1">
                  <a:lumMod val="85000"/>
                </a:schemeClr>
              </a:solidFill>
              <a:latin typeface="Raleway" pitchFamily="2" charset="0"/>
            </a:endParaRPr>
          </a:p>
          <a:p>
            <a:pPr algn="just">
              <a:buFont typeface="Arial" panose="020B0604020202020204" pitchFamily="34" charset="0"/>
              <a:buChar char="•"/>
            </a:pPr>
            <a:r>
              <a:rPr lang="en-US" sz="1400" b="1" dirty="0">
                <a:solidFill>
                  <a:schemeClr val="tx1">
                    <a:lumMod val="85000"/>
                  </a:schemeClr>
                </a:solidFill>
                <a:latin typeface="Raleway" pitchFamily="2" charset="0"/>
              </a:rPr>
              <a:t>Adoption:</a:t>
            </a:r>
            <a:r>
              <a:rPr lang="en-US" sz="1400" dirty="0">
                <a:solidFill>
                  <a:schemeClr val="tx1">
                    <a:lumMod val="85000"/>
                  </a:schemeClr>
                </a:solidFill>
                <a:latin typeface="Raleway" pitchFamily="2" charset="0"/>
              </a:rPr>
              <a:t> Requires merchants to have NFC-capable terminals</a:t>
            </a:r>
            <a:r>
              <a:rPr lang="en-US" sz="1400" dirty="0" smtClean="0">
                <a:solidFill>
                  <a:schemeClr val="tx1">
                    <a:lumMod val="85000"/>
                  </a:schemeClr>
                </a:solidFill>
                <a:latin typeface="Raleway" pitchFamily="2" charset="0"/>
              </a:rPr>
              <a:t>.</a:t>
            </a:r>
          </a:p>
          <a:p>
            <a:pPr algn="just">
              <a:buFont typeface="Arial" panose="020B0604020202020204" pitchFamily="34" charset="0"/>
              <a:buChar char="•"/>
            </a:pPr>
            <a:endParaRPr lang="en-US" sz="1400" dirty="0">
              <a:solidFill>
                <a:schemeClr val="tx1">
                  <a:lumMod val="85000"/>
                </a:schemeClr>
              </a:solidFill>
              <a:latin typeface="Raleway" pitchFamily="2" charset="0"/>
            </a:endParaRPr>
          </a:p>
          <a:p>
            <a:pPr algn="just"/>
            <a:r>
              <a:rPr lang="en-US" sz="1400" b="1" dirty="0">
                <a:solidFill>
                  <a:schemeClr val="tx1">
                    <a:lumMod val="85000"/>
                  </a:schemeClr>
                </a:solidFill>
                <a:latin typeface="Raleway" pitchFamily="2" charset="0"/>
              </a:rPr>
              <a:t>Usage:</a:t>
            </a:r>
            <a:endParaRPr lang="en-US" sz="1400" dirty="0">
              <a:solidFill>
                <a:schemeClr val="tx1">
                  <a:lumMod val="85000"/>
                </a:schemeClr>
              </a:solidFill>
              <a:latin typeface="Raleway" pitchFamily="2" charset="0"/>
            </a:endParaRPr>
          </a:p>
          <a:p>
            <a:pPr algn="just">
              <a:buFont typeface="Arial" panose="020B0604020202020204" pitchFamily="34" charset="0"/>
              <a:buChar char="•"/>
            </a:pPr>
            <a:r>
              <a:rPr lang="en-US" sz="1400" dirty="0">
                <a:solidFill>
                  <a:schemeClr val="tx1">
                    <a:lumMod val="85000"/>
                  </a:schemeClr>
                </a:solidFill>
                <a:latin typeface="Raleway" pitchFamily="2" charset="0"/>
              </a:rPr>
              <a:t>Growing rapidly, especially in tech-savvy regions and among younger consumers. Services like Apple Pay, </a:t>
            </a:r>
            <a:r>
              <a:rPr lang="en-US" sz="1400" dirty="0" smtClean="0">
                <a:solidFill>
                  <a:schemeClr val="tx1">
                    <a:lumMod val="85000"/>
                  </a:schemeClr>
                </a:solidFill>
                <a:latin typeface="Raleway" pitchFamily="2" charset="0"/>
              </a:rPr>
              <a:t>	Google </a:t>
            </a:r>
            <a:r>
              <a:rPr lang="en-US" sz="1400" dirty="0">
                <a:solidFill>
                  <a:schemeClr val="tx1">
                    <a:lumMod val="85000"/>
                  </a:schemeClr>
                </a:solidFill>
                <a:latin typeface="Raleway" pitchFamily="2" charset="0"/>
              </a:rPr>
              <a:t>Pay, and Samsung Pay are driving adoption.</a:t>
            </a:r>
          </a:p>
        </p:txBody>
      </p:sp>
    </p:spTree>
    <p:extLst>
      <p:ext uri="{BB962C8B-B14F-4D97-AF65-F5344CB8AC3E}">
        <p14:creationId xmlns:p14="http://schemas.microsoft.com/office/powerpoint/2010/main" val="55069364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p:cNvSpPr/>
          <p:nvPr/>
        </p:nvSpPr>
        <p:spPr>
          <a:xfrm>
            <a:off x="827584" y="521587"/>
            <a:ext cx="6815138" cy="66130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 name="Title 1">
            <a:extLst>
              <a:ext uri="{FF2B5EF4-FFF2-40B4-BE49-F238E27FC236}">
                <a16:creationId xmlns:a16="http://schemas.microsoft.com/office/drawing/2014/main" xmlns="" id="{A6D0C247-18C0-0897-6E8C-0FB53434DF94}"/>
              </a:ext>
            </a:extLst>
          </p:cNvPr>
          <p:cNvSpPr>
            <a:spLocks noGrp="1"/>
          </p:cNvSpPr>
          <p:nvPr>
            <p:ph type="title"/>
          </p:nvPr>
        </p:nvSpPr>
        <p:spPr>
          <a:xfrm>
            <a:off x="726681" y="498020"/>
            <a:ext cx="6984410" cy="767446"/>
          </a:xfrm>
        </p:spPr>
        <p:txBody>
          <a:bodyPr>
            <a:noAutofit/>
          </a:bodyPr>
          <a:lstStyle/>
          <a:p>
            <a:pPr algn="ctr"/>
            <a:r>
              <a:rPr lang="en-US" sz="2400" dirty="0" smtClean="0">
                <a:latin typeface="+mn-lt"/>
              </a:rPr>
              <a:t>Transaction Type : Card Not Present (Online)</a:t>
            </a:r>
            <a:endParaRPr lang="en-IN" sz="2400" dirty="0">
              <a:latin typeface="+mn-lt"/>
            </a:endParaRPr>
          </a:p>
        </p:txBody>
      </p:sp>
      <p:sp>
        <p:nvSpPr>
          <p:cNvPr id="5" name="Rounded Rectangle 4"/>
          <p:cNvSpPr/>
          <p:nvPr/>
        </p:nvSpPr>
        <p:spPr>
          <a:xfrm>
            <a:off x="683568" y="1864295"/>
            <a:ext cx="2123675" cy="45312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smtClean="0"/>
              <a:t>Mobile &amp; Telephone Orders</a:t>
            </a:r>
            <a:endParaRPr lang="en-IN" sz="1400" dirty="0"/>
          </a:p>
        </p:txBody>
      </p:sp>
      <p:sp>
        <p:nvSpPr>
          <p:cNvPr id="6" name="Rounded Rectangle 5"/>
          <p:cNvSpPr/>
          <p:nvPr/>
        </p:nvSpPr>
        <p:spPr>
          <a:xfrm>
            <a:off x="5724128" y="1864295"/>
            <a:ext cx="2123675" cy="50989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smtClean="0"/>
              <a:t>3DS Secure Transaction</a:t>
            </a:r>
            <a:endParaRPr lang="en-IN" sz="1400" dirty="0"/>
          </a:p>
        </p:txBody>
      </p:sp>
      <p:sp>
        <p:nvSpPr>
          <p:cNvPr id="7" name="Rounded Rectangle 6"/>
          <p:cNvSpPr/>
          <p:nvPr/>
        </p:nvSpPr>
        <p:spPr>
          <a:xfrm>
            <a:off x="656322" y="3874321"/>
            <a:ext cx="2123675" cy="44458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smtClean="0"/>
              <a:t>E-Commerce Transaction</a:t>
            </a:r>
            <a:endParaRPr lang="en-IN" sz="1400" dirty="0"/>
          </a:p>
        </p:txBody>
      </p:sp>
      <p:sp>
        <p:nvSpPr>
          <p:cNvPr id="8" name="Rounded Rectangle 7"/>
          <p:cNvSpPr/>
          <p:nvPr/>
        </p:nvSpPr>
        <p:spPr>
          <a:xfrm>
            <a:off x="5868144" y="3885069"/>
            <a:ext cx="2123675" cy="454481"/>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smtClean="0"/>
              <a:t>EMI , Installments, Recurring Transactions (Subscription)</a:t>
            </a:r>
            <a:endParaRPr lang="en-IN" sz="1400" dirty="0"/>
          </a:p>
        </p:txBody>
      </p:sp>
      <p:pic>
        <p:nvPicPr>
          <p:cNvPr id="14" name="Google Shape;23;p3"/>
          <p:cNvPicPr preferRelativeResize="0"/>
          <p:nvPr/>
        </p:nvPicPr>
        <p:blipFill rotWithShape="1">
          <a:blip r:embed="rId2">
            <a:alphaModFix/>
          </a:blip>
          <a:srcRect/>
          <a:stretch/>
        </p:blipFill>
        <p:spPr>
          <a:xfrm>
            <a:off x="7737422" y="110217"/>
            <a:ext cx="1220840" cy="318405"/>
          </a:xfrm>
          <a:prstGeom prst="rect">
            <a:avLst/>
          </a:prstGeom>
          <a:noFill/>
          <a:ln>
            <a:noFill/>
          </a:ln>
        </p:spPr>
      </p:pic>
      <p:sp>
        <p:nvSpPr>
          <p:cNvPr id="17" name="Rounded Rectangle 16"/>
          <p:cNvSpPr/>
          <p:nvPr/>
        </p:nvSpPr>
        <p:spPr>
          <a:xfrm>
            <a:off x="3347864" y="5039772"/>
            <a:ext cx="2123675" cy="454481"/>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smtClean="0"/>
              <a:t>QR Code</a:t>
            </a:r>
            <a:endParaRPr lang="en-IN" sz="1400" dirty="0"/>
          </a:p>
        </p:txBody>
      </p:sp>
    </p:spTree>
    <p:extLst>
      <p:ext uri="{BB962C8B-B14F-4D97-AF65-F5344CB8AC3E}">
        <p14:creationId xmlns:p14="http://schemas.microsoft.com/office/powerpoint/2010/main" val="93440266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p:cNvSpPr/>
          <p:nvPr/>
        </p:nvSpPr>
        <p:spPr>
          <a:xfrm>
            <a:off x="922284" y="548680"/>
            <a:ext cx="6815138" cy="661309"/>
          </a:xfrm>
          <a:prstGeom prst="roundRect">
            <a:avLst/>
          </a:prstGeom>
          <a:solidFill>
            <a:srgbClr val="0099C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 name="Title 1">
            <a:extLst>
              <a:ext uri="{FF2B5EF4-FFF2-40B4-BE49-F238E27FC236}">
                <a16:creationId xmlns:a16="http://schemas.microsoft.com/office/drawing/2014/main" xmlns="" id="{A6D0C247-18C0-0897-6E8C-0FB53434DF94}"/>
              </a:ext>
            </a:extLst>
          </p:cNvPr>
          <p:cNvSpPr>
            <a:spLocks noGrp="1"/>
          </p:cNvSpPr>
          <p:nvPr>
            <p:ph type="title"/>
          </p:nvPr>
        </p:nvSpPr>
        <p:spPr>
          <a:xfrm>
            <a:off x="754571" y="495611"/>
            <a:ext cx="6984410" cy="767446"/>
          </a:xfrm>
        </p:spPr>
        <p:txBody>
          <a:bodyPr>
            <a:noAutofit/>
          </a:bodyPr>
          <a:lstStyle/>
          <a:p>
            <a:pPr algn="ctr"/>
            <a:r>
              <a:rPr lang="en-US" sz="2400" dirty="0"/>
              <a:t>Transaction Type : Card Not Present (Online)</a:t>
            </a:r>
            <a:endParaRPr lang="en-IN" sz="2400" dirty="0">
              <a:latin typeface="+mn-lt"/>
            </a:endParaRPr>
          </a:p>
        </p:txBody>
      </p:sp>
      <p:pic>
        <p:nvPicPr>
          <p:cNvPr id="14" name="Google Shape;23;p3"/>
          <p:cNvPicPr preferRelativeResize="0"/>
          <p:nvPr/>
        </p:nvPicPr>
        <p:blipFill rotWithShape="1">
          <a:blip r:embed="rId2">
            <a:alphaModFix/>
          </a:blip>
          <a:srcRect/>
          <a:stretch/>
        </p:blipFill>
        <p:spPr>
          <a:xfrm>
            <a:off x="7737422" y="110217"/>
            <a:ext cx="1220840" cy="318405"/>
          </a:xfrm>
          <a:prstGeom prst="rect">
            <a:avLst/>
          </a:prstGeom>
          <a:noFill/>
          <a:ln>
            <a:noFill/>
          </a:ln>
        </p:spPr>
      </p:pic>
      <p:sp>
        <p:nvSpPr>
          <p:cNvPr id="15" name="TextBox 14"/>
          <p:cNvSpPr txBox="1"/>
          <p:nvPr/>
        </p:nvSpPr>
        <p:spPr>
          <a:xfrm>
            <a:off x="179511" y="1944122"/>
            <a:ext cx="4150341" cy="4616648"/>
          </a:xfrm>
          <a:prstGeom prst="rect">
            <a:avLst/>
          </a:prstGeom>
          <a:noFill/>
        </p:spPr>
        <p:txBody>
          <a:bodyPr wrap="square" rtlCol="0">
            <a:spAutoFit/>
          </a:bodyPr>
          <a:lstStyle/>
          <a:p>
            <a:pPr algn="just"/>
            <a:r>
              <a:rPr lang="en-US" sz="1400" b="1" dirty="0">
                <a:solidFill>
                  <a:schemeClr val="tx1">
                    <a:lumMod val="85000"/>
                  </a:schemeClr>
                </a:solidFill>
                <a:latin typeface="Raleway" pitchFamily="2" charset="0"/>
              </a:rPr>
              <a:t>Advantages</a:t>
            </a:r>
            <a:r>
              <a:rPr lang="en-US" sz="1400" b="1" dirty="0" smtClean="0">
                <a:solidFill>
                  <a:schemeClr val="tx1">
                    <a:lumMod val="85000"/>
                  </a:schemeClr>
                </a:solidFill>
                <a:latin typeface="Raleway" pitchFamily="2" charset="0"/>
              </a:rPr>
              <a:t>:</a:t>
            </a:r>
          </a:p>
          <a:p>
            <a:pPr algn="just"/>
            <a:endParaRPr lang="en-US" sz="1400" dirty="0">
              <a:solidFill>
                <a:schemeClr val="tx1">
                  <a:lumMod val="85000"/>
                </a:schemeClr>
              </a:solidFill>
              <a:latin typeface="Raleway" pitchFamily="2" charset="0"/>
            </a:endParaRPr>
          </a:p>
          <a:p>
            <a:pPr algn="just">
              <a:buFont typeface="Arial" panose="020B0604020202020204" pitchFamily="34" charset="0"/>
              <a:buChar char="•"/>
            </a:pPr>
            <a:r>
              <a:rPr lang="en-US" sz="1400" b="1" dirty="0">
                <a:solidFill>
                  <a:schemeClr val="tx1">
                    <a:lumMod val="85000"/>
                  </a:schemeClr>
                </a:solidFill>
                <a:latin typeface="Raleway" pitchFamily="2" charset="0"/>
              </a:rPr>
              <a:t>Accessibility:</a:t>
            </a:r>
            <a:r>
              <a:rPr lang="en-US" sz="1400" dirty="0">
                <a:solidFill>
                  <a:schemeClr val="tx1">
                    <a:lumMod val="85000"/>
                  </a:schemeClr>
                </a:solidFill>
                <a:latin typeface="Raleway" pitchFamily="2" charset="0"/>
              </a:rPr>
              <a:t> Convenient for consumers without internet access.</a:t>
            </a:r>
          </a:p>
          <a:p>
            <a:pPr algn="just">
              <a:buFont typeface="Arial" panose="020B0604020202020204" pitchFamily="34" charset="0"/>
              <a:buChar char="•"/>
            </a:pPr>
            <a:r>
              <a:rPr lang="en-US" sz="1400" b="1" dirty="0">
                <a:solidFill>
                  <a:schemeClr val="tx1">
                    <a:lumMod val="85000"/>
                  </a:schemeClr>
                </a:solidFill>
                <a:latin typeface="Raleway" pitchFamily="2" charset="0"/>
              </a:rPr>
              <a:t>Flexibility:</a:t>
            </a:r>
            <a:r>
              <a:rPr lang="en-US" sz="1400" dirty="0">
                <a:solidFill>
                  <a:schemeClr val="tx1">
                    <a:lumMod val="85000"/>
                  </a:schemeClr>
                </a:solidFill>
                <a:latin typeface="Raleway" pitchFamily="2" charset="0"/>
              </a:rPr>
              <a:t> Can be used for placing orders on-the-go.</a:t>
            </a:r>
          </a:p>
          <a:p>
            <a:pPr algn="just">
              <a:buFont typeface="Arial" panose="020B0604020202020204" pitchFamily="34" charset="0"/>
              <a:buChar char="•"/>
            </a:pPr>
            <a:r>
              <a:rPr lang="en-US" sz="1400" b="1" dirty="0">
                <a:solidFill>
                  <a:schemeClr val="tx1">
                    <a:lumMod val="85000"/>
                  </a:schemeClr>
                </a:solidFill>
                <a:latin typeface="Raleway" pitchFamily="2" charset="0"/>
              </a:rPr>
              <a:t>Direct Communication:</a:t>
            </a:r>
            <a:r>
              <a:rPr lang="en-US" sz="1400" dirty="0">
                <a:solidFill>
                  <a:schemeClr val="tx1">
                    <a:lumMod val="85000"/>
                  </a:schemeClr>
                </a:solidFill>
                <a:latin typeface="Raleway" pitchFamily="2" charset="0"/>
              </a:rPr>
              <a:t> Enables interaction with customer service representatives</a:t>
            </a:r>
            <a:r>
              <a:rPr lang="en-US" sz="1400" dirty="0" smtClean="0">
                <a:solidFill>
                  <a:schemeClr val="tx1">
                    <a:lumMod val="85000"/>
                  </a:schemeClr>
                </a:solidFill>
                <a:latin typeface="Raleway" pitchFamily="2" charset="0"/>
              </a:rPr>
              <a:t>.</a:t>
            </a:r>
          </a:p>
          <a:p>
            <a:pPr algn="just">
              <a:buFont typeface="Arial" panose="020B0604020202020204" pitchFamily="34" charset="0"/>
              <a:buChar char="•"/>
            </a:pPr>
            <a:endParaRPr lang="en-US" sz="1400" dirty="0">
              <a:solidFill>
                <a:schemeClr val="tx1">
                  <a:lumMod val="85000"/>
                </a:schemeClr>
              </a:solidFill>
              <a:latin typeface="Raleway" pitchFamily="2" charset="0"/>
            </a:endParaRPr>
          </a:p>
          <a:p>
            <a:pPr algn="just"/>
            <a:r>
              <a:rPr lang="en-US" sz="1400" b="1" dirty="0">
                <a:solidFill>
                  <a:schemeClr val="tx1">
                    <a:lumMod val="85000"/>
                  </a:schemeClr>
                </a:solidFill>
                <a:latin typeface="Raleway" pitchFamily="2" charset="0"/>
              </a:rPr>
              <a:t>Disadvantages</a:t>
            </a:r>
            <a:r>
              <a:rPr lang="en-US" sz="1400" b="1" dirty="0" smtClean="0">
                <a:solidFill>
                  <a:schemeClr val="tx1">
                    <a:lumMod val="85000"/>
                  </a:schemeClr>
                </a:solidFill>
                <a:latin typeface="Raleway" pitchFamily="2" charset="0"/>
              </a:rPr>
              <a:t>:</a:t>
            </a:r>
          </a:p>
          <a:p>
            <a:pPr algn="just"/>
            <a:endParaRPr lang="en-US" sz="1400" dirty="0">
              <a:solidFill>
                <a:schemeClr val="tx1">
                  <a:lumMod val="85000"/>
                </a:schemeClr>
              </a:solidFill>
              <a:latin typeface="Raleway" pitchFamily="2" charset="0"/>
            </a:endParaRPr>
          </a:p>
          <a:p>
            <a:pPr algn="just">
              <a:buFont typeface="Arial" panose="020B0604020202020204" pitchFamily="34" charset="0"/>
              <a:buChar char="•"/>
            </a:pPr>
            <a:r>
              <a:rPr lang="en-US" sz="1400" b="1" dirty="0">
                <a:solidFill>
                  <a:schemeClr val="tx1">
                    <a:lumMod val="85000"/>
                  </a:schemeClr>
                </a:solidFill>
                <a:latin typeface="Raleway" pitchFamily="2" charset="0"/>
              </a:rPr>
              <a:t>Security:</a:t>
            </a:r>
            <a:r>
              <a:rPr lang="en-US" sz="1400" dirty="0">
                <a:solidFill>
                  <a:schemeClr val="tx1">
                    <a:lumMod val="85000"/>
                  </a:schemeClr>
                </a:solidFill>
                <a:latin typeface="Raleway" pitchFamily="2" charset="0"/>
              </a:rPr>
              <a:t> Sensitive information shared over the phone can be intercepted.</a:t>
            </a:r>
          </a:p>
          <a:p>
            <a:pPr algn="just">
              <a:buFont typeface="Arial" panose="020B0604020202020204" pitchFamily="34" charset="0"/>
              <a:buChar char="•"/>
            </a:pPr>
            <a:r>
              <a:rPr lang="en-US" sz="1400" b="1" dirty="0">
                <a:solidFill>
                  <a:schemeClr val="tx1">
                    <a:lumMod val="85000"/>
                  </a:schemeClr>
                </a:solidFill>
                <a:latin typeface="Raleway" pitchFamily="2" charset="0"/>
              </a:rPr>
              <a:t>Human Error:</a:t>
            </a:r>
            <a:r>
              <a:rPr lang="en-US" sz="1400" dirty="0">
                <a:solidFill>
                  <a:schemeClr val="tx1">
                    <a:lumMod val="85000"/>
                  </a:schemeClr>
                </a:solidFill>
                <a:latin typeface="Raleway" pitchFamily="2" charset="0"/>
              </a:rPr>
              <a:t> Potential for mistakes in information recording.</a:t>
            </a:r>
          </a:p>
          <a:p>
            <a:pPr algn="just">
              <a:buFont typeface="Arial" panose="020B0604020202020204" pitchFamily="34" charset="0"/>
              <a:buChar char="•"/>
            </a:pPr>
            <a:r>
              <a:rPr lang="en-US" sz="1400" b="1" dirty="0">
                <a:solidFill>
                  <a:schemeClr val="tx1">
                    <a:lumMod val="85000"/>
                  </a:schemeClr>
                </a:solidFill>
                <a:latin typeface="Raleway" pitchFamily="2" charset="0"/>
              </a:rPr>
              <a:t>Verification Issues:</a:t>
            </a:r>
            <a:r>
              <a:rPr lang="en-US" sz="1400" dirty="0">
                <a:solidFill>
                  <a:schemeClr val="tx1">
                    <a:lumMod val="85000"/>
                  </a:schemeClr>
                </a:solidFill>
                <a:latin typeface="Raleway" pitchFamily="2" charset="0"/>
              </a:rPr>
              <a:t> Difficulty in verifying the cardholder’s identity</a:t>
            </a:r>
            <a:r>
              <a:rPr lang="en-US" sz="1400" dirty="0" smtClean="0">
                <a:solidFill>
                  <a:schemeClr val="tx1">
                    <a:lumMod val="85000"/>
                  </a:schemeClr>
                </a:solidFill>
                <a:latin typeface="Raleway" pitchFamily="2" charset="0"/>
              </a:rPr>
              <a:t>.</a:t>
            </a:r>
          </a:p>
          <a:p>
            <a:pPr algn="just">
              <a:buFont typeface="Arial" panose="020B0604020202020204" pitchFamily="34" charset="0"/>
              <a:buChar char="•"/>
            </a:pPr>
            <a:endParaRPr lang="en-US" sz="1400" dirty="0">
              <a:solidFill>
                <a:schemeClr val="tx1">
                  <a:lumMod val="85000"/>
                </a:schemeClr>
              </a:solidFill>
              <a:latin typeface="Raleway" pitchFamily="2" charset="0"/>
            </a:endParaRPr>
          </a:p>
          <a:p>
            <a:pPr algn="just"/>
            <a:r>
              <a:rPr lang="en-US" sz="1400" b="1" dirty="0">
                <a:solidFill>
                  <a:schemeClr val="tx1">
                    <a:lumMod val="85000"/>
                  </a:schemeClr>
                </a:solidFill>
                <a:latin typeface="Raleway" pitchFamily="2" charset="0"/>
              </a:rPr>
              <a:t>Usage:</a:t>
            </a:r>
            <a:endParaRPr lang="en-US" sz="1400" dirty="0">
              <a:solidFill>
                <a:schemeClr val="tx1">
                  <a:lumMod val="85000"/>
                </a:schemeClr>
              </a:solidFill>
              <a:latin typeface="Raleway" pitchFamily="2" charset="0"/>
            </a:endParaRPr>
          </a:p>
          <a:p>
            <a:pPr algn="just">
              <a:buFont typeface="Arial" panose="020B0604020202020204" pitchFamily="34" charset="0"/>
              <a:buChar char="•"/>
            </a:pPr>
            <a:r>
              <a:rPr lang="en-US" sz="1400" dirty="0">
                <a:solidFill>
                  <a:schemeClr val="tx1">
                    <a:lumMod val="85000"/>
                  </a:schemeClr>
                </a:solidFill>
                <a:latin typeface="Raleway" pitchFamily="2" charset="0"/>
              </a:rPr>
              <a:t>Common for ordering goods and services that require direct interaction.</a:t>
            </a:r>
          </a:p>
        </p:txBody>
      </p:sp>
      <p:sp>
        <p:nvSpPr>
          <p:cNvPr id="18" name="TextBox 17"/>
          <p:cNvSpPr txBox="1"/>
          <p:nvPr/>
        </p:nvSpPr>
        <p:spPr>
          <a:xfrm>
            <a:off x="4644008" y="2001438"/>
            <a:ext cx="4247370" cy="4401205"/>
          </a:xfrm>
          <a:prstGeom prst="rect">
            <a:avLst/>
          </a:prstGeom>
          <a:noFill/>
        </p:spPr>
        <p:txBody>
          <a:bodyPr wrap="square" rtlCol="0">
            <a:spAutoFit/>
          </a:bodyPr>
          <a:lstStyle/>
          <a:p>
            <a:pPr algn="just"/>
            <a:r>
              <a:rPr lang="en-US" sz="1400" b="1" dirty="0">
                <a:solidFill>
                  <a:schemeClr val="tx1">
                    <a:lumMod val="85000"/>
                  </a:schemeClr>
                </a:solidFill>
                <a:latin typeface="Raleway" pitchFamily="2" charset="0"/>
              </a:rPr>
              <a:t>Advantages</a:t>
            </a:r>
            <a:r>
              <a:rPr lang="en-US" sz="1400" b="1" dirty="0" smtClean="0">
                <a:solidFill>
                  <a:schemeClr val="tx1">
                    <a:lumMod val="85000"/>
                  </a:schemeClr>
                </a:solidFill>
                <a:latin typeface="Raleway" pitchFamily="2" charset="0"/>
              </a:rPr>
              <a:t>:</a:t>
            </a:r>
          </a:p>
          <a:p>
            <a:pPr algn="just"/>
            <a:endParaRPr lang="en-US" sz="1400" dirty="0">
              <a:solidFill>
                <a:schemeClr val="tx1">
                  <a:lumMod val="85000"/>
                </a:schemeClr>
              </a:solidFill>
              <a:latin typeface="Raleway" pitchFamily="2" charset="0"/>
            </a:endParaRPr>
          </a:p>
          <a:p>
            <a:pPr algn="just">
              <a:buFont typeface="Arial" panose="020B0604020202020204" pitchFamily="34" charset="0"/>
              <a:buChar char="•"/>
            </a:pPr>
            <a:r>
              <a:rPr lang="en-US" sz="1400" b="1" dirty="0">
                <a:solidFill>
                  <a:schemeClr val="tx1">
                    <a:lumMod val="85000"/>
                  </a:schemeClr>
                </a:solidFill>
                <a:latin typeface="Raleway" pitchFamily="2" charset="0"/>
              </a:rPr>
              <a:t>Convenience:</a:t>
            </a:r>
            <a:r>
              <a:rPr lang="en-US" sz="1400" dirty="0">
                <a:solidFill>
                  <a:schemeClr val="tx1">
                    <a:lumMod val="85000"/>
                  </a:schemeClr>
                </a:solidFill>
                <a:latin typeface="Raleway" pitchFamily="2" charset="0"/>
              </a:rPr>
              <a:t> Enables shopping from anywhere at any time.</a:t>
            </a:r>
          </a:p>
          <a:p>
            <a:pPr algn="just">
              <a:buFont typeface="Arial" panose="020B0604020202020204" pitchFamily="34" charset="0"/>
              <a:buChar char="•"/>
            </a:pPr>
            <a:r>
              <a:rPr lang="en-US" sz="1400" b="1" dirty="0">
                <a:solidFill>
                  <a:schemeClr val="tx1">
                    <a:lumMod val="85000"/>
                  </a:schemeClr>
                </a:solidFill>
                <a:latin typeface="Raleway" pitchFamily="2" charset="0"/>
              </a:rPr>
              <a:t>Variety:</a:t>
            </a:r>
            <a:r>
              <a:rPr lang="en-US" sz="1400" dirty="0">
                <a:solidFill>
                  <a:schemeClr val="tx1">
                    <a:lumMod val="85000"/>
                  </a:schemeClr>
                </a:solidFill>
                <a:latin typeface="Raleway" pitchFamily="2" charset="0"/>
              </a:rPr>
              <a:t> Access to a wide range of products and services.</a:t>
            </a:r>
          </a:p>
          <a:p>
            <a:pPr algn="just">
              <a:buFont typeface="Arial" panose="020B0604020202020204" pitchFamily="34" charset="0"/>
              <a:buChar char="•"/>
            </a:pPr>
            <a:r>
              <a:rPr lang="en-US" sz="1400" b="1" dirty="0">
                <a:solidFill>
                  <a:schemeClr val="tx1">
                    <a:lumMod val="85000"/>
                  </a:schemeClr>
                </a:solidFill>
                <a:latin typeface="Raleway" pitchFamily="2" charset="0"/>
              </a:rPr>
              <a:t>Price Comparison:</a:t>
            </a:r>
            <a:r>
              <a:rPr lang="en-US" sz="1400" dirty="0">
                <a:solidFill>
                  <a:schemeClr val="tx1">
                    <a:lumMod val="85000"/>
                  </a:schemeClr>
                </a:solidFill>
                <a:latin typeface="Raleway" pitchFamily="2" charset="0"/>
              </a:rPr>
              <a:t> Easy to compare prices across different vendors</a:t>
            </a:r>
            <a:r>
              <a:rPr lang="en-US" sz="1400" dirty="0" smtClean="0">
                <a:solidFill>
                  <a:schemeClr val="tx1">
                    <a:lumMod val="85000"/>
                  </a:schemeClr>
                </a:solidFill>
                <a:latin typeface="Raleway" pitchFamily="2" charset="0"/>
              </a:rPr>
              <a:t>.</a:t>
            </a:r>
          </a:p>
          <a:p>
            <a:pPr algn="just">
              <a:buFont typeface="Arial" panose="020B0604020202020204" pitchFamily="34" charset="0"/>
              <a:buChar char="•"/>
            </a:pPr>
            <a:endParaRPr lang="en-US" sz="1400" dirty="0" smtClean="0">
              <a:solidFill>
                <a:schemeClr val="tx1">
                  <a:lumMod val="85000"/>
                </a:schemeClr>
              </a:solidFill>
              <a:latin typeface="Raleway" pitchFamily="2" charset="0"/>
            </a:endParaRPr>
          </a:p>
          <a:p>
            <a:pPr algn="just"/>
            <a:r>
              <a:rPr lang="en-US" sz="1400" b="1" dirty="0" smtClean="0">
                <a:solidFill>
                  <a:schemeClr val="tx1">
                    <a:lumMod val="85000"/>
                  </a:schemeClr>
                </a:solidFill>
                <a:latin typeface="Raleway" pitchFamily="2" charset="0"/>
              </a:rPr>
              <a:t>Disadvantages:</a:t>
            </a:r>
          </a:p>
          <a:p>
            <a:pPr algn="just"/>
            <a:endParaRPr lang="en-US" sz="1400" dirty="0">
              <a:solidFill>
                <a:schemeClr val="tx1">
                  <a:lumMod val="85000"/>
                </a:schemeClr>
              </a:solidFill>
              <a:latin typeface="Raleway" pitchFamily="2" charset="0"/>
            </a:endParaRPr>
          </a:p>
          <a:p>
            <a:pPr algn="just">
              <a:buFont typeface="Arial" panose="020B0604020202020204" pitchFamily="34" charset="0"/>
              <a:buChar char="•"/>
            </a:pPr>
            <a:r>
              <a:rPr lang="en-US" sz="1400" b="1" dirty="0">
                <a:solidFill>
                  <a:schemeClr val="tx1">
                    <a:lumMod val="85000"/>
                  </a:schemeClr>
                </a:solidFill>
                <a:latin typeface="Raleway" pitchFamily="2" charset="0"/>
              </a:rPr>
              <a:t>Security:</a:t>
            </a:r>
            <a:r>
              <a:rPr lang="en-US" sz="1400" dirty="0">
                <a:solidFill>
                  <a:schemeClr val="tx1">
                    <a:lumMod val="85000"/>
                  </a:schemeClr>
                </a:solidFill>
                <a:latin typeface="Raleway" pitchFamily="2" charset="0"/>
              </a:rPr>
              <a:t> Risk of fraud and data breaches</a:t>
            </a:r>
            <a:r>
              <a:rPr lang="en-US" sz="1400" dirty="0" smtClean="0">
                <a:solidFill>
                  <a:schemeClr val="tx1">
                    <a:lumMod val="85000"/>
                  </a:schemeClr>
                </a:solidFill>
                <a:latin typeface="Raleway" pitchFamily="2" charset="0"/>
              </a:rPr>
              <a:t>.</a:t>
            </a:r>
            <a:endParaRPr lang="en-US" sz="1400" dirty="0">
              <a:solidFill>
                <a:schemeClr val="tx1">
                  <a:lumMod val="85000"/>
                </a:schemeClr>
              </a:solidFill>
              <a:latin typeface="Raleway" pitchFamily="2" charset="0"/>
            </a:endParaRPr>
          </a:p>
          <a:p>
            <a:pPr algn="just">
              <a:buFont typeface="Arial" panose="020B0604020202020204" pitchFamily="34" charset="0"/>
              <a:buChar char="•"/>
            </a:pPr>
            <a:r>
              <a:rPr lang="en-US" sz="1400" b="1" dirty="0">
                <a:solidFill>
                  <a:schemeClr val="tx1">
                    <a:lumMod val="85000"/>
                  </a:schemeClr>
                </a:solidFill>
                <a:latin typeface="Raleway" pitchFamily="2" charset="0"/>
              </a:rPr>
              <a:t>Shipping Delays:</a:t>
            </a:r>
            <a:r>
              <a:rPr lang="en-US" sz="1400" dirty="0">
                <a:solidFill>
                  <a:schemeClr val="tx1">
                    <a:lumMod val="85000"/>
                  </a:schemeClr>
                </a:solidFill>
                <a:latin typeface="Raleway" pitchFamily="2" charset="0"/>
              </a:rPr>
              <a:t> Possible delays in receiving purchased items.</a:t>
            </a:r>
          </a:p>
          <a:p>
            <a:pPr algn="just">
              <a:buFont typeface="Arial" panose="020B0604020202020204" pitchFamily="34" charset="0"/>
              <a:buChar char="•"/>
            </a:pPr>
            <a:r>
              <a:rPr lang="en-US" sz="1400" b="1" dirty="0">
                <a:solidFill>
                  <a:schemeClr val="tx1">
                    <a:lumMod val="85000"/>
                  </a:schemeClr>
                </a:solidFill>
                <a:latin typeface="Raleway" pitchFamily="2" charset="0"/>
              </a:rPr>
              <a:t>Return Policies:</a:t>
            </a:r>
            <a:r>
              <a:rPr lang="en-US" sz="1400" dirty="0">
                <a:solidFill>
                  <a:schemeClr val="tx1">
                    <a:lumMod val="85000"/>
                  </a:schemeClr>
                </a:solidFill>
                <a:latin typeface="Raleway" pitchFamily="2" charset="0"/>
              </a:rPr>
              <a:t> Variability in return policies can be inconvenient</a:t>
            </a:r>
            <a:r>
              <a:rPr lang="en-US" sz="1400" dirty="0" smtClean="0">
                <a:solidFill>
                  <a:schemeClr val="tx1">
                    <a:lumMod val="85000"/>
                  </a:schemeClr>
                </a:solidFill>
                <a:latin typeface="Raleway" pitchFamily="2" charset="0"/>
              </a:rPr>
              <a:t>.</a:t>
            </a:r>
          </a:p>
          <a:p>
            <a:pPr algn="just">
              <a:buFont typeface="Arial" panose="020B0604020202020204" pitchFamily="34" charset="0"/>
              <a:buChar char="•"/>
            </a:pPr>
            <a:endParaRPr lang="en-US" sz="1400" dirty="0">
              <a:solidFill>
                <a:schemeClr val="tx1">
                  <a:lumMod val="85000"/>
                </a:schemeClr>
              </a:solidFill>
              <a:latin typeface="Raleway" pitchFamily="2" charset="0"/>
            </a:endParaRPr>
          </a:p>
          <a:p>
            <a:pPr algn="just"/>
            <a:r>
              <a:rPr lang="en-US" sz="1400" b="1" dirty="0">
                <a:solidFill>
                  <a:schemeClr val="tx1">
                    <a:lumMod val="85000"/>
                  </a:schemeClr>
                </a:solidFill>
                <a:latin typeface="Raleway" pitchFamily="2" charset="0"/>
              </a:rPr>
              <a:t>Usage:</a:t>
            </a:r>
            <a:endParaRPr lang="en-US" sz="1400" dirty="0">
              <a:solidFill>
                <a:schemeClr val="tx1">
                  <a:lumMod val="85000"/>
                </a:schemeClr>
              </a:solidFill>
              <a:latin typeface="Raleway" pitchFamily="2" charset="0"/>
            </a:endParaRPr>
          </a:p>
          <a:p>
            <a:pPr algn="just">
              <a:buFont typeface="Arial" panose="020B0604020202020204" pitchFamily="34" charset="0"/>
              <a:buChar char="•"/>
            </a:pPr>
            <a:r>
              <a:rPr lang="en-US" sz="1400" dirty="0">
                <a:solidFill>
                  <a:schemeClr val="tx1">
                    <a:lumMod val="85000"/>
                  </a:schemeClr>
                </a:solidFill>
                <a:latin typeface="Raleway" pitchFamily="2" charset="0"/>
              </a:rPr>
              <a:t>Dominates the retail sector with continuous growth.</a:t>
            </a:r>
          </a:p>
        </p:txBody>
      </p:sp>
      <p:sp>
        <p:nvSpPr>
          <p:cNvPr id="5" name="Rounded Rectangle 4"/>
          <p:cNvSpPr/>
          <p:nvPr/>
        </p:nvSpPr>
        <p:spPr>
          <a:xfrm>
            <a:off x="737859" y="1412776"/>
            <a:ext cx="3258077" cy="391359"/>
          </a:xfrm>
          <a:prstGeom prst="roundRect">
            <a:avLst/>
          </a:prstGeom>
          <a:solidFill>
            <a:srgbClr val="00CC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Mobile &amp; Telephone </a:t>
            </a:r>
            <a:r>
              <a:rPr lang="en-US" b="1" dirty="0" smtClean="0"/>
              <a:t>Orders</a:t>
            </a:r>
            <a:endParaRPr lang="en-IN" dirty="0"/>
          </a:p>
        </p:txBody>
      </p:sp>
      <p:sp>
        <p:nvSpPr>
          <p:cNvPr id="10" name="Rounded Rectangle 9"/>
          <p:cNvSpPr/>
          <p:nvPr/>
        </p:nvSpPr>
        <p:spPr>
          <a:xfrm>
            <a:off x="4932040" y="1433237"/>
            <a:ext cx="3258077" cy="391359"/>
          </a:xfrm>
          <a:prstGeom prst="roundRect">
            <a:avLst/>
          </a:prstGeom>
          <a:solidFill>
            <a:srgbClr val="00CC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E-Commerce </a:t>
            </a:r>
            <a:r>
              <a:rPr lang="en-US" b="1" dirty="0" smtClean="0"/>
              <a:t>Transaction</a:t>
            </a:r>
            <a:endParaRPr lang="en-IN" dirty="0"/>
          </a:p>
        </p:txBody>
      </p:sp>
    </p:spTree>
    <p:extLst>
      <p:ext uri="{BB962C8B-B14F-4D97-AF65-F5344CB8AC3E}">
        <p14:creationId xmlns:p14="http://schemas.microsoft.com/office/powerpoint/2010/main" val="10063888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p:cNvSpPr/>
          <p:nvPr/>
        </p:nvSpPr>
        <p:spPr>
          <a:xfrm>
            <a:off x="922284" y="428622"/>
            <a:ext cx="6815138" cy="661309"/>
          </a:xfrm>
          <a:prstGeom prst="roundRect">
            <a:avLst/>
          </a:prstGeom>
          <a:solidFill>
            <a:srgbClr val="0099C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 name="Title 1">
            <a:extLst>
              <a:ext uri="{FF2B5EF4-FFF2-40B4-BE49-F238E27FC236}">
                <a16:creationId xmlns:a16="http://schemas.microsoft.com/office/drawing/2014/main" xmlns="" id="{A6D0C247-18C0-0897-6E8C-0FB53434DF94}"/>
              </a:ext>
            </a:extLst>
          </p:cNvPr>
          <p:cNvSpPr>
            <a:spLocks noGrp="1"/>
          </p:cNvSpPr>
          <p:nvPr>
            <p:ph type="title"/>
          </p:nvPr>
        </p:nvSpPr>
        <p:spPr>
          <a:xfrm>
            <a:off x="753012" y="428621"/>
            <a:ext cx="6984410" cy="767446"/>
          </a:xfrm>
        </p:spPr>
        <p:txBody>
          <a:bodyPr>
            <a:noAutofit/>
          </a:bodyPr>
          <a:lstStyle/>
          <a:p>
            <a:pPr algn="ctr"/>
            <a:r>
              <a:rPr lang="en-US" sz="2400" dirty="0"/>
              <a:t>Transaction Type : Card Not Present (Online)</a:t>
            </a:r>
            <a:endParaRPr lang="en-IN" sz="2400" dirty="0">
              <a:latin typeface="+mn-lt"/>
            </a:endParaRPr>
          </a:p>
        </p:txBody>
      </p:sp>
      <p:pic>
        <p:nvPicPr>
          <p:cNvPr id="14" name="Google Shape;23;p3"/>
          <p:cNvPicPr preferRelativeResize="0"/>
          <p:nvPr/>
        </p:nvPicPr>
        <p:blipFill rotWithShape="1">
          <a:blip r:embed="rId2">
            <a:alphaModFix/>
          </a:blip>
          <a:srcRect/>
          <a:stretch/>
        </p:blipFill>
        <p:spPr>
          <a:xfrm>
            <a:off x="7737422" y="110217"/>
            <a:ext cx="1220840" cy="318405"/>
          </a:xfrm>
          <a:prstGeom prst="rect">
            <a:avLst/>
          </a:prstGeom>
          <a:noFill/>
          <a:ln>
            <a:noFill/>
          </a:ln>
        </p:spPr>
      </p:pic>
      <p:sp>
        <p:nvSpPr>
          <p:cNvPr id="15" name="TextBox 14"/>
          <p:cNvSpPr txBox="1"/>
          <p:nvPr/>
        </p:nvSpPr>
        <p:spPr>
          <a:xfrm>
            <a:off x="251520" y="2132856"/>
            <a:ext cx="4320480" cy="4616648"/>
          </a:xfrm>
          <a:prstGeom prst="rect">
            <a:avLst/>
          </a:prstGeom>
          <a:noFill/>
        </p:spPr>
        <p:txBody>
          <a:bodyPr wrap="square" rtlCol="0">
            <a:spAutoFit/>
          </a:bodyPr>
          <a:lstStyle/>
          <a:p>
            <a:r>
              <a:rPr lang="en-US" sz="1400" b="1" dirty="0">
                <a:solidFill>
                  <a:schemeClr val="tx1">
                    <a:lumMod val="85000"/>
                  </a:schemeClr>
                </a:solidFill>
                <a:latin typeface="Raleway" pitchFamily="2" charset="0"/>
              </a:rPr>
              <a:t>Advantages</a:t>
            </a:r>
            <a:r>
              <a:rPr lang="en-US" sz="1400" b="1" dirty="0" smtClean="0">
                <a:solidFill>
                  <a:schemeClr val="tx1">
                    <a:lumMod val="85000"/>
                  </a:schemeClr>
                </a:solidFill>
                <a:latin typeface="Raleway" pitchFamily="2" charset="0"/>
              </a:rPr>
              <a:t>:</a:t>
            </a:r>
          </a:p>
          <a:p>
            <a:endParaRPr lang="en-US" sz="1400" dirty="0">
              <a:solidFill>
                <a:schemeClr val="tx1">
                  <a:lumMod val="85000"/>
                </a:schemeClr>
              </a:solidFill>
              <a:latin typeface="Raleway" pitchFamily="2" charset="0"/>
            </a:endParaRPr>
          </a:p>
          <a:p>
            <a:pPr>
              <a:buFont typeface="Arial" panose="020B0604020202020204" pitchFamily="34" charset="0"/>
              <a:buChar char="•"/>
            </a:pPr>
            <a:r>
              <a:rPr lang="en-US" sz="1400" b="1" dirty="0">
                <a:solidFill>
                  <a:schemeClr val="tx1">
                    <a:lumMod val="85000"/>
                  </a:schemeClr>
                </a:solidFill>
                <a:latin typeface="Raleway" pitchFamily="2" charset="0"/>
              </a:rPr>
              <a:t>Affordability:</a:t>
            </a:r>
            <a:r>
              <a:rPr lang="en-US" sz="1400" dirty="0">
                <a:solidFill>
                  <a:schemeClr val="tx1">
                    <a:lumMod val="85000"/>
                  </a:schemeClr>
                </a:solidFill>
                <a:latin typeface="Raleway" pitchFamily="2" charset="0"/>
              </a:rPr>
              <a:t> Spreads the cost over time, making high-value purchases more manageable.</a:t>
            </a:r>
          </a:p>
          <a:p>
            <a:pPr>
              <a:buFont typeface="Arial" panose="020B0604020202020204" pitchFamily="34" charset="0"/>
              <a:buChar char="•"/>
            </a:pPr>
            <a:r>
              <a:rPr lang="en-US" sz="1400" b="1" dirty="0">
                <a:solidFill>
                  <a:schemeClr val="tx1">
                    <a:lumMod val="85000"/>
                  </a:schemeClr>
                </a:solidFill>
                <a:latin typeface="Raleway" pitchFamily="2" charset="0"/>
              </a:rPr>
              <a:t>Convenience:</a:t>
            </a:r>
            <a:r>
              <a:rPr lang="en-US" sz="1400" dirty="0">
                <a:solidFill>
                  <a:schemeClr val="tx1">
                    <a:lumMod val="85000"/>
                  </a:schemeClr>
                </a:solidFill>
                <a:latin typeface="Raleway" pitchFamily="2" charset="0"/>
              </a:rPr>
              <a:t> Automatic payments for subscriptions ensure continuous service.</a:t>
            </a:r>
          </a:p>
          <a:p>
            <a:pPr>
              <a:buFont typeface="Arial" panose="020B0604020202020204" pitchFamily="34" charset="0"/>
              <a:buChar char="•"/>
            </a:pPr>
            <a:r>
              <a:rPr lang="en-US" sz="1400" b="1" dirty="0">
                <a:solidFill>
                  <a:schemeClr val="tx1">
                    <a:lumMod val="85000"/>
                  </a:schemeClr>
                </a:solidFill>
                <a:latin typeface="Raleway" pitchFamily="2" charset="0"/>
              </a:rPr>
              <a:t>Customer Retention:</a:t>
            </a:r>
            <a:r>
              <a:rPr lang="en-US" sz="1400" dirty="0">
                <a:solidFill>
                  <a:schemeClr val="tx1">
                    <a:lumMod val="85000"/>
                  </a:schemeClr>
                </a:solidFill>
                <a:latin typeface="Raleway" pitchFamily="2" charset="0"/>
              </a:rPr>
              <a:t> Encourages long-term customer relationships</a:t>
            </a:r>
            <a:r>
              <a:rPr lang="en-US" sz="1400" dirty="0" smtClean="0">
                <a:solidFill>
                  <a:schemeClr val="tx1">
                    <a:lumMod val="85000"/>
                  </a:schemeClr>
                </a:solidFill>
                <a:latin typeface="Raleway" pitchFamily="2" charset="0"/>
              </a:rPr>
              <a:t>.</a:t>
            </a:r>
          </a:p>
          <a:p>
            <a:pPr>
              <a:buFont typeface="Arial" panose="020B0604020202020204" pitchFamily="34" charset="0"/>
              <a:buChar char="•"/>
            </a:pPr>
            <a:endParaRPr lang="en-US" sz="1400" dirty="0">
              <a:solidFill>
                <a:schemeClr val="tx1">
                  <a:lumMod val="85000"/>
                </a:schemeClr>
              </a:solidFill>
              <a:latin typeface="Raleway" pitchFamily="2" charset="0"/>
            </a:endParaRPr>
          </a:p>
          <a:p>
            <a:r>
              <a:rPr lang="en-US" sz="1400" b="1" dirty="0">
                <a:solidFill>
                  <a:schemeClr val="tx1">
                    <a:lumMod val="85000"/>
                  </a:schemeClr>
                </a:solidFill>
                <a:latin typeface="Raleway" pitchFamily="2" charset="0"/>
              </a:rPr>
              <a:t>Disadvantages</a:t>
            </a:r>
            <a:r>
              <a:rPr lang="en-US" sz="1400" b="1" dirty="0" smtClean="0">
                <a:solidFill>
                  <a:schemeClr val="tx1">
                    <a:lumMod val="85000"/>
                  </a:schemeClr>
                </a:solidFill>
                <a:latin typeface="Raleway" pitchFamily="2" charset="0"/>
              </a:rPr>
              <a:t>:</a:t>
            </a:r>
          </a:p>
          <a:p>
            <a:endParaRPr lang="en-US" sz="1400" dirty="0">
              <a:solidFill>
                <a:schemeClr val="tx1">
                  <a:lumMod val="85000"/>
                </a:schemeClr>
              </a:solidFill>
              <a:latin typeface="Raleway" pitchFamily="2" charset="0"/>
            </a:endParaRPr>
          </a:p>
          <a:p>
            <a:pPr>
              <a:buFont typeface="Arial" panose="020B0604020202020204" pitchFamily="34" charset="0"/>
              <a:buChar char="•"/>
            </a:pPr>
            <a:r>
              <a:rPr lang="en-US" sz="1400" b="1" dirty="0">
                <a:solidFill>
                  <a:schemeClr val="tx1">
                    <a:lumMod val="85000"/>
                  </a:schemeClr>
                </a:solidFill>
                <a:latin typeface="Raleway" pitchFamily="2" charset="0"/>
              </a:rPr>
              <a:t>Debt Risk:</a:t>
            </a:r>
            <a:r>
              <a:rPr lang="en-US" sz="1400" dirty="0">
                <a:solidFill>
                  <a:schemeClr val="tx1">
                    <a:lumMod val="85000"/>
                  </a:schemeClr>
                </a:solidFill>
                <a:latin typeface="Raleway" pitchFamily="2" charset="0"/>
              </a:rPr>
              <a:t> Can lead to debt accumulation if not managed properly.</a:t>
            </a:r>
          </a:p>
          <a:p>
            <a:pPr>
              <a:buFont typeface="Arial" panose="020B0604020202020204" pitchFamily="34" charset="0"/>
              <a:buChar char="•"/>
            </a:pPr>
            <a:r>
              <a:rPr lang="en-US" sz="1400" b="1" dirty="0">
                <a:solidFill>
                  <a:schemeClr val="tx1">
                    <a:lumMod val="85000"/>
                  </a:schemeClr>
                </a:solidFill>
                <a:latin typeface="Raleway" pitchFamily="2" charset="0"/>
              </a:rPr>
              <a:t>Complexity:</a:t>
            </a:r>
            <a:r>
              <a:rPr lang="en-US" sz="1400" dirty="0">
                <a:solidFill>
                  <a:schemeClr val="tx1">
                    <a:lumMod val="85000"/>
                  </a:schemeClr>
                </a:solidFill>
                <a:latin typeface="Raleway" pitchFamily="2" charset="0"/>
              </a:rPr>
              <a:t> Managing multiple installment plans can be cumbersome.</a:t>
            </a:r>
          </a:p>
          <a:p>
            <a:pPr>
              <a:buFont typeface="Arial" panose="020B0604020202020204" pitchFamily="34" charset="0"/>
              <a:buChar char="•"/>
            </a:pPr>
            <a:r>
              <a:rPr lang="en-US" sz="1400" b="1" dirty="0">
                <a:solidFill>
                  <a:schemeClr val="tx1">
                    <a:lumMod val="85000"/>
                  </a:schemeClr>
                </a:solidFill>
                <a:latin typeface="Raleway" pitchFamily="2" charset="0"/>
              </a:rPr>
              <a:t>Cancellation Issues:</a:t>
            </a:r>
            <a:r>
              <a:rPr lang="en-US" sz="1400" dirty="0">
                <a:solidFill>
                  <a:schemeClr val="tx1">
                    <a:lumMod val="85000"/>
                  </a:schemeClr>
                </a:solidFill>
                <a:latin typeface="Raleway" pitchFamily="2" charset="0"/>
              </a:rPr>
              <a:t> Cancelling subscriptions or installment plans can be difficult</a:t>
            </a:r>
            <a:r>
              <a:rPr lang="en-US" sz="1400" dirty="0" smtClean="0">
                <a:solidFill>
                  <a:schemeClr val="tx1">
                    <a:lumMod val="85000"/>
                  </a:schemeClr>
                </a:solidFill>
                <a:latin typeface="Raleway" pitchFamily="2" charset="0"/>
              </a:rPr>
              <a:t>.</a:t>
            </a:r>
          </a:p>
          <a:p>
            <a:pPr>
              <a:buFont typeface="Arial" panose="020B0604020202020204" pitchFamily="34" charset="0"/>
              <a:buChar char="•"/>
            </a:pPr>
            <a:endParaRPr lang="en-US" sz="1400" dirty="0">
              <a:solidFill>
                <a:schemeClr val="tx1">
                  <a:lumMod val="85000"/>
                </a:schemeClr>
              </a:solidFill>
              <a:latin typeface="Raleway" pitchFamily="2" charset="0"/>
            </a:endParaRPr>
          </a:p>
          <a:p>
            <a:r>
              <a:rPr lang="en-US" sz="1400" b="1" dirty="0">
                <a:solidFill>
                  <a:schemeClr val="tx1">
                    <a:lumMod val="85000"/>
                  </a:schemeClr>
                </a:solidFill>
                <a:latin typeface="Raleway" pitchFamily="2" charset="0"/>
              </a:rPr>
              <a:t>Usage:</a:t>
            </a:r>
            <a:endParaRPr lang="en-US" sz="1400" dirty="0">
              <a:solidFill>
                <a:schemeClr val="tx1">
                  <a:lumMod val="85000"/>
                </a:schemeClr>
              </a:solidFill>
              <a:latin typeface="Raleway" pitchFamily="2" charset="0"/>
            </a:endParaRPr>
          </a:p>
          <a:p>
            <a:pPr>
              <a:buFont typeface="Arial" panose="020B0604020202020204" pitchFamily="34" charset="0"/>
              <a:buChar char="•"/>
            </a:pPr>
            <a:r>
              <a:rPr lang="en-US" sz="1400" dirty="0">
                <a:solidFill>
                  <a:schemeClr val="tx1">
                    <a:lumMod val="85000"/>
                  </a:schemeClr>
                </a:solidFill>
                <a:latin typeface="Raleway" pitchFamily="2" charset="0"/>
              </a:rPr>
              <a:t>Popular for big-ticket items, subscriptions, and services requiring regular payments.</a:t>
            </a:r>
          </a:p>
        </p:txBody>
      </p:sp>
      <p:sp>
        <p:nvSpPr>
          <p:cNvPr id="18" name="TextBox 17"/>
          <p:cNvSpPr txBox="1"/>
          <p:nvPr/>
        </p:nvSpPr>
        <p:spPr>
          <a:xfrm>
            <a:off x="4616735" y="2132856"/>
            <a:ext cx="4320480" cy="4616648"/>
          </a:xfrm>
          <a:prstGeom prst="rect">
            <a:avLst/>
          </a:prstGeom>
          <a:noFill/>
        </p:spPr>
        <p:txBody>
          <a:bodyPr wrap="square" rtlCol="0">
            <a:spAutoFit/>
          </a:bodyPr>
          <a:lstStyle/>
          <a:p>
            <a:r>
              <a:rPr lang="en-US" sz="1400" b="1" dirty="0">
                <a:solidFill>
                  <a:schemeClr val="tx1">
                    <a:lumMod val="85000"/>
                  </a:schemeClr>
                </a:solidFill>
                <a:latin typeface="Raleway" pitchFamily="2" charset="0"/>
              </a:rPr>
              <a:t>Advantages</a:t>
            </a:r>
            <a:r>
              <a:rPr lang="en-US" sz="1400" b="1" dirty="0" smtClean="0">
                <a:solidFill>
                  <a:schemeClr val="tx1">
                    <a:lumMod val="85000"/>
                  </a:schemeClr>
                </a:solidFill>
                <a:latin typeface="Raleway" pitchFamily="2" charset="0"/>
              </a:rPr>
              <a:t>:</a:t>
            </a:r>
          </a:p>
          <a:p>
            <a:endParaRPr lang="en-US" sz="1400" dirty="0">
              <a:solidFill>
                <a:schemeClr val="tx1">
                  <a:lumMod val="85000"/>
                </a:schemeClr>
              </a:solidFill>
              <a:latin typeface="Raleway" pitchFamily="2" charset="0"/>
            </a:endParaRPr>
          </a:p>
          <a:p>
            <a:pPr>
              <a:buFont typeface="Arial" panose="020B0604020202020204" pitchFamily="34" charset="0"/>
              <a:buChar char="•"/>
            </a:pPr>
            <a:r>
              <a:rPr lang="en-US" sz="1400" b="1" dirty="0">
                <a:solidFill>
                  <a:schemeClr val="tx1">
                    <a:lumMod val="85000"/>
                  </a:schemeClr>
                </a:solidFill>
                <a:latin typeface="Raleway" pitchFamily="2" charset="0"/>
              </a:rPr>
              <a:t>Security:</a:t>
            </a:r>
            <a:r>
              <a:rPr lang="en-US" sz="1400" dirty="0">
                <a:solidFill>
                  <a:schemeClr val="tx1">
                    <a:lumMod val="85000"/>
                  </a:schemeClr>
                </a:solidFill>
                <a:latin typeface="Raleway" pitchFamily="2" charset="0"/>
              </a:rPr>
              <a:t> Adds an additional layer of security with two-factor authentication.</a:t>
            </a:r>
          </a:p>
          <a:p>
            <a:pPr>
              <a:buFont typeface="Arial" panose="020B0604020202020204" pitchFamily="34" charset="0"/>
              <a:buChar char="•"/>
            </a:pPr>
            <a:r>
              <a:rPr lang="en-US" sz="1400" b="1" dirty="0">
                <a:solidFill>
                  <a:schemeClr val="tx1">
                    <a:lumMod val="85000"/>
                  </a:schemeClr>
                </a:solidFill>
                <a:latin typeface="Raleway" pitchFamily="2" charset="0"/>
              </a:rPr>
              <a:t>Fraud Prevention:</a:t>
            </a:r>
            <a:r>
              <a:rPr lang="en-US" sz="1400" dirty="0">
                <a:solidFill>
                  <a:schemeClr val="tx1">
                    <a:lumMod val="85000"/>
                  </a:schemeClr>
                </a:solidFill>
                <a:latin typeface="Raleway" pitchFamily="2" charset="0"/>
              </a:rPr>
              <a:t> Reduces the risk of unauthorized transactions.</a:t>
            </a:r>
          </a:p>
          <a:p>
            <a:pPr>
              <a:buFont typeface="Arial" panose="020B0604020202020204" pitchFamily="34" charset="0"/>
              <a:buChar char="•"/>
            </a:pPr>
            <a:r>
              <a:rPr lang="en-US" sz="1400" b="1" dirty="0">
                <a:solidFill>
                  <a:schemeClr val="tx1">
                    <a:lumMod val="85000"/>
                  </a:schemeClr>
                </a:solidFill>
                <a:latin typeface="Raleway" pitchFamily="2" charset="0"/>
              </a:rPr>
              <a:t>Consumer Confidence:</a:t>
            </a:r>
            <a:r>
              <a:rPr lang="en-US" sz="1400" dirty="0">
                <a:solidFill>
                  <a:schemeClr val="tx1">
                    <a:lumMod val="85000"/>
                  </a:schemeClr>
                </a:solidFill>
                <a:latin typeface="Raleway" pitchFamily="2" charset="0"/>
              </a:rPr>
              <a:t> Increases trust in online transactions</a:t>
            </a:r>
            <a:r>
              <a:rPr lang="en-US" sz="1400" dirty="0" smtClean="0">
                <a:solidFill>
                  <a:schemeClr val="tx1">
                    <a:lumMod val="85000"/>
                  </a:schemeClr>
                </a:solidFill>
                <a:latin typeface="Raleway" pitchFamily="2" charset="0"/>
              </a:rPr>
              <a:t>.</a:t>
            </a:r>
          </a:p>
          <a:p>
            <a:pPr>
              <a:buFont typeface="Arial" panose="020B0604020202020204" pitchFamily="34" charset="0"/>
              <a:buChar char="•"/>
            </a:pPr>
            <a:endParaRPr lang="en-US" sz="1400" dirty="0">
              <a:solidFill>
                <a:schemeClr val="tx1">
                  <a:lumMod val="85000"/>
                </a:schemeClr>
              </a:solidFill>
              <a:latin typeface="Raleway" pitchFamily="2" charset="0"/>
            </a:endParaRPr>
          </a:p>
          <a:p>
            <a:r>
              <a:rPr lang="en-US" sz="1400" b="1" dirty="0">
                <a:solidFill>
                  <a:schemeClr val="tx1">
                    <a:lumMod val="85000"/>
                  </a:schemeClr>
                </a:solidFill>
                <a:latin typeface="Raleway" pitchFamily="2" charset="0"/>
              </a:rPr>
              <a:t>Disadvantages</a:t>
            </a:r>
            <a:r>
              <a:rPr lang="en-US" sz="1400" b="1" dirty="0" smtClean="0">
                <a:solidFill>
                  <a:schemeClr val="tx1">
                    <a:lumMod val="85000"/>
                  </a:schemeClr>
                </a:solidFill>
                <a:latin typeface="Raleway" pitchFamily="2" charset="0"/>
              </a:rPr>
              <a:t>:</a:t>
            </a:r>
          </a:p>
          <a:p>
            <a:endParaRPr lang="en-US" sz="1400" dirty="0">
              <a:solidFill>
                <a:schemeClr val="tx1">
                  <a:lumMod val="85000"/>
                </a:schemeClr>
              </a:solidFill>
              <a:latin typeface="Raleway" pitchFamily="2" charset="0"/>
            </a:endParaRPr>
          </a:p>
          <a:p>
            <a:pPr>
              <a:buFont typeface="Arial" panose="020B0604020202020204" pitchFamily="34" charset="0"/>
              <a:buChar char="•"/>
            </a:pPr>
            <a:r>
              <a:rPr lang="en-US" sz="1400" b="1" dirty="0">
                <a:solidFill>
                  <a:schemeClr val="tx1">
                    <a:lumMod val="85000"/>
                  </a:schemeClr>
                </a:solidFill>
                <a:latin typeface="Raleway" pitchFamily="2" charset="0"/>
              </a:rPr>
              <a:t>User Experience:</a:t>
            </a:r>
            <a:r>
              <a:rPr lang="en-US" sz="1400" dirty="0">
                <a:solidFill>
                  <a:schemeClr val="tx1">
                    <a:lumMod val="85000"/>
                  </a:schemeClr>
                </a:solidFill>
                <a:latin typeface="Raleway" pitchFamily="2" charset="0"/>
              </a:rPr>
              <a:t> Additional steps can slow down the checkout process.</a:t>
            </a:r>
          </a:p>
          <a:p>
            <a:pPr>
              <a:buFont typeface="Arial" panose="020B0604020202020204" pitchFamily="34" charset="0"/>
              <a:buChar char="•"/>
            </a:pPr>
            <a:r>
              <a:rPr lang="en-US" sz="1400" b="1" dirty="0">
                <a:solidFill>
                  <a:schemeClr val="tx1">
                    <a:lumMod val="85000"/>
                  </a:schemeClr>
                </a:solidFill>
                <a:latin typeface="Raleway" pitchFamily="2" charset="0"/>
              </a:rPr>
              <a:t>Technical Issues:</a:t>
            </a:r>
            <a:r>
              <a:rPr lang="en-US" sz="1400" dirty="0">
                <a:solidFill>
                  <a:schemeClr val="tx1">
                    <a:lumMod val="85000"/>
                  </a:schemeClr>
                </a:solidFill>
                <a:latin typeface="Raleway" pitchFamily="2" charset="0"/>
              </a:rPr>
              <a:t> Potential for issues with authentication process.</a:t>
            </a:r>
          </a:p>
          <a:p>
            <a:pPr>
              <a:buFont typeface="Arial" panose="020B0604020202020204" pitchFamily="34" charset="0"/>
              <a:buChar char="•"/>
            </a:pPr>
            <a:r>
              <a:rPr lang="en-US" sz="1400" b="1" dirty="0">
                <a:solidFill>
                  <a:schemeClr val="tx1">
                    <a:lumMod val="85000"/>
                  </a:schemeClr>
                </a:solidFill>
                <a:latin typeface="Raleway" pitchFamily="2" charset="0"/>
              </a:rPr>
              <a:t>Adoption Rates:</a:t>
            </a:r>
            <a:r>
              <a:rPr lang="en-US" sz="1400" dirty="0">
                <a:solidFill>
                  <a:schemeClr val="tx1">
                    <a:lumMod val="85000"/>
                  </a:schemeClr>
                </a:solidFill>
                <a:latin typeface="Raleway" pitchFamily="2" charset="0"/>
              </a:rPr>
              <a:t> Not all merchants support 3DS, leading to inconsistent experiences</a:t>
            </a:r>
            <a:r>
              <a:rPr lang="en-US" sz="1400" dirty="0" smtClean="0">
                <a:solidFill>
                  <a:schemeClr val="tx1">
                    <a:lumMod val="85000"/>
                  </a:schemeClr>
                </a:solidFill>
                <a:latin typeface="Raleway" pitchFamily="2" charset="0"/>
              </a:rPr>
              <a:t>.</a:t>
            </a:r>
          </a:p>
          <a:p>
            <a:pPr>
              <a:buFont typeface="Arial" panose="020B0604020202020204" pitchFamily="34" charset="0"/>
              <a:buChar char="•"/>
            </a:pPr>
            <a:endParaRPr lang="en-US" sz="1400" dirty="0" smtClean="0">
              <a:solidFill>
                <a:schemeClr val="tx1">
                  <a:lumMod val="85000"/>
                </a:schemeClr>
              </a:solidFill>
              <a:latin typeface="Raleway" pitchFamily="2" charset="0"/>
            </a:endParaRPr>
          </a:p>
          <a:p>
            <a:r>
              <a:rPr lang="en-US" sz="1400" b="1" dirty="0" smtClean="0">
                <a:solidFill>
                  <a:schemeClr val="tx1">
                    <a:lumMod val="85000"/>
                  </a:schemeClr>
                </a:solidFill>
                <a:latin typeface="Raleway" pitchFamily="2" charset="0"/>
              </a:rPr>
              <a:t>Usage</a:t>
            </a:r>
            <a:r>
              <a:rPr lang="en-US" sz="1400" b="1" dirty="0">
                <a:solidFill>
                  <a:schemeClr val="tx1">
                    <a:lumMod val="85000"/>
                  </a:schemeClr>
                </a:solidFill>
                <a:latin typeface="Raleway" pitchFamily="2" charset="0"/>
              </a:rPr>
              <a:t>:</a:t>
            </a:r>
            <a:endParaRPr lang="en-US" sz="1400" dirty="0">
              <a:solidFill>
                <a:schemeClr val="tx1">
                  <a:lumMod val="85000"/>
                </a:schemeClr>
              </a:solidFill>
              <a:latin typeface="Raleway" pitchFamily="2" charset="0"/>
            </a:endParaRPr>
          </a:p>
          <a:p>
            <a:pPr>
              <a:buFont typeface="Arial" panose="020B0604020202020204" pitchFamily="34" charset="0"/>
              <a:buChar char="•"/>
            </a:pPr>
            <a:r>
              <a:rPr lang="en-US" sz="1400" dirty="0">
                <a:solidFill>
                  <a:schemeClr val="tx1">
                    <a:lumMod val="85000"/>
                  </a:schemeClr>
                </a:solidFill>
                <a:latin typeface="Raleway" pitchFamily="2" charset="0"/>
              </a:rPr>
              <a:t>Increasingly adopted for high-value transactions and by security-conscious merchants.</a:t>
            </a:r>
          </a:p>
        </p:txBody>
      </p:sp>
      <p:sp>
        <p:nvSpPr>
          <p:cNvPr id="9" name="Content Placeholder 2">
            <a:extLst>
              <a:ext uri="{FF2B5EF4-FFF2-40B4-BE49-F238E27FC236}">
                <a16:creationId xmlns:a16="http://schemas.microsoft.com/office/drawing/2014/main" xmlns="" id="{842A01C3-5F33-0E31-F76A-1EAE7EE22438}"/>
              </a:ext>
            </a:extLst>
          </p:cNvPr>
          <p:cNvSpPr txBox="1">
            <a:spLocks/>
          </p:cNvSpPr>
          <p:nvPr/>
        </p:nvSpPr>
        <p:spPr>
          <a:xfrm>
            <a:off x="-3420888" y="2564904"/>
            <a:ext cx="4107117" cy="449638"/>
          </a:xfrm>
          <a:prstGeom prst="rect">
            <a:avLst/>
          </a:prstGeom>
        </p:spPr>
        <p:txBody>
          <a:bodyPr vert="horz">
            <a:noAutofit/>
          </a:bodyPr>
          <a:lstStyle>
            <a:lvl1pPr marL="365760" indent="-256032" algn="l" rtl="0" eaLnBrk="1" latinLnBrk="0"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300" kern="1200">
                <a:solidFill>
                  <a:schemeClr val="tx1"/>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a:lstStyle>
          <a:p>
            <a:pPr marL="109728" indent="0" algn="ctr">
              <a:buFont typeface="Wingdings 3"/>
              <a:buNone/>
            </a:pPr>
            <a:endParaRPr lang="en-IN" sz="1800" dirty="0"/>
          </a:p>
        </p:txBody>
      </p:sp>
      <p:sp>
        <p:nvSpPr>
          <p:cNvPr id="5" name="Rounded Rectangle 4"/>
          <p:cNvSpPr/>
          <p:nvPr/>
        </p:nvSpPr>
        <p:spPr>
          <a:xfrm>
            <a:off x="900572" y="1442609"/>
            <a:ext cx="3096344" cy="576064"/>
          </a:xfrm>
          <a:prstGeom prst="roundRect">
            <a:avLst/>
          </a:prstGeom>
          <a:solidFill>
            <a:srgbClr val="00CC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EMI, Installments, Recurring Transactions (Subscription</a:t>
            </a:r>
            <a:r>
              <a:rPr lang="en-US" b="1" dirty="0" smtClean="0"/>
              <a:t>)</a:t>
            </a:r>
            <a:endParaRPr lang="en-IN" dirty="0"/>
          </a:p>
        </p:txBody>
      </p:sp>
      <p:sp>
        <p:nvSpPr>
          <p:cNvPr id="10" name="Rounded Rectangle 9"/>
          <p:cNvSpPr/>
          <p:nvPr/>
        </p:nvSpPr>
        <p:spPr>
          <a:xfrm>
            <a:off x="5228803" y="1386371"/>
            <a:ext cx="3096344" cy="576064"/>
          </a:xfrm>
          <a:prstGeom prst="roundRect">
            <a:avLst/>
          </a:prstGeom>
          <a:solidFill>
            <a:srgbClr val="00CC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EMI, Installments, Recurring Transactions </a:t>
            </a:r>
            <a:endParaRPr lang="en-IN" dirty="0"/>
          </a:p>
        </p:txBody>
      </p:sp>
    </p:spTree>
    <p:extLst>
      <p:ext uri="{BB962C8B-B14F-4D97-AF65-F5344CB8AC3E}">
        <p14:creationId xmlns:p14="http://schemas.microsoft.com/office/powerpoint/2010/main" val="305860278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p:cNvSpPr/>
          <p:nvPr/>
        </p:nvSpPr>
        <p:spPr>
          <a:xfrm>
            <a:off x="231378" y="519308"/>
            <a:ext cx="8229053" cy="82539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 name="Title 1">
            <a:extLst>
              <a:ext uri="{FF2B5EF4-FFF2-40B4-BE49-F238E27FC236}">
                <a16:creationId xmlns:a16="http://schemas.microsoft.com/office/drawing/2014/main" xmlns="" id="{A6D0C247-18C0-0897-6E8C-0FB53434DF94}"/>
              </a:ext>
            </a:extLst>
          </p:cNvPr>
          <p:cNvSpPr>
            <a:spLocks noGrp="1"/>
          </p:cNvSpPr>
          <p:nvPr>
            <p:ph type="title"/>
          </p:nvPr>
        </p:nvSpPr>
        <p:spPr>
          <a:xfrm>
            <a:off x="853699" y="577260"/>
            <a:ext cx="6984410" cy="767446"/>
          </a:xfrm>
        </p:spPr>
        <p:txBody>
          <a:bodyPr>
            <a:noAutofit/>
          </a:bodyPr>
          <a:lstStyle/>
          <a:p>
            <a:pPr algn="ctr"/>
            <a:r>
              <a:rPr lang="en-US" sz="2000" dirty="0" smtClean="0"/>
              <a:t>3DS VS CP (Card Present) VS CNP (Card Not Present )</a:t>
            </a:r>
            <a:endParaRPr lang="en-IN" sz="2000" dirty="0">
              <a:latin typeface="+mn-lt"/>
            </a:endParaRPr>
          </a:p>
        </p:txBody>
      </p:sp>
      <p:pic>
        <p:nvPicPr>
          <p:cNvPr id="14" name="Google Shape;23;p3"/>
          <p:cNvPicPr preferRelativeResize="0"/>
          <p:nvPr/>
        </p:nvPicPr>
        <p:blipFill rotWithShape="1">
          <a:blip r:embed="rId2">
            <a:alphaModFix/>
          </a:blip>
          <a:srcRect/>
          <a:stretch/>
        </p:blipFill>
        <p:spPr>
          <a:xfrm>
            <a:off x="7737422" y="110217"/>
            <a:ext cx="1220840" cy="318405"/>
          </a:xfrm>
          <a:prstGeom prst="rect">
            <a:avLst/>
          </a:prstGeom>
          <a:noFill/>
          <a:ln>
            <a:noFill/>
          </a:ln>
        </p:spPr>
      </p:pic>
      <p:pic>
        <p:nvPicPr>
          <p:cNvPr id="10" name="table"/>
          <p:cNvPicPr>
            <a:picLocks noChangeAspect="1"/>
          </p:cNvPicPr>
          <p:nvPr/>
        </p:nvPicPr>
        <p:blipFill>
          <a:blip r:embed="rId3"/>
          <a:stretch>
            <a:fillRect/>
          </a:stretch>
        </p:blipFill>
        <p:spPr>
          <a:xfrm>
            <a:off x="558605" y="1515035"/>
            <a:ext cx="8026791" cy="4420683"/>
          </a:xfrm>
          <a:prstGeom prst="rect">
            <a:avLst/>
          </a:prstGeom>
        </p:spPr>
      </p:pic>
    </p:spTree>
    <p:extLst>
      <p:ext uri="{BB962C8B-B14F-4D97-AF65-F5344CB8AC3E}">
        <p14:creationId xmlns:p14="http://schemas.microsoft.com/office/powerpoint/2010/main" val="2062450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6D0C247-18C0-0897-6E8C-0FB53434DF94}"/>
              </a:ext>
            </a:extLst>
          </p:cNvPr>
          <p:cNvSpPr>
            <a:spLocks noGrp="1"/>
          </p:cNvSpPr>
          <p:nvPr>
            <p:ph type="title"/>
          </p:nvPr>
        </p:nvSpPr>
        <p:spPr>
          <a:xfrm>
            <a:off x="767995" y="688645"/>
            <a:ext cx="6984410" cy="767446"/>
          </a:xfrm>
          <a:solidFill>
            <a:srgbClr val="0099CC"/>
          </a:solidFill>
        </p:spPr>
        <p:txBody>
          <a:bodyPr>
            <a:noAutofit/>
          </a:bodyPr>
          <a:lstStyle/>
          <a:p>
            <a:pPr algn="ctr"/>
            <a:r>
              <a:rPr lang="en-US" sz="2800" dirty="0" smtClean="0"/>
              <a:t>Fastest Growing Payment Methods &amp; Future Projections</a:t>
            </a:r>
            <a:endParaRPr lang="en-IN" sz="2800" dirty="0">
              <a:latin typeface="+mn-lt"/>
            </a:endParaRPr>
          </a:p>
        </p:txBody>
      </p:sp>
      <p:sp>
        <p:nvSpPr>
          <p:cNvPr id="3" name="Content Placeholder 2">
            <a:extLst>
              <a:ext uri="{FF2B5EF4-FFF2-40B4-BE49-F238E27FC236}">
                <a16:creationId xmlns:a16="http://schemas.microsoft.com/office/drawing/2014/main" xmlns="" id="{842A01C3-5F33-0E31-F76A-1EAE7EE22438}"/>
              </a:ext>
            </a:extLst>
          </p:cNvPr>
          <p:cNvSpPr>
            <a:spLocks noGrp="1"/>
          </p:cNvSpPr>
          <p:nvPr>
            <p:ph idx="1"/>
          </p:nvPr>
        </p:nvSpPr>
        <p:spPr>
          <a:xfrm>
            <a:off x="108536" y="1581016"/>
            <a:ext cx="2547258" cy="449638"/>
          </a:xfrm>
        </p:spPr>
        <p:txBody>
          <a:bodyPr>
            <a:noAutofit/>
          </a:bodyPr>
          <a:lstStyle/>
          <a:p>
            <a:pPr marL="109728" indent="0" algn="ctr">
              <a:buNone/>
            </a:pPr>
            <a:r>
              <a:rPr lang="en-US" sz="1400" b="1" dirty="0" smtClean="0"/>
              <a:t>Digital Wallets (NFC &amp; Online)</a:t>
            </a:r>
            <a:endParaRPr lang="en-IN" sz="1400" dirty="0"/>
          </a:p>
        </p:txBody>
      </p:sp>
      <p:pic>
        <p:nvPicPr>
          <p:cNvPr id="14" name="Google Shape;23;p3"/>
          <p:cNvPicPr preferRelativeResize="0"/>
          <p:nvPr/>
        </p:nvPicPr>
        <p:blipFill rotWithShape="1">
          <a:blip r:embed="rId2">
            <a:alphaModFix/>
          </a:blip>
          <a:srcRect/>
          <a:stretch/>
        </p:blipFill>
        <p:spPr>
          <a:xfrm>
            <a:off x="7737422" y="110217"/>
            <a:ext cx="1220840" cy="318405"/>
          </a:xfrm>
          <a:prstGeom prst="rect">
            <a:avLst/>
          </a:prstGeom>
          <a:noFill/>
          <a:ln>
            <a:noFill/>
          </a:ln>
        </p:spPr>
      </p:pic>
      <p:sp>
        <p:nvSpPr>
          <p:cNvPr id="15" name="TextBox 14"/>
          <p:cNvSpPr txBox="1"/>
          <p:nvPr/>
        </p:nvSpPr>
        <p:spPr>
          <a:xfrm>
            <a:off x="177590" y="3754497"/>
            <a:ext cx="8780672" cy="3108543"/>
          </a:xfrm>
          <a:prstGeom prst="rect">
            <a:avLst/>
          </a:prstGeom>
          <a:noFill/>
        </p:spPr>
        <p:txBody>
          <a:bodyPr wrap="square" rtlCol="0">
            <a:spAutoFit/>
          </a:bodyPr>
          <a:lstStyle/>
          <a:p>
            <a:r>
              <a:rPr lang="en-US" sz="1400" b="1" dirty="0">
                <a:solidFill>
                  <a:schemeClr val="tx1">
                    <a:lumMod val="85000"/>
                  </a:schemeClr>
                </a:solidFill>
                <a:latin typeface="Raleway" pitchFamily="2" charset="0"/>
              </a:rPr>
              <a:t>Advantages</a:t>
            </a:r>
            <a:r>
              <a:rPr lang="en-US" sz="1400" b="1" dirty="0" smtClean="0">
                <a:solidFill>
                  <a:schemeClr val="tx1">
                    <a:lumMod val="85000"/>
                  </a:schemeClr>
                </a:solidFill>
                <a:latin typeface="Raleway" pitchFamily="2" charset="0"/>
              </a:rPr>
              <a:t>:</a:t>
            </a:r>
          </a:p>
          <a:p>
            <a:endParaRPr lang="en-US" sz="1400" dirty="0" smtClean="0">
              <a:solidFill>
                <a:schemeClr val="tx1">
                  <a:lumMod val="85000"/>
                </a:schemeClr>
              </a:solidFill>
              <a:latin typeface="Raleway" pitchFamily="2" charset="0"/>
            </a:endParaRPr>
          </a:p>
          <a:p>
            <a:pPr>
              <a:buFont typeface="Arial" panose="020B0604020202020204" pitchFamily="34" charset="0"/>
              <a:buChar char="•"/>
            </a:pPr>
            <a:r>
              <a:rPr lang="en-US" sz="1400" b="1" dirty="0" smtClean="0">
                <a:solidFill>
                  <a:schemeClr val="tx1">
                    <a:lumMod val="85000"/>
                  </a:schemeClr>
                </a:solidFill>
                <a:latin typeface="Raleway" pitchFamily="2" charset="0"/>
              </a:rPr>
              <a:t>Affordability</a:t>
            </a:r>
            <a:r>
              <a:rPr lang="en-US" sz="1400" b="1" dirty="0">
                <a:solidFill>
                  <a:schemeClr val="tx1">
                    <a:lumMod val="85000"/>
                  </a:schemeClr>
                </a:solidFill>
                <a:latin typeface="Raleway" pitchFamily="2" charset="0"/>
              </a:rPr>
              <a:t>:</a:t>
            </a:r>
            <a:r>
              <a:rPr lang="en-US" sz="1400" dirty="0">
                <a:solidFill>
                  <a:schemeClr val="tx1">
                    <a:lumMod val="85000"/>
                  </a:schemeClr>
                </a:solidFill>
                <a:latin typeface="Raleway" pitchFamily="2" charset="0"/>
              </a:rPr>
              <a:t> Spreads the cost over time, making high-value purchases more manageable.</a:t>
            </a:r>
          </a:p>
          <a:p>
            <a:pPr>
              <a:buFont typeface="Arial" panose="020B0604020202020204" pitchFamily="34" charset="0"/>
              <a:buChar char="•"/>
            </a:pPr>
            <a:r>
              <a:rPr lang="en-US" sz="1400" b="1" dirty="0">
                <a:solidFill>
                  <a:schemeClr val="tx1">
                    <a:lumMod val="85000"/>
                  </a:schemeClr>
                </a:solidFill>
                <a:latin typeface="Raleway" pitchFamily="2" charset="0"/>
              </a:rPr>
              <a:t>Convenience:</a:t>
            </a:r>
            <a:r>
              <a:rPr lang="en-US" sz="1400" dirty="0">
                <a:solidFill>
                  <a:schemeClr val="tx1">
                    <a:lumMod val="85000"/>
                  </a:schemeClr>
                </a:solidFill>
                <a:latin typeface="Raleway" pitchFamily="2" charset="0"/>
              </a:rPr>
              <a:t> Automatic payments for subscriptions ensure continuous service.</a:t>
            </a:r>
          </a:p>
          <a:p>
            <a:pPr>
              <a:buFont typeface="Arial" panose="020B0604020202020204" pitchFamily="34" charset="0"/>
              <a:buChar char="•"/>
            </a:pPr>
            <a:r>
              <a:rPr lang="en-US" sz="1400" b="1" dirty="0">
                <a:solidFill>
                  <a:schemeClr val="tx1">
                    <a:lumMod val="85000"/>
                  </a:schemeClr>
                </a:solidFill>
                <a:latin typeface="Raleway" pitchFamily="2" charset="0"/>
              </a:rPr>
              <a:t>Customer Retention:</a:t>
            </a:r>
            <a:r>
              <a:rPr lang="en-US" sz="1400" dirty="0">
                <a:solidFill>
                  <a:schemeClr val="tx1">
                    <a:lumMod val="85000"/>
                  </a:schemeClr>
                </a:solidFill>
                <a:latin typeface="Raleway" pitchFamily="2" charset="0"/>
              </a:rPr>
              <a:t> Encourages long-term customer relationships</a:t>
            </a:r>
            <a:r>
              <a:rPr lang="en-US" sz="1400" dirty="0" smtClean="0">
                <a:solidFill>
                  <a:schemeClr val="tx1">
                    <a:lumMod val="85000"/>
                  </a:schemeClr>
                </a:solidFill>
                <a:latin typeface="Raleway" pitchFamily="2" charset="0"/>
              </a:rPr>
              <a:t>.</a:t>
            </a:r>
          </a:p>
          <a:p>
            <a:endParaRPr lang="en-US" sz="1400" dirty="0">
              <a:solidFill>
                <a:schemeClr val="tx1">
                  <a:lumMod val="85000"/>
                </a:schemeClr>
              </a:solidFill>
              <a:latin typeface="Raleway" pitchFamily="2" charset="0"/>
            </a:endParaRPr>
          </a:p>
          <a:p>
            <a:r>
              <a:rPr lang="en-US" sz="1400" b="1" dirty="0">
                <a:solidFill>
                  <a:schemeClr val="tx1">
                    <a:lumMod val="85000"/>
                  </a:schemeClr>
                </a:solidFill>
                <a:latin typeface="Raleway" pitchFamily="2" charset="0"/>
              </a:rPr>
              <a:t>Disadvantages</a:t>
            </a:r>
            <a:r>
              <a:rPr lang="en-US" sz="1400" b="1" dirty="0" smtClean="0">
                <a:solidFill>
                  <a:schemeClr val="tx1">
                    <a:lumMod val="85000"/>
                  </a:schemeClr>
                </a:solidFill>
                <a:latin typeface="Raleway" pitchFamily="2" charset="0"/>
              </a:rPr>
              <a:t>:</a:t>
            </a:r>
          </a:p>
          <a:p>
            <a:endParaRPr lang="en-US" sz="1400" dirty="0">
              <a:solidFill>
                <a:schemeClr val="tx1">
                  <a:lumMod val="85000"/>
                </a:schemeClr>
              </a:solidFill>
              <a:latin typeface="Raleway" pitchFamily="2" charset="0"/>
            </a:endParaRPr>
          </a:p>
          <a:p>
            <a:pPr>
              <a:buFont typeface="Arial" panose="020B0604020202020204" pitchFamily="34" charset="0"/>
              <a:buChar char="•"/>
            </a:pPr>
            <a:r>
              <a:rPr lang="en-US" sz="1400" b="1" dirty="0">
                <a:solidFill>
                  <a:schemeClr val="tx1">
                    <a:lumMod val="85000"/>
                  </a:schemeClr>
                </a:solidFill>
                <a:latin typeface="Raleway" pitchFamily="2" charset="0"/>
              </a:rPr>
              <a:t>Debt Risk:</a:t>
            </a:r>
            <a:r>
              <a:rPr lang="en-US" sz="1400" dirty="0">
                <a:solidFill>
                  <a:schemeClr val="tx1">
                    <a:lumMod val="85000"/>
                  </a:schemeClr>
                </a:solidFill>
                <a:latin typeface="Raleway" pitchFamily="2" charset="0"/>
              </a:rPr>
              <a:t> Can lead to debt accumulation if not managed properly.</a:t>
            </a:r>
          </a:p>
          <a:p>
            <a:pPr>
              <a:buFont typeface="Arial" panose="020B0604020202020204" pitchFamily="34" charset="0"/>
              <a:buChar char="•"/>
            </a:pPr>
            <a:r>
              <a:rPr lang="en-US" sz="1400" b="1" dirty="0">
                <a:solidFill>
                  <a:schemeClr val="tx1">
                    <a:lumMod val="85000"/>
                  </a:schemeClr>
                </a:solidFill>
                <a:latin typeface="Raleway" pitchFamily="2" charset="0"/>
              </a:rPr>
              <a:t>Complexity:</a:t>
            </a:r>
            <a:r>
              <a:rPr lang="en-US" sz="1400" dirty="0">
                <a:solidFill>
                  <a:schemeClr val="tx1">
                    <a:lumMod val="85000"/>
                  </a:schemeClr>
                </a:solidFill>
                <a:latin typeface="Raleway" pitchFamily="2" charset="0"/>
              </a:rPr>
              <a:t> Managing multiple installment plans can be cumbersome.</a:t>
            </a:r>
          </a:p>
          <a:p>
            <a:pPr>
              <a:buFont typeface="Arial" panose="020B0604020202020204" pitchFamily="34" charset="0"/>
              <a:buChar char="•"/>
            </a:pPr>
            <a:r>
              <a:rPr lang="en-US" sz="1400" b="1" dirty="0">
                <a:solidFill>
                  <a:schemeClr val="tx1">
                    <a:lumMod val="85000"/>
                  </a:schemeClr>
                </a:solidFill>
                <a:latin typeface="Raleway" pitchFamily="2" charset="0"/>
              </a:rPr>
              <a:t>Cancellation Issues:</a:t>
            </a:r>
            <a:r>
              <a:rPr lang="en-US" sz="1400" dirty="0">
                <a:solidFill>
                  <a:schemeClr val="tx1">
                    <a:lumMod val="85000"/>
                  </a:schemeClr>
                </a:solidFill>
                <a:latin typeface="Raleway" pitchFamily="2" charset="0"/>
              </a:rPr>
              <a:t> Cancelling subscriptions or installment plans can be difficult</a:t>
            </a:r>
            <a:r>
              <a:rPr lang="en-US" sz="1400" dirty="0" smtClean="0">
                <a:solidFill>
                  <a:schemeClr val="tx1">
                    <a:lumMod val="85000"/>
                  </a:schemeClr>
                </a:solidFill>
                <a:latin typeface="Raleway" pitchFamily="2" charset="0"/>
              </a:rPr>
              <a:t>.</a:t>
            </a:r>
          </a:p>
          <a:p>
            <a:pPr>
              <a:buFont typeface="Arial" panose="020B0604020202020204" pitchFamily="34" charset="0"/>
              <a:buChar char="•"/>
            </a:pPr>
            <a:endParaRPr lang="en-US" sz="1400" dirty="0">
              <a:solidFill>
                <a:schemeClr val="tx1">
                  <a:lumMod val="85000"/>
                </a:schemeClr>
              </a:solidFill>
              <a:latin typeface="Raleway" pitchFamily="2" charset="0"/>
            </a:endParaRPr>
          </a:p>
          <a:p>
            <a:r>
              <a:rPr lang="en-US" sz="1400" b="1" dirty="0">
                <a:solidFill>
                  <a:schemeClr val="tx1">
                    <a:lumMod val="85000"/>
                  </a:schemeClr>
                </a:solidFill>
                <a:latin typeface="Raleway" pitchFamily="2" charset="0"/>
              </a:rPr>
              <a:t>Usage:</a:t>
            </a:r>
            <a:endParaRPr lang="en-US" sz="1400" dirty="0">
              <a:solidFill>
                <a:schemeClr val="tx1">
                  <a:lumMod val="85000"/>
                </a:schemeClr>
              </a:solidFill>
              <a:latin typeface="Raleway" pitchFamily="2" charset="0"/>
            </a:endParaRPr>
          </a:p>
          <a:p>
            <a:pPr>
              <a:buFont typeface="Arial" panose="020B0604020202020204" pitchFamily="34" charset="0"/>
              <a:buChar char="•"/>
            </a:pPr>
            <a:r>
              <a:rPr lang="en-US" sz="1400" dirty="0">
                <a:solidFill>
                  <a:schemeClr val="tx1">
                    <a:lumMod val="85000"/>
                  </a:schemeClr>
                </a:solidFill>
                <a:latin typeface="Raleway" pitchFamily="2" charset="0"/>
              </a:rPr>
              <a:t>Popular for big-ticket items, subscriptions, and services requiring regular payments.</a:t>
            </a:r>
          </a:p>
        </p:txBody>
      </p:sp>
      <p:sp>
        <p:nvSpPr>
          <p:cNvPr id="10" name="Content Placeholder 2">
            <a:extLst>
              <a:ext uri="{FF2B5EF4-FFF2-40B4-BE49-F238E27FC236}">
                <a16:creationId xmlns:a16="http://schemas.microsoft.com/office/drawing/2014/main" xmlns="" id="{842A01C3-5F33-0E31-F76A-1EAE7EE22438}"/>
              </a:ext>
            </a:extLst>
          </p:cNvPr>
          <p:cNvSpPr txBox="1">
            <a:spLocks/>
          </p:cNvSpPr>
          <p:nvPr/>
        </p:nvSpPr>
        <p:spPr>
          <a:xfrm>
            <a:off x="3080336" y="1643769"/>
            <a:ext cx="2547258" cy="449638"/>
          </a:xfrm>
          <a:prstGeom prst="rect">
            <a:avLst/>
          </a:prstGeom>
        </p:spPr>
        <p:txBody>
          <a:bodyPr vert="horz">
            <a:noAutofit/>
          </a:bodyPr>
          <a:lstStyle>
            <a:lvl1pPr marL="365760" indent="-256032" algn="l" rtl="0" eaLnBrk="1" latinLnBrk="0"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300" kern="1200">
                <a:solidFill>
                  <a:schemeClr val="tx1"/>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a:lstStyle>
          <a:p>
            <a:pPr marL="109728" indent="0" algn="ctr">
              <a:buFont typeface="Wingdings 3"/>
              <a:buNone/>
            </a:pPr>
            <a:r>
              <a:rPr lang="en-US" sz="1400" b="1" dirty="0" smtClean="0"/>
              <a:t>Buy Now Pay Later (BNPL)</a:t>
            </a:r>
            <a:endParaRPr lang="en-IN" sz="1400" dirty="0"/>
          </a:p>
        </p:txBody>
      </p:sp>
      <p:sp>
        <p:nvSpPr>
          <p:cNvPr id="11" name="Content Placeholder 2">
            <a:extLst>
              <a:ext uri="{FF2B5EF4-FFF2-40B4-BE49-F238E27FC236}">
                <a16:creationId xmlns:a16="http://schemas.microsoft.com/office/drawing/2014/main" xmlns="" id="{842A01C3-5F33-0E31-F76A-1EAE7EE22438}"/>
              </a:ext>
            </a:extLst>
          </p:cNvPr>
          <p:cNvSpPr txBox="1">
            <a:spLocks/>
          </p:cNvSpPr>
          <p:nvPr/>
        </p:nvSpPr>
        <p:spPr>
          <a:xfrm>
            <a:off x="6193330" y="1643769"/>
            <a:ext cx="2547258" cy="449638"/>
          </a:xfrm>
          <a:prstGeom prst="rect">
            <a:avLst/>
          </a:prstGeom>
        </p:spPr>
        <p:txBody>
          <a:bodyPr vert="horz">
            <a:noAutofit/>
          </a:bodyPr>
          <a:lstStyle>
            <a:lvl1pPr marL="365760" indent="-256032" algn="l" rtl="0" eaLnBrk="1" latinLnBrk="0"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300" kern="1200">
                <a:solidFill>
                  <a:schemeClr val="tx1"/>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a:lstStyle>
          <a:p>
            <a:pPr marL="109728" indent="0" algn="ctr">
              <a:buFont typeface="Wingdings 3"/>
              <a:buNone/>
            </a:pPr>
            <a:r>
              <a:rPr lang="en-US" sz="1400" b="1" dirty="0" smtClean="0"/>
              <a:t>Recurring Transactions</a:t>
            </a:r>
            <a:endParaRPr lang="en-IN" sz="1400" dirty="0"/>
          </a:p>
        </p:txBody>
      </p:sp>
      <p:pic>
        <p:nvPicPr>
          <p:cNvPr id="12" name="Picture 11">
            <a:extLst>
              <a:ext uri="{FF2B5EF4-FFF2-40B4-BE49-F238E27FC236}">
                <a16:creationId xmlns="" xmlns:a16="http://schemas.microsoft.com/office/drawing/2014/main" xmlns:lc="http://schemas.openxmlformats.org/drawingml/2006/lockedCanvas" id="{0E1E3FFE-9CD0-5263-3CED-F8D0FF19892E}"/>
              </a:ext>
            </a:extLst>
          </p:cNvPr>
          <p:cNvPicPr>
            <a:picLocks noChangeAspect="1"/>
          </p:cNvPicPr>
          <p:nvPr/>
        </p:nvPicPr>
        <p:blipFill>
          <a:blip r:embed="rId3"/>
          <a:stretch>
            <a:fillRect/>
          </a:stretch>
        </p:blipFill>
        <p:spPr>
          <a:xfrm>
            <a:off x="599394" y="2196354"/>
            <a:ext cx="1555844" cy="1419144"/>
          </a:xfrm>
          <a:prstGeom prst="rect">
            <a:avLst/>
          </a:prstGeom>
        </p:spPr>
      </p:pic>
      <p:pic>
        <p:nvPicPr>
          <p:cNvPr id="13" name="Picture 12">
            <a:extLst>
              <a:ext uri="{FF2B5EF4-FFF2-40B4-BE49-F238E27FC236}">
                <a16:creationId xmlns="" xmlns:a16="http://schemas.microsoft.com/office/drawing/2014/main" xmlns:lc="http://schemas.openxmlformats.org/drawingml/2006/lockedCanvas" id="{C8B39F32-A4F6-915E-E619-85860083EA49}"/>
              </a:ext>
            </a:extLst>
          </p:cNvPr>
          <p:cNvPicPr>
            <a:picLocks noChangeAspect="1"/>
          </p:cNvPicPr>
          <p:nvPr/>
        </p:nvPicPr>
        <p:blipFill>
          <a:blip r:embed="rId4"/>
          <a:stretch>
            <a:fillRect/>
          </a:stretch>
        </p:blipFill>
        <p:spPr>
          <a:xfrm>
            <a:off x="3478098" y="2093407"/>
            <a:ext cx="1751734" cy="1522091"/>
          </a:xfrm>
          <a:prstGeom prst="rect">
            <a:avLst/>
          </a:prstGeom>
        </p:spPr>
      </p:pic>
      <p:pic>
        <p:nvPicPr>
          <p:cNvPr id="16" name="Picture 15">
            <a:extLst>
              <a:ext uri="{FF2B5EF4-FFF2-40B4-BE49-F238E27FC236}">
                <a16:creationId xmlns="" xmlns:a16="http://schemas.microsoft.com/office/drawing/2014/main" xmlns:lc="http://schemas.openxmlformats.org/drawingml/2006/lockedCanvas" id="{0E0399A7-CCB5-694D-5D81-FDBE558B6AFF}"/>
              </a:ext>
            </a:extLst>
          </p:cNvPr>
          <p:cNvPicPr>
            <a:picLocks noChangeAspect="1"/>
          </p:cNvPicPr>
          <p:nvPr/>
        </p:nvPicPr>
        <p:blipFill>
          <a:blip r:embed="rId5"/>
          <a:stretch>
            <a:fillRect/>
          </a:stretch>
        </p:blipFill>
        <p:spPr>
          <a:xfrm>
            <a:off x="6763870" y="2093407"/>
            <a:ext cx="1427773" cy="1522957"/>
          </a:xfrm>
          <a:prstGeom prst="rect">
            <a:avLst/>
          </a:prstGeom>
        </p:spPr>
      </p:pic>
    </p:spTree>
    <p:extLst>
      <p:ext uri="{BB962C8B-B14F-4D97-AF65-F5344CB8AC3E}">
        <p14:creationId xmlns:p14="http://schemas.microsoft.com/office/powerpoint/2010/main" val="284826469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6D0C247-18C0-0897-6E8C-0FB53434DF94}"/>
              </a:ext>
            </a:extLst>
          </p:cNvPr>
          <p:cNvSpPr>
            <a:spLocks noGrp="1"/>
          </p:cNvSpPr>
          <p:nvPr>
            <p:ph type="title"/>
          </p:nvPr>
        </p:nvSpPr>
        <p:spPr>
          <a:xfrm>
            <a:off x="1104301" y="428622"/>
            <a:ext cx="6521965" cy="643198"/>
          </a:xfrm>
          <a:solidFill>
            <a:srgbClr val="0099CC"/>
          </a:solidFill>
        </p:spPr>
        <p:txBody>
          <a:bodyPr>
            <a:normAutofit/>
          </a:bodyPr>
          <a:lstStyle/>
          <a:p>
            <a:r>
              <a:rPr lang="en-US" sz="3200" dirty="0" smtClean="0"/>
              <a:t>High Usage In E-Commerce</a:t>
            </a:r>
            <a:endParaRPr lang="en-IN" sz="3200" dirty="0">
              <a:latin typeface="+mn-lt"/>
            </a:endParaRPr>
          </a:p>
        </p:txBody>
      </p:sp>
      <p:pic>
        <p:nvPicPr>
          <p:cNvPr id="14" name="Google Shape;23;p3"/>
          <p:cNvPicPr preferRelativeResize="0"/>
          <p:nvPr/>
        </p:nvPicPr>
        <p:blipFill rotWithShape="1">
          <a:blip r:embed="rId2">
            <a:alphaModFix/>
          </a:blip>
          <a:srcRect/>
          <a:stretch/>
        </p:blipFill>
        <p:spPr>
          <a:xfrm>
            <a:off x="7737422" y="110217"/>
            <a:ext cx="1220840" cy="318405"/>
          </a:xfrm>
          <a:prstGeom prst="rect">
            <a:avLst/>
          </a:prstGeom>
          <a:noFill/>
          <a:ln>
            <a:noFill/>
          </a:ln>
        </p:spPr>
      </p:pic>
      <p:sp>
        <p:nvSpPr>
          <p:cNvPr id="15" name="TextBox 14"/>
          <p:cNvSpPr txBox="1"/>
          <p:nvPr/>
        </p:nvSpPr>
        <p:spPr>
          <a:xfrm>
            <a:off x="683568" y="1844824"/>
            <a:ext cx="3681716" cy="4801314"/>
          </a:xfrm>
          <a:prstGeom prst="rect">
            <a:avLst/>
          </a:prstGeom>
          <a:noFill/>
        </p:spPr>
        <p:txBody>
          <a:bodyPr wrap="square" rtlCol="0">
            <a:spAutoFit/>
          </a:bodyPr>
          <a:lstStyle/>
          <a:p>
            <a:pPr>
              <a:buFont typeface="+mj-lt"/>
              <a:buAutoNum type="arabicPeriod"/>
            </a:pPr>
            <a:r>
              <a:rPr lang="en-IN" b="1" dirty="0">
                <a:solidFill>
                  <a:schemeClr val="tx1">
                    <a:lumMod val="85000"/>
                  </a:schemeClr>
                </a:solidFill>
                <a:latin typeface="Raleway" pitchFamily="2" charset="0"/>
              </a:rPr>
              <a:t>Digital Wallets (NFC and Online)</a:t>
            </a:r>
            <a:endParaRPr lang="en-IN" dirty="0">
              <a:solidFill>
                <a:schemeClr val="tx1">
                  <a:lumMod val="85000"/>
                </a:schemeClr>
              </a:solidFill>
              <a:latin typeface="Raleway" pitchFamily="2" charset="0"/>
            </a:endParaRPr>
          </a:p>
          <a:p>
            <a:pPr lvl="1"/>
            <a:r>
              <a:rPr lang="en-IN" b="1" dirty="0">
                <a:solidFill>
                  <a:schemeClr val="tx1">
                    <a:lumMod val="85000"/>
                  </a:schemeClr>
                </a:solidFill>
                <a:latin typeface="Raleway" pitchFamily="2" charset="0"/>
              </a:rPr>
              <a:t>Examples:</a:t>
            </a:r>
            <a:r>
              <a:rPr lang="en-IN" dirty="0">
                <a:solidFill>
                  <a:schemeClr val="tx1">
                    <a:lumMod val="85000"/>
                  </a:schemeClr>
                </a:solidFill>
                <a:latin typeface="Raleway" pitchFamily="2" charset="0"/>
              </a:rPr>
              <a:t> PayPal, Apple Pay, Google Pay.</a:t>
            </a:r>
          </a:p>
          <a:p>
            <a:pPr>
              <a:buFont typeface="+mj-lt"/>
              <a:buAutoNum type="arabicPeriod"/>
            </a:pPr>
            <a:r>
              <a:rPr lang="en-IN" b="1" dirty="0">
                <a:solidFill>
                  <a:schemeClr val="tx1">
                    <a:lumMod val="85000"/>
                  </a:schemeClr>
                </a:solidFill>
                <a:latin typeface="Raleway" pitchFamily="2" charset="0"/>
              </a:rPr>
              <a:t>BNPL Services</a:t>
            </a:r>
            <a:endParaRPr lang="en-IN" dirty="0">
              <a:solidFill>
                <a:schemeClr val="tx1">
                  <a:lumMod val="85000"/>
                </a:schemeClr>
              </a:solidFill>
              <a:latin typeface="Raleway" pitchFamily="2" charset="0"/>
            </a:endParaRPr>
          </a:p>
          <a:p>
            <a:pPr lvl="1"/>
            <a:r>
              <a:rPr lang="en-IN" b="1" dirty="0">
                <a:solidFill>
                  <a:schemeClr val="tx1">
                    <a:lumMod val="85000"/>
                  </a:schemeClr>
                </a:solidFill>
                <a:latin typeface="Raleway" pitchFamily="2" charset="0"/>
              </a:rPr>
              <a:t>Examples:</a:t>
            </a:r>
            <a:r>
              <a:rPr lang="en-IN" dirty="0">
                <a:solidFill>
                  <a:schemeClr val="tx1">
                    <a:lumMod val="85000"/>
                  </a:schemeClr>
                </a:solidFill>
                <a:latin typeface="Raleway" pitchFamily="2" charset="0"/>
              </a:rPr>
              <a:t> Afterpay, Klarna, Affirm</a:t>
            </a:r>
            <a:r>
              <a:rPr lang="en-IN" dirty="0" smtClean="0">
                <a:solidFill>
                  <a:schemeClr val="tx1">
                    <a:lumMod val="85000"/>
                  </a:schemeClr>
                </a:solidFill>
                <a:latin typeface="Raleway" pitchFamily="2" charset="0"/>
              </a:rPr>
              <a:t>.</a:t>
            </a:r>
          </a:p>
          <a:p>
            <a:pPr marL="742950" lvl="1" indent="-285750">
              <a:buFont typeface="+mj-lt"/>
              <a:buAutoNum type="arabicPeriod"/>
            </a:pPr>
            <a:endParaRPr lang="en-IN" dirty="0">
              <a:solidFill>
                <a:schemeClr val="tx1">
                  <a:lumMod val="85000"/>
                </a:schemeClr>
              </a:solidFill>
              <a:latin typeface="Raleway" pitchFamily="2" charset="0"/>
            </a:endParaRPr>
          </a:p>
          <a:p>
            <a:r>
              <a:rPr lang="en-IN" b="1" dirty="0">
                <a:solidFill>
                  <a:schemeClr val="tx1">
                    <a:lumMod val="85000"/>
                  </a:schemeClr>
                </a:solidFill>
                <a:latin typeface="Raleway" pitchFamily="2" charset="0"/>
              </a:rPr>
              <a:t>Why These Methods?</a:t>
            </a:r>
            <a:endParaRPr lang="en-IN" dirty="0">
              <a:solidFill>
                <a:schemeClr val="tx1">
                  <a:lumMod val="85000"/>
                </a:schemeClr>
              </a:solidFill>
              <a:latin typeface="Raleway" pitchFamily="2" charset="0"/>
            </a:endParaRPr>
          </a:p>
          <a:p>
            <a:pPr>
              <a:buFont typeface="Arial" panose="020B0604020202020204" pitchFamily="34" charset="0"/>
              <a:buChar char="•"/>
            </a:pPr>
            <a:r>
              <a:rPr lang="en-IN" b="1" dirty="0">
                <a:solidFill>
                  <a:schemeClr val="tx1">
                    <a:lumMod val="85000"/>
                  </a:schemeClr>
                </a:solidFill>
                <a:latin typeface="Raleway" pitchFamily="2" charset="0"/>
              </a:rPr>
              <a:t>Digital Wallets:</a:t>
            </a:r>
            <a:r>
              <a:rPr lang="en-IN" dirty="0">
                <a:solidFill>
                  <a:schemeClr val="tx1">
                    <a:lumMod val="85000"/>
                  </a:schemeClr>
                </a:solidFill>
                <a:latin typeface="Raleway" pitchFamily="2" charset="0"/>
              </a:rPr>
              <a:t> TikTok’s predominantly younger user base prefers the convenience and speed of digital wallets.</a:t>
            </a:r>
          </a:p>
          <a:p>
            <a:pPr>
              <a:buFont typeface="Arial" panose="020B0604020202020204" pitchFamily="34" charset="0"/>
              <a:buChar char="•"/>
            </a:pPr>
            <a:r>
              <a:rPr lang="en-IN" b="1" dirty="0">
                <a:solidFill>
                  <a:schemeClr val="tx1">
                    <a:lumMod val="85000"/>
                  </a:schemeClr>
                </a:solidFill>
                <a:latin typeface="Raleway" pitchFamily="2" charset="0"/>
              </a:rPr>
              <a:t>BNPL Services:</a:t>
            </a:r>
            <a:r>
              <a:rPr lang="en-IN" dirty="0">
                <a:solidFill>
                  <a:schemeClr val="tx1">
                    <a:lumMod val="85000"/>
                  </a:schemeClr>
                </a:solidFill>
                <a:latin typeface="Raleway" pitchFamily="2" charset="0"/>
              </a:rPr>
              <a:t> Attractive to younger consumers who favour flexible payment options, which aligns with TikTok’s demographic.</a:t>
            </a:r>
          </a:p>
        </p:txBody>
      </p:sp>
      <p:sp>
        <p:nvSpPr>
          <p:cNvPr id="18" name="TextBox 17"/>
          <p:cNvSpPr txBox="1"/>
          <p:nvPr/>
        </p:nvSpPr>
        <p:spPr>
          <a:xfrm>
            <a:off x="5154821" y="1772816"/>
            <a:ext cx="3681716" cy="4801314"/>
          </a:xfrm>
          <a:prstGeom prst="rect">
            <a:avLst/>
          </a:prstGeom>
          <a:noFill/>
        </p:spPr>
        <p:txBody>
          <a:bodyPr wrap="square" rtlCol="0">
            <a:spAutoFit/>
          </a:bodyPr>
          <a:lstStyle/>
          <a:p>
            <a:pPr>
              <a:buFont typeface="+mj-lt"/>
              <a:buAutoNum type="arabicPeriod"/>
            </a:pPr>
            <a:r>
              <a:rPr lang="en-IN" b="1" dirty="0">
                <a:solidFill>
                  <a:schemeClr val="tx1">
                    <a:lumMod val="85000"/>
                  </a:schemeClr>
                </a:solidFill>
                <a:latin typeface="Raleway" pitchFamily="2" charset="0"/>
              </a:rPr>
              <a:t>Digital Wallets (NFC and Online)</a:t>
            </a:r>
            <a:endParaRPr lang="en-IN" dirty="0">
              <a:solidFill>
                <a:schemeClr val="tx1">
                  <a:lumMod val="85000"/>
                </a:schemeClr>
              </a:solidFill>
              <a:latin typeface="Raleway" pitchFamily="2" charset="0"/>
            </a:endParaRPr>
          </a:p>
          <a:p>
            <a:pPr lvl="1"/>
            <a:r>
              <a:rPr lang="en-IN" b="1" dirty="0">
                <a:solidFill>
                  <a:schemeClr val="tx1">
                    <a:lumMod val="85000"/>
                  </a:schemeClr>
                </a:solidFill>
                <a:latin typeface="Raleway" pitchFamily="2" charset="0"/>
              </a:rPr>
              <a:t>E</a:t>
            </a:r>
            <a:r>
              <a:rPr lang="en-IN" b="1" dirty="0" smtClean="0">
                <a:solidFill>
                  <a:schemeClr val="tx1">
                    <a:lumMod val="85000"/>
                  </a:schemeClr>
                </a:solidFill>
                <a:latin typeface="Raleway" pitchFamily="2" charset="0"/>
              </a:rPr>
              <a:t>xamples</a:t>
            </a:r>
            <a:r>
              <a:rPr lang="en-IN" b="1" dirty="0">
                <a:solidFill>
                  <a:schemeClr val="tx1">
                    <a:lumMod val="85000"/>
                  </a:schemeClr>
                </a:solidFill>
                <a:latin typeface="Raleway" pitchFamily="2" charset="0"/>
              </a:rPr>
              <a:t>:</a:t>
            </a:r>
            <a:r>
              <a:rPr lang="en-IN" dirty="0">
                <a:solidFill>
                  <a:schemeClr val="tx1">
                    <a:lumMod val="85000"/>
                  </a:schemeClr>
                </a:solidFill>
                <a:latin typeface="Raleway" pitchFamily="2" charset="0"/>
              </a:rPr>
              <a:t> PayPal, Apple Pay, Google Pay.</a:t>
            </a:r>
          </a:p>
          <a:p>
            <a:pPr>
              <a:buFont typeface="+mj-lt"/>
              <a:buAutoNum type="arabicPeriod"/>
            </a:pPr>
            <a:r>
              <a:rPr lang="en-IN" b="1" dirty="0">
                <a:solidFill>
                  <a:schemeClr val="tx1">
                    <a:lumMod val="85000"/>
                  </a:schemeClr>
                </a:solidFill>
                <a:latin typeface="Raleway" pitchFamily="2" charset="0"/>
              </a:rPr>
              <a:t>BNPL Services</a:t>
            </a:r>
            <a:endParaRPr lang="en-IN" dirty="0">
              <a:solidFill>
                <a:schemeClr val="tx1">
                  <a:lumMod val="85000"/>
                </a:schemeClr>
              </a:solidFill>
              <a:latin typeface="Raleway" pitchFamily="2" charset="0"/>
            </a:endParaRPr>
          </a:p>
          <a:p>
            <a:pPr lvl="1"/>
            <a:r>
              <a:rPr lang="en-IN" b="1" dirty="0">
                <a:solidFill>
                  <a:schemeClr val="tx1">
                    <a:lumMod val="85000"/>
                  </a:schemeClr>
                </a:solidFill>
                <a:latin typeface="Raleway" pitchFamily="2" charset="0"/>
              </a:rPr>
              <a:t>Examples:</a:t>
            </a:r>
            <a:r>
              <a:rPr lang="en-IN" dirty="0">
                <a:solidFill>
                  <a:schemeClr val="tx1">
                    <a:lumMod val="85000"/>
                  </a:schemeClr>
                </a:solidFill>
                <a:latin typeface="Raleway" pitchFamily="2" charset="0"/>
              </a:rPr>
              <a:t> Afterpay, Klarna, Affirm</a:t>
            </a:r>
            <a:r>
              <a:rPr lang="en-IN" dirty="0" smtClean="0">
                <a:solidFill>
                  <a:schemeClr val="tx1">
                    <a:lumMod val="85000"/>
                  </a:schemeClr>
                </a:solidFill>
                <a:latin typeface="Raleway" pitchFamily="2" charset="0"/>
              </a:rPr>
              <a:t>.</a:t>
            </a:r>
          </a:p>
          <a:p>
            <a:pPr marL="742950" lvl="1" indent="-285750">
              <a:buFont typeface="+mj-lt"/>
              <a:buAutoNum type="arabicPeriod"/>
            </a:pPr>
            <a:endParaRPr lang="en-IN" dirty="0">
              <a:solidFill>
                <a:schemeClr val="tx1">
                  <a:lumMod val="85000"/>
                </a:schemeClr>
              </a:solidFill>
              <a:latin typeface="Raleway" pitchFamily="2" charset="0"/>
            </a:endParaRPr>
          </a:p>
          <a:p>
            <a:r>
              <a:rPr lang="en-IN" b="1" dirty="0">
                <a:solidFill>
                  <a:schemeClr val="tx1">
                    <a:lumMod val="85000"/>
                  </a:schemeClr>
                </a:solidFill>
                <a:latin typeface="Raleway" pitchFamily="2" charset="0"/>
              </a:rPr>
              <a:t>Why These Methods?</a:t>
            </a:r>
            <a:endParaRPr lang="en-IN" dirty="0">
              <a:solidFill>
                <a:schemeClr val="tx1">
                  <a:lumMod val="85000"/>
                </a:schemeClr>
              </a:solidFill>
              <a:latin typeface="Raleway" pitchFamily="2" charset="0"/>
            </a:endParaRPr>
          </a:p>
          <a:p>
            <a:pPr>
              <a:buFont typeface="Arial" panose="020B0604020202020204" pitchFamily="34" charset="0"/>
              <a:buChar char="•"/>
            </a:pPr>
            <a:r>
              <a:rPr lang="en-IN" b="1" dirty="0">
                <a:solidFill>
                  <a:schemeClr val="tx1">
                    <a:lumMod val="85000"/>
                  </a:schemeClr>
                </a:solidFill>
                <a:latin typeface="Raleway" pitchFamily="2" charset="0"/>
              </a:rPr>
              <a:t>Digital Wallets:</a:t>
            </a:r>
            <a:r>
              <a:rPr lang="en-IN" dirty="0">
                <a:solidFill>
                  <a:schemeClr val="tx1">
                    <a:lumMod val="85000"/>
                  </a:schemeClr>
                </a:solidFill>
                <a:latin typeface="Raleway" pitchFamily="2" charset="0"/>
              </a:rPr>
              <a:t> TikTok’s predominantly younger user base prefers the convenience and speed of digital wallets.</a:t>
            </a:r>
          </a:p>
          <a:p>
            <a:pPr>
              <a:buFont typeface="Arial" panose="020B0604020202020204" pitchFamily="34" charset="0"/>
              <a:buChar char="•"/>
            </a:pPr>
            <a:r>
              <a:rPr lang="en-IN" b="1" dirty="0">
                <a:solidFill>
                  <a:schemeClr val="tx1">
                    <a:lumMod val="85000"/>
                  </a:schemeClr>
                </a:solidFill>
                <a:latin typeface="Raleway" pitchFamily="2" charset="0"/>
              </a:rPr>
              <a:t>BNPL Services:</a:t>
            </a:r>
            <a:r>
              <a:rPr lang="en-IN" dirty="0">
                <a:solidFill>
                  <a:schemeClr val="tx1">
                    <a:lumMod val="85000"/>
                  </a:schemeClr>
                </a:solidFill>
                <a:latin typeface="Raleway" pitchFamily="2" charset="0"/>
              </a:rPr>
              <a:t> Attractive to younger consumers who </a:t>
            </a:r>
            <a:r>
              <a:rPr lang="en-IN" dirty="0" smtClean="0">
                <a:solidFill>
                  <a:schemeClr val="tx1">
                    <a:lumMod val="85000"/>
                  </a:schemeClr>
                </a:solidFill>
                <a:latin typeface="Raleway" pitchFamily="2" charset="0"/>
              </a:rPr>
              <a:t>favour </a:t>
            </a:r>
            <a:r>
              <a:rPr lang="en-IN" dirty="0">
                <a:solidFill>
                  <a:schemeClr val="tx1">
                    <a:lumMod val="85000"/>
                  </a:schemeClr>
                </a:solidFill>
                <a:latin typeface="Raleway" pitchFamily="2" charset="0"/>
              </a:rPr>
              <a:t>flexible payment options, which aligns with TikTok’s demographic.</a:t>
            </a:r>
          </a:p>
        </p:txBody>
      </p:sp>
      <p:sp>
        <p:nvSpPr>
          <p:cNvPr id="9" name="Content Placeholder 2">
            <a:extLst>
              <a:ext uri="{FF2B5EF4-FFF2-40B4-BE49-F238E27FC236}">
                <a16:creationId xmlns:a16="http://schemas.microsoft.com/office/drawing/2014/main" xmlns="" id="{842A01C3-5F33-0E31-F76A-1EAE7EE22438}"/>
              </a:ext>
            </a:extLst>
          </p:cNvPr>
          <p:cNvSpPr txBox="1">
            <a:spLocks/>
          </p:cNvSpPr>
          <p:nvPr/>
        </p:nvSpPr>
        <p:spPr>
          <a:xfrm>
            <a:off x="4729419" y="819122"/>
            <a:ext cx="4107117" cy="449638"/>
          </a:xfrm>
          <a:prstGeom prst="rect">
            <a:avLst/>
          </a:prstGeom>
        </p:spPr>
        <p:txBody>
          <a:bodyPr vert="horz">
            <a:noAutofit/>
          </a:bodyPr>
          <a:lstStyle>
            <a:lvl1pPr marL="365760" indent="-256032" algn="l" rtl="0" eaLnBrk="1" latinLnBrk="0"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300" kern="1200">
                <a:solidFill>
                  <a:schemeClr val="tx1"/>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a:lstStyle>
          <a:p>
            <a:pPr marL="109728" indent="0" algn="ctr">
              <a:buFont typeface="Wingdings 3"/>
              <a:buNone/>
            </a:pPr>
            <a:endParaRPr lang="en-IN" sz="1800" dirty="0"/>
          </a:p>
        </p:txBody>
      </p:sp>
      <p:sp>
        <p:nvSpPr>
          <p:cNvPr id="5" name="Rounded Rectangle 4"/>
          <p:cNvSpPr/>
          <p:nvPr/>
        </p:nvSpPr>
        <p:spPr>
          <a:xfrm>
            <a:off x="683568" y="1268760"/>
            <a:ext cx="3312368" cy="576064"/>
          </a:xfrm>
          <a:prstGeom prst="roundRect">
            <a:avLst/>
          </a:prstGeom>
          <a:solidFill>
            <a:srgbClr val="00CC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Digital Wallets, CNP, </a:t>
            </a:r>
            <a:r>
              <a:rPr lang="en-US" b="1" dirty="0" smtClean="0"/>
              <a:t>BNPL</a:t>
            </a:r>
            <a:endParaRPr lang="en-IN" dirty="0"/>
          </a:p>
        </p:txBody>
      </p:sp>
      <p:sp>
        <p:nvSpPr>
          <p:cNvPr id="10" name="Rounded Rectangle 9"/>
          <p:cNvSpPr/>
          <p:nvPr/>
        </p:nvSpPr>
        <p:spPr>
          <a:xfrm>
            <a:off x="5154821" y="1196752"/>
            <a:ext cx="3312368" cy="576064"/>
          </a:xfrm>
          <a:prstGeom prst="roundRect">
            <a:avLst/>
          </a:prstGeom>
          <a:solidFill>
            <a:srgbClr val="00CC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In USA  TikTok </a:t>
            </a:r>
            <a:r>
              <a:rPr lang="en-US" b="1" dirty="0" smtClean="0"/>
              <a:t>E-Commerce</a:t>
            </a:r>
            <a:endParaRPr lang="en-IN" dirty="0"/>
          </a:p>
        </p:txBody>
      </p:sp>
    </p:spTree>
    <p:extLst>
      <p:ext uri="{BB962C8B-B14F-4D97-AF65-F5344CB8AC3E}">
        <p14:creationId xmlns:p14="http://schemas.microsoft.com/office/powerpoint/2010/main" val="7492318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6D0C247-18C0-0897-6E8C-0FB53434DF94}"/>
              </a:ext>
            </a:extLst>
          </p:cNvPr>
          <p:cNvSpPr>
            <a:spLocks noGrp="1"/>
          </p:cNvSpPr>
          <p:nvPr>
            <p:ph type="title"/>
          </p:nvPr>
        </p:nvSpPr>
        <p:spPr>
          <a:xfrm>
            <a:off x="1043608" y="428622"/>
            <a:ext cx="6552728" cy="714377"/>
          </a:xfrm>
          <a:solidFill>
            <a:srgbClr val="0099CC"/>
          </a:solidFill>
        </p:spPr>
        <p:txBody>
          <a:bodyPr>
            <a:normAutofit/>
          </a:bodyPr>
          <a:lstStyle/>
          <a:p>
            <a:pPr algn="ctr"/>
            <a:r>
              <a:rPr lang="en-US" sz="3200" dirty="0" smtClean="0"/>
              <a:t>Payments Conclusion </a:t>
            </a:r>
            <a:endParaRPr lang="en-IN" sz="3200" dirty="0">
              <a:latin typeface="+mn-lt"/>
            </a:endParaRPr>
          </a:p>
        </p:txBody>
      </p:sp>
      <p:pic>
        <p:nvPicPr>
          <p:cNvPr id="14" name="Google Shape;23;p3"/>
          <p:cNvPicPr preferRelativeResize="0"/>
          <p:nvPr/>
        </p:nvPicPr>
        <p:blipFill rotWithShape="1">
          <a:blip r:embed="rId2">
            <a:alphaModFix/>
          </a:blip>
          <a:srcRect/>
          <a:stretch/>
        </p:blipFill>
        <p:spPr>
          <a:xfrm>
            <a:off x="7737422" y="110217"/>
            <a:ext cx="1220840" cy="318405"/>
          </a:xfrm>
          <a:prstGeom prst="rect">
            <a:avLst/>
          </a:prstGeom>
          <a:noFill/>
          <a:ln>
            <a:noFill/>
          </a:ln>
        </p:spPr>
      </p:pic>
      <p:sp>
        <p:nvSpPr>
          <p:cNvPr id="15" name="TextBox 14"/>
          <p:cNvSpPr txBox="1"/>
          <p:nvPr/>
        </p:nvSpPr>
        <p:spPr>
          <a:xfrm>
            <a:off x="107504" y="1268760"/>
            <a:ext cx="8704192" cy="5632311"/>
          </a:xfrm>
          <a:prstGeom prst="rect">
            <a:avLst/>
          </a:prstGeom>
          <a:noFill/>
        </p:spPr>
        <p:txBody>
          <a:bodyPr wrap="square" rtlCol="0">
            <a:spAutoFit/>
          </a:bodyPr>
          <a:lstStyle/>
          <a:p>
            <a:r>
              <a:rPr lang="en-US" b="1" dirty="0">
                <a:solidFill>
                  <a:schemeClr val="tx1">
                    <a:lumMod val="85000"/>
                  </a:schemeClr>
                </a:solidFill>
                <a:latin typeface="Raleway" pitchFamily="2" charset="0"/>
              </a:rPr>
              <a:t>Fastest Growing Methods:</a:t>
            </a:r>
            <a:endParaRPr lang="en-US" dirty="0">
              <a:solidFill>
                <a:schemeClr val="tx1">
                  <a:lumMod val="85000"/>
                </a:schemeClr>
              </a:solidFill>
              <a:latin typeface="Raleway" pitchFamily="2" charset="0"/>
            </a:endParaRPr>
          </a:p>
          <a:p>
            <a:pPr>
              <a:buFont typeface="Arial" panose="020B0604020202020204" pitchFamily="34" charset="0"/>
              <a:buChar char="•"/>
            </a:pPr>
            <a:r>
              <a:rPr lang="en-US" dirty="0">
                <a:solidFill>
                  <a:schemeClr val="tx1">
                    <a:lumMod val="85000"/>
                  </a:schemeClr>
                </a:solidFill>
                <a:latin typeface="Raleway" pitchFamily="2" charset="0"/>
              </a:rPr>
              <a:t>Digital Wallets (NFC and Online)</a:t>
            </a:r>
          </a:p>
          <a:p>
            <a:pPr>
              <a:buFont typeface="Arial" panose="020B0604020202020204" pitchFamily="34" charset="0"/>
              <a:buChar char="•"/>
            </a:pPr>
            <a:r>
              <a:rPr lang="en-US" dirty="0">
                <a:solidFill>
                  <a:schemeClr val="tx1">
                    <a:lumMod val="85000"/>
                  </a:schemeClr>
                </a:solidFill>
                <a:latin typeface="Raleway" pitchFamily="2" charset="0"/>
              </a:rPr>
              <a:t>BNPL Services</a:t>
            </a:r>
          </a:p>
          <a:p>
            <a:pPr>
              <a:buFont typeface="Arial" panose="020B0604020202020204" pitchFamily="34" charset="0"/>
              <a:buChar char="•"/>
            </a:pPr>
            <a:r>
              <a:rPr lang="en-US" dirty="0">
                <a:solidFill>
                  <a:schemeClr val="tx1">
                    <a:lumMod val="85000"/>
                  </a:schemeClr>
                </a:solidFill>
                <a:latin typeface="Raleway" pitchFamily="2" charset="0"/>
              </a:rPr>
              <a:t>Recurring Transactions (Subscriptions)</a:t>
            </a:r>
          </a:p>
          <a:p>
            <a:r>
              <a:rPr lang="en-US" b="1" dirty="0">
                <a:solidFill>
                  <a:schemeClr val="tx1">
                    <a:lumMod val="85000"/>
                  </a:schemeClr>
                </a:solidFill>
                <a:latin typeface="Raleway" pitchFamily="2" charset="0"/>
              </a:rPr>
              <a:t>Most Used in Future:</a:t>
            </a:r>
            <a:endParaRPr lang="en-US" dirty="0">
              <a:solidFill>
                <a:schemeClr val="tx1">
                  <a:lumMod val="85000"/>
                </a:schemeClr>
              </a:solidFill>
              <a:latin typeface="Raleway" pitchFamily="2" charset="0"/>
            </a:endParaRPr>
          </a:p>
          <a:p>
            <a:pPr>
              <a:buFont typeface="Arial" panose="020B0604020202020204" pitchFamily="34" charset="0"/>
              <a:buChar char="•"/>
            </a:pPr>
            <a:r>
              <a:rPr lang="en-US" dirty="0">
                <a:solidFill>
                  <a:schemeClr val="tx1">
                    <a:lumMod val="85000"/>
                  </a:schemeClr>
                </a:solidFill>
                <a:latin typeface="Raleway" pitchFamily="2" charset="0"/>
              </a:rPr>
              <a:t>Digital Wallets</a:t>
            </a:r>
          </a:p>
          <a:p>
            <a:pPr>
              <a:buFont typeface="Arial" panose="020B0604020202020204" pitchFamily="34" charset="0"/>
              <a:buChar char="•"/>
            </a:pPr>
            <a:r>
              <a:rPr lang="en-US" dirty="0">
                <a:solidFill>
                  <a:schemeClr val="tx1">
                    <a:lumMod val="85000"/>
                  </a:schemeClr>
                </a:solidFill>
                <a:latin typeface="Raleway" pitchFamily="2" charset="0"/>
              </a:rPr>
              <a:t>Recurring Transactions (Subscriptions)</a:t>
            </a:r>
          </a:p>
          <a:p>
            <a:r>
              <a:rPr lang="en-US" b="1" dirty="0">
                <a:solidFill>
                  <a:schemeClr val="tx1">
                    <a:lumMod val="85000"/>
                  </a:schemeClr>
                </a:solidFill>
                <a:latin typeface="Raleway" pitchFamily="2" charset="0"/>
              </a:rPr>
              <a:t>High Usage in E-commerce:</a:t>
            </a:r>
            <a:endParaRPr lang="en-US" dirty="0">
              <a:solidFill>
                <a:schemeClr val="tx1">
                  <a:lumMod val="85000"/>
                </a:schemeClr>
              </a:solidFill>
              <a:latin typeface="Raleway" pitchFamily="2" charset="0"/>
            </a:endParaRPr>
          </a:p>
          <a:p>
            <a:pPr>
              <a:buFont typeface="Arial" panose="020B0604020202020204" pitchFamily="34" charset="0"/>
              <a:buChar char="•"/>
            </a:pPr>
            <a:r>
              <a:rPr lang="en-US" dirty="0">
                <a:solidFill>
                  <a:schemeClr val="tx1">
                    <a:lumMod val="85000"/>
                  </a:schemeClr>
                </a:solidFill>
                <a:latin typeface="Raleway" pitchFamily="2" charset="0"/>
              </a:rPr>
              <a:t>Digital Wallets</a:t>
            </a:r>
          </a:p>
          <a:p>
            <a:pPr>
              <a:buFont typeface="Arial" panose="020B0604020202020204" pitchFamily="34" charset="0"/>
              <a:buChar char="•"/>
            </a:pPr>
            <a:r>
              <a:rPr lang="en-US" dirty="0">
                <a:solidFill>
                  <a:schemeClr val="tx1">
                    <a:lumMod val="85000"/>
                  </a:schemeClr>
                </a:solidFill>
                <a:latin typeface="Raleway" pitchFamily="2" charset="0"/>
              </a:rPr>
              <a:t>Card Not Present Transactions</a:t>
            </a:r>
          </a:p>
          <a:p>
            <a:pPr>
              <a:buFont typeface="Arial" panose="020B0604020202020204" pitchFamily="34" charset="0"/>
              <a:buChar char="•"/>
            </a:pPr>
            <a:r>
              <a:rPr lang="en-US" dirty="0">
                <a:solidFill>
                  <a:schemeClr val="tx1">
                    <a:lumMod val="85000"/>
                  </a:schemeClr>
                </a:solidFill>
                <a:latin typeface="Raleway" pitchFamily="2" charset="0"/>
              </a:rPr>
              <a:t>BNPL Services</a:t>
            </a:r>
          </a:p>
          <a:p>
            <a:r>
              <a:rPr lang="en-US" b="1" dirty="0">
                <a:solidFill>
                  <a:schemeClr val="tx1">
                    <a:lumMod val="85000"/>
                  </a:schemeClr>
                </a:solidFill>
                <a:latin typeface="Raleway" pitchFamily="2" charset="0"/>
              </a:rPr>
              <a:t>Most Used for TikTok E-commerce in the USA:</a:t>
            </a:r>
            <a:endParaRPr lang="en-US" dirty="0">
              <a:solidFill>
                <a:schemeClr val="tx1">
                  <a:lumMod val="85000"/>
                </a:schemeClr>
              </a:solidFill>
              <a:latin typeface="Raleway" pitchFamily="2" charset="0"/>
            </a:endParaRPr>
          </a:p>
          <a:p>
            <a:pPr>
              <a:buFont typeface="Arial" panose="020B0604020202020204" pitchFamily="34" charset="0"/>
              <a:buChar char="•"/>
            </a:pPr>
            <a:r>
              <a:rPr lang="en-US" dirty="0">
                <a:solidFill>
                  <a:schemeClr val="tx1">
                    <a:lumMod val="85000"/>
                  </a:schemeClr>
                </a:solidFill>
                <a:latin typeface="Raleway" pitchFamily="2" charset="0"/>
              </a:rPr>
              <a:t>Digital Wallets</a:t>
            </a:r>
          </a:p>
          <a:p>
            <a:pPr>
              <a:buFont typeface="Arial" panose="020B0604020202020204" pitchFamily="34" charset="0"/>
              <a:buChar char="•"/>
            </a:pPr>
            <a:r>
              <a:rPr lang="en-US" dirty="0">
                <a:solidFill>
                  <a:schemeClr val="tx1">
                    <a:lumMod val="85000"/>
                  </a:schemeClr>
                </a:solidFill>
                <a:latin typeface="Raleway" pitchFamily="2" charset="0"/>
              </a:rPr>
              <a:t>BNPL </a:t>
            </a:r>
            <a:r>
              <a:rPr lang="en-US" dirty="0" smtClean="0">
                <a:solidFill>
                  <a:schemeClr val="tx1">
                    <a:lumMod val="85000"/>
                  </a:schemeClr>
                </a:solidFill>
                <a:latin typeface="Raleway" pitchFamily="2" charset="0"/>
              </a:rPr>
              <a:t>Services</a:t>
            </a:r>
          </a:p>
          <a:p>
            <a:pPr>
              <a:buFont typeface="Arial" panose="020B0604020202020204" pitchFamily="34" charset="0"/>
              <a:buChar char="•"/>
            </a:pPr>
            <a:endParaRPr lang="en-US" dirty="0">
              <a:solidFill>
                <a:schemeClr val="tx1">
                  <a:lumMod val="85000"/>
                </a:schemeClr>
              </a:solidFill>
              <a:latin typeface="Raleway" pitchFamily="2" charset="0"/>
            </a:endParaRPr>
          </a:p>
          <a:p>
            <a:r>
              <a:rPr lang="en-US" dirty="0">
                <a:solidFill>
                  <a:schemeClr val="tx1">
                    <a:lumMod val="85000"/>
                  </a:schemeClr>
                </a:solidFill>
                <a:latin typeface="Raleway" pitchFamily="2" charset="0"/>
              </a:rPr>
              <a:t>The integration of </a:t>
            </a:r>
            <a:r>
              <a:rPr lang="en-US" b="1" dirty="0">
                <a:solidFill>
                  <a:schemeClr val="tx1">
                    <a:lumMod val="85000"/>
                  </a:schemeClr>
                </a:solidFill>
                <a:latin typeface="Raleway" pitchFamily="2" charset="0"/>
              </a:rPr>
              <a:t>Digital Wallets</a:t>
            </a:r>
            <a:r>
              <a:rPr lang="en-US" dirty="0">
                <a:solidFill>
                  <a:schemeClr val="tx1">
                    <a:lumMod val="85000"/>
                  </a:schemeClr>
                </a:solidFill>
                <a:latin typeface="Raleway" pitchFamily="2" charset="0"/>
              </a:rPr>
              <a:t> and </a:t>
            </a:r>
            <a:r>
              <a:rPr lang="en-US" b="1" dirty="0">
                <a:solidFill>
                  <a:schemeClr val="tx1">
                    <a:lumMod val="85000"/>
                  </a:schemeClr>
                </a:solidFill>
                <a:latin typeface="Raleway" pitchFamily="2" charset="0"/>
              </a:rPr>
              <a:t>BNPL services</a:t>
            </a:r>
            <a:r>
              <a:rPr lang="en-US" dirty="0">
                <a:solidFill>
                  <a:schemeClr val="tx1">
                    <a:lumMod val="85000"/>
                  </a:schemeClr>
                </a:solidFill>
                <a:latin typeface="Raleway" pitchFamily="2" charset="0"/>
              </a:rPr>
              <a:t> into e-commerce platforms is revolutionizing online shopping, making transactions quicker, more secure, and flexible, catering to the needs of modern consumers. This trend is especially prevalent in platforms like TikTok, where the younger demographic is driving the adoption of these payment methods.</a:t>
            </a:r>
          </a:p>
        </p:txBody>
      </p:sp>
    </p:spTree>
    <p:extLst>
      <p:ext uri="{BB962C8B-B14F-4D97-AF65-F5344CB8AC3E}">
        <p14:creationId xmlns:p14="http://schemas.microsoft.com/office/powerpoint/2010/main" val="175224083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p:cNvSpPr/>
          <p:nvPr/>
        </p:nvSpPr>
        <p:spPr>
          <a:xfrm>
            <a:off x="440868" y="547007"/>
            <a:ext cx="8088766" cy="103686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 name="Title 1">
            <a:extLst>
              <a:ext uri="{FF2B5EF4-FFF2-40B4-BE49-F238E27FC236}">
                <a16:creationId xmlns:a16="http://schemas.microsoft.com/office/drawing/2014/main" xmlns="" id="{4D283D38-AA42-5B2E-ADF4-45F3F0B201FF}"/>
              </a:ext>
            </a:extLst>
          </p:cNvPr>
          <p:cNvSpPr>
            <a:spLocks noGrp="1"/>
          </p:cNvSpPr>
          <p:nvPr>
            <p:ph type="title"/>
          </p:nvPr>
        </p:nvSpPr>
        <p:spPr>
          <a:xfrm>
            <a:off x="642938" y="481694"/>
            <a:ext cx="7886700" cy="1120775"/>
          </a:xfrm>
        </p:spPr>
        <p:txBody>
          <a:bodyPr/>
          <a:lstStyle/>
          <a:p>
            <a:pPr algn="ctr"/>
            <a:r>
              <a:rPr lang="en-IN" sz="3600" dirty="0">
                <a:solidFill>
                  <a:schemeClr val="bg1"/>
                </a:solidFill>
                <a:latin typeface="Lucida Sans" pitchFamily="34" charset="0"/>
              </a:rPr>
              <a:t>Introduction to Fraud</a:t>
            </a:r>
          </a:p>
        </p:txBody>
      </p:sp>
      <p:sp>
        <p:nvSpPr>
          <p:cNvPr id="3" name="Content Placeholder 2">
            <a:extLst>
              <a:ext uri="{FF2B5EF4-FFF2-40B4-BE49-F238E27FC236}">
                <a16:creationId xmlns:a16="http://schemas.microsoft.com/office/drawing/2014/main" xmlns="" id="{F683723B-F119-4302-BF18-666FE5899D10}"/>
              </a:ext>
            </a:extLst>
          </p:cNvPr>
          <p:cNvSpPr>
            <a:spLocks noGrp="1"/>
          </p:cNvSpPr>
          <p:nvPr>
            <p:ph idx="1"/>
          </p:nvPr>
        </p:nvSpPr>
        <p:spPr>
          <a:xfrm>
            <a:off x="440872" y="1835490"/>
            <a:ext cx="8229600" cy="4525963"/>
          </a:xfrm>
        </p:spPr>
        <p:txBody>
          <a:bodyPr>
            <a:normAutofit/>
          </a:bodyPr>
          <a:lstStyle/>
          <a:p>
            <a:pPr marL="0" indent="0">
              <a:buNone/>
            </a:pPr>
            <a:r>
              <a:rPr lang="en-IN" sz="2800" dirty="0"/>
              <a:t>Definition of Fraud:</a:t>
            </a:r>
          </a:p>
          <a:p>
            <a:pPr marL="0" indent="0" algn="just">
              <a:buNone/>
            </a:pPr>
            <a:endParaRPr lang="en-US" sz="1800" dirty="0"/>
          </a:p>
          <a:p>
            <a:pPr marL="0" indent="0" algn="just">
              <a:buNone/>
            </a:pPr>
            <a:r>
              <a:rPr lang="en-US" sz="1800" dirty="0"/>
              <a:t>Fraud in the payment process refers to deceptive practices aimed at unlawfully obtaining funds or financial benefits through the payment systems used for transactions. It can occur at various stages of a payment process and can involve different methods. </a:t>
            </a:r>
          </a:p>
          <a:p>
            <a:pPr marL="0" indent="0" algn="ctr">
              <a:buNone/>
            </a:pPr>
            <a:r>
              <a:rPr lang="en-US" sz="1800" dirty="0"/>
              <a:t>There are mainly 2 types:</a:t>
            </a:r>
          </a:p>
          <a:p>
            <a:pPr marL="0" indent="0" algn="just">
              <a:buNone/>
            </a:pPr>
            <a:endParaRPr lang="en-US" sz="1800" dirty="0"/>
          </a:p>
          <a:p>
            <a:pPr marL="0" indent="0" algn="just">
              <a:buNone/>
            </a:pPr>
            <a:endParaRPr lang="en-US" sz="1800" dirty="0"/>
          </a:p>
          <a:p>
            <a:pPr marL="0" indent="0" algn="just">
              <a:buNone/>
            </a:pPr>
            <a:endParaRPr lang="en-US" sz="1800" dirty="0"/>
          </a:p>
        </p:txBody>
      </p:sp>
      <p:sp>
        <p:nvSpPr>
          <p:cNvPr id="5" name="Rectangle 4"/>
          <p:cNvSpPr/>
          <p:nvPr/>
        </p:nvSpPr>
        <p:spPr>
          <a:xfrm>
            <a:off x="483732" y="4376058"/>
            <a:ext cx="3915796" cy="55517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Disputed or Non Fraud Related Dispute</a:t>
            </a:r>
          </a:p>
        </p:txBody>
      </p:sp>
      <p:sp>
        <p:nvSpPr>
          <p:cNvPr id="6" name="Rectangle 5"/>
          <p:cNvSpPr/>
          <p:nvPr/>
        </p:nvSpPr>
        <p:spPr>
          <a:xfrm>
            <a:off x="4839377" y="4384221"/>
            <a:ext cx="3690257" cy="55517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Fraudulent Transaction</a:t>
            </a:r>
            <a:endParaRPr lang="en-US" sz="1200" dirty="0"/>
          </a:p>
        </p:txBody>
      </p:sp>
      <p:pic>
        <p:nvPicPr>
          <p:cNvPr id="7" name="Google Shape;23;p3"/>
          <p:cNvPicPr preferRelativeResize="0"/>
          <p:nvPr/>
        </p:nvPicPr>
        <p:blipFill rotWithShape="1">
          <a:blip r:embed="rId2">
            <a:alphaModFix/>
          </a:blip>
          <a:srcRect/>
          <a:stretch/>
        </p:blipFill>
        <p:spPr>
          <a:xfrm>
            <a:off x="7775848" y="118105"/>
            <a:ext cx="1220840" cy="321479"/>
          </a:xfrm>
          <a:prstGeom prst="rect">
            <a:avLst/>
          </a:prstGeom>
          <a:noFill/>
          <a:ln>
            <a:noFill/>
          </a:ln>
        </p:spPr>
      </p:pic>
    </p:spTree>
    <p:extLst>
      <p:ext uri="{BB962C8B-B14F-4D97-AF65-F5344CB8AC3E}">
        <p14:creationId xmlns:p14="http://schemas.microsoft.com/office/powerpoint/2010/main" val="309224506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p:cNvSpPr/>
          <p:nvPr/>
        </p:nvSpPr>
        <p:spPr>
          <a:xfrm>
            <a:off x="1340984" y="498021"/>
            <a:ext cx="6815138" cy="66130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3" name="Content Placeholder 2">
            <a:extLst>
              <a:ext uri="{FF2B5EF4-FFF2-40B4-BE49-F238E27FC236}">
                <a16:creationId xmlns:a16="http://schemas.microsoft.com/office/drawing/2014/main" xmlns="" id="{842A01C3-5F33-0E31-F76A-1EAE7EE22438}"/>
              </a:ext>
            </a:extLst>
          </p:cNvPr>
          <p:cNvSpPr>
            <a:spLocks noGrp="1"/>
          </p:cNvSpPr>
          <p:nvPr>
            <p:ph idx="1"/>
          </p:nvPr>
        </p:nvSpPr>
        <p:spPr>
          <a:xfrm>
            <a:off x="159204" y="1281794"/>
            <a:ext cx="8743949" cy="1416498"/>
          </a:xfrm>
        </p:spPr>
        <p:txBody>
          <a:bodyPr>
            <a:normAutofit/>
          </a:bodyPr>
          <a:lstStyle/>
          <a:p>
            <a:pPr marL="0" indent="0" algn="just">
              <a:buNone/>
            </a:pPr>
            <a:r>
              <a:rPr lang="en-US" sz="1400" dirty="0"/>
              <a:t>Disputed or non-fraud related disputes refer to issues with transactions that arise from errors or misunderstandings rather than fraudulent activities. These disputes typically involve situations where the transaction was authorized by the cardholder but there were problems with the transaction or the service provided.</a:t>
            </a:r>
          </a:p>
          <a:p>
            <a:pPr marL="0" indent="0" algn="just">
              <a:buNone/>
            </a:pPr>
            <a:r>
              <a:rPr lang="en-US" sz="1600" b="1" dirty="0"/>
              <a:t>Examples:</a:t>
            </a:r>
          </a:p>
          <a:p>
            <a:endParaRPr lang="en-IN" sz="2400" dirty="0"/>
          </a:p>
        </p:txBody>
      </p:sp>
      <p:sp>
        <p:nvSpPr>
          <p:cNvPr id="2" name="Title 1">
            <a:extLst>
              <a:ext uri="{FF2B5EF4-FFF2-40B4-BE49-F238E27FC236}">
                <a16:creationId xmlns:a16="http://schemas.microsoft.com/office/drawing/2014/main" xmlns="" id="{A6D0C247-18C0-0897-6E8C-0FB53434DF94}"/>
              </a:ext>
            </a:extLst>
          </p:cNvPr>
          <p:cNvSpPr>
            <a:spLocks noGrp="1"/>
          </p:cNvSpPr>
          <p:nvPr>
            <p:ph type="title"/>
          </p:nvPr>
        </p:nvSpPr>
        <p:spPr>
          <a:xfrm>
            <a:off x="1340984" y="444951"/>
            <a:ext cx="6984410" cy="767446"/>
          </a:xfrm>
        </p:spPr>
        <p:txBody>
          <a:bodyPr>
            <a:noAutofit/>
          </a:bodyPr>
          <a:lstStyle/>
          <a:p>
            <a:pPr algn="ctr"/>
            <a:r>
              <a:rPr lang="en-US" sz="2400" dirty="0">
                <a:latin typeface="+mn-lt"/>
              </a:rPr>
              <a:t>Disputed or Non-Fraud Related Disputes</a:t>
            </a:r>
            <a:endParaRPr lang="en-IN" sz="2400" dirty="0">
              <a:latin typeface="+mn-lt"/>
            </a:endParaRPr>
          </a:p>
        </p:txBody>
      </p:sp>
      <p:sp>
        <p:nvSpPr>
          <p:cNvPr id="5" name="Rounded Rectangle 4"/>
          <p:cNvSpPr/>
          <p:nvPr/>
        </p:nvSpPr>
        <p:spPr>
          <a:xfrm>
            <a:off x="195943" y="2543170"/>
            <a:ext cx="3110594" cy="45312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t>Amount Deducted Twice</a:t>
            </a:r>
            <a:endParaRPr lang="en-IN" sz="1400" dirty="0"/>
          </a:p>
        </p:txBody>
      </p:sp>
      <p:sp>
        <p:nvSpPr>
          <p:cNvPr id="6" name="Rounded Rectangle 5"/>
          <p:cNvSpPr/>
          <p:nvPr/>
        </p:nvSpPr>
        <p:spPr>
          <a:xfrm>
            <a:off x="195943" y="3163037"/>
            <a:ext cx="3110594" cy="50989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t>Amount Deducted but Service Not Rendered</a:t>
            </a:r>
            <a:endParaRPr lang="en-IN" sz="1400" dirty="0"/>
          </a:p>
        </p:txBody>
      </p:sp>
      <p:sp>
        <p:nvSpPr>
          <p:cNvPr id="7" name="Rounded Rectangle 6"/>
          <p:cNvSpPr/>
          <p:nvPr/>
        </p:nvSpPr>
        <p:spPr>
          <a:xfrm>
            <a:off x="195943" y="3864423"/>
            <a:ext cx="3110594" cy="44458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t>Bought by Mistake</a:t>
            </a:r>
            <a:endParaRPr lang="en-IN" sz="1400" dirty="0"/>
          </a:p>
        </p:txBody>
      </p:sp>
      <p:sp>
        <p:nvSpPr>
          <p:cNvPr id="8" name="Rounded Rectangle 7"/>
          <p:cNvSpPr/>
          <p:nvPr/>
        </p:nvSpPr>
        <p:spPr>
          <a:xfrm>
            <a:off x="195943" y="4484912"/>
            <a:ext cx="3110594" cy="454481"/>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t>Wrong Amount Deducted</a:t>
            </a:r>
            <a:endParaRPr lang="en-IN" sz="1400" dirty="0"/>
          </a:p>
        </p:txBody>
      </p:sp>
      <p:sp>
        <p:nvSpPr>
          <p:cNvPr id="10" name="TextBox 9"/>
          <p:cNvSpPr txBox="1"/>
          <p:nvPr/>
        </p:nvSpPr>
        <p:spPr>
          <a:xfrm>
            <a:off x="3343413" y="2584252"/>
            <a:ext cx="5335115" cy="307777"/>
          </a:xfrm>
          <a:prstGeom prst="rect">
            <a:avLst/>
          </a:prstGeom>
          <a:noFill/>
        </p:spPr>
        <p:txBody>
          <a:bodyPr wrap="none" rtlCol="0">
            <a:spAutoFit/>
          </a:bodyPr>
          <a:lstStyle/>
          <a:p>
            <a:r>
              <a:rPr lang="en-US" sz="1400" dirty="0"/>
              <a:t>The cardholder was charged twice for the same transaction</a:t>
            </a:r>
            <a:endParaRPr lang="en-IN" sz="1400" dirty="0"/>
          </a:p>
        </p:txBody>
      </p:sp>
      <p:sp>
        <p:nvSpPr>
          <p:cNvPr id="11" name="TextBox 10"/>
          <p:cNvSpPr txBox="1"/>
          <p:nvPr/>
        </p:nvSpPr>
        <p:spPr>
          <a:xfrm>
            <a:off x="3343412" y="3148919"/>
            <a:ext cx="5614850" cy="523220"/>
          </a:xfrm>
          <a:prstGeom prst="rect">
            <a:avLst/>
          </a:prstGeom>
          <a:noFill/>
        </p:spPr>
        <p:txBody>
          <a:bodyPr wrap="square" rtlCol="0">
            <a:spAutoFit/>
          </a:bodyPr>
          <a:lstStyle/>
          <a:p>
            <a:pPr marL="0" lvl="1" indent="0">
              <a:spcBef>
                <a:spcPts val="400"/>
              </a:spcBef>
              <a:buSzPct val="68000"/>
              <a:buNone/>
            </a:pPr>
            <a:r>
              <a:rPr lang="en-US" sz="1400" dirty="0"/>
              <a:t>The cardholder was charged for a service or product that was not delivered or provided</a:t>
            </a:r>
            <a:r>
              <a:rPr lang="en-US" sz="1050" dirty="0"/>
              <a:t>.</a:t>
            </a:r>
          </a:p>
        </p:txBody>
      </p:sp>
      <p:sp>
        <p:nvSpPr>
          <p:cNvPr id="12" name="TextBox 11"/>
          <p:cNvSpPr txBox="1"/>
          <p:nvPr/>
        </p:nvSpPr>
        <p:spPr>
          <a:xfrm>
            <a:off x="3343412" y="3932825"/>
            <a:ext cx="5614850" cy="523220"/>
          </a:xfrm>
          <a:prstGeom prst="rect">
            <a:avLst/>
          </a:prstGeom>
          <a:noFill/>
        </p:spPr>
        <p:txBody>
          <a:bodyPr wrap="square" rtlCol="0">
            <a:spAutoFit/>
          </a:bodyPr>
          <a:lstStyle/>
          <a:p>
            <a:pPr marL="0" lvl="1">
              <a:spcBef>
                <a:spcPts val="400"/>
              </a:spcBef>
              <a:buSzPct val="68000"/>
            </a:pPr>
            <a:r>
              <a:rPr lang="en-US" sz="1400" dirty="0"/>
              <a:t>The cardholder accidentally made a purchase and wants to reverse the transaction.</a:t>
            </a:r>
          </a:p>
        </p:txBody>
      </p:sp>
      <p:sp>
        <p:nvSpPr>
          <p:cNvPr id="13" name="TextBox 12"/>
          <p:cNvSpPr txBox="1"/>
          <p:nvPr/>
        </p:nvSpPr>
        <p:spPr>
          <a:xfrm>
            <a:off x="3343412" y="4477355"/>
            <a:ext cx="5614850" cy="523220"/>
          </a:xfrm>
          <a:prstGeom prst="rect">
            <a:avLst/>
          </a:prstGeom>
          <a:noFill/>
        </p:spPr>
        <p:txBody>
          <a:bodyPr wrap="square" rtlCol="0">
            <a:spAutoFit/>
          </a:bodyPr>
          <a:lstStyle/>
          <a:p>
            <a:pPr marL="0" lvl="1" indent="0">
              <a:spcBef>
                <a:spcPts val="400"/>
              </a:spcBef>
              <a:buSzPct val="68000"/>
              <a:buNone/>
            </a:pPr>
            <a:r>
              <a:rPr lang="en-US" sz="1400" dirty="0"/>
              <a:t>The cardholder was charged an incorrect amount, either more or less than what was agreed upon.</a:t>
            </a:r>
          </a:p>
        </p:txBody>
      </p:sp>
      <p:sp>
        <p:nvSpPr>
          <p:cNvPr id="15" name="TextBox 14"/>
          <p:cNvSpPr txBox="1"/>
          <p:nvPr/>
        </p:nvSpPr>
        <p:spPr>
          <a:xfrm>
            <a:off x="206225" y="5105067"/>
            <a:ext cx="8752037" cy="1077218"/>
          </a:xfrm>
          <a:prstGeom prst="rect">
            <a:avLst/>
          </a:prstGeom>
          <a:noFill/>
        </p:spPr>
        <p:txBody>
          <a:bodyPr wrap="square" rtlCol="0">
            <a:spAutoFit/>
          </a:bodyPr>
          <a:lstStyle/>
          <a:p>
            <a:pPr algn="just"/>
            <a:r>
              <a:rPr lang="en-US" sz="1600" dirty="0"/>
              <a:t>In these cases, the dispute is generally resolved by contacting the merchant or the card issuer to investigate and correct the error. These disputes do not involve fraudulent activities where someone intentionally tries to deceive the cardholder or the financial institution.</a:t>
            </a:r>
            <a:endParaRPr lang="en-IN" sz="1600" dirty="0"/>
          </a:p>
        </p:txBody>
      </p:sp>
      <p:pic>
        <p:nvPicPr>
          <p:cNvPr id="14" name="Google Shape;23;p3"/>
          <p:cNvPicPr preferRelativeResize="0"/>
          <p:nvPr/>
        </p:nvPicPr>
        <p:blipFill rotWithShape="1">
          <a:blip r:embed="rId2">
            <a:alphaModFix/>
          </a:blip>
          <a:srcRect/>
          <a:stretch/>
        </p:blipFill>
        <p:spPr>
          <a:xfrm>
            <a:off x="7737422" y="110217"/>
            <a:ext cx="1220840" cy="318405"/>
          </a:xfrm>
          <a:prstGeom prst="rect">
            <a:avLst/>
          </a:prstGeom>
          <a:noFill/>
          <a:ln>
            <a:noFill/>
          </a:ln>
        </p:spPr>
      </p:pic>
    </p:spTree>
    <p:extLst>
      <p:ext uri="{BB962C8B-B14F-4D97-AF65-F5344CB8AC3E}">
        <p14:creationId xmlns:p14="http://schemas.microsoft.com/office/powerpoint/2010/main" val="167849319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ounded Rectangle 4"/>
          <p:cNvSpPr/>
          <p:nvPr/>
        </p:nvSpPr>
        <p:spPr>
          <a:xfrm>
            <a:off x="1396092" y="563336"/>
            <a:ext cx="6662059" cy="65748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3" name="Content Placeholder 2">
            <a:extLst>
              <a:ext uri="{FF2B5EF4-FFF2-40B4-BE49-F238E27FC236}">
                <a16:creationId xmlns:a16="http://schemas.microsoft.com/office/drawing/2014/main" xmlns="" id="{E0B1996F-AEDE-ACD3-7F69-17F9384B7ADE}"/>
              </a:ext>
            </a:extLst>
          </p:cNvPr>
          <p:cNvSpPr>
            <a:spLocks noGrp="1"/>
          </p:cNvSpPr>
          <p:nvPr>
            <p:ph idx="1"/>
          </p:nvPr>
        </p:nvSpPr>
        <p:spPr>
          <a:xfrm>
            <a:off x="165327" y="1412189"/>
            <a:ext cx="8743950" cy="1389904"/>
          </a:xfrm>
        </p:spPr>
        <p:txBody>
          <a:bodyPr>
            <a:normAutofit fontScale="92500" lnSpcReduction="20000"/>
          </a:bodyPr>
          <a:lstStyle/>
          <a:p>
            <a:pPr marL="0" indent="0" algn="just">
              <a:buNone/>
            </a:pPr>
            <a:r>
              <a:rPr lang="en-US" sz="1600" dirty="0"/>
              <a:t>A fraudulent transaction is a financial operation conducted without the knowledge or consent of the account holder, with the intent to deceive or defraud. These transactions can involve the unauthorized use of a person's credit/debit card, bank account, or other financial assets to make purchases, withdraw money, or transfer funds. </a:t>
            </a:r>
          </a:p>
          <a:p>
            <a:pPr marL="0" indent="0" algn="just">
              <a:buNone/>
            </a:pPr>
            <a:endParaRPr lang="en-US" sz="1600" b="1" dirty="0"/>
          </a:p>
          <a:p>
            <a:pPr marL="0" indent="0" algn="just">
              <a:buNone/>
            </a:pPr>
            <a:r>
              <a:rPr lang="en-US" sz="1600" b="1" dirty="0"/>
              <a:t>Examples:</a:t>
            </a:r>
          </a:p>
          <a:p>
            <a:pPr marL="0" indent="0" algn="just">
              <a:buNone/>
            </a:pPr>
            <a:endParaRPr lang="en-IN" sz="2400" dirty="0"/>
          </a:p>
        </p:txBody>
      </p:sp>
      <p:sp>
        <p:nvSpPr>
          <p:cNvPr id="2" name="Title 1">
            <a:extLst>
              <a:ext uri="{FF2B5EF4-FFF2-40B4-BE49-F238E27FC236}">
                <a16:creationId xmlns:a16="http://schemas.microsoft.com/office/drawing/2014/main" xmlns="" id="{0DD74D89-5CAD-A69A-BE6A-8ED003A5DE30}"/>
              </a:ext>
            </a:extLst>
          </p:cNvPr>
          <p:cNvSpPr>
            <a:spLocks noGrp="1"/>
          </p:cNvSpPr>
          <p:nvPr>
            <p:ph type="title"/>
          </p:nvPr>
        </p:nvSpPr>
        <p:spPr>
          <a:xfrm>
            <a:off x="1396091" y="501822"/>
            <a:ext cx="6962091" cy="783774"/>
          </a:xfrm>
        </p:spPr>
        <p:txBody>
          <a:bodyPr>
            <a:normAutofit/>
          </a:bodyPr>
          <a:lstStyle/>
          <a:p>
            <a:pPr algn="ctr"/>
            <a:r>
              <a:rPr lang="en-IN" sz="3200" dirty="0"/>
              <a:t>Fraudulent Transaction</a:t>
            </a:r>
          </a:p>
        </p:txBody>
      </p:sp>
      <p:sp>
        <p:nvSpPr>
          <p:cNvPr id="10" name="Rounded Rectangle 9"/>
          <p:cNvSpPr/>
          <p:nvPr/>
        </p:nvSpPr>
        <p:spPr>
          <a:xfrm>
            <a:off x="263298" y="3274128"/>
            <a:ext cx="1910444" cy="314331"/>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t>Skimming</a:t>
            </a:r>
            <a:endParaRPr lang="en-IN" sz="1400" dirty="0"/>
          </a:p>
        </p:txBody>
      </p:sp>
      <p:sp>
        <p:nvSpPr>
          <p:cNvPr id="11" name="Rounded Rectangle 10"/>
          <p:cNvSpPr/>
          <p:nvPr/>
        </p:nvSpPr>
        <p:spPr>
          <a:xfrm>
            <a:off x="263298" y="2828494"/>
            <a:ext cx="1910444" cy="28575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t>Phishing</a:t>
            </a:r>
            <a:endParaRPr lang="en-IN" sz="1400" dirty="0"/>
          </a:p>
        </p:txBody>
      </p:sp>
      <p:sp>
        <p:nvSpPr>
          <p:cNvPr id="12" name="Rounded Rectangle 11"/>
          <p:cNvSpPr/>
          <p:nvPr/>
        </p:nvSpPr>
        <p:spPr>
          <a:xfrm>
            <a:off x="263298" y="3727224"/>
            <a:ext cx="1910444" cy="314331"/>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t>Hacking</a:t>
            </a:r>
            <a:endParaRPr lang="en-IN" sz="1400" dirty="0"/>
          </a:p>
        </p:txBody>
      </p:sp>
      <p:sp>
        <p:nvSpPr>
          <p:cNvPr id="13" name="Rounded Rectangle 12"/>
          <p:cNvSpPr/>
          <p:nvPr/>
        </p:nvSpPr>
        <p:spPr>
          <a:xfrm>
            <a:off x="263298" y="4204856"/>
            <a:ext cx="1910444" cy="314331"/>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t>Identity Theft</a:t>
            </a:r>
            <a:endParaRPr lang="en-IN" sz="1400" dirty="0"/>
          </a:p>
        </p:txBody>
      </p:sp>
      <p:sp>
        <p:nvSpPr>
          <p:cNvPr id="14" name="Rounded Rectangle 13"/>
          <p:cNvSpPr/>
          <p:nvPr/>
        </p:nvSpPr>
        <p:spPr>
          <a:xfrm>
            <a:off x="263298" y="4694700"/>
            <a:ext cx="1910444" cy="314331"/>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t>Card-Not-Present Fraud</a:t>
            </a:r>
            <a:endParaRPr lang="en-IN" sz="1400" dirty="0"/>
          </a:p>
        </p:txBody>
      </p:sp>
      <p:sp>
        <p:nvSpPr>
          <p:cNvPr id="15" name="TextBox 14"/>
          <p:cNvSpPr txBox="1"/>
          <p:nvPr/>
        </p:nvSpPr>
        <p:spPr>
          <a:xfrm>
            <a:off x="2220686" y="2802094"/>
            <a:ext cx="7154523" cy="276999"/>
          </a:xfrm>
          <a:prstGeom prst="rect">
            <a:avLst/>
          </a:prstGeom>
          <a:noFill/>
        </p:spPr>
        <p:txBody>
          <a:bodyPr wrap="none" rtlCol="0">
            <a:spAutoFit/>
          </a:bodyPr>
          <a:lstStyle/>
          <a:p>
            <a:r>
              <a:rPr lang="en-US" sz="1200" dirty="0"/>
              <a:t>Deceptive attempts to acquire sensitive information by masquerading as a trustworthy </a:t>
            </a:r>
            <a:r>
              <a:rPr lang="en-US" sz="1200" dirty="0" smtClean="0"/>
              <a:t>entity</a:t>
            </a:r>
            <a:endParaRPr lang="en-US" sz="1200" dirty="0"/>
          </a:p>
        </p:txBody>
      </p:sp>
      <p:sp>
        <p:nvSpPr>
          <p:cNvPr id="16" name="TextBox 15"/>
          <p:cNvSpPr txBox="1"/>
          <p:nvPr/>
        </p:nvSpPr>
        <p:spPr>
          <a:xfrm>
            <a:off x="2220687" y="3274128"/>
            <a:ext cx="5444119" cy="276999"/>
          </a:xfrm>
          <a:prstGeom prst="rect">
            <a:avLst/>
          </a:prstGeom>
          <a:noFill/>
        </p:spPr>
        <p:txBody>
          <a:bodyPr wrap="none" rtlCol="0">
            <a:spAutoFit/>
          </a:bodyPr>
          <a:lstStyle/>
          <a:p>
            <a:r>
              <a:rPr lang="en-US" sz="1200" dirty="0"/>
              <a:t>Using devices to steal card information during legitimate transactions.</a:t>
            </a:r>
          </a:p>
        </p:txBody>
      </p:sp>
      <p:sp>
        <p:nvSpPr>
          <p:cNvPr id="17" name="TextBox 16"/>
          <p:cNvSpPr txBox="1"/>
          <p:nvPr/>
        </p:nvSpPr>
        <p:spPr>
          <a:xfrm>
            <a:off x="2220686" y="3733778"/>
            <a:ext cx="4224233" cy="276999"/>
          </a:xfrm>
          <a:prstGeom prst="rect">
            <a:avLst/>
          </a:prstGeom>
          <a:noFill/>
        </p:spPr>
        <p:txBody>
          <a:bodyPr wrap="none" rtlCol="0">
            <a:spAutoFit/>
          </a:bodyPr>
          <a:lstStyle/>
          <a:p>
            <a:r>
              <a:rPr lang="en-US" sz="1200" dirty="0"/>
              <a:t>Unauthorized access to financial accounts or systems.</a:t>
            </a:r>
          </a:p>
        </p:txBody>
      </p:sp>
      <p:sp>
        <p:nvSpPr>
          <p:cNvPr id="18" name="TextBox 17"/>
          <p:cNvSpPr txBox="1"/>
          <p:nvPr/>
        </p:nvSpPr>
        <p:spPr>
          <a:xfrm>
            <a:off x="2220687" y="4204855"/>
            <a:ext cx="6407523" cy="276999"/>
          </a:xfrm>
          <a:prstGeom prst="rect">
            <a:avLst/>
          </a:prstGeom>
          <a:noFill/>
        </p:spPr>
        <p:txBody>
          <a:bodyPr wrap="none" rtlCol="0">
            <a:spAutoFit/>
          </a:bodyPr>
          <a:lstStyle/>
          <a:p>
            <a:r>
              <a:rPr lang="en-US" sz="1200" dirty="0"/>
              <a:t>Using someone else's personal information to open accounts or make transactions.</a:t>
            </a:r>
          </a:p>
        </p:txBody>
      </p:sp>
      <p:sp>
        <p:nvSpPr>
          <p:cNvPr id="19" name="TextBox 18"/>
          <p:cNvSpPr txBox="1"/>
          <p:nvPr/>
        </p:nvSpPr>
        <p:spPr>
          <a:xfrm>
            <a:off x="2220686" y="4694700"/>
            <a:ext cx="5944256" cy="276999"/>
          </a:xfrm>
          <a:prstGeom prst="rect">
            <a:avLst/>
          </a:prstGeom>
          <a:noFill/>
        </p:spPr>
        <p:txBody>
          <a:bodyPr wrap="none" rtlCol="0">
            <a:spAutoFit/>
          </a:bodyPr>
          <a:lstStyle/>
          <a:p>
            <a:r>
              <a:rPr lang="en-US" sz="1200" dirty="0"/>
              <a:t>Transactions made without the physical card, often online or over the phone.</a:t>
            </a:r>
          </a:p>
        </p:txBody>
      </p:sp>
      <p:sp>
        <p:nvSpPr>
          <p:cNvPr id="20" name="TextBox 19"/>
          <p:cNvSpPr txBox="1"/>
          <p:nvPr/>
        </p:nvSpPr>
        <p:spPr>
          <a:xfrm>
            <a:off x="208190" y="5278466"/>
            <a:ext cx="8750073" cy="1077218"/>
          </a:xfrm>
          <a:prstGeom prst="rect">
            <a:avLst/>
          </a:prstGeom>
          <a:noFill/>
        </p:spPr>
        <p:txBody>
          <a:bodyPr wrap="square" rtlCol="0">
            <a:spAutoFit/>
          </a:bodyPr>
          <a:lstStyle/>
          <a:p>
            <a:r>
              <a:rPr lang="en-US" sz="1600" dirty="0"/>
              <a:t>Fraudulent transactions can cause significant financial loss and inconvenience to the victims and require stringent security measures and monitoring by financial institutions to prevent and detect them.</a:t>
            </a:r>
          </a:p>
          <a:p>
            <a:endParaRPr lang="en-IN" sz="1600" dirty="0"/>
          </a:p>
        </p:txBody>
      </p:sp>
      <p:pic>
        <p:nvPicPr>
          <p:cNvPr id="21" name="Google Shape;23;p3"/>
          <p:cNvPicPr preferRelativeResize="0"/>
          <p:nvPr/>
        </p:nvPicPr>
        <p:blipFill rotWithShape="1">
          <a:blip r:embed="rId2">
            <a:alphaModFix/>
          </a:blip>
          <a:srcRect/>
          <a:stretch/>
        </p:blipFill>
        <p:spPr>
          <a:xfrm>
            <a:off x="7847791" y="241857"/>
            <a:ext cx="1220840" cy="321479"/>
          </a:xfrm>
          <a:prstGeom prst="rect">
            <a:avLst/>
          </a:prstGeom>
          <a:noFill/>
          <a:ln>
            <a:noFill/>
          </a:ln>
        </p:spPr>
      </p:pic>
    </p:spTree>
    <p:extLst>
      <p:ext uri="{BB962C8B-B14F-4D97-AF65-F5344CB8AC3E}">
        <p14:creationId xmlns:p14="http://schemas.microsoft.com/office/powerpoint/2010/main" val="308050265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ounded Rectangle 4"/>
          <p:cNvSpPr/>
          <p:nvPr/>
        </p:nvSpPr>
        <p:spPr>
          <a:xfrm>
            <a:off x="1396091" y="476672"/>
            <a:ext cx="6662059" cy="65748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3" name="Content Placeholder 2">
            <a:extLst>
              <a:ext uri="{FF2B5EF4-FFF2-40B4-BE49-F238E27FC236}">
                <a16:creationId xmlns:a16="http://schemas.microsoft.com/office/drawing/2014/main" xmlns="" id="{E0B1996F-AEDE-ACD3-7F69-17F9384B7ADE}"/>
              </a:ext>
            </a:extLst>
          </p:cNvPr>
          <p:cNvSpPr>
            <a:spLocks noGrp="1"/>
          </p:cNvSpPr>
          <p:nvPr>
            <p:ph idx="1"/>
          </p:nvPr>
        </p:nvSpPr>
        <p:spPr>
          <a:xfrm>
            <a:off x="208189" y="1268760"/>
            <a:ext cx="8860441" cy="1389904"/>
          </a:xfrm>
        </p:spPr>
        <p:txBody>
          <a:bodyPr>
            <a:normAutofit fontScale="92500" lnSpcReduction="20000"/>
          </a:bodyPr>
          <a:lstStyle/>
          <a:p>
            <a:pPr marL="0" indent="0" algn="just">
              <a:buNone/>
            </a:pPr>
            <a:r>
              <a:rPr lang="en-US" sz="1600" dirty="0"/>
              <a:t>First party fraud occurs when the legitimate account holder or cardholder intentionally uses their own account or card to commit fraud. This type of fraud involves deceitful actions by the person who owns the account or card, often to gain financial benefit or to avoid financial responsibility. </a:t>
            </a:r>
            <a:endParaRPr lang="en-US" sz="1600" dirty="0" smtClean="0"/>
          </a:p>
          <a:p>
            <a:pPr marL="0" indent="0" algn="just">
              <a:buNone/>
            </a:pPr>
            <a:endParaRPr lang="en-US" sz="1600" b="1" dirty="0" smtClean="0"/>
          </a:p>
          <a:p>
            <a:pPr marL="0" indent="0" algn="just">
              <a:buNone/>
            </a:pPr>
            <a:r>
              <a:rPr lang="en-US" sz="1600" b="1" dirty="0" smtClean="0"/>
              <a:t>Examples</a:t>
            </a:r>
            <a:r>
              <a:rPr lang="en-US" sz="1600" b="1" dirty="0"/>
              <a:t>:</a:t>
            </a:r>
          </a:p>
          <a:p>
            <a:pPr marL="0" indent="0" algn="just">
              <a:buNone/>
            </a:pPr>
            <a:endParaRPr lang="en-IN" sz="2400" dirty="0"/>
          </a:p>
        </p:txBody>
      </p:sp>
      <p:sp>
        <p:nvSpPr>
          <p:cNvPr id="2" name="Title 1">
            <a:extLst>
              <a:ext uri="{FF2B5EF4-FFF2-40B4-BE49-F238E27FC236}">
                <a16:creationId xmlns:a16="http://schemas.microsoft.com/office/drawing/2014/main" xmlns="" id="{0DD74D89-5CAD-A69A-BE6A-8ED003A5DE30}"/>
              </a:ext>
            </a:extLst>
          </p:cNvPr>
          <p:cNvSpPr>
            <a:spLocks noGrp="1"/>
          </p:cNvSpPr>
          <p:nvPr>
            <p:ph type="title"/>
          </p:nvPr>
        </p:nvSpPr>
        <p:spPr>
          <a:xfrm>
            <a:off x="1375754" y="473826"/>
            <a:ext cx="6962091" cy="783774"/>
          </a:xfrm>
        </p:spPr>
        <p:txBody>
          <a:bodyPr>
            <a:normAutofit/>
          </a:bodyPr>
          <a:lstStyle/>
          <a:p>
            <a:pPr algn="ctr"/>
            <a:r>
              <a:rPr lang="en-IN" sz="3200" b="1" dirty="0"/>
              <a:t>FIRST PARTY FRAUD</a:t>
            </a:r>
            <a:endParaRPr lang="en-IN" sz="3200" dirty="0"/>
          </a:p>
        </p:txBody>
      </p:sp>
      <p:sp>
        <p:nvSpPr>
          <p:cNvPr id="10" name="Rounded Rectangle 9"/>
          <p:cNvSpPr/>
          <p:nvPr/>
        </p:nvSpPr>
        <p:spPr>
          <a:xfrm>
            <a:off x="263298" y="3274127"/>
            <a:ext cx="2030076" cy="43935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t>Application Fraud</a:t>
            </a:r>
            <a:endParaRPr lang="en-IN" sz="1400" dirty="0"/>
          </a:p>
        </p:txBody>
      </p:sp>
      <p:sp>
        <p:nvSpPr>
          <p:cNvPr id="11" name="Rounded Rectangle 10"/>
          <p:cNvSpPr/>
          <p:nvPr/>
        </p:nvSpPr>
        <p:spPr>
          <a:xfrm>
            <a:off x="263298" y="2600959"/>
            <a:ext cx="2030076" cy="52322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t>Synthetic Identity Fraud</a:t>
            </a:r>
            <a:endParaRPr lang="en-IN" sz="1400" dirty="0"/>
          </a:p>
        </p:txBody>
      </p:sp>
      <p:sp>
        <p:nvSpPr>
          <p:cNvPr id="12" name="Rounded Rectangle 11"/>
          <p:cNvSpPr/>
          <p:nvPr/>
        </p:nvSpPr>
        <p:spPr>
          <a:xfrm>
            <a:off x="263298" y="3856293"/>
            <a:ext cx="2030077" cy="51328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t>NRI (Non-Resident Indian) Fraud</a:t>
            </a:r>
            <a:endParaRPr lang="en-IN" sz="1400" dirty="0"/>
          </a:p>
        </p:txBody>
      </p:sp>
      <p:sp>
        <p:nvSpPr>
          <p:cNvPr id="13" name="Rounded Rectangle 12"/>
          <p:cNvSpPr/>
          <p:nvPr/>
        </p:nvSpPr>
        <p:spPr>
          <a:xfrm>
            <a:off x="263298" y="4484644"/>
            <a:ext cx="2030076" cy="52322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dirty="0"/>
          </a:p>
          <a:p>
            <a:pPr algn="ctr"/>
            <a:r>
              <a:rPr lang="en-US" sz="1400" b="1" dirty="0"/>
              <a:t>Chargeback Fraud (or Friendly Fraud)</a:t>
            </a:r>
            <a:endParaRPr lang="en-US" sz="1400" dirty="0"/>
          </a:p>
          <a:p>
            <a:pPr algn="ctr"/>
            <a:endParaRPr lang="en-IN" sz="1400" dirty="0"/>
          </a:p>
        </p:txBody>
      </p:sp>
      <p:sp>
        <p:nvSpPr>
          <p:cNvPr id="15" name="TextBox 14"/>
          <p:cNvSpPr txBox="1"/>
          <p:nvPr/>
        </p:nvSpPr>
        <p:spPr>
          <a:xfrm>
            <a:off x="2256370" y="2582374"/>
            <a:ext cx="6410934" cy="646331"/>
          </a:xfrm>
          <a:prstGeom prst="rect">
            <a:avLst/>
          </a:prstGeom>
          <a:noFill/>
        </p:spPr>
        <p:txBody>
          <a:bodyPr wrap="square" rtlCol="0">
            <a:spAutoFit/>
          </a:bodyPr>
          <a:lstStyle/>
          <a:p>
            <a:pPr lvl="1" algn="just"/>
            <a:r>
              <a:rPr lang="en-US" sz="1200" dirty="0"/>
              <a:t>Creating a fake identity by combining real and fictitious information (e.g., using a real social security number with a fake name) to open accounts or make purchases.</a:t>
            </a:r>
          </a:p>
        </p:txBody>
      </p:sp>
      <p:sp>
        <p:nvSpPr>
          <p:cNvPr id="16" name="TextBox 15"/>
          <p:cNvSpPr txBox="1"/>
          <p:nvPr/>
        </p:nvSpPr>
        <p:spPr>
          <a:xfrm>
            <a:off x="2220686" y="3274127"/>
            <a:ext cx="6410934" cy="461665"/>
          </a:xfrm>
          <a:prstGeom prst="rect">
            <a:avLst/>
          </a:prstGeom>
          <a:noFill/>
        </p:spPr>
        <p:txBody>
          <a:bodyPr wrap="square" rtlCol="0">
            <a:spAutoFit/>
          </a:bodyPr>
          <a:lstStyle/>
          <a:p>
            <a:pPr lvl="1"/>
            <a:r>
              <a:rPr lang="en-US" sz="1200" dirty="0"/>
              <a:t>Providing false information on a loan or credit card application to obtain funds or credit that the applicant is not eligible for.</a:t>
            </a:r>
          </a:p>
        </p:txBody>
      </p:sp>
      <p:sp>
        <p:nvSpPr>
          <p:cNvPr id="17" name="TextBox 16"/>
          <p:cNvSpPr txBox="1"/>
          <p:nvPr/>
        </p:nvSpPr>
        <p:spPr>
          <a:xfrm>
            <a:off x="2699792" y="4492310"/>
            <a:ext cx="6032150" cy="646331"/>
          </a:xfrm>
          <a:prstGeom prst="rect">
            <a:avLst/>
          </a:prstGeom>
          <a:noFill/>
        </p:spPr>
        <p:txBody>
          <a:bodyPr wrap="square" rtlCol="0">
            <a:spAutoFit/>
          </a:bodyPr>
          <a:lstStyle/>
          <a:p>
            <a:pPr marL="0" lvl="1"/>
            <a:r>
              <a:rPr lang="en-US" sz="1200" dirty="0"/>
              <a:t>Making a purchase with their own card and then disputing the charge, falsely claiming that the transaction was unauthorized or that they did not receive the goods or services.</a:t>
            </a:r>
          </a:p>
        </p:txBody>
      </p:sp>
      <p:sp>
        <p:nvSpPr>
          <p:cNvPr id="18" name="TextBox 17"/>
          <p:cNvSpPr txBox="1"/>
          <p:nvPr/>
        </p:nvSpPr>
        <p:spPr>
          <a:xfrm rot="10800000" flipV="1">
            <a:off x="2237663" y="3789771"/>
            <a:ext cx="6660016" cy="646331"/>
          </a:xfrm>
          <a:prstGeom prst="rect">
            <a:avLst/>
          </a:prstGeom>
          <a:noFill/>
        </p:spPr>
        <p:txBody>
          <a:bodyPr wrap="square" rtlCol="0">
            <a:spAutoFit/>
          </a:bodyPr>
          <a:lstStyle/>
          <a:p>
            <a:pPr lvl="1"/>
            <a:r>
              <a:rPr lang="en-US" sz="1200" dirty="0"/>
              <a:t>Specifically relevant in regions with significant NRI populations, where the cardholder might misuse their accounts or cards knowing that cross-border legal enforcement can be challenging.</a:t>
            </a:r>
          </a:p>
        </p:txBody>
      </p:sp>
      <p:sp>
        <p:nvSpPr>
          <p:cNvPr id="20" name="TextBox 19"/>
          <p:cNvSpPr txBox="1"/>
          <p:nvPr/>
        </p:nvSpPr>
        <p:spPr>
          <a:xfrm>
            <a:off x="208190" y="5278466"/>
            <a:ext cx="8750073" cy="830997"/>
          </a:xfrm>
          <a:prstGeom prst="rect">
            <a:avLst/>
          </a:prstGeom>
          <a:noFill/>
        </p:spPr>
        <p:txBody>
          <a:bodyPr wrap="square" rtlCol="0">
            <a:spAutoFit/>
          </a:bodyPr>
          <a:lstStyle/>
          <a:p>
            <a:r>
              <a:rPr lang="en-US" sz="1600" dirty="0"/>
              <a:t>First party fraud can be particularly challenging to detect and prevent because it involves the genuine account holder, who has legitimate access to the account or card and may provide plausible explanations for their actions.</a:t>
            </a:r>
          </a:p>
        </p:txBody>
      </p:sp>
      <p:pic>
        <p:nvPicPr>
          <p:cNvPr id="21" name="Google Shape;23;p3"/>
          <p:cNvPicPr preferRelativeResize="0"/>
          <p:nvPr/>
        </p:nvPicPr>
        <p:blipFill rotWithShape="1">
          <a:blip r:embed="rId2">
            <a:alphaModFix/>
          </a:blip>
          <a:srcRect/>
          <a:stretch/>
        </p:blipFill>
        <p:spPr>
          <a:xfrm>
            <a:off x="7847791" y="241857"/>
            <a:ext cx="1220840" cy="321479"/>
          </a:xfrm>
          <a:prstGeom prst="rect">
            <a:avLst/>
          </a:prstGeom>
          <a:noFill/>
          <a:ln>
            <a:noFill/>
          </a:ln>
        </p:spPr>
      </p:pic>
    </p:spTree>
    <p:extLst>
      <p:ext uri="{BB962C8B-B14F-4D97-AF65-F5344CB8AC3E}">
        <p14:creationId xmlns:p14="http://schemas.microsoft.com/office/powerpoint/2010/main" val="49896059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ounded Rectangle 4"/>
          <p:cNvSpPr/>
          <p:nvPr/>
        </p:nvSpPr>
        <p:spPr>
          <a:xfrm>
            <a:off x="1396092" y="564968"/>
            <a:ext cx="6662059" cy="65748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3" name="Content Placeholder 2">
            <a:extLst>
              <a:ext uri="{FF2B5EF4-FFF2-40B4-BE49-F238E27FC236}">
                <a16:creationId xmlns:a16="http://schemas.microsoft.com/office/drawing/2014/main" xmlns="" id="{E0B1996F-AEDE-ACD3-7F69-17F9384B7ADE}"/>
              </a:ext>
            </a:extLst>
          </p:cNvPr>
          <p:cNvSpPr>
            <a:spLocks noGrp="1"/>
          </p:cNvSpPr>
          <p:nvPr>
            <p:ph idx="1"/>
          </p:nvPr>
        </p:nvSpPr>
        <p:spPr>
          <a:xfrm>
            <a:off x="136752" y="1284987"/>
            <a:ext cx="8743950" cy="1162821"/>
          </a:xfrm>
        </p:spPr>
        <p:txBody>
          <a:bodyPr>
            <a:normAutofit fontScale="55000" lnSpcReduction="20000"/>
          </a:bodyPr>
          <a:lstStyle/>
          <a:p>
            <a:pPr marL="109728" indent="0">
              <a:lnSpc>
                <a:spcPct val="125003"/>
              </a:lnSpc>
              <a:buClr>
                <a:srgbClr val="F5F0F0"/>
              </a:buClr>
              <a:buSzPts val="6707"/>
              <a:buNone/>
            </a:pPr>
            <a:r>
              <a:rPr lang="en-US" sz="2600" dirty="0">
                <a:solidFill>
                  <a:schemeClr val="dk1"/>
                </a:solidFill>
                <a:latin typeface="+mj-lt"/>
                <a:ea typeface="Asar"/>
                <a:cs typeface="Asar"/>
                <a:sym typeface="Asar"/>
              </a:rPr>
              <a:t>Third Party Fraud involves someone other than the legitimate account holder or cardholder using their account or card to commit fraud. This type of fraud is usually conducted without the cardholder's knowledge or consent.</a:t>
            </a:r>
            <a:endParaRPr lang="en-US" sz="2600" dirty="0">
              <a:solidFill>
                <a:schemeClr val="dk1"/>
              </a:solidFill>
              <a:latin typeface="+mj-lt"/>
              <a:ea typeface="Calibri"/>
              <a:cs typeface="Calibri"/>
              <a:sym typeface="Calibri"/>
            </a:endParaRPr>
          </a:p>
          <a:p>
            <a:pPr marL="0" indent="0" algn="just">
              <a:buNone/>
            </a:pPr>
            <a:endParaRPr lang="en-US" sz="1600" b="1" dirty="0"/>
          </a:p>
          <a:p>
            <a:pPr marL="0" indent="0" algn="just">
              <a:buNone/>
            </a:pPr>
            <a:r>
              <a:rPr lang="en-US" sz="2600" b="1" dirty="0"/>
              <a:t>  Examples:</a:t>
            </a:r>
          </a:p>
        </p:txBody>
      </p:sp>
      <p:sp>
        <p:nvSpPr>
          <p:cNvPr id="2" name="Title 1">
            <a:extLst>
              <a:ext uri="{FF2B5EF4-FFF2-40B4-BE49-F238E27FC236}">
                <a16:creationId xmlns:a16="http://schemas.microsoft.com/office/drawing/2014/main" xmlns="" id="{0DD74D89-5CAD-A69A-BE6A-8ED003A5DE30}"/>
              </a:ext>
            </a:extLst>
          </p:cNvPr>
          <p:cNvSpPr>
            <a:spLocks noGrp="1"/>
          </p:cNvSpPr>
          <p:nvPr>
            <p:ph type="title"/>
          </p:nvPr>
        </p:nvSpPr>
        <p:spPr>
          <a:xfrm>
            <a:off x="1396091" y="501822"/>
            <a:ext cx="6962091" cy="783774"/>
          </a:xfrm>
        </p:spPr>
        <p:txBody>
          <a:bodyPr>
            <a:normAutofit/>
          </a:bodyPr>
          <a:lstStyle/>
          <a:p>
            <a:pPr algn="ctr">
              <a:lnSpc>
                <a:spcPct val="125003"/>
              </a:lnSpc>
              <a:buClr>
                <a:srgbClr val="F5F0F0"/>
              </a:buClr>
              <a:buSzPts val="6707"/>
            </a:pPr>
            <a:r>
              <a:rPr lang="en-US" sz="3200" b="1" dirty="0">
                <a:solidFill>
                  <a:schemeClr val="dk1"/>
                </a:solidFill>
                <a:ea typeface="Asar"/>
                <a:cs typeface="Asar"/>
                <a:sym typeface="Asar"/>
              </a:rPr>
              <a:t>Third Party Fraud</a:t>
            </a:r>
            <a:endParaRPr lang="en-US" sz="3200" b="1" dirty="0">
              <a:solidFill>
                <a:schemeClr val="dk1"/>
              </a:solidFill>
              <a:ea typeface="Calibri"/>
              <a:cs typeface="Calibri"/>
              <a:sym typeface="Calibri"/>
            </a:endParaRPr>
          </a:p>
        </p:txBody>
      </p:sp>
      <p:sp>
        <p:nvSpPr>
          <p:cNvPr id="10" name="Rounded Rectangle 9"/>
          <p:cNvSpPr/>
          <p:nvPr/>
        </p:nvSpPr>
        <p:spPr>
          <a:xfrm>
            <a:off x="263298" y="3274127"/>
            <a:ext cx="2030076" cy="43935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solidFill>
                  <a:srgbClr val="E2E6E9"/>
                </a:solidFill>
                <a:latin typeface="+mj-lt"/>
                <a:ea typeface="Asar"/>
                <a:cs typeface="Asar"/>
                <a:sym typeface="Asar"/>
              </a:rPr>
              <a:t>Account Takeover</a:t>
            </a:r>
            <a:endParaRPr lang="en-IN" sz="1600" dirty="0">
              <a:latin typeface="+mj-lt"/>
            </a:endParaRPr>
          </a:p>
        </p:txBody>
      </p:sp>
      <p:sp>
        <p:nvSpPr>
          <p:cNvPr id="11" name="Rounded Rectangle 10"/>
          <p:cNvSpPr/>
          <p:nvPr/>
        </p:nvSpPr>
        <p:spPr>
          <a:xfrm>
            <a:off x="263298" y="2600959"/>
            <a:ext cx="2030076" cy="52322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solidFill>
                  <a:srgbClr val="E2E6E9"/>
                </a:solidFill>
                <a:latin typeface="+mj-lt"/>
                <a:ea typeface="Asar"/>
                <a:cs typeface="Asar"/>
                <a:sym typeface="Asar"/>
              </a:rPr>
              <a:t>Lost or Stolen Card Fraud</a:t>
            </a:r>
            <a:endParaRPr lang="en-IN" sz="1600" dirty="0">
              <a:latin typeface="+mj-lt"/>
            </a:endParaRPr>
          </a:p>
        </p:txBody>
      </p:sp>
      <p:sp>
        <p:nvSpPr>
          <p:cNvPr id="12" name="Rounded Rectangle 11"/>
          <p:cNvSpPr/>
          <p:nvPr/>
        </p:nvSpPr>
        <p:spPr>
          <a:xfrm>
            <a:off x="263298" y="3856293"/>
            <a:ext cx="2030077" cy="51328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rgbClr val="E2E6E9"/>
                </a:solidFill>
                <a:latin typeface="+mj-lt"/>
                <a:ea typeface="Asar"/>
                <a:cs typeface="Asar"/>
                <a:sym typeface="Asar"/>
              </a:rPr>
              <a:t> </a:t>
            </a:r>
            <a:r>
              <a:rPr lang="en-US" sz="1600" b="1" dirty="0">
                <a:solidFill>
                  <a:srgbClr val="E2E6E9"/>
                </a:solidFill>
                <a:latin typeface="+mj-lt"/>
                <a:ea typeface="Asar"/>
                <a:cs typeface="Asar"/>
                <a:sym typeface="Asar"/>
              </a:rPr>
              <a:t>Counterfeiting</a:t>
            </a:r>
            <a:endParaRPr lang="en-IN" sz="1600" dirty="0">
              <a:latin typeface="+mj-lt"/>
            </a:endParaRPr>
          </a:p>
        </p:txBody>
      </p:sp>
      <p:sp>
        <p:nvSpPr>
          <p:cNvPr id="13" name="Rounded Rectangle 12"/>
          <p:cNvSpPr/>
          <p:nvPr/>
        </p:nvSpPr>
        <p:spPr>
          <a:xfrm>
            <a:off x="263298" y="4484644"/>
            <a:ext cx="2030076" cy="52322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solidFill>
                  <a:srgbClr val="E2E6E9"/>
                </a:solidFill>
                <a:latin typeface="+mj-lt"/>
                <a:ea typeface="Asar"/>
                <a:cs typeface="Asar"/>
                <a:sym typeface="Asar"/>
              </a:rPr>
              <a:t>Social Hacks</a:t>
            </a:r>
            <a:endParaRPr lang="en-IN" sz="1600" dirty="0">
              <a:latin typeface="+mj-lt"/>
            </a:endParaRPr>
          </a:p>
        </p:txBody>
      </p:sp>
      <p:sp>
        <p:nvSpPr>
          <p:cNvPr id="15" name="TextBox 14"/>
          <p:cNvSpPr txBox="1"/>
          <p:nvPr/>
        </p:nvSpPr>
        <p:spPr>
          <a:xfrm>
            <a:off x="2699792" y="2600959"/>
            <a:ext cx="6545252" cy="387798"/>
          </a:xfrm>
          <a:prstGeom prst="rect">
            <a:avLst/>
          </a:prstGeom>
          <a:noFill/>
        </p:spPr>
        <p:txBody>
          <a:bodyPr wrap="square" rtlCol="0">
            <a:spAutoFit/>
          </a:bodyPr>
          <a:lstStyle/>
          <a:p>
            <a:pPr>
              <a:lnSpc>
                <a:spcPct val="159979"/>
              </a:lnSpc>
              <a:buClr>
                <a:srgbClr val="E2E6E9"/>
              </a:buClr>
              <a:buSzPts val="1944"/>
            </a:pPr>
            <a:r>
              <a:rPr lang="en-US" sz="1200" dirty="0">
                <a:latin typeface="+mj-lt"/>
                <a:ea typeface="Asar"/>
                <a:cs typeface="Asar"/>
                <a:sym typeface="Asar"/>
              </a:rPr>
              <a:t>Someone finds or steals a physical card and uses it to make unauthorized purchases. </a:t>
            </a:r>
          </a:p>
        </p:txBody>
      </p:sp>
      <p:sp>
        <p:nvSpPr>
          <p:cNvPr id="16" name="TextBox 15"/>
          <p:cNvSpPr txBox="1"/>
          <p:nvPr/>
        </p:nvSpPr>
        <p:spPr>
          <a:xfrm>
            <a:off x="2192178" y="3196446"/>
            <a:ext cx="6772309" cy="646331"/>
          </a:xfrm>
          <a:prstGeom prst="rect">
            <a:avLst/>
          </a:prstGeom>
          <a:noFill/>
        </p:spPr>
        <p:txBody>
          <a:bodyPr wrap="square" rtlCol="0">
            <a:spAutoFit/>
          </a:bodyPr>
          <a:lstStyle/>
          <a:p>
            <a:pPr lvl="1" algn="just"/>
            <a:r>
              <a:rPr lang="en-US" sz="1200" dirty="0">
                <a:latin typeface="+mj-lt"/>
                <a:ea typeface="Asar"/>
                <a:cs typeface="Asar"/>
                <a:sym typeface="Asar"/>
              </a:rPr>
              <a:t>A fraudster gains access to the account holder's account, often through phishing, hacking, or social engineering, and then uses it to make unauthorized transactions.</a:t>
            </a:r>
            <a:endParaRPr lang="en-US" sz="1200" dirty="0">
              <a:latin typeface="+mj-lt"/>
            </a:endParaRPr>
          </a:p>
        </p:txBody>
      </p:sp>
      <p:sp>
        <p:nvSpPr>
          <p:cNvPr id="17" name="TextBox 16"/>
          <p:cNvSpPr txBox="1"/>
          <p:nvPr/>
        </p:nvSpPr>
        <p:spPr>
          <a:xfrm>
            <a:off x="2699792" y="4562413"/>
            <a:ext cx="6032150" cy="461665"/>
          </a:xfrm>
          <a:prstGeom prst="rect">
            <a:avLst/>
          </a:prstGeom>
          <a:noFill/>
        </p:spPr>
        <p:txBody>
          <a:bodyPr wrap="square" rtlCol="0">
            <a:spAutoFit/>
          </a:bodyPr>
          <a:lstStyle/>
          <a:p>
            <a:pPr marL="0" lvl="1"/>
            <a:r>
              <a:rPr lang="en-US" sz="1200" dirty="0">
                <a:latin typeface="+mj-lt"/>
                <a:ea typeface="Asar"/>
                <a:cs typeface="Asar"/>
                <a:sym typeface="Asar"/>
              </a:rPr>
              <a:t>Using social engineering techniques to trick the cardholder or bank employees into revealing account details, which are then used to commit fraud.</a:t>
            </a:r>
            <a:endParaRPr lang="en-US" sz="1200" dirty="0">
              <a:latin typeface="+mj-lt"/>
            </a:endParaRPr>
          </a:p>
        </p:txBody>
      </p:sp>
      <p:sp>
        <p:nvSpPr>
          <p:cNvPr id="18" name="TextBox 17"/>
          <p:cNvSpPr txBox="1"/>
          <p:nvPr/>
        </p:nvSpPr>
        <p:spPr>
          <a:xfrm rot="10800000" flipV="1">
            <a:off x="2220686" y="3929662"/>
            <a:ext cx="6660016" cy="461665"/>
          </a:xfrm>
          <a:prstGeom prst="rect">
            <a:avLst/>
          </a:prstGeom>
          <a:noFill/>
        </p:spPr>
        <p:txBody>
          <a:bodyPr wrap="square" rtlCol="0">
            <a:spAutoFit/>
          </a:bodyPr>
          <a:lstStyle/>
          <a:p>
            <a:pPr lvl="1"/>
            <a:r>
              <a:rPr lang="en-US" sz="1200" dirty="0">
                <a:latin typeface="+mj-lt"/>
                <a:ea typeface="Asar"/>
                <a:cs typeface="Asar"/>
                <a:sym typeface="Asar"/>
              </a:rPr>
              <a:t>Creating fake cards using the account details of legitimate cardholders to conduct fraudulent transactions.</a:t>
            </a:r>
            <a:endParaRPr lang="en-US" sz="1200" dirty="0">
              <a:latin typeface="+mj-lt"/>
            </a:endParaRPr>
          </a:p>
        </p:txBody>
      </p:sp>
      <p:pic>
        <p:nvPicPr>
          <p:cNvPr id="21" name="Google Shape;23;p3"/>
          <p:cNvPicPr preferRelativeResize="0"/>
          <p:nvPr/>
        </p:nvPicPr>
        <p:blipFill rotWithShape="1">
          <a:blip r:embed="rId2">
            <a:alphaModFix/>
          </a:blip>
          <a:srcRect/>
          <a:stretch/>
        </p:blipFill>
        <p:spPr>
          <a:xfrm>
            <a:off x="7847791" y="241857"/>
            <a:ext cx="1220840" cy="321479"/>
          </a:xfrm>
          <a:prstGeom prst="rect">
            <a:avLst/>
          </a:prstGeom>
          <a:noFill/>
          <a:ln>
            <a:noFill/>
          </a:ln>
        </p:spPr>
      </p:pic>
    </p:spTree>
    <p:extLst>
      <p:ext uri="{BB962C8B-B14F-4D97-AF65-F5344CB8AC3E}">
        <p14:creationId xmlns:p14="http://schemas.microsoft.com/office/powerpoint/2010/main" val="63944014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ounded Rectangle 4"/>
          <p:cNvSpPr/>
          <p:nvPr/>
        </p:nvSpPr>
        <p:spPr>
          <a:xfrm>
            <a:off x="1396092" y="564968"/>
            <a:ext cx="6662059" cy="65748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 name="Title 1">
            <a:extLst>
              <a:ext uri="{FF2B5EF4-FFF2-40B4-BE49-F238E27FC236}">
                <a16:creationId xmlns:a16="http://schemas.microsoft.com/office/drawing/2014/main" xmlns="" id="{0DD74D89-5CAD-A69A-BE6A-8ED003A5DE30}"/>
              </a:ext>
            </a:extLst>
          </p:cNvPr>
          <p:cNvSpPr>
            <a:spLocks noGrp="1"/>
          </p:cNvSpPr>
          <p:nvPr>
            <p:ph type="title"/>
          </p:nvPr>
        </p:nvSpPr>
        <p:spPr>
          <a:xfrm>
            <a:off x="1396091" y="501822"/>
            <a:ext cx="6962091" cy="783774"/>
          </a:xfrm>
        </p:spPr>
        <p:txBody>
          <a:bodyPr>
            <a:normAutofit/>
          </a:bodyPr>
          <a:lstStyle/>
          <a:p>
            <a:pPr algn="ctr">
              <a:lnSpc>
                <a:spcPct val="125003"/>
              </a:lnSpc>
              <a:buClr>
                <a:srgbClr val="F5F0F0"/>
              </a:buClr>
              <a:buSzPts val="6707"/>
            </a:pPr>
            <a:r>
              <a:rPr lang="en-US" sz="3200" b="1" dirty="0">
                <a:solidFill>
                  <a:schemeClr val="dk1"/>
                </a:solidFill>
                <a:ea typeface="Asar"/>
                <a:cs typeface="Asar"/>
                <a:sym typeface="Asar"/>
              </a:rPr>
              <a:t>Third Party Fraud</a:t>
            </a:r>
            <a:endParaRPr lang="en-US" sz="3200" b="1" dirty="0">
              <a:solidFill>
                <a:schemeClr val="dk1"/>
              </a:solidFill>
              <a:ea typeface="Calibri"/>
              <a:cs typeface="Calibri"/>
              <a:sym typeface="Calibri"/>
            </a:endParaRPr>
          </a:p>
        </p:txBody>
      </p:sp>
      <p:sp>
        <p:nvSpPr>
          <p:cNvPr id="11" name="Rounded Rectangle 10"/>
          <p:cNvSpPr/>
          <p:nvPr/>
        </p:nvSpPr>
        <p:spPr>
          <a:xfrm>
            <a:off x="263299" y="1795201"/>
            <a:ext cx="2030076" cy="52322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bg1"/>
                </a:solidFill>
                <a:latin typeface="+mj-lt"/>
                <a:ea typeface="Asar"/>
                <a:cs typeface="Asar"/>
                <a:sym typeface="Asar"/>
              </a:rPr>
              <a:t>Merchant Fraud</a:t>
            </a:r>
            <a:endParaRPr lang="en-IN" sz="1600" dirty="0">
              <a:solidFill>
                <a:schemeClr val="bg1"/>
              </a:solidFill>
              <a:latin typeface="+mj-lt"/>
            </a:endParaRPr>
          </a:p>
        </p:txBody>
      </p:sp>
      <p:sp>
        <p:nvSpPr>
          <p:cNvPr id="12" name="Rounded Rectangle 11"/>
          <p:cNvSpPr/>
          <p:nvPr/>
        </p:nvSpPr>
        <p:spPr>
          <a:xfrm>
            <a:off x="263298" y="2841426"/>
            <a:ext cx="2030077" cy="51328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solidFill>
                  <a:srgbClr val="E2E6E9"/>
                </a:solidFill>
                <a:latin typeface="+mj-lt"/>
                <a:ea typeface="Asar"/>
                <a:cs typeface="Asar"/>
                <a:sym typeface="Asar"/>
              </a:rPr>
              <a:t>Phishing and Vishing</a:t>
            </a:r>
            <a:endParaRPr lang="en-IN" sz="1600" dirty="0">
              <a:latin typeface="+mj-lt"/>
            </a:endParaRPr>
          </a:p>
        </p:txBody>
      </p:sp>
      <p:sp>
        <p:nvSpPr>
          <p:cNvPr id="13" name="Rounded Rectangle 12"/>
          <p:cNvSpPr/>
          <p:nvPr/>
        </p:nvSpPr>
        <p:spPr>
          <a:xfrm>
            <a:off x="317618" y="3814688"/>
            <a:ext cx="2030076" cy="52322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solidFill>
                  <a:srgbClr val="E2E6E9"/>
                </a:solidFill>
                <a:latin typeface="+mj-lt"/>
                <a:ea typeface="Asar"/>
                <a:cs typeface="Asar"/>
                <a:sym typeface="Asar"/>
              </a:rPr>
              <a:t>Skimming</a:t>
            </a:r>
            <a:endParaRPr lang="en-IN" sz="1600" dirty="0">
              <a:latin typeface="+mj-lt"/>
            </a:endParaRPr>
          </a:p>
        </p:txBody>
      </p:sp>
      <p:sp>
        <p:nvSpPr>
          <p:cNvPr id="15" name="TextBox 14"/>
          <p:cNvSpPr txBox="1"/>
          <p:nvPr/>
        </p:nvSpPr>
        <p:spPr>
          <a:xfrm>
            <a:off x="2469769" y="1804619"/>
            <a:ext cx="6410934" cy="461665"/>
          </a:xfrm>
          <a:prstGeom prst="rect">
            <a:avLst/>
          </a:prstGeom>
          <a:noFill/>
        </p:spPr>
        <p:txBody>
          <a:bodyPr wrap="square" rtlCol="0">
            <a:spAutoFit/>
          </a:bodyPr>
          <a:lstStyle/>
          <a:p>
            <a:pPr>
              <a:buClr>
                <a:srgbClr val="E2E6E9"/>
              </a:buClr>
              <a:buSzPts val="1944"/>
            </a:pPr>
            <a:r>
              <a:rPr lang="en-US" sz="1200" dirty="0">
                <a:latin typeface="+mj-lt"/>
                <a:ea typeface="Asar"/>
                <a:cs typeface="Asar"/>
                <a:sym typeface="Asar"/>
              </a:rPr>
              <a:t>Merchants manipulating transactions to defraud the cardholder or the issuing bank, such as charging for goods or services that were not provided.</a:t>
            </a:r>
          </a:p>
        </p:txBody>
      </p:sp>
      <p:sp>
        <p:nvSpPr>
          <p:cNvPr id="17" name="TextBox 16"/>
          <p:cNvSpPr txBox="1"/>
          <p:nvPr/>
        </p:nvSpPr>
        <p:spPr>
          <a:xfrm>
            <a:off x="2469769" y="3814688"/>
            <a:ext cx="6032150" cy="461665"/>
          </a:xfrm>
          <a:prstGeom prst="rect">
            <a:avLst/>
          </a:prstGeom>
          <a:noFill/>
        </p:spPr>
        <p:txBody>
          <a:bodyPr wrap="square" rtlCol="0">
            <a:spAutoFit/>
          </a:bodyPr>
          <a:lstStyle/>
          <a:p>
            <a:pPr marL="0" lvl="1"/>
            <a:r>
              <a:rPr lang="en-US" sz="1200" dirty="0">
                <a:latin typeface="+mj-lt"/>
                <a:ea typeface="Asar"/>
                <a:cs typeface="Asar"/>
                <a:sym typeface="Asar"/>
              </a:rPr>
              <a:t>Using devices to capture card information from ATMs or point-of-sale terminals when the card is used.</a:t>
            </a:r>
            <a:endParaRPr lang="en-US" sz="1200" dirty="0">
              <a:latin typeface="+mj-lt"/>
            </a:endParaRPr>
          </a:p>
        </p:txBody>
      </p:sp>
      <p:sp>
        <p:nvSpPr>
          <p:cNvPr id="18" name="TextBox 17"/>
          <p:cNvSpPr txBox="1"/>
          <p:nvPr/>
        </p:nvSpPr>
        <p:spPr>
          <a:xfrm rot="10800000" flipV="1">
            <a:off x="2112045" y="2774904"/>
            <a:ext cx="6660016" cy="646331"/>
          </a:xfrm>
          <a:prstGeom prst="rect">
            <a:avLst/>
          </a:prstGeom>
          <a:noFill/>
        </p:spPr>
        <p:txBody>
          <a:bodyPr wrap="square" rtlCol="0">
            <a:spAutoFit/>
          </a:bodyPr>
          <a:lstStyle/>
          <a:p>
            <a:pPr lvl="1"/>
            <a:r>
              <a:rPr lang="en-US" sz="1200" dirty="0">
                <a:latin typeface="+mj-lt"/>
                <a:ea typeface="Asar"/>
                <a:cs typeface="Asar"/>
                <a:sym typeface="Asar"/>
              </a:rPr>
              <a:t>Fraudsters sending emails (phishing) or making phone calls (vishing) posing as legitimate entities to trick individuals into revealing sensitive information like card numbers, passwords, or other personal details.</a:t>
            </a:r>
            <a:endParaRPr lang="en-US" sz="1200" dirty="0">
              <a:latin typeface="+mj-lt"/>
            </a:endParaRPr>
          </a:p>
        </p:txBody>
      </p:sp>
      <p:pic>
        <p:nvPicPr>
          <p:cNvPr id="21" name="Google Shape;23;p3"/>
          <p:cNvPicPr preferRelativeResize="0"/>
          <p:nvPr/>
        </p:nvPicPr>
        <p:blipFill rotWithShape="1">
          <a:blip r:embed="rId2">
            <a:alphaModFix/>
          </a:blip>
          <a:srcRect/>
          <a:stretch/>
        </p:blipFill>
        <p:spPr>
          <a:xfrm>
            <a:off x="7847791" y="241857"/>
            <a:ext cx="1220840" cy="321479"/>
          </a:xfrm>
          <a:prstGeom prst="rect">
            <a:avLst/>
          </a:prstGeom>
          <a:noFill/>
          <a:ln>
            <a:noFill/>
          </a:ln>
        </p:spPr>
      </p:pic>
      <p:sp>
        <p:nvSpPr>
          <p:cNvPr id="6" name="TextBox 5">
            <a:extLst>
              <a:ext uri="{FF2B5EF4-FFF2-40B4-BE49-F238E27FC236}">
                <a16:creationId xmlns:a16="http://schemas.microsoft.com/office/drawing/2014/main" xmlns="" id="{032EB7E8-4004-BFEF-CF87-640EB313AB40}"/>
              </a:ext>
            </a:extLst>
          </p:cNvPr>
          <p:cNvSpPr txBox="1"/>
          <p:nvPr/>
        </p:nvSpPr>
        <p:spPr>
          <a:xfrm>
            <a:off x="263299" y="4686401"/>
            <a:ext cx="8617404" cy="1094146"/>
          </a:xfrm>
          <a:prstGeom prst="rect">
            <a:avLst/>
          </a:prstGeom>
          <a:noFill/>
        </p:spPr>
        <p:txBody>
          <a:bodyPr wrap="square">
            <a:spAutoFit/>
          </a:bodyPr>
          <a:lstStyle/>
          <a:p>
            <a:pPr>
              <a:lnSpc>
                <a:spcPct val="159979"/>
              </a:lnSpc>
              <a:buClr>
                <a:srgbClr val="E2E6E9"/>
              </a:buClr>
              <a:buSzPts val="1944"/>
            </a:pPr>
            <a:r>
              <a:rPr lang="en-US" sz="1400" dirty="0">
                <a:latin typeface="+mj-lt"/>
                <a:ea typeface="Asar"/>
                <a:cs typeface="Asar"/>
                <a:sym typeface="Asar"/>
              </a:rPr>
              <a:t>Third-party fraud is typically more challenging for the cardholder to prevent, as it often involves external parties exploiting vulnerabilities in security systems or using sophisticated techniques to gain unauthorized access.</a:t>
            </a:r>
          </a:p>
        </p:txBody>
      </p:sp>
    </p:spTree>
    <p:extLst>
      <p:ext uri="{BB962C8B-B14F-4D97-AF65-F5344CB8AC3E}">
        <p14:creationId xmlns:p14="http://schemas.microsoft.com/office/powerpoint/2010/main" val="161229821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ounded Rectangle 4"/>
          <p:cNvSpPr/>
          <p:nvPr/>
        </p:nvSpPr>
        <p:spPr>
          <a:xfrm>
            <a:off x="1396092" y="563336"/>
            <a:ext cx="6662059" cy="65748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3" name="Content Placeholder 2">
            <a:extLst>
              <a:ext uri="{FF2B5EF4-FFF2-40B4-BE49-F238E27FC236}">
                <a16:creationId xmlns:a16="http://schemas.microsoft.com/office/drawing/2014/main" xmlns="" id="{E0B1996F-AEDE-ACD3-7F69-17F9384B7ADE}"/>
              </a:ext>
            </a:extLst>
          </p:cNvPr>
          <p:cNvSpPr>
            <a:spLocks noGrp="1"/>
          </p:cNvSpPr>
          <p:nvPr>
            <p:ph idx="1"/>
          </p:nvPr>
        </p:nvSpPr>
        <p:spPr>
          <a:xfrm>
            <a:off x="136751" y="1389525"/>
            <a:ext cx="8743950" cy="783774"/>
          </a:xfrm>
        </p:spPr>
        <p:txBody>
          <a:bodyPr>
            <a:normAutofit/>
          </a:bodyPr>
          <a:lstStyle/>
          <a:p>
            <a:pPr marL="0" indent="0" algn="just">
              <a:buNone/>
            </a:pPr>
            <a:r>
              <a:rPr lang="en-US" sz="1400" dirty="0">
                <a:latin typeface="+mj-lt"/>
                <a:ea typeface="Asar"/>
                <a:cs typeface="Asar"/>
                <a:sym typeface="Asar"/>
              </a:rPr>
              <a:t>The dispute transaction flow outlines the process followed when a cardholder disputes a transaction. This process ensures that disputes are investigated and resolved appropriately.</a:t>
            </a:r>
            <a:endParaRPr lang="en-US" sz="1400" b="1" dirty="0">
              <a:latin typeface="+mj-lt"/>
            </a:endParaRPr>
          </a:p>
        </p:txBody>
      </p:sp>
      <p:sp>
        <p:nvSpPr>
          <p:cNvPr id="2" name="Title 1">
            <a:extLst>
              <a:ext uri="{FF2B5EF4-FFF2-40B4-BE49-F238E27FC236}">
                <a16:creationId xmlns:a16="http://schemas.microsoft.com/office/drawing/2014/main" xmlns="" id="{0DD74D89-5CAD-A69A-BE6A-8ED003A5DE30}"/>
              </a:ext>
            </a:extLst>
          </p:cNvPr>
          <p:cNvSpPr>
            <a:spLocks noGrp="1"/>
          </p:cNvSpPr>
          <p:nvPr>
            <p:ph type="title"/>
          </p:nvPr>
        </p:nvSpPr>
        <p:spPr>
          <a:xfrm>
            <a:off x="1396091" y="501822"/>
            <a:ext cx="6962091" cy="783774"/>
          </a:xfrm>
        </p:spPr>
        <p:txBody>
          <a:bodyPr>
            <a:normAutofit/>
          </a:bodyPr>
          <a:lstStyle/>
          <a:p>
            <a:pPr algn="ctr">
              <a:lnSpc>
                <a:spcPct val="125000"/>
              </a:lnSpc>
              <a:buClr>
                <a:srgbClr val="F5F0F0"/>
              </a:buClr>
              <a:buSzPts val="4860"/>
            </a:pPr>
            <a:r>
              <a:rPr lang="en-US" sz="3200" dirty="0">
                <a:solidFill>
                  <a:schemeClr val="tx1"/>
                </a:solidFill>
                <a:ea typeface="Asar"/>
                <a:cs typeface="Asar"/>
                <a:sym typeface="Asar"/>
              </a:rPr>
              <a:t>Dispute Transaction Flow</a:t>
            </a:r>
            <a:endParaRPr lang="en-US" sz="3200" dirty="0">
              <a:solidFill>
                <a:schemeClr val="tx1"/>
              </a:solidFill>
              <a:ea typeface="Calibri"/>
              <a:cs typeface="Calibri"/>
              <a:sym typeface="Calibri"/>
            </a:endParaRPr>
          </a:p>
        </p:txBody>
      </p:sp>
      <p:sp>
        <p:nvSpPr>
          <p:cNvPr id="10" name="Rounded Rectangle 9"/>
          <p:cNvSpPr/>
          <p:nvPr/>
        </p:nvSpPr>
        <p:spPr>
          <a:xfrm>
            <a:off x="263298" y="2949847"/>
            <a:ext cx="1957388" cy="79138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rgbClr val="E2E6E9"/>
                </a:solidFill>
                <a:latin typeface="+mj-lt"/>
                <a:ea typeface="Asar"/>
                <a:cs typeface="Asar"/>
                <a:sym typeface="Asar"/>
              </a:rPr>
              <a:t>Issuer Sends Transactions to the Network</a:t>
            </a:r>
            <a:endParaRPr lang="en-IN" sz="1400" dirty="0">
              <a:latin typeface="+mj-lt"/>
            </a:endParaRPr>
          </a:p>
        </p:txBody>
      </p:sp>
      <p:sp>
        <p:nvSpPr>
          <p:cNvPr id="11" name="Rounded Rectangle 10"/>
          <p:cNvSpPr/>
          <p:nvPr/>
        </p:nvSpPr>
        <p:spPr>
          <a:xfrm>
            <a:off x="263298" y="2071517"/>
            <a:ext cx="1957388" cy="73950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5020"/>
              </a:lnSpc>
              <a:buClr>
                <a:srgbClr val="E2E6E9"/>
              </a:buClr>
              <a:buSzPts val="2430"/>
            </a:pPr>
            <a:r>
              <a:rPr lang="en-US" sz="1400" b="1" dirty="0">
                <a:solidFill>
                  <a:srgbClr val="E2E6E9"/>
                </a:solidFill>
                <a:latin typeface="+mj-lt"/>
                <a:ea typeface="Asar"/>
                <a:cs typeface="Asar"/>
                <a:sym typeface="Asar"/>
              </a:rPr>
              <a:t>Merchant Provides Documentation</a:t>
            </a:r>
            <a:endParaRPr lang="en-US" sz="1400" b="1" dirty="0">
              <a:solidFill>
                <a:schemeClr val="dk1"/>
              </a:solidFill>
              <a:latin typeface="+mj-lt"/>
              <a:ea typeface="Calibri"/>
              <a:cs typeface="Calibri"/>
              <a:sym typeface="Calibri"/>
            </a:endParaRPr>
          </a:p>
        </p:txBody>
      </p:sp>
      <p:sp>
        <p:nvSpPr>
          <p:cNvPr id="12" name="Rounded Rectangle 11"/>
          <p:cNvSpPr/>
          <p:nvPr/>
        </p:nvSpPr>
        <p:spPr>
          <a:xfrm>
            <a:off x="263298" y="3892158"/>
            <a:ext cx="1957388" cy="86508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rgbClr val="E2E6E9"/>
                </a:solidFill>
                <a:latin typeface="+mj-lt"/>
                <a:ea typeface="Asar"/>
                <a:cs typeface="Asar"/>
                <a:sym typeface="Asar"/>
              </a:rPr>
              <a:t>Acquirer Receives and Processes the Dispute</a:t>
            </a:r>
            <a:endParaRPr lang="en-IN" sz="1400" dirty="0">
              <a:latin typeface="+mj-lt"/>
            </a:endParaRPr>
          </a:p>
        </p:txBody>
      </p:sp>
      <p:sp>
        <p:nvSpPr>
          <p:cNvPr id="13" name="Rounded Rectangle 12"/>
          <p:cNvSpPr/>
          <p:nvPr/>
        </p:nvSpPr>
        <p:spPr>
          <a:xfrm>
            <a:off x="263297" y="4908167"/>
            <a:ext cx="1957388" cy="85847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rgbClr val="E2E6E9"/>
                </a:solidFill>
                <a:latin typeface="+mj-lt"/>
                <a:ea typeface="Asar"/>
                <a:cs typeface="Asar"/>
                <a:sym typeface="Asar"/>
              </a:rPr>
              <a:t>Merchant Reviews the Chargeback</a:t>
            </a:r>
            <a:endParaRPr lang="en-IN" sz="1400" dirty="0">
              <a:latin typeface="+mj-lt"/>
            </a:endParaRPr>
          </a:p>
        </p:txBody>
      </p:sp>
      <p:sp>
        <p:nvSpPr>
          <p:cNvPr id="15" name="TextBox 14"/>
          <p:cNvSpPr txBox="1"/>
          <p:nvPr/>
        </p:nvSpPr>
        <p:spPr>
          <a:xfrm>
            <a:off x="2469768" y="2200749"/>
            <a:ext cx="6410934" cy="461665"/>
          </a:xfrm>
          <a:prstGeom prst="rect">
            <a:avLst/>
          </a:prstGeom>
          <a:noFill/>
        </p:spPr>
        <p:txBody>
          <a:bodyPr wrap="square" rtlCol="0">
            <a:spAutoFit/>
          </a:bodyPr>
          <a:lstStyle/>
          <a:p>
            <a:pPr algn="just">
              <a:buClr>
                <a:srgbClr val="E2E6E9"/>
              </a:buClr>
              <a:buSzPts val="1944"/>
            </a:pPr>
            <a:r>
              <a:rPr lang="en-US" sz="1200" dirty="0">
                <a:latin typeface="+mj-lt"/>
                <a:ea typeface="Asar"/>
                <a:cs typeface="Asar"/>
                <a:sym typeface="Asar"/>
              </a:rPr>
              <a:t>The cardholder notices an issue with a transaction (e.g., an incorrect charge) and reports it to the issuer (the bank or financial institution that issued the card). </a:t>
            </a:r>
            <a:endParaRPr lang="en-US" sz="1200" dirty="0">
              <a:latin typeface="+mj-lt"/>
              <a:ea typeface="Calibri"/>
              <a:cs typeface="Calibri"/>
              <a:sym typeface="Calibri"/>
            </a:endParaRPr>
          </a:p>
        </p:txBody>
      </p:sp>
      <p:sp>
        <p:nvSpPr>
          <p:cNvPr id="16" name="TextBox 15"/>
          <p:cNvSpPr txBox="1"/>
          <p:nvPr/>
        </p:nvSpPr>
        <p:spPr>
          <a:xfrm>
            <a:off x="2494920" y="2921937"/>
            <a:ext cx="6598864" cy="646331"/>
          </a:xfrm>
          <a:prstGeom prst="rect">
            <a:avLst/>
          </a:prstGeom>
          <a:noFill/>
        </p:spPr>
        <p:txBody>
          <a:bodyPr wrap="square" rtlCol="0">
            <a:spAutoFit/>
          </a:bodyPr>
          <a:lstStyle/>
          <a:p>
            <a:pPr algn="just">
              <a:buClr>
                <a:srgbClr val="E2E6E9"/>
              </a:buClr>
              <a:buSzPts val="1944"/>
            </a:pPr>
            <a:r>
              <a:rPr lang="en-US" sz="1200" dirty="0">
                <a:latin typeface="+mj-lt"/>
                <a:ea typeface="Asar"/>
                <a:cs typeface="Asar"/>
                <a:sym typeface="Asar"/>
              </a:rPr>
              <a:t>The issuer forwards the disputed transaction details to the payment network (e.g., Visa, MasterCard), which then sends these details to the acquirer (the bank or financial institution that processes card payments on behalf of the merchant).</a:t>
            </a:r>
            <a:endParaRPr lang="en-US" sz="1200" dirty="0">
              <a:latin typeface="+mj-lt"/>
              <a:ea typeface="Calibri"/>
              <a:cs typeface="Calibri"/>
              <a:sym typeface="Calibri"/>
            </a:endParaRPr>
          </a:p>
        </p:txBody>
      </p:sp>
      <p:sp>
        <p:nvSpPr>
          <p:cNvPr id="17" name="TextBox 16"/>
          <p:cNvSpPr txBox="1"/>
          <p:nvPr/>
        </p:nvSpPr>
        <p:spPr>
          <a:xfrm>
            <a:off x="2494920" y="4958891"/>
            <a:ext cx="6410935" cy="461665"/>
          </a:xfrm>
          <a:prstGeom prst="rect">
            <a:avLst/>
          </a:prstGeom>
          <a:noFill/>
        </p:spPr>
        <p:txBody>
          <a:bodyPr wrap="square" rtlCol="0">
            <a:spAutoFit/>
          </a:bodyPr>
          <a:lstStyle/>
          <a:p>
            <a:pPr algn="just">
              <a:buClr>
                <a:srgbClr val="E2E6E9"/>
              </a:buClr>
              <a:buSzPts val="1944"/>
            </a:pPr>
            <a:r>
              <a:rPr lang="en-US" sz="1200" dirty="0">
                <a:latin typeface="+mj-lt"/>
                <a:ea typeface="Asar"/>
                <a:cs typeface="Asar"/>
                <a:sym typeface="Asar"/>
              </a:rPr>
              <a:t>The merchant reviews the chargeback details and decides whether to accept the chargeback (acknowledging the dispute and the related charge) or to challenge it.</a:t>
            </a:r>
            <a:endParaRPr lang="en-US" sz="1200" dirty="0">
              <a:latin typeface="+mj-lt"/>
              <a:ea typeface="Calibri"/>
              <a:cs typeface="Calibri"/>
              <a:sym typeface="Calibri"/>
            </a:endParaRPr>
          </a:p>
        </p:txBody>
      </p:sp>
      <p:sp>
        <p:nvSpPr>
          <p:cNvPr id="18" name="TextBox 17"/>
          <p:cNvSpPr txBox="1"/>
          <p:nvPr/>
        </p:nvSpPr>
        <p:spPr>
          <a:xfrm rot="10800000" flipV="1">
            <a:off x="2051720" y="3965666"/>
            <a:ext cx="6660016" cy="646331"/>
          </a:xfrm>
          <a:prstGeom prst="rect">
            <a:avLst/>
          </a:prstGeom>
          <a:noFill/>
        </p:spPr>
        <p:txBody>
          <a:bodyPr wrap="square" rtlCol="0">
            <a:spAutoFit/>
          </a:bodyPr>
          <a:lstStyle/>
          <a:p>
            <a:pPr lvl="1" algn="just"/>
            <a:r>
              <a:rPr lang="en-US" sz="1200" dirty="0">
                <a:latin typeface="+mj-lt"/>
                <a:ea typeface="Asar"/>
                <a:cs typeface="Asar"/>
                <a:sym typeface="Asar"/>
              </a:rPr>
              <a:t>The acquirer receives the dispute information and can either accept the chargeback and be charged for the transaction or forward it to the merchant for further action.</a:t>
            </a:r>
            <a:endParaRPr lang="en-US" sz="1200" dirty="0">
              <a:latin typeface="+mj-lt"/>
            </a:endParaRPr>
          </a:p>
        </p:txBody>
      </p:sp>
      <p:pic>
        <p:nvPicPr>
          <p:cNvPr id="21" name="Google Shape;23;p3"/>
          <p:cNvPicPr preferRelativeResize="0"/>
          <p:nvPr/>
        </p:nvPicPr>
        <p:blipFill rotWithShape="1">
          <a:blip r:embed="rId2">
            <a:alphaModFix/>
          </a:blip>
          <a:srcRect/>
          <a:stretch/>
        </p:blipFill>
        <p:spPr>
          <a:xfrm>
            <a:off x="7847791" y="241857"/>
            <a:ext cx="1220840" cy="321479"/>
          </a:xfrm>
          <a:prstGeom prst="rect">
            <a:avLst/>
          </a:prstGeom>
          <a:noFill/>
          <a:ln>
            <a:noFill/>
          </a:ln>
        </p:spPr>
      </p:pic>
    </p:spTree>
    <p:extLst>
      <p:ext uri="{BB962C8B-B14F-4D97-AF65-F5344CB8AC3E}">
        <p14:creationId xmlns:p14="http://schemas.microsoft.com/office/powerpoint/2010/main" val="358512376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ounded Rectangle 4"/>
          <p:cNvSpPr/>
          <p:nvPr/>
        </p:nvSpPr>
        <p:spPr>
          <a:xfrm>
            <a:off x="1396092" y="563336"/>
            <a:ext cx="6662059" cy="65748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3" name="Content Placeholder 2">
            <a:extLst>
              <a:ext uri="{FF2B5EF4-FFF2-40B4-BE49-F238E27FC236}">
                <a16:creationId xmlns:a16="http://schemas.microsoft.com/office/drawing/2014/main" xmlns="" id="{E0B1996F-AEDE-ACD3-7F69-17F9384B7ADE}"/>
              </a:ext>
            </a:extLst>
          </p:cNvPr>
          <p:cNvSpPr>
            <a:spLocks noGrp="1"/>
          </p:cNvSpPr>
          <p:nvPr>
            <p:ph idx="1"/>
          </p:nvPr>
        </p:nvSpPr>
        <p:spPr>
          <a:xfrm>
            <a:off x="263297" y="5396309"/>
            <a:ext cx="8743950" cy="783774"/>
          </a:xfrm>
        </p:spPr>
        <p:txBody>
          <a:bodyPr>
            <a:normAutofit/>
          </a:bodyPr>
          <a:lstStyle/>
          <a:p>
            <a:pPr marL="0" indent="0" algn="just">
              <a:buNone/>
            </a:pPr>
            <a:r>
              <a:rPr lang="en-US" sz="1400" dirty="0">
                <a:latin typeface="+mj-lt"/>
                <a:ea typeface="Asar"/>
                <a:cs typeface="Asar"/>
                <a:sym typeface="Asar"/>
              </a:rPr>
              <a:t>This process ensures that both cardholders and merchants have a fair chance to present their cases and resolve disputes according to established rules and guidelines.</a:t>
            </a:r>
            <a:endParaRPr lang="en-US" sz="1400" b="1" dirty="0">
              <a:latin typeface="+mj-lt"/>
            </a:endParaRPr>
          </a:p>
        </p:txBody>
      </p:sp>
      <p:sp>
        <p:nvSpPr>
          <p:cNvPr id="2" name="Title 1">
            <a:extLst>
              <a:ext uri="{FF2B5EF4-FFF2-40B4-BE49-F238E27FC236}">
                <a16:creationId xmlns:a16="http://schemas.microsoft.com/office/drawing/2014/main" xmlns="" id="{0DD74D89-5CAD-A69A-BE6A-8ED003A5DE30}"/>
              </a:ext>
            </a:extLst>
          </p:cNvPr>
          <p:cNvSpPr>
            <a:spLocks noGrp="1"/>
          </p:cNvSpPr>
          <p:nvPr>
            <p:ph type="title"/>
          </p:nvPr>
        </p:nvSpPr>
        <p:spPr>
          <a:xfrm>
            <a:off x="1396091" y="501822"/>
            <a:ext cx="6962091" cy="783774"/>
          </a:xfrm>
        </p:spPr>
        <p:txBody>
          <a:bodyPr>
            <a:normAutofit/>
          </a:bodyPr>
          <a:lstStyle/>
          <a:p>
            <a:pPr algn="ctr">
              <a:lnSpc>
                <a:spcPct val="125000"/>
              </a:lnSpc>
              <a:buClr>
                <a:srgbClr val="F5F0F0"/>
              </a:buClr>
              <a:buSzPts val="4860"/>
            </a:pPr>
            <a:r>
              <a:rPr lang="en-US" sz="3200" dirty="0">
                <a:solidFill>
                  <a:schemeClr val="tx1"/>
                </a:solidFill>
                <a:ea typeface="Asar"/>
                <a:cs typeface="Asar"/>
                <a:sym typeface="Asar"/>
              </a:rPr>
              <a:t>Dispute Transaction Flow</a:t>
            </a:r>
            <a:endParaRPr lang="en-US" sz="3200" dirty="0">
              <a:solidFill>
                <a:schemeClr val="tx1"/>
              </a:solidFill>
              <a:ea typeface="Calibri"/>
              <a:cs typeface="Calibri"/>
              <a:sym typeface="Calibri"/>
            </a:endParaRPr>
          </a:p>
        </p:txBody>
      </p:sp>
      <p:sp>
        <p:nvSpPr>
          <p:cNvPr id="10" name="Rounded Rectangle 9"/>
          <p:cNvSpPr/>
          <p:nvPr/>
        </p:nvSpPr>
        <p:spPr>
          <a:xfrm>
            <a:off x="263297" y="2380700"/>
            <a:ext cx="1957388" cy="79138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rgbClr val="E2E6E9"/>
                </a:solidFill>
                <a:latin typeface="+mj-lt"/>
                <a:ea typeface="Asar"/>
                <a:cs typeface="Asar"/>
                <a:sym typeface="Asar"/>
              </a:rPr>
              <a:t>Acquirer Examines Documentation</a:t>
            </a:r>
            <a:endParaRPr lang="en-IN" sz="1400" dirty="0">
              <a:latin typeface="+mj-lt"/>
            </a:endParaRPr>
          </a:p>
        </p:txBody>
      </p:sp>
      <p:sp>
        <p:nvSpPr>
          <p:cNvPr id="11" name="Rounded Rectangle 10"/>
          <p:cNvSpPr/>
          <p:nvPr/>
        </p:nvSpPr>
        <p:spPr>
          <a:xfrm>
            <a:off x="263298" y="1461691"/>
            <a:ext cx="1957388" cy="73950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5020"/>
              </a:lnSpc>
              <a:buClr>
                <a:srgbClr val="E2E6E9"/>
              </a:buClr>
              <a:buSzPts val="2430"/>
            </a:pPr>
            <a:r>
              <a:rPr lang="en-US" sz="1400" b="1" dirty="0">
                <a:solidFill>
                  <a:srgbClr val="E2E6E9"/>
                </a:solidFill>
                <a:latin typeface="+mj-lt"/>
                <a:ea typeface="Asar"/>
                <a:cs typeface="Asar"/>
                <a:sym typeface="Asar"/>
              </a:rPr>
              <a:t>Cardholder Reports Disputed </a:t>
            </a:r>
            <a:r>
              <a:rPr lang="en-US" sz="1400" b="1" dirty="0" smtClean="0">
                <a:solidFill>
                  <a:srgbClr val="E2E6E9"/>
                </a:solidFill>
                <a:latin typeface="+mj-lt"/>
                <a:ea typeface="Asar"/>
                <a:cs typeface="Asar"/>
                <a:sym typeface="Asar"/>
              </a:rPr>
              <a:t>Transaction</a:t>
            </a:r>
            <a:endParaRPr lang="en-US" sz="1400" b="1" dirty="0">
              <a:solidFill>
                <a:schemeClr val="dk1"/>
              </a:solidFill>
              <a:latin typeface="+mj-lt"/>
              <a:ea typeface="Calibri"/>
              <a:cs typeface="Calibri"/>
              <a:sym typeface="Calibri"/>
            </a:endParaRPr>
          </a:p>
        </p:txBody>
      </p:sp>
      <p:sp>
        <p:nvSpPr>
          <p:cNvPr id="12" name="Rounded Rectangle 11"/>
          <p:cNvSpPr/>
          <p:nvPr/>
        </p:nvSpPr>
        <p:spPr>
          <a:xfrm>
            <a:off x="263297" y="3369103"/>
            <a:ext cx="1957388" cy="86508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rgbClr val="E2E6E9"/>
                </a:solidFill>
                <a:latin typeface="+mj-lt"/>
                <a:ea typeface="Asar"/>
                <a:cs typeface="Asar"/>
                <a:sym typeface="Asar"/>
              </a:rPr>
              <a:t>Issuer Reviews the Documentation</a:t>
            </a:r>
            <a:endParaRPr lang="en-IN" sz="1400" dirty="0">
              <a:latin typeface="+mj-lt"/>
            </a:endParaRPr>
          </a:p>
        </p:txBody>
      </p:sp>
      <p:sp>
        <p:nvSpPr>
          <p:cNvPr id="13" name="Rounded Rectangle 12"/>
          <p:cNvSpPr/>
          <p:nvPr/>
        </p:nvSpPr>
        <p:spPr>
          <a:xfrm>
            <a:off x="263297" y="4430582"/>
            <a:ext cx="1957388" cy="78377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rgbClr val="E2E6E9"/>
                </a:solidFill>
                <a:latin typeface="+mj-lt"/>
                <a:ea typeface="Asar"/>
                <a:cs typeface="Asar"/>
                <a:sym typeface="Asar"/>
              </a:rPr>
              <a:t>Resolution</a:t>
            </a:r>
            <a:endParaRPr lang="en-IN" sz="1400" dirty="0">
              <a:latin typeface="+mj-lt"/>
            </a:endParaRPr>
          </a:p>
        </p:txBody>
      </p:sp>
      <p:sp>
        <p:nvSpPr>
          <p:cNvPr id="15" name="TextBox 14"/>
          <p:cNvSpPr txBox="1"/>
          <p:nvPr/>
        </p:nvSpPr>
        <p:spPr>
          <a:xfrm>
            <a:off x="2381570" y="1508276"/>
            <a:ext cx="6602595" cy="646331"/>
          </a:xfrm>
          <a:prstGeom prst="rect">
            <a:avLst/>
          </a:prstGeom>
          <a:noFill/>
        </p:spPr>
        <p:txBody>
          <a:bodyPr wrap="square" rtlCol="0">
            <a:spAutoFit/>
          </a:bodyPr>
          <a:lstStyle/>
          <a:p>
            <a:pPr>
              <a:buClr>
                <a:srgbClr val="E2E6E9"/>
              </a:buClr>
              <a:buSzPts val="1944"/>
            </a:pPr>
            <a:r>
              <a:rPr lang="en-US" sz="1200" dirty="0">
                <a:latin typeface="+mj-lt"/>
                <a:ea typeface="Asar"/>
                <a:cs typeface="Asar"/>
                <a:sym typeface="Asar"/>
              </a:rPr>
              <a:t>If the merchant does not accept the chargeback, they provide documentation to the acquirer to represent the chargeback to the issuer, supporting their case that the transaction was valid.</a:t>
            </a:r>
            <a:endParaRPr lang="en-US" sz="1200" dirty="0">
              <a:latin typeface="+mj-lt"/>
              <a:ea typeface="Calibri"/>
              <a:cs typeface="Calibri"/>
              <a:sym typeface="Calibri"/>
            </a:endParaRPr>
          </a:p>
        </p:txBody>
      </p:sp>
      <p:sp>
        <p:nvSpPr>
          <p:cNvPr id="16" name="TextBox 15"/>
          <p:cNvSpPr txBox="1"/>
          <p:nvPr/>
        </p:nvSpPr>
        <p:spPr>
          <a:xfrm>
            <a:off x="2385301" y="2514781"/>
            <a:ext cx="6683329" cy="461665"/>
          </a:xfrm>
          <a:prstGeom prst="rect">
            <a:avLst/>
          </a:prstGeom>
          <a:noFill/>
        </p:spPr>
        <p:txBody>
          <a:bodyPr wrap="square" rtlCol="0">
            <a:spAutoFit/>
          </a:bodyPr>
          <a:lstStyle/>
          <a:p>
            <a:pPr>
              <a:buClr>
                <a:srgbClr val="E2E6E9"/>
              </a:buClr>
              <a:buSzPts val="1944"/>
            </a:pPr>
            <a:r>
              <a:rPr lang="en-US" sz="1200" dirty="0">
                <a:latin typeface="+mj-lt"/>
                <a:ea typeface="Asar"/>
                <a:cs typeface="Asar"/>
                <a:sym typeface="Asar"/>
              </a:rPr>
              <a:t>The acquirer examines the provided documentation to ensure it meets the </a:t>
            </a:r>
            <a:r>
              <a:rPr lang="en-US" sz="1200" dirty="0" smtClean="0">
                <a:latin typeface="+mj-lt"/>
                <a:ea typeface="Asar"/>
                <a:cs typeface="Asar"/>
                <a:sym typeface="Asar"/>
              </a:rPr>
              <a:t>card network </a:t>
            </a:r>
            <a:r>
              <a:rPr lang="en-US" sz="1200" dirty="0">
                <a:latin typeface="+mj-lt"/>
                <a:ea typeface="Asar"/>
                <a:cs typeface="Asar"/>
                <a:sym typeface="Asar"/>
              </a:rPr>
              <a:t>rules and supports the merchant’s claim.</a:t>
            </a:r>
            <a:endParaRPr lang="en-US" sz="1200" dirty="0">
              <a:latin typeface="+mj-lt"/>
              <a:ea typeface="Calibri"/>
              <a:cs typeface="Calibri"/>
              <a:sym typeface="Calibri"/>
            </a:endParaRPr>
          </a:p>
        </p:txBody>
      </p:sp>
      <p:sp>
        <p:nvSpPr>
          <p:cNvPr id="17" name="TextBox 16"/>
          <p:cNvSpPr txBox="1"/>
          <p:nvPr/>
        </p:nvSpPr>
        <p:spPr>
          <a:xfrm>
            <a:off x="2426060" y="4430582"/>
            <a:ext cx="6555835" cy="830997"/>
          </a:xfrm>
          <a:prstGeom prst="rect">
            <a:avLst/>
          </a:prstGeom>
          <a:noFill/>
        </p:spPr>
        <p:txBody>
          <a:bodyPr wrap="square" rtlCol="0">
            <a:spAutoFit/>
          </a:bodyPr>
          <a:lstStyle/>
          <a:p>
            <a:pPr>
              <a:buClr>
                <a:srgbClr val="E2E6E9"/>
              </a:buClr>
              <a:buSzPts val="1944"/>
            </a:pPr>
            <a:r>
              <a:rPr lang="en-US" sz="1200" dirty="0">
                <a:latin typeface="+mj-lt"/>
                <a:ea typeface="Asar"/>
                <a:cs typeface="Asar"/>
                <a:sym typeface="Asar"/>
              </a:rPr>
              <a:t>If the issuer accepts the documentation, the merchant gets the money back, and the issuer re-charges the cardholder. If either party (issuer or merchant) disagrees with the final outcome, the payment network reviews the documentation and the transaction to make the final decision</a:t>
            </a:r>
            <a:endParaRPr lang="en-US" sz="1200" dirty="0">
              <a:latin typeface="+mj-lt"/>
              <a:ea typeface="Calibri"/>
              <a:cs typeface="Calibri"/>
              <a:sym typeface="Calibri"/>
            </a:endParaRPr>
          </a:p>
        </p:txBody>
      </p:sp>
      <p:sp>
        <p:nvSpPr>
          <p:cNvPr id="18" name="TextBox 17"/>
          <p:cNvSpPr txBox="1"/>
          <p:nvPr/>
        </p:nvSpPr>
        <p:spPr>
          <a:xfrm rot="10800000" flipV="1">
            <a:off x="1924389" y="3353556"/>
            <a:ext cx="7057507" cy="646331"/>
          </a:xfrm>
          <a:prstGeom prst="rect">
            <a:avLst/>
          </a:prstGeom>
          <a:noFill/>
        </p:spPr>
        <p:txBody>
          <a:bodyPr wrap="square" rtlCol="0">
            <a:spAutoFit/>
          </a:bodyPr>
          <a:lstStyle/>
          <a:p>
            <a:pPr lvl="1"/>
            <a:r>
              <a:rPr lang="en-US" sz="1200" dirty="0">
                <a:latin typeface="+mj-lt"/>
                <a:ea typeface="Asar"/>
                <a:cs typeface="Asar"/>
                <a:sym typeface="Asar"/>
              </a:rPr>
              <a:t>The acquirer sends the documentation back to the issuer. If the issuer accepts the documentation and believes the transaction was valid, they represent the transaction to the cardholder.</a:t>
            </a:r>
            <a:endParaRPr lang="en-US" sz="1200" dirty="0">
              <a:latin typeface="+mj-lt"/>
            </a:endParaRPr>
          </a:p>
        </p:txBody>
      </p:sp>
      <p:pic>
        <p:nvPicPr>
          <p:cNvPr id="21" name="Google Shape;23;p3"/>
          <p:cNvPicPr preferRelativeResize="0"/>
          <p:nvPr/>
        </p:nvPicPr>
        <p:blipFill rotWithShape="1">
          <a:blip r:embed="rId2">
            <a:alphaModFix/>
          </a:blip>
          <a:srcRect/>
          <a:stretch/>
        </p:blipFill>
        <p:spPr>
          <a:xfrm>
            <a:off x="7847791" y="241857"/>
            <a:ext cx="1220840" cy="321479"/>
          </a:xfrm>
          <a:prstGeom prst="rect">
            <a:avLst/>
          </a:prstGeom>
          <a:noFill/>
          <a:ln>
            <a:noFill/>
          </a:ln>
        </p:spPr>
      </p:pic>
    </p:spTree>
    <p:extLst>
      <p:ext uri="{BB962C8B-B14F-4D97-AF65-F5344CB8AC3E}">
        <p14:creationId xmlns:p14="http://schemas.microsoft.com/office/powerpoint/2010/main" val="2319466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ounded Rectangle 4"/>
          <p:cNvSpPr/>
          <p:nvPr/>
        </p:nvSpPr>
        <p:spPr>
          <a:xfrm>
            <a:off x="1396092" y="563336"/>
            <a:ext cx="6662059" cy="65748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3" name="Content Placeholder 2">
            <a:extLst>
              <a:ext uri="{FF2B5EF4-FFF2-40B4-BE49-F238E27FC236}">
                <a16:creationId xmlns:a16="http://schemas.microsoft.com/office/drawing/2014/main" xmlns="" id="{E0B1996F-AEDE-ACD3-7F69-17F9384B7ADE}"/>
              </a:ext>
            </a:extLst>
          </p:cNvPr>
          <p:cNvSpPr>
            <a:spLocks noGrp="1"/>
          </p:cNvSpPr>
          <p:nvPr>
            <p:ph idx="1"/>
          </p:nvPr>
        </p:nvSpPr>
        <p:spPr>
          <a:xfrm>
            <a:off x="324681" y="1417217"/>
            <a:ext cx="8743950" cy="783774"/>
          </a:xfrm>
        </p:spPr>
        <p:txBody>
          <a:bodyPr>
            <a:normAutofit/>
          </a:bodyPr>
          <a:lstStyle/>
          <a:p>
            <a:pPr marL="109728" indent="0">
              <a:lnSpc>
                <a:spcPct val="125022"/>
              </a:lnSpc>
              <a:buClr>
                <a:srgbClr val="E2E6E9"/>
              </a:buClr>
              <a:buSzPts val="2262"/>
              <a:buNone/>
            </a:pPr>
            <a:r>
              <a:rPr lang="en-US" sz="1600" dirty="0">
                <a:latin typeface="+mj-lt"/>
                <a:ea typeface="Asar"/>
                <a:cs typeface="Asar"/>
                <a:sym typeface="Asar"/>
              </a:rPr>
              <a:t>Similar to disputes, the main difference is on the liability of Fraud</a:t>
            </a:r>
            <a:endParaRPr lang="en-US" sz="1600" dirty="0">
              <a:latin typeface="+mj-lt"/>
              <a:ea typeface="Calibri"/>
              <a:cs typeface="Calibri"/>
              <a:sym typeface="Calibri"/>
            </a:endParaRPr>
          </a:p>
        </p:txBody>
      </p:sp>
      <p:sp>
        <p:nvSpPr>
          <p:cNvPr id="2" name="Title 1">
            <a:extLst>
              <a:ext uri="{FF2B5EF4-FFF2-40B4-BE49-F238E27FC236}">
                <a16:creationId xmlns:a16="http://schemas.microsoft.com/office/drawing/2014/main" xmlns="" id="{0DD74D89-5CAD-A69A-BE6A-8ED003A5DE30}"/>
              </a:ext>
            </a:extLst>
          </p:cNvPr>
          <p:cNvSpPr>
            <a:spLocks noGrp="1"/>
          </p:cNvSpPr>
          <p:nvPr>
            <p:ph type="title"/>
          </p:nvPr>
        </p:nvSpPr>
        <p:spPr>
          <a:xfrm>
            <a:off x="1396091" y="501822"/>
            <a:ext cx="6962091" cy="783774"/>
          </a:xfrm>
        </p:spPr>
        <p:txBody>
          <a:bodyPr>
            <a:noAutofit/>
          </a:bodyPr>
          <a:lstStyle/>
          <a:p>
            <a:pPr algn="ctr">
              <a:lnSpc>
                <a:spcPct val="124994"/>
              </a:lnSpc>
              <a:buClr>
                <a:srgbClr val="F5F0F0"/>
              </a:buClr>
              <a:buSzPts val="4525"/>
            </a:pPr>
            <a:r>
              <a:rPr lang="en-US" sz="3200" dirty="0">
                <a:solidFill>
                  <a:schemeClr val="tx1"/>
                </a:solidFill>
                <a:ea typeface="Asar"/>
                <a:cs typeface="Asar"/>
                <a:sym typeface="Asar"/>
              </a:rPr>
              <a:t>Fraud Transaction Flow</a:t>
            </a:r>
            <a:endParaRPr lang="en-US" sz="3200" dirty="0">
              <a:solidFill>
                <a:schemeClr val="tx1"/>
              </a:solidFill>
              <a:ea typeface="Calibri"/>
              <a:cs typeface="Calibri"/>
              <a:sym typeface="Calibri"/>
            </a:endParaRPr>
          </a:p>
        </p:txBody>
      </p:sp>
      <p:sp>
        <p:nvSpPr>
          <p:cNvPr id="10" name="Rounded Rectangle 9"/>
          <p:cNvSpPr/>
          <p:nvPr/>
        </p:nvSpPr>
        <p:spPr>
          <a:xfrm>
            <a:off x="324681" y="2220740"/>
            <a:ext cx="2153048" cy="95134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60000"/>
              </a:lnSpc>
              <a:buClr>
                <a:srgbClr val="E2E6E9"/>
              </a:buClr>
              <a:buSzPts val="1810"/>
            </a:pPr>
            <a:r>
              <a:rPr lang="en-US" sz="1400" b="1" dirty="0">
                <a:solidFill>
                  <a:srgbClr val="E2E6E9"/>
                </a:solidFill>
                <a:latin typeface="+mj-lt"/>
                <a:ea typeface="Asar"/>
                <a:cs typeface="Asar"/>
                <a:sym typeface="Asar"/>
              </a:rPr>
              <a:t>The Liability of Fraud $) - Who Bears the loss?</a:t>
            </a:r>
            <a:endParaRPr lang="en-US" sz="1400" b="1" dirty="0">
              <a:solidFill>
                <a:schemeClr val="dk1"/>
              </a:solidFill>
              <a:latin typeface="+mj-lt"/>
              <a:ea typeface="Calibri"/>
              <a:cs typeface="Calibri"/>
              <a:sym typeface="Calibri"/>
            </a:endParaRPr>
          </a:p>
        </p:txBody>
      </p:sp>
      <p:sp>
        <p:nvSpPr>
          <p:cNvPr id="12" name="Rounded Rectangle 11"/>
          <p:cNvSpPr/>
          <p:nvPr/>
        </p:nvSpPr>
        <p:spPr>
          <a:xfrm>
            <a:off x="331941" y="3573016"/>
            <a:ext cx="2153048" cy="57363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5022"/>
              </a:lnSpc>
              <a:buClr>
                <a:srgbClr val="E2E6E9"/>
              </a:buClr>
              <a:buSzPts val="2262"/>
            </a:pPr>
            <a:r>
              <a:rPr lang="en-US" sz="1600" b="1" dirty="0">
                <a:solidFill>
                  <a:srgbClr val="E2E6E9"/>
                </a:solidFill>
                <a:latin typeface="+mj-lt"/>
                <a:ea typeface="Asar"/>
                <a:cs typeface="Asar"/>
                <a:sym typeface="Asar"/>
              </a:rPr>
              <a:t>Example:</a:t>
            </a:r>
            <a:endParaRPr lang="en-US" sz="1600" b="1" dirty="0">
              <a:solidFill>
                <a:schemeClr val="dk1"/>
              </a:solidFill>
              <a:latin typeface="+mj-lt"/>
              <a:ea typeface="Calibri"/>
              <a:cs typeface="Calibri"/>
              <a:sym typeface="Calibri"/>
            </a:endParaRPr>
          </a:p>
        </p:txBody>
      </p:sp>
      <p:sp>
        <p:nvSpPr>
          <p:cNvPr id="16" name="TextBox 15"/>
          <p:cNvSpPr txBox="1"/>
          <p:nvPr/>
        </p:nvSpPr>
        <p:spPr>
          <a:xfrm>
            <a:off x="2606289" y="2220740"/>
            <a:ext cx="6598864" cy="646331"/>
          </a:xfrm>
          <a:prstGeom prst="rect">
            <a:avLst/>
          </a:prstGeom>
          <a:noFill/>
        </p:spPr>
        <p:txBody>
          <a:bodyPr wrap="square" rtlCol="0">
            <a:spAutoFit/>
          </a:bodyPr>
          <a:lstStyle/>
          <a:p>
            <a:pPr algn="just">
              <a:buClr>
                <a:srgbClr val="E2E6E9"/>
              </a:buClr>
              <a:buSzPts val="1810"/>
            </a:pPr>
            <a:r>
              <a:rPr lang="en-US" sz="1200" dirty="0">
                <a:latin typeface="+mj-lt"/>
                <a:ea typeface="Asar"/>
                <a:cs typeface="Asar"/>
                <a:sym typeface="Asar"/>
              </a:rPr>
              <a:t>Between Issuer &amp; the merchant whoever was on the less secure technology will bear the cost of fraud (generally), if both were on the same technology level then Issuer will bear the fraud</a:t>
            </a:r>
            <a:endParaRPr lang="en-US" sz="1200" dirty="0">
              <a:latin typeface="+mj-lt"/>
              <a:ea typeface="Calibri"/>
              <a:cs typeface="Calibri"/>
              <a:sym typeface="Calibri"/>
            </a:endParaRPr>
          </a:p>
        </p:txBody>
      </p:sp>
      <p:sp>
        <p:nvSpPr>
          <p:cNvPr id="18" name="TextBox 17"/>
          <p:cNvSpPr txBox="1"/>
          <p:nvPr/>
        </p:nvSpPr>
        <p:spPr>
          <a:xfrm rot="10800000" flipV="1">
            <a:off x="2545137" y="3362319"/>
            <a:ext cx="6660016" cy="1200329"/>
          </a:xfrm>
          <a:prstGeom prst="rect">
            <a:avLst/>
          </a:prstGeom>
          <a:noFill/>
        </p:spPr>
        <p:txBody>
          <a:bodyPr wrap="square" rtlCol="0">
            <a:spAutoFit/>
          </a:bodyPr>
          <a:lstStyle/>
          <a:p>
            <a:pPr marL="364593" indent="-285750" algn="just">
              <a:buClr>
                <a:schemeClr val="tx1"/>
              </a:buClr>
              <a:buSzPts val="2110"/>
              <a:buFont typeface="Arial" panose="020B0604020202020204" pitchFamily="34" charset="0"/>
              <a:buChar char="•"/>
            </a:pPr>
            <a:r>
              <a:rPr lang="en-US" sz="1200" dirty="0">
                <a:latin typeface="+mj-lt"/>
                <a:ea typeface="Asar"/>
                <a:cs typeface="Asar"/>
                <a:sym typeface="Asar"/>
              </a:rPr>
              <a:t>Chip Transaction -&gt; Card was Chip, Terminal Used a Chip Technology, Card was dipped &amp; not swiped -&gt; Issuer is liable. </a:t>
            </a:r>
          </a:p>
          <a:p>
            <a:pPr marL="364593" indent="-285750" algn="just">
              <a:buClr>
                <a:schemeClr val="tx1"/>
              </a:buClr>
              <a:buSzPts val="2110"/>
              <a:buFont typeface="Arial" panose="020B0604020202020204" pitchFamily="34" charset="0"/>
              <a:buChar char="•"/>
            </a:pPr>
            <a:r>
              <a:rPr lang="en-US" sz="1200" dirty="0">
                <a:latin typeface="+mj-lt"/>
                <a:ea typeface="Asar"/>
                <a:cs typeface="Asar"/>
                <a:sym typeface="Asar"/>
              </a:rPr>
              <a:t>If Card was Chip enabled but merchant didn’t dip rather swiped the transaction (used the </a:t>
            </a:r>
            <a:r>
              <a:rPr lang="en-US" sz="1200" dirty="0" err="1">
                <a:latin typeface="+mj-lt"/>
                <a:ea typeface="Asar"/>
                <a:cs typeface="Asar"/>
                <a:sym typeface="Asar"/>
              </a:rPr>
              <a:t>magstripe</a:t>
            </a:r>
            <a:r>
              <a:rPr lang="en-US" sz="1200" dirty="0">
                <a:latin typeface="+mj-lt"/>
                <a:ea typeface="Asar"/>
                <a:cs typeface="Asar"/>
                <a:sym typeface="Asar"/>
              </a:rPr>
              <a:t>) then merchant will be liable for fraud. </a:t>
            </a:r>
          </a:p>
          <a:p>
            <a:pPr marL="364593" indent="-285750" algn="just">
              <a:buClr>
                <a:schemeClr val="tx1"/>
              </a:buClr>
              <a:buSzPts val="2110"/>
              <a:buFont typeface="Arial" panose="020B0604020202020204" pitchFamily="34" charset="0"/>
              <a:buChar char="•"/>
            </a:pPr>
            <a:r>
              <a:rPr lang="en-US" sz="1200" dirty="0">
                <a:latin typeface="+mj-lt"/>
                <a:ea typeface="Asar"/>
                <a:cs typeface="Asar"/>
                <a:sym typeface="Asar"/>
              </a:rPr>
              <a:t>For eCom transactions if merchant didn’t use authentication then typically merchant is liable for fraud.</a:t>
            </a:r>
            <a:endParaRPr lang="en-US" sz="1200" dirty="0">
              <a:latin typeface="+mj-lt"/>
              <a:ea typeface="Calibri"/>
              <a:cs typeface="Calibri"/>
              <a:sym typeface="Calibri"/>
            </a:endParaRPr>
          </a:p>
        </p:txBody>
      </p:sp>
      <p:pic>
        <p:nvPicPr>
          <p:cNvPr id="21" name="Google Shape;23;p3"/>
          <p:cNvPicPr preferRelativeResize="0"/>
          <p:nvPr/>
        </p:nvPicPr>
        <p:blipFill rotWithShape="1">
          <a:blip r:embed="rId2">
            <a:alphaModFix/>
          </a:blip>
          <a:srcRect/>
          <a:stretch/>
        </p:blipFill>
        <p:spPr>
          <a:xfrm>
            <a:off x="7847791" y="241857"/>
            <a:ext cx="1220840" cy="321479"/>
          </a:xfrm>
          <a:prstGeom prst="rect">
            <a:avLst/>
          </a:prstGeom>
          <a:noFill/>
          <a:ln>
            <a:noFill/>
          </a:ln>
        </p:spPr>
      </p:pic>
    </p:spTree>
    <p:extLst>
      <p:ext uri="{BB962C8B-B14F-4D97-AF65-F5344CB8AC3E}">
        <p14:creationId xmlns:p14="http://schemas.microsoft.com/office/powerpoint/2010/main" val="420644430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p:cNvSpPr/>
          <p:nvPr/>
        </p:nvSpPr>
        <p:spPr>
          <a:xfrm>
            <a:off x="440868" y="547007"/>
            <a:ext cx="8088766" cy="1036864"/>
          </a:xfrm>
          <a:prstGeom prst="round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 name="Title 1">
            <a:extLst>
              <a:ext uri="{FF2B5EF4-FFF2-40B4-BE49-F238E27FC236}">
                <a16:creationId xmlns:a16="http://schemas.microsoft.com/office/drawing/2014/main" xmlns="" id="{4D283D38-AA42-5B2E-ADF4-45F3F0B201FF}"/>
              </a:ext>
            </a:extLst>
          </p:cNvPr>
          <p:cNvSpPr>
            <a:spLocks noGrp="1"/>
          </p:cNvSpPr>
          <p:nvPr>
            <p:ph type="title"/>
          </p:nvPr>
        </p:nvSpPr>
        <p:spPr>
          <a:xfrm>
            <a:off x="642938" y="481694"/>
            <a:ext cx="7886700" cy="1120775"/>
          </a:xfrm>
        </p:spPr>
        <p:txBody>
          <a:bodyPr/>
          <a:lstStyle/>
          <a:p>
            <a:pPr algn="ctr"/>
            <a:r>
              <a:rPr lang="en-US" sz="4800" dirty="0"/>
              <a:t>TOKENIZATION</a:t>
            </a:r>
            <a:endParaRPr lang="en-IN" sz="3600" dirty="0">
              <a:solidFill>
                <a:schemeClr val="bg1"/>
              </a:solidFill>
              <a:latin typeface="Lucida Sans" pitchFamily="34" charset="0"/>
            </a:endParaRPr>
          </a:p>
        </p:txBody>
      </p:sp>
      <p:sp>
        <p:nvSpPr>
          <p:cNvPr id="3" name="Content Placeholder 2">
            <a:extLst>
              <a:ext uri="{FF2B5EF4-FFF2-40B4-BE49-F238E27FC236}">
                <a16:creationId xmlns:a16="http://schemas.microsoft.com/office/drawing/2014/main" xmlns="" id="{F683723B-F119-4302-BF18-666FE5899D10}"/>
              </a:ext>
            </a:extLst>
          </p:cNvPr>
          <p:cNvSpPr>
            <a:spLocks noGrp="1"/>
          </p:cNvSpPr>
          <p:nvPr>
            <p:ph idx="1"/>
          </p:nvPr>
        </p:nvSpPr>
        <p:spPr>
          <a:xfrm>
            <a:off x="471488" y="2841522"/>
            <a:ext cx="8229600" cy="1730478"/>
          </a:xfrm>
        </p:spPr>
        <p:txBody>
          <a:bodyPr>
            <a:normAutofit fontScale="85000" lnSpcReduction="10000"/>
          </a:bodyPr>
          <a:lstStyle/>
          <a:p>
            <a:pPr marL="0" indent="0">
              <a:buNone/>
            </a:pPr>
            <a:endParaRPr lang="en-US" sz="2400" dirty="0"/>
          </a:p>
          <a:p>
            <a:pPr marL="457200" indent="-457200">
              <a:lnSpc>
                <a:spcPct val="150000"/>
              </a:lnSpc>
              <a:buFont typeface="Arial" panose="020B0604020202020204" pitchFamily="34" charset="0"/>
              <a:buChar char="•"/>
            </a:pPr>
            <a:r>
              <a:rPr lang="en-IN" sz="1400" dirty="0">
                <a:effectLst/>
                <a:latin typeface="+mj-lt"/>
                <a:ea typeface="Calibri" panose="020F0502020204030204" pitchFamily="34" charset="0"/>
                <a:cs typeface="Calibri" panose="020F0502020204030204" pitchFamily="34" charset="0"/>
              </a:rPr>
              <a:t>Tokenization is the process of replacing sensitive data with non-sensitive placeholders called tokens.</a:t>
            </a:r>
            <a:endParaRPr lang="en-US" sz="1400" dirty="0">
              <a:latin typeface="+mj-lt"/>
              <a:ea typeface="Calibri" panose="020F0502020204030204" pitchFamily="34" charset="0"/>
              <a:cs typeface="Calibri" panose="020F0502020204030204" pitchFamily="34" charset="0"/>
            </a:endParaRPr>
          </a:p>
          <a:p>
            <a:pPr marL="457200" indent="-457200">
              <a:lnSpc>
                <a:spcPct val="150000"/>
              </a:lnSpc>
              <a:buFont typeface="Arial" panose="020B0604020202020204" pitchFamily="34" charset="0"/>
              <a:buChar char="•"/>
            </a:pPr>
            <a:r>
              <a:rPr lang="en-US" sz="1400" dirty="0">
                <a:latin typeface="+mj-lt"/>
                <a:ea typeface="Calibri" panose="020F0502020204030204" pitchFamily="34" charset="0"/>
                <a:cs typeface="Calibri" panose="020F0502020204030204" pitchFamily="34" charset="0"/>
              </a:rPr>
              <a:t>Token is a unique identifier that substitutes sensitive information, such as a credit card number or personal account number. The token itself is a string of characters that has no inherent value.</a:t>
            </a:r>
            <a:endParaRPr lang="en-US" sz="2000" dirty="0"/>
          </a:p>
          <a:p>
            <a:pPr marL="0" indent="0" algn="just">
              <a:buNone/>
            </a:pPr>
            <a:endParaRPr lang="en-US" sz="2000" dirty="0"/>
          </a:p>
          <a:p>
            <a:pPr marL="0" indent="0" algn="just">
              <a:buNone/>
            </a:pPr>
            <a:endParaRPr lang="en-US" sz="2000" dirty="0"/>
          </a:p>
          <a:p>
            <a:pPr marL="0" indent="0" algn="just">
              <a:buNone/>
            </a:pPr>
            <a:endParaRPr lang="en-US" sz="2000" dirty="0"/>
          </a:p>
        </p:txBody>
      </p:sp>
      <p:pic>
        <p:nvPicPr>
          <p:cNvPr id="7" name="Google Shape;23;p3"/>
          <p:cNvPicPr preferRelativeResize="0"/>
          <p:nvPr/>
        </p:nvPicPr>
        <p:blipFill rotWithShape="1">
          <a:blip r:embed="rId2">
            <a:alphaModFix/>
          </a:blip>
          <a:srcRect/>
          <a:stretch/>
        </p:blipFill>
        <p:spPr>
          <a:xfrm>
            <a:off x="7775848" y="118105"/>
            <a:ext cx="1220840" cy="321479"/>
          </a:xfrm>
          <a:prstGeom prst="rect">
            <a:avLst/>
          </a:prstGeom>
          <a:noFill/>
          <a:ln>
            <a:noFill/>
          </a:ln>
        </p:spPr>
      </p:pic>
      <p:sp>
        <p:nvSpPr>
          <p:cNvPr id="8" name="Rounded Rectangle 10">
            <a:extLst>
              <a:ext uri="{FF2B5EF4-FFF2-40B4-BE49-F238E27FC236}">
                <a16:creationId xmlns:a16="http://schemas.microsoft.com/office/drawing/2014/main" xmlns="" id="{86689FA1-F07D-5ED1-9F88-0624F769F4A1}"/>
              </a:ext>
            </a:extLst>
          </p:cNvPr>
          <p:cNvSpPr/>
          <p:nvPr/>
        </p:nvSpPr>
        <p:spPr>
          <a:xfrm>
            <a:off x="440868" y="2010094"/>
            <a:ext cx="2929139" cy="73950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indent="0" algn="ctr">
              <a:buNone/>
            </a:pPr>
            <a:r>
              <a:rPr lang="en-IN" sz="1600" dirty="0"/>
              <a:t>WHAT IS A TOKENIZATION:</a:t>
            </a:r>
          </a:p>
        </p:txBody>
      </p:sp>
    </p:spTree>
    <p:extLst>
      <p:ext uri="{BB962C8B-B14F-4D97-AF65-F5344CB8AC3E}">
        <p14:creationId xmlns:p14="http://schemas.microsoft.com/office/powerpoint/2010/main" val="49780450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ounded Rectangle 4"/>
          <p:cNvSpPr/>
          <p:nvPr/>
        </p:nvSpPr>
        <p:spPr>
          <a:xfrm>
            <a:off x="1396092" y="563336"/>
            <a:ext cx="6662059" cy="65748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3" name="Content Placeholder 2">
            <a:extLst>
              <a:ext uri="{FF2B5EF4-FFF2-40B4-BE49-F238E27FC236}">
                <a16:creationId xmlns:a16="http://schemas.microsoft.com/office/drawing/2014/main" xmlns="" id="{E0B1996F-AEDE-ACD3-7F69-17F9384B7ADE}"/>
              </a:ext>
            </a:extLst>
          </p:cNvPr>
          <p:cNvSpPr>
            <a:spLocks noGrp="1"/>
          </p:cNvSpPr>
          <p:nvPr>
            <p:ph idx="1"/>
          </p:nvPr>
        </p:nvSpPr>
        <p:spPr>
          <a:xfrm>
            <a:off x="263297" y="1389705"/>
            <a:ext cx="8743950" cy="390013"/>
          </a:xfrm>
        </p:spPr>
        <p:txBody>
          <a:bodyPr>
            <a:normAutofit/>
          </a:bodyPr>
          <a:lstStyle/>
          <a:p>
            <a:pPr marL="0" indent="0" algn="just">
              <a:buNone/>
            </a:pPr>
            <a:r>
              <a:rPr lang="en-US" sz="1400" dirty="0">
                <a:latin typeface="+mj-lt"/>
                <a:ea typeface="Asar"/>
                <a:cs typeface="Asar"/>
                <a:sym typeface="Asar"/>
              </a:rPr>
              <a:t>The key characteristics of a token as follows</a:t>
            </a:r>
            <a:endParaRPr lang="en-US" sz="1400" b="1" dirty="0">
              <a:latin typeface="+mj-lt"/>
            </a:endParaRPr>
          </a:p>
        </p:txBody>
      </p:sp>
      <p:sp>
        <p:nvSpPr>
          <p:cNvPr id="2" name="Title 1">
            <a:extLst>
              <a:ext uri="{FF2B5EF4-FFF2-40B4-BE49-F238E27FC236}">
                <a16:creationId xmlns:a16="http://schemas.microsoft.com/office/drawing/2014/main" xmlns="" id="{0DD74D89-5CAD-A69A-BE6A-8ED003A5DE30}"/>
              </a:ext>
            </a:extLst>
          </p:cNvPr>
          <p:cNvSpPr>
            <a:spLocks noGrp="1"/>
          </p:cNvSpPr>
          <p:nvPr>
            <p:ph type="title"/>
          </p:nvPr>
        </p:nvSpPr>
        <p:spPr>
          <a:xfrm>
            <a:off x="1396091" y="501822"/>
            <a:ext cx="6962091" cy="783774"/>
          </a:xfrm>
        </p:spPr>
        <p:txBody>
          <a:bodyPr>
            <a:normAutofit/>
          </a:bodyPr>
          <a:lstStyle/>
          <a:p>
            <a:pPr algn="ctr">
              <a:lnSpc>
                <a:spcPct val="125000"/>
              </a:lnSpc>
              <a:buClr>
                <a:srgbClr val="F5F0F0"/>
              </a:buClr>
              <a:buSzPts val="4860"/>
            </a:pPr>
            <a:r>
              <a:rPr lang="en-US" sz="3200" dirty="0"/>
              <a:t>Key Characteristics of a Token</a:t>
            </a:r>
            <a:endParaRPr lang="en-US" sz="3200" dirty="0">
              <a:solidFill>
                <a:schemeClr val="tx1"/>
              </a:solidFill>
              <a:ea typeface="Calibri"/>
              <a:cs typeface="Calibri"/>
              <a:sym typeface="Calibri"/>
            </a:endParaRPr>
          </a:p>
        </p:txBody>
      </p:sp>
      <p:sp>
        <p:nvSpPr>
          <p:cNvPr id="10" name="Rounded Rectangle 9"/>
          <p:cNvSpPr/>
          <p:nvPr/>
        </p:nvSpPr>
        <p:spPr>
          <a:xfrm>
            <a:off x="263297" y="2822234"/>
            <a:ext cx="1957388" cy="79138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latin typeface="+mj-lt"/>
                <a:ea typeface="Calibri" panose="020F0502020204030204" pitchFamily="34" charset="0"/>
                <a:cs typeface="Calibri" panose="020F0502020204030204" pitchFamily="34" charset="0"/>
              </a:rPr>
              <a:t>Non-reversible</a:t>
            </a:r>
            <a:endParaRPr lang="en-IN" sz="1600" dirty="0">
              <a:latin typeface="+mj-lt"/>
            </a:endParaRPr>
          </a:p>
        </p:txBody>
      </p:sp>
      <p:sp>
        <p:nvSpPr>
          <p:cNvPr id="11" name="Rounded Rectangle 10"/>
          <p:cNvSpPr/>
          <p:nvPr/>
        </p:nvSpPr>
        <p:spPr>
          <a:xfrm>
            <a:off x="263298" y="1884224"/>
            <a:ext cx="1957388" cy="73950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rgbClr val="E2E6E9"/>
              </a:buClr>
              <a:buSzPts val="2430"/>
            </a:pPr>
            <a:r>
              <a:rPr lang="en-US" sz="1600" b="1" dirty="0">
                <a:latin typeface="+mj-lt"/>
                <a:ea typeface="Calibri" panose="020F0502020204030204" pitchFamily="34" charset="0"/>
                <a:cs typeface="Calibri" panose="020F0502020204030204" pitchFamily="34" charset="0"/>
              </a:rPr>
              <a:t>Randomly Generated</a:t>
            </a:r>
            <a:endParaRPr lang="en-US" sz="1600" b="1" dirty="0">
              <a:solidFill>
                <a:schemeClr val="dk1"/>
              </a:solidFill>
              <a:latin typeface="+mj-lt"/>
              <a:ea typeface="Calibri"/>
              <a:cs typeface="Calibri"/>
              <a:sym typeface="Calibri"/>
            </a:endParaRPr>
          </a:p>
        </p:txBody>
      </p:sp>
      <p:sp>
        <p:nvSpPr>
          <p:cNvPr id="12" name="Rounded Rectangle 11"/>
          <p:cNvSpPr/>
          <p:nvPr/>
        </p:nvSpPr>
        <p:spPr>
          <a:xfrm>
            <a:off x="263297" y="3813724"/>
            <a:ext cx="1957388" cy="86508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latin typeface="+mj-lt"/>
                <a:ea typeface="Calibri" panose="020F0502020204030204" pitchFamily="34" charset="0"/>
                <a:cs typeface="Calibri" panose="020F0502020204030204" pitchFamily="34" charset="0"/>
              </a:rPr>
              <a:t>Unique</a:t>
            </a:r>
            <a:endParaRPr lang="en-IN" sz="1600" dirty="0">
              <a:latin typeface="+mj-lt"/>
            </a:endParaRPr>
          </a:p>
        </p:txBody>
      </p:sp>
      <p:sp>
        <p:nvSpPr>
          <p:cNvPr id="13" name="Rounded Rectangle 12"/>
          <p:cNvSpPr/>
          <p:nvPr/>
        </p:nvSpPr>
        <p:spPr>
          <a:xfrm>
            <a:off x="263297" y="4908167"/>
            <a:ext cx="1957388" cy="85847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latin typeface="+mj-lt"/>
                <a:ea typeface="Calibri" panose="020F0502020204030204" pitchFamily="34" charset="0"/>
                <a:cs typeface="Calibri" panose="020F0502020204030204" pitchFamily="34" charset="0"/>
              </a:rPr>
              <a:t>Usage Limitation</a:t>
            </a:r>
            <a:endParaRPr lang="en-IN" sz="1600" dirty="0">
              <a:latin typeface="+mj-lt"/>
            </a:endParaRPr>
          </a:p>
        </p:txBody>
      </p:sp>
      <p:sp>
        <p:nvSpPr>
          <p:cNvPr id="15" name="TextBox 14"/>
          <p:cNvSpPr txBox="1"/>
          <p:nvPr/>
        </p:nvSpPr>
        <p:spPr>
          <a:xfrm>
            <a:off x="2498528" y="1967364"/>
            <a:ext cx="6410934" cy="523220"/>
          </a:xfrm>
          <a:prstGeom prst="rect">
            <a:avLst/>
          </a:prstGeom>
          <a:noFill/>
        </p:spPr>
        <p:txBody>
          <a:bodyPr wrap="square" rtlCol="0">
            <a:spAutoFit/>
          </a:bodyPr>
          <a:lstStyle/>
          <a:p>
            <a:pPr>
              <a:buClr>
                <a:srgbClr val="E2E6E9"/>
              </a:buClr>
              <a:buSzPts val="1944"/>
            </a:pPr>
            <a:r>
              <a:rPr lang="en-US" sz="1400" dirty="0">
                <a:latin typeface="+mj-lt"/>
                <a:ea typeface="Calibri" panose="020F0502020204030204" pitchFamily="34" charset="0"/>
                <a:cs typeface="Calibri" panose="020F0502020204030204" pitchFamily="34" charset="0"/>
              </a:rPr>
              <a:t>Tokens are usually generated in a random or pseudo-random manner, ensuring they don't follow a predictable pattern.</a:t>
            </a:r>
            <a:endParaRPr lang="en-US" sz="1400" dirty="0">
              <a:latin typeface="+mj-lt"/>
              <a:ea typeface="Calibri"/>
              <a:cs typeface="Calibri"/>
              <a:sym typeface="Calibri"/>
            </a:endParaRPr>
          </a:p>
        </p:txBody>
      </p:sp>
      <p:sp>
        <p:nvSpPr>
          <p:cNvPr id="16" name="TextBox 15"/>
          <p:cNvSpPr txBox="1"/>
          <p:nvPr/>
        </p:nvSpPr>
        <p:spPr>
          <a:xfrm>
            <a:off x="2499821" y="2848593"/>
            <a:ext cx="6598864" cy="738664"/>
          </a:xfrm>
          <a:prstGeom prst="rect">
            <a:avLst/>
          </a:prstGeom>
          <a:noFill/>
        </p:spPr>
        <p:txBody>
          <a:bodyPr wrap="square" rtlCol="0">
            <a:spAutoFit/>
          </a:bodyPr>
          <a:lstStyle/>
          <a:p>
            <a:pPr algn="just">
              <a:buClr>
                <a:srgbClr val="E2E6E9"/>
              </a:buClr>
              <a:buSzPts val="1944"/>
            </a:pPr>
            <a:r>
              <a:rPr lang="en-US" sz="1400" dirty="0">
                <a:latin typeface="+mj-lt"/>
                <a:ea typeface="Calibri" panose="020F0502020204030204" pitchFamily="34" charset="0"/>
                <a:cs typeface="Calibri" panose="020F0502020204030204" pitchFamily="34" charset="0"/>
              </a:rPr>
              <a:t>A token cannot be converted back into the original data without access to the secure "token vault" where the mapping between the token and the original data is stored.</a:t>
            </a:r>
            <a:endParaRPr lang="en-US" sz="1400" dirty="0">
              <a:latin typeface="+mj-lt"/>
              <a:ea typeface="Calibri"/>
              <a:cs typeface="Calibri"/>
              <a:sym typeface="Calibri"/>
            </a:endParaRPr>
          </a:p>
        </p:txBody>
      </p:sp>
      <p:sp>
        <p:nvSpPr>
          <p:cNvPr id="17" name="TextBox 16"/>
          <p:cNvSpPr txBox="1"/>
          <p:nvPr/>
        </p:nvSpPr>
        <p:spPr>
          <a:xfrm>
            <a:off x="2505902" y="4908167"/>
            <a:ext cx="6403560" cy="738664"/>
          </a:xfrm>
          <a:prstGeom prst="rect">
            <a:avLst/>
          </a:prstGeom>
          <a:noFill/>
        </p:spPr>
        <p:txBody>
          <a:bodyPr wrap="square" rtlCol="0">
            <a:spAutoFit/>
          </a:bodyPr>
          <a:lstStyle/>
          <a:p>
            <a:pPr algn="just">
              <a:buClr>
                <a:srgbClr val="E2E6E9"/>
              </a:buClr>
              <a:buSzPts val="1944"/>
            </a:pPr>
            <a:r>
              <a:rPr lang="en-US" sz="1400" dirty="0">
                <a:latin typeface="+mj-lt"/>
                <a:ea typeface="Calibri" panose="020F0502020204030204" pitchFamily="34" charset="0"/>
                <a:cs typeface="Calibri" panose="020F0502020204030204" pitchFamily="34" charset="0"/>
              </a:rPr>
              <a:t>Tokens are often limited in scope, meaning they can only be used in the context for which they were generated (e.g., for a single transaction or with a specific merchant).</a:t>
            </a:r>
            <a:endParaRPr lang="en-US" sz="1400" dirty="0">
              <a:latin typeface="+mj-lt"/>
              <a:ea typeface="Calibri"/>
              <a:cs typeface="Calibri"/>
              <a:sym typeface="Calibri"/>
            </a:endParaRPr>
          </a:p>
        </p:txBody>
      </p:sp>
      <p:sp>
        <p:nvSpPr>
          <p:cNvPr id="18" name="TextBox 17"/>
          <p:cNvSpPr txBox="1"/>
          <p:nvPr/>
        </p:nvSpPr>
        <p:spPr>
          <a:xfrm rot="10800000" flipV="1">
            <a:off x="2003772" y="3984654"/>
            <a:ext cx="6905689" cy="523220"/>
          </a:xfrm>
          <a:prstGeom prst="rect">
            <a:avLst/>
          </a:prstGeom>
          <a:noFill/>
        </p:spPr>
        <p:txBody>
          <a:bodyPr wrap="square" rtlCol="0">
            <a:spAutoFit/>
          </a:bodyPr>
          <a:lstStyle/>
          <a:p>
            <a:pPr lvl="1" algn="just"/>
            <a:r>
              <a:rPr lang="en-US" sz="1400" dirty="0">
                <a:latin typeface="+mj-lt"/>
                <a:ea typeface="Calibri" panose="020F0502020204030204" pitchFamily="34" charset="0"/>
                <a:cs typeface="Calibri" panose="020F0502020204030204" pitchFamily="34" charset="0"/>
              </a:rPr>
              <a:t>Each token is typically unique to a specific transaction or a specific piece of sensitive data, reducing the risk of misuse</a:t>
            </a:r>
            <a:endParaRPr lang="en-US" sz="1400" dirty="0">
              <a:latin typeface="+mj-lt"/>
            </a:endParaRPr>
          </a:p>
        </p:txBody>
      </p:sp>
      <p:pic>
        <p:nvPicPr>
          <p:cNvPr id="21" name="Google Shape;23;p3"/>
          <p:cNvPicPr preferRelativeResize="0"/>
          <p:nvPr/>
        </p:nvPicPr>
        <p:blipFill rotWithShape="1">
          <a:blip r:embed="rId2">
            <a:alphaModFix/>
          </a:blip>
          <a:srcRect/>
          <a:stretch/>
        </p:blipFill>
        <p:spPr>
          <a:xfrm>
            <a:off x="7847791" y="241857"/>
            <a:ext cx="1220840" cy="321479"/>
          </a:xfrm>
          <a:prstGeom prst="rect">
            <a:avLst/>
          </a:prstGeom>
          <a:noFill/>
          <a:ln>
            <a:noFill/>
          </a:ln>
        </p:spPr>
      </p:pic>
    </p:spTree>
    <p:extLst>
      <p:ext uri="{BB962C8B-B14F-4D97-AF65-F5344CB8AC3E}">
        <p14:creationId xmlns:p14="http://schemas.microsoft.com/office/powerpoint/2010/main" val="357871705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p:cNvSpPr/>
          <p:nvPr/>
        </p:nvSpPr>
        <p:spPr>
          <a:xfrm>
            <a:off x="440868" y="547007"/>
            <a:ext cx="8088766" cy="85148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 name="Title 1">
            <a:extLst>
              <a:ext uri="{FF2B5EF4-FFF2-40B4-BE49-F238E27FC236}">
                <a16:creationId xmlns:a16="http://schemas.microsoft.com/office/drawing/2014/main" xmlns="" id="{4D283D38-AA42-5B2E-ADF4-45F3F0B201FF}"/>
              </a:ext>
            </a:extLst>
          </p:cNvPr>
          <p:cNvSpPr>
            <a:spLocks noGrp="1"/>
          </p:cNvSpPr>
          <p:nvPr>
            <p:ph type="title"/>
          </p:nvPr>
        </p:nvSpPr>
        <p:spPr>
          <a:xfrm>
            <a:off x="456177" y="532105"/>
            <a:ext cx="7886700" cy="902408"/>
          </a:xfrm>
        </p:spPr>
        <p:txBody>
          <a:bodyPr>
            <a:normAutofit/>
          </a:bodyPr>
          <a:lstStyle/>
          <a:p>
            <a:pPr algn="ctr"/>
            <a:r>
              <a:rPr lang="en-US" sz="2400" dirty="0">
                <a:ea typeface="Calibri" panose="020F0502020204030204" pitchFamily="34" charset="0"/>
                <a:cs typeface="Calibri" panose="020F0502020204030204" pitchFamily="34" charset="0"/>
              </a:rPr>
              <a:t>ADVANTAGES AND DISADVANTAGES OF TOKENIZATION</a:t>
            </a:r>
            <a:endParaRPr lang="en-IN" sz="2400" dirty="0">
              <a:solidFill>
                <a:schemeClr val="bg1"/>
              </a:solidFill>
            </a:endParaRPr>
          </a:p>
        </p:txBody>
      </p:sp>
      <p:sp>
        <p:nvSpPr>
          <p:cNvPr id="5" name="Rectangle 4"/>
          <p:cNvSpPr/>
          <p:nvPr/>
        </p:nvSpPr>
        <p:spPr>
          <a:xfrm>
            <a:off x="440868" y="1628800"/>
            <a:ext cx="3339044" cy="379646"/>
          </a:xfrm>
          <a:prstGeom prst="rect">
            <a:avLst/>
          </a:prstGeom>
          <a:solidFill>
            <a:srgbClr val="00CC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latin typeface="+mj-lt"/>
                <a:ea typeface="Calibri" panose="020F0502020204030204" pitchFamily="34" charset="0"/>
                <a:cs typeface="Calibri" panose="020F0502020204030204" pitchFamily="34" charset="0"/>
              </a:rPr>
              <a:t>ADVANTAGES</a:t>
            </a:r>
            <a:endParaRPr lang="en-IN" sz="1600" dirty="0">
              <a:latin typeface="+mj-lt"/>
            </a:endParaRPr>
          </a:p>
        </p:txBody>
      </p:sp>
      <p:pic>
        <p:nvPicPr>
          <p:cNvPr id="7" name="Google Shape;23;p3"/>
          <p:cNvPicPr preferRelativeResize="0"/>
          <p:nvPr/>
        </p:nvPicPr>
        <p:blipFill rotWithShape="1">
          <a:blip r:embed="rId2">
            <a:alphaModFix/>
          </a:blip>
          <a:srcRect/>
          <a:stretch/>
        </p:blipFill>
        <p:spPr>
          <a:xfrm>
            <a:off x="7775848" y="118105"/>
            <a:ext cx="1220840" cy="321479"/>
          </a:xfrm>
          <a:prstGeom prst="rect">
            <a:avLst/>
          </a:prstGeom>
          <a:noFill/>
          <a:ln>
            <a:noFill/>
          </a:ln>
        </p:spPr>
      </p:pic>
      <p:sp>
        <p:nvSpPr>
          <p:cNvPr id="11" name="Rounded Rectangle 10"/>
          <p:cNvSpPr/>
          <p:nvPr/>
        </p:nvSpPr>
        <p:spPr>
          <a:xfrm>
            <a:off x="441378" y="2207720"/>
            <a:ext cx="1957388" cy="657301"/>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latin typeface="+mj-lt"/>
                <a:ea typeface="Calibri" panose="020F0502020204030204" pitchFamily="34" charset="0"/>
                <a:cs typeface="Calibri" panose="020F0502020204030204" pitchFamily="34" charset="0"/>
              </a:rPr>
              <a:t>ENHANCED SECURITY</a:t>
            </a:r>
            <a:endParaRPr lang="en-IN" sz="1400" dirty="0">
              <a:latin typeface="+mj-lt"/>
            </a:endParaRPr>
          </a:p>
        </p:txBody>
      </p:sp>
      <p:sp>
        <p:nvSpPr>
          <p:cNvPr id="12" name="Rounded Rectangle 11"/>
          <p:cNvSpPr/>
          <p:nvPr/>
        </p:nvSpPr>
        <p:spPr>
          <a:xfrm>
            <a:off x="440868" y="3000777"/>
            <a:ext cx="1957388" cy="62139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latin typeface="+mj-lt"/>
                <a:ea typeface="Calibri" panose="020F0502020204030204" pitchFamily="34" charset="0"/>
                <a:cs typeface="Calibri" panose="020F0502020204030204" pitchFamily="34" charset="0"/>
              </a:rPr>
              <a:t>REDUCED PCI DSS SCOPE</a:t>
            </a:r>
            <a:endParaRPr lang="en-IN" sz="1400" dirty="0">
              <a:latin typeface="+mj-lt"/>
            </a:endParaRPr>
          </a:p>
        </p:txBody>
      </p:sp>
      <p:sp>
        <p:nvSpPr>
          <p:cNvPr id="13" name="Rounded Rectangle 12"/>
          <p:cNvSpPr/>
          <p:nvPr/>
        </p:nvSpPr>
        <p:spPr>
          <a:xfrm>
            <a:off x="466722" y="3747945"/>
            <a:ext cx="1957388" cy="65235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latin typeface="+mj-lt"/>
                <a:ea typeface="Calibri" panose="020F0502020204030204" pitchFamily="34" charset="0"/>
                <a:cs typeface="Calibri" panose="020F0502020204030204" pitchFamily="34" charset="0"/>
              </a:rPr>
              <a:t>FRAUD PREVENTION</a:t>
            </a:r>
            <a:endParaRPr lang="en-IN" sz="1400" dirty="0">
              <a:latin typeface="+mj-lt"/>
            </a:endParaRPr>
          </a:p>
        </p:txBody>
      </p:sp>
      <p:sp>
        <p:nvSpPr>
          <p:cNvPr id="14" name="TextBox 13"/>
          <p:cNvSpPr txBox="1"/>
          <p:nvPr/>
        </p:nvSpPr>
        <p:spPr>
          <a:xfrm>
            <a:off x="2580343" y="2218690"/>
            <a:ext cx="6410934" cy="646331"/>
          </a:xfrm>
          <a:prstGeom prst="rect">
            <a:avLst/>
          </a:prstGeom>
          <a:noFill/>
        </p:spPr>
        <p:txBody>
          <a:bodyPr wrap="square" rtlCol="0">
            <a:spAutoFit/>
          </a:bodyPr>
          <a:lstStyle/>
          <a:p>
            <a:r>
              <a:rPr lang="en-US" sz="1200" dirty="0">
                <a:latin typeface="+mj-lt"/>
                <a:ea typeface="Calibri" panose="020F0502020204030204" pitchFamily="34" charset="0"/>
                <a:cs typeface="Calibri" panose="020F0502020204030204" pitchFamily="34" charset="0"/>
              </a:rPr>
              <a:t>Tokenization reduces the risk of sensitive data exposure because tokens are meaningless to unauthorized users and can only mapped back to the original data by the tokenization system.</a:t>
            </a:r>
          </a:p>
        </p:txBody>
      </p:sp>
      <p:sp>
        <p:nvSpPr>
          <p:cNvPr id="15" name="TextBox 14"/>
          <p:cNvSpPr txBox="1"/>
          <p:nvPr/>
        </p:nvSpPr>
        <p:spPr>
          <a:xfrm>
            <a:off x="2599502" y="3812511"/>
            <a:ext cx="6032150" cy="461665"/>
          </a:xfrm>
          <a:prstGeom prst="rect">
            <a:avLst/>
          </a:prstGeom>
          <a:noFill/>
        </p:spPr>
        <p:txBody>
          <a:bodyPr wrap="square" rtlCol="0">
            <a:spAutoFit/>
          </a:bodyPr>
          <a:lstStyle/>
          <a:p>
            <a:r>
              <a:rPr lang="en-US" sz="1200" dirty="0">
                <a:latin typeface="+mj-lt"/>
                <a:ea typeface="Calibri" panose="020F0502020204030204" pitchFamily="34" charset="0"/>
                <a:cs typeface="Calibri" panose="020F0502020204030204" pitchFamily="34" charset="0"/>
              </a:rPr>
              <a:t>Tokens are useless if intercepted during transactions or stored improperly, reducing the incentive for cybercriminals to target such data.</a:t>
            </a:r>
          </a:p>
        </p:txBody>
      </p:sp>
      <p:sp>
        <p:nvSpPr>
          <p:cNvPr id="17" name="TextBox 16"/>
          <p:cNvSpPr txBox="1"/>
          <p:nvPr/>
        </p:nvSpPr>
        <p:spPr>
          <a:xfrm>
            <a:off x="2584067" y="3000777"/>
            <a:ext cx="6410934" cy="646331"/>
          </a:xfrm>
          <a:prstGeom prst="rect">
            <a:avLst/>
          </a:prstGeom>
          <a:noFill/>
        </p:spPr>
        <p:txBody>
          <a:bodyPr wrap="square" rtlCol="0">
            <a:spAutoFit/>
          </a:bodyPr>
          <a:lstStyle/>
          <a:p>
            <a:r>
              <a:rPr lang="en-US" sz="1200" dirty="0">
                <a:latin typeface="+mj-lt"/>
                <a:ea typeface="Calibri" panose="020F0502020204030204" pitchFamily="34" charset="0"/>
                <a:cs typeface="Calibri" panose="020F0502020204030204" pitchFamily="34" charset="0"/>
              </a:rPr>
              <a:t>By replacing sensitive data with tokens, organizations can minimize the scope of PCI DSS (Payment Card Industry Data Security Standard) compliance audits and requirements.</a:t>
            </a:r>
          </a:p>
        </p:txBody>
      </p:sp>
      <p:sp>
        <p:nvSpPr>
          <p:cNvPr id="18" name="Rounded Rectangle 17"/>
          <p:cNvSpPr/>
          <p:nvPr/>
        </p:nvSpPr>
        <p:spPr>
          <a:xfrm>
            <a:off x="466722" y="4562362"/>
            <a:ext cx="1957388" cy="65235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latin typeface="+mj-lt"/>
                <a:ea typeface="Calibri" panose="020F0502020204030204" pitchFamily="34" charset="0"/>
                <a:cs typeface="Calibri" panose="020F0502020204030204" pitchFamily="34" charset="0"/>
              </a:rPr>
              <a:t>FACILITATES MOBILE PAYMENTS</a:t>
            </a:r>
            <a:endParaRPr lang="en-IN" sz="1400" dirty="0">
              <a:latin typeface="+mj-lt"/>
            </a:endParaRPr>
          </a:p>
        </p:txBody>
      </p:sp>
      <p:sp>
        <p:nvSpPr>
          <p:cNvPr id="19" name="Rounded Rectangle 18"/>
          <p:cNvSpPr/>
          <p:nvPr/>
        </p:nvSpPr>
        <p:spPr>
          <a:xfrm>
            <a:off x="459856" y="5397450"/>
            <a:ext cx="1957388" cy="65235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latin typeface="+mj-lt"/>
                <a:ea typeface="Calibri" panose="020F0502020204030204" pitchFamily="34" charset="0"/>
                <a:cs typeface="Calibri" panose="020F0502020204030204" pitchFamily="34" charset="0"/>
              </a:rPr>
              <a:t>EASE OF INTEGRATION</a:t>
            </a:r>
            <a:endParaRPr lang="en-IN" sz="1400" dirty="0">
              <a:latin typeface="+mj-lt"/>
            </a:endParaRPr>
          </a:p>
        </p:txBody>
      </p:sp>
      <p:sp>
        <p:nvSpPr>
          <p:cNvPr id="21" name="TextBox 20"/>
          <p:cNvSpPr txBox="1"/>
          <p:nvPr/>
        </p:nvSpPr>
        <p:spPr>
          <a:xfrm>
            <a:off x="2599502" y="4626927"/>
            <a:ext cx="6410934" cy="461665"/>
          </a:xfrm>
          <a:prstGeom prst="rect">
            <a:avLst/>
          </a:prstGeom>
          <a:noFill/>
        </p:spPr>
        <p:txBody>
          <a:bodyPr wrap="square" rtlCol="0">
            <a:spAutoFit/>
          </a:bodyPr>
          <a:lstStyle/>
          <a:p>
            <a:r>
              <a:rPr lang="en-US" sz="1200" dirty="0">
                <a:latin typeface="+mj-lt"/>
                <a:ea typeface="Calibri" panose="020F0502020204030204" pitchFamily="34" charset="0"/>
                <a:cs typeface="Calibri" panose="020F0502020204030204" pitchFamily="34" charset="0"/>
              </a:rPr>
              <a:t>Tokens can be used for secure mobile payments, enabling devices like smartphones to make payments without storing actual card details.</a:t>
            </a:r>
          </a:p>
        </p:txBody>
      </p:sp>
      <p:sp>
        <p:nvSpPr>
          <p:cNvPr id="22" name="TextBox 21"/>
          <p:cNvSpPr txBox="1"/>
          <p:nvPr/>
        </p:nvSpPr>
        <p:spPr>
          <a:xfrm>
            <a:off x="2617570" y="5412015"/>
            <a:ext cx="6410934" cy="461665"/>
          </a:xfrm>
          <a:prstGeom prst="rect">
            <a:avLst/>
          </a:prstGeom>
          <a:noFill/>
        </p:spPr>
        <p:txBody>
          <a:bodyPr wrap="square" rtlCol="0">
            <a:spAutoFit/>
          </a:bodyPr>
          <a:lstStyle/>
          <a:p>
            <a:r>
              <a:rPr lang="en-US" sz="1200" dirty="0">
                <a:latin typeface="+mj-lt"/>
                <a:ea typeface="Calibri" panose="020F0502020204030204" pitchFamily="34" charset="0"/>
                <a:cs typeface="Calibri" panose="020F0502020204030204" pitchFamily="34" charset="0"/>
              </a:rPr>
              <a:t>Tokenization Systems are designed to integrate with existing payment infrastructures relatively seamlessly, minimizing</a:t>
            </a:r>
          </a:p>
        </p:txBody>
      </p:sp>
    </p:spTree>
    <p:extLst>
      <p:ext uri="{BB962C8B-B14F-4D97-AF65-F5344CB8AC3E}">
        <p14:creationId xmlns:p14="http://schemas.microsoft.com/office/powerpoint/2010/main" val="21487767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p:cNvSpPr/>
          <p:nvPr/>
        </p:nvSpPr>
        <p:spPr>
          <a:xfrm>
            <a:off x="440868" y="547007"/>
            <a:ext cx="8088766" cy="85148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en-IN" dirty="0"/>
          </a:p>
        </p:txBody>
      </p:sp>
      <p:sp>
        <p:nvSpPr>
          <p:cNvPr id="2" name="Title 1">
            <a:extLst>
              <a:ext uri="{FF2B5EF4-FFF2-40B4-BE49-F238E27FC236}">
                <a16:creationId xmlns:a16="http://schemas.microsoft.com/office/drawing/2014/main" xmlns="" id="{4D283D38-AA42-5B2E-ADF4-45F3F0B201FF}"/>
              </a:ext>
            </a:extLst>
          </p:cNvPr>
          <p:cNvSpPr>
            <a:spLocks noGrp="1"/>
          </p:cNvSpPr>
          <p:nvPr>
            <p:ph type="title"/>
          </p:nvPr>
        </p:nvSpPr>
        <p:spPr>
          <a:xfrm>
            <a:off x="456177" y="532105"/>
            <a:ext cx="7886700" cy="902408"/>
          </a:xfrm>
        </p:spPr>
        <p:txBody>
          <a:bodyPr>
            <a:normAutofit fontScale="90000"/>
          </a:bodyPr>
          <a:lstStyle/>
          <a:p>
            <a:pPr algn="ctr"/>
            <a:r>
              <a:rPr lang="en-US" sz="3000" dirty="0">
                <a:ea typeface="Calibri" panose="020F0502020204030204" pitchFamily="34" charset="0"/>
                <a:cs typeface="Calibri" panose="020F0502020204030204" pitchFamily="34" charset="0"/>
              </a:rPr>
              <a:t>ADVANTAGES AND DISADVANTAGES OF TOKENIZATION</a:t>
            </a:r>
            <a:endParaRPr lang="en-IN" sz="3000" dirty="0">
              <a:solidFill>
                <a:schemeClr val="bg1"/>
              </a:solidFill>
            </a:endParaRPr>
          </a:p>
        </p:txBody>
      </p:sp>
      <p:sp>
        <p:nvSpPr>
          <p:cNvPr id="5" name="Rectangle 4"/>
          <p:cNvSpPr/>
          <p:nvPr/>
        </p:nvSpPr>
        <p:spPr>
          <a:xfrm>
            <a:off x="440868" y="1700808"/>
            <a:ext cx="3339044" cy="379646"/>
          </a:xfrm>
          <a:prstGeom prst="rect">
            <a:avLst/>
          </a:prstGeom>
          <a:solidFill>
            <a:srgbClr val="00CC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smtClean="0">
                <a:latin typeface="+mj-lt"/>
                <a:ea typeface="Calibri" panose="020F0502020204030204" pitchFamily="34" charset="0"/>
                <a:cs typeface="Calibri" panose="020F0502020204030204" pitchFamily="34" charset="0"/>
              </a:rPr>
              <a:t>DISADVANTAGES</a:t>
            </a:r>
            <a:endParaRPr lang="en-IN" sz="1600" dirty="0">
              <a:latin typeface="+mj-lt"/>
            </a:endParaRPr>
          </a:p>
        </p:txBody>
      </p:sp>
      <p:pic>
        <p:nvPicPr>
          <p:cNvPr id="7" name="Google Shape;23;p3"/>
          <p:cNvPicPr preferRelativeResize="0"/>
          <p:nvPr/>
        </p:nvPicPr>
        <p:blipFill rotWithShape="1">
          <a:blip r:embed="rId2">
            <a:alphaModFix/>
          </a:blip>
          <a:srcRect/>
          <a:stretch/>
        </p:blipFill>
        <p:spPr>
          <a:xfrm>
            <a:off x="7775848" y="118105"/>
            <a:ext cx="1220840" cy="321479"/>
          </a:xfrm>
          <a:prstGeom prst="rect">
            <a:avLst/>
          </a:prstGeom>
          <a:noFill/>
          <a:ln>
            <a:noFill/>
          </a:ln>
        </p:spPr>
      </p:pic>
      <p:sp>
        <p:nvSpPr>
          <p:cNvPr id="11" name="Rounded Rectangle 10"/>
          <p:cNvSpPr/>
          <p:nvPr/>
        </p:nvSpPr>
        <p:spPr>
          <a:xfrm>
            <a:off x="441378" y="2207720"/>
            <a:ext cx="1957388" cy="657301"/>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latin typeface="+mj-lt"/>
                <a:ea typeface="Calibri" panose="020F0502020204030204" pitchFamily="34" charset="0"/>
                <a:cs typeface="Calibri" panose="020F0502020204030204" pitchFamily="34" charset="0"/>
              </a:rPr>
              <a:t>IMPLEMENTATION COMPLEXITY</a:t>
            </a:r>
            <a:endParaRPr lang="en-IN" sz="1200" dirty="0">
              <a:latin typeface="+mj-lt"/>
            </a:endParaRPr>
          </a:p>
        </p:txBody>
      </p:sp>
      <p:sp>
        <p:nvSpPr>
          <p:cNvPr id="12" name="Rounded Rectangle 11"/>
          <p:cNvSpPr/>
          <p:nvPr/>
        </p:nvSpPr>
        <p:spPr>
          <a:xfrm>
            <a:off x="440868" y="3000777"/>
            <a:ext cx="1957898" cy="62139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latin typeface="+mj-lt"/>
                <a:ea typeface="Calibri" panose="020F0502020204030204" pitchFamily="34" charset="0"/>
                <a:cs typeface="Calibri" panose="020F0502020204030204" pitchFamily="34" charset="0"/>
              </a:rPr>
              <a:t>DEPENDANCY ON TOKENIZATION PROVIDERS</a:t>
            </a:r>
            <a:endParaRPr lang="en-IN" sz="1200" dirty="0">
              <a:latin typeface="+mj-lt"/>
            </a:endParaRPr>
          </a:p>
        </p:txBody>
      </p:sp>
      <p:sp>
        <p:nvSpPr>
          <p:cNvPr id="13" name="Rounded Rectangle 12"/>
          <p:cNvSpPr/>
          <p:nvPr/>
        </p:nvSpPr>
        <p:spPr>
          <a:xfrm>
            <a:off x="466722" y="3747945"/>
            <a:ext cx="1957388" cy="65235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latin typeface="+mj-lt"/>
                <a:ea typeface="Calibri" panose="020F0502020204030204" pitchFamily="34" charset="0"/>
                <a:cs typeface="Calibri" panose="020F0502020204030204" pitchFamily="34" charset="0"/>
              </a:rPr>
              <a:t>COST</a:t>
            </a:r>
            <a:endParaRPr lang="en-IN" sz="1200" dirty="0">
              <a:latin typeface="+mj-lt"/>
            </a:endParaRPr>
          </a:p>
        </p:txBody>
      </p:sp>
      <p:sp>
        <p:nvSpPr>
          <p:cNvPr id="14" name="TextBox 13"/>
          <p:cNvSpPr txBox="1"/>
          <p:nvPr/>
        </p:nvSpPr>
        <p:spPr>
          <a:xfrm>
            <a:off x="2585753" y="2316918"/>
            <a:ext cx="6410934" cy="461665"/>
          </a:xfrm>
          <a:prstGeom prst="rect">
            <a:avLst/>
          </a:prstGeom>
          <a:noFill/>
        </p:spPr>
        <p:txBody>
          <a:bodyPr wrap="square" rtlCol="0">
            <a:spAutoFit/>
          </a:bodyPr>
          <a:lstStyle/>
          <a:p>
            <a:pPr algn="just"/>
            <a:r>
              <a:rPr lang="en-US" sz="1200" dirty="0">
                <a:latin typeface="+mj-lt"/>
                <a:ea typeface="Calibri" panose="020F0502020204030204" pitchFamily="34" charset="0"/>
                <a:cs typeface="Calibri" panose="020F0502020204030204" pitchFamily="34" charset="0"/>
              </a:rPr>
              <a:t>Implementing tokenization systems can be complex and require significant initial setup and integration efforts.</a:t>
            </a:r>
          </a:p>
        </p:txBody>
      </p:sp>
      <p:sp>
        <p:nvSpPr>
          <p:cNvPr id="15" name="TextBox 14"/>
          <p:cNvSpPr txBox="1"/>
          <p:nvPr/>
        </p:nvSpPr>
        <p:spPr>
          <a:xfrm>
            <a:off x="2642397" y="3812511"/>
            <a:ext cx="6352604" cy="646331"/>
          </a:xfrm>
          <a:prstGeom prst="rect">
            <a:avLst/>
          </a:prstGeom>
          <a:noFill/>
        </p:spPr>
        <p:txBody>
          <a:bodyPr wrap="square" rtlCol="0">
            <a:spAutoFit/>
          </a:bodyPr>
          <a:lstStyle/>
          <a:p>
            <a:pPr algn="just"/>
            <a:r>
              <a:rPr lang="en-US" sz="1200" dirty="0">
                <a:latin typeface="+mj-lt"/>
                <a:ea typeface="Calibri" panose="020F0502020204030204" pitchFamily="34" charset="0"/>
                <a:cs typeface="Calibri" panose="020F0502020204030204" pitchFamily="34" charset="0"/>
              </a:rPr>
              <a:t>There are costs associated with implementing and maintaining tokenization systems, including fees for tokenization services and potential upgrades to existing systems</a:t>
            </a:r>
          </a:p>
        </p:txBody>
      </p:sp>
      <p:sp>
        <p:nvSpPr>
          <p:cNvPr id="17" name="TextBox 16"/>
          <p:cNvSpPr txBox="1"/>
          <p:nvPr/>
        </p:nvSpPr>
        <p:spPr>
          <a:xfrm>
            <a:off x="2584067" y="3000777"/>
            <a:ext cx="6410934" cy="461665"/>
          </a:xfrm>
          <a:prstGeom prst="rect">
            <a:avLst/>
          </a:prstGeom>
          <a:noFill/>
        </p:spPr>
        <p:txBody>
          <a:bodyPr wrap="square" rtlCol="0">
            <a:spAutoFit/>
          </a:bodyPr>
          <a:lstStyle/>
          <a:p>
            <a:pPr algn="just"/>
            <a:r>
              <a:rPr lang="en-US" sz="1200" dirty="0">
                <a:latin typeface="+mj-lt"/>
                <a:ea typeface="Calibri" panose="020F0502020204030204" pitchFamily="34" charset="0"/>
                <a:cs typeface="Calibri" panose="020F0502020204030204" pitchFamily="34" charset="0"/>
              </a:rPr>
              <a:t>Organizations using tokenization rely heavily on their tokenization service providers for security and system reliability.</a:t>
            </a:r>
          </a:p>
        </p:txBody>
      </p:sp>
      <p:sp>
        <p:nvSpPr>
          <p:cNvPr id="18" name="Rounded Rectangle 17"/>
          <p:cNvSpPr/>
          <p:nvPr/>
        </p:nvSpPr>
        <p:spPr>
          <a:xfrm>
            <a:off x="466722" y="4562362"/>
            <a:ext cx="1957388" cy="65235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latin typeface="+mj-lt"/>
                <a:ea typeface="Calibri" panose="020F0502020204030204" pitchFamily="34" charset="0"/>
                <a:cs typeface="Calibri" panose="020F0502020204030204" pitchFamily="34" charset="0"/>
              </a:rPr>
              <a:t>TOKEN MANAGEMENT</a:t>
            </a:r>
            <a:endParaRPr lang="en-IN" sz="1200" dirty="0">
              <a:latin typeface="+mj-lt"/>
            </a:endParaRPr>
          </a:p>
        </p:txBody>
      </p:sp>
      <p:sp>
        <p:nvSpPr>
          <p:cNvPr id="19" name="Rounded Rectangle 18"/>
          <p:cNvSpPr/>
          <p:nvPr/>
        </p:nvSpPr>
        <p:spPr>
          <a:xfrm>
            <a:off x="488238" y="5397449"/>
            <a:ext cx="1957388" cy="65235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latin typeface="+mj-lt"/>
                <a:ea typeface="Calibri" panose="020F0502020204030204" pitchFamily="34" charset="0"/>
                <a:cs typeface="Calibri" panose="020F0502020204030204" pitchFamily="34" charset="0"/>
              </a:rPr>
              <a:t>COMPATIBILITY ISSUES</a:t>
            </a:r>
            <a:endParaRPr lang="en-IN" sz="1200" dirty="0">
              <a:latin typeface="+mj-lt"/>
            </a:endParaRPr>
          </a:p>
        </p:txBody>
      </p:sp>
      <p:sp>
        <p:nvSpPr>
          <p:cNvPr id="21" name="TextBox 20"/>
          <p:cNvSpPr txBox="1"/>
          <p:nvPr/>
        </p:nvSpPr>
        <p:spPr>
          <a:xfrm>
            <a:off x="2642396" y="4626928"/>
            <a:ext cx="6410934" cy="461665"/>
          </a:xfrm>
          <a:prstGeom prst="rect">
            <a:avLst/>
          </a:prstGeom>
          <a:noFill/>
        </p:spPr>
        <p:txBody>
          <a:bodyPr wrap="square" rtlCol="0">
            <a:spAutoFit/>
          </a:bodyPr>
          <a:lstStyle/>
          <a:p>
            <a:pPr algn="just"/>
            <a:r>
              <a:rPr lang="en-US" sz="1200" dirty="0">
                <a:latin typeface="+mj-lt"/>
                <a:ea typeface="Calibri" panose="020F0502020204030204" pitchFamily="34" charset="0"/>
                <a:cs typeface="Calibri" panose="020F0502020204030204" pitchFamily="34" charset="0"/>
              </a:rPr>
              <a:t>Managing the lifecycle of tokens, including  creation, mapping, and eventual deactivation, require careful management and oversight.</a:t>
            </a:r>
          </a:p>
        </p:txBody>
      </p:sp>
      <p:sp>
        <p:nvSpPr>
          <p:cNvPr id="22" name="TextBox 21"/>
          <p:cNvSpPr txBox="1"/>
          <p:nvPr/>
        </p:nvSpPr>
        <p:spPr>
          <a:xfrm>
            <a:off x="2642396" y="5397449"/>
            <a:ext cx="6410934" cy="461665"/>
          </a:xfrm>
          <a:prstGeom prst="rect">
            <a:avLst/>
          </a:prstGeom>
          <a:noFill/>
        </p:spPr>
        <p:txBody>
          <a:bodyPr wrap="square" rtlCol="0">
            <a:spAutoFit/>
          </a:bodyPr>
          <a:lstStyle/>
          <a:p>
            <a:pPr algn="just"/>
            <a:r>
              <a:rPr lang="en-US" sz="1200" dirty="0">
                <a:latin typeface="+mj-lt"/>
                <a:ea typeface="Calibri" panose="020F0502020204030204" pitchFamily="34" charset="0"/>
                <a:cs typeface="Calibri" panose="020F0502020204030204" pitchFamily="34" charset="0"/>
              </a:rPr>
              <a:t>Ensuring compatibility across different payment systems, processors, and platforms can sometimes be a challenge, especially in complex </a:t>
            </a:r>
            <a:r>
              <a:rPr lang="en-US" sz="1200" dirty="0" smtClean="0">
                <a:latin typeface="+mj-lt"/>
                <a:ea typeface="Calibri" panose="020F0502020204030204" pitchFamily="34" charset="0"/>
                <a:cs typeface="Calibri" panose="020F0502020204030204" pitchFamily="34" charset="0"/>
              </a:rPr>
              <a:t>environment.</a:t>
            </a:r>
            <a:endParaRPr lang="en-US" sz="1200" dirty="0">
              <a:latin typeface="+mj-lt"/>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96044817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p:cNvSpPr/>
          <p:nvPr/>
        </p:nvSpPr>
        <p:spPr>
          <a:xfrm>
            <a:off x="440868" y="547007"/>
            <a:ext cx="8088766" cy="1036864"/>
          </a:xfrm>
          <a:prstGeom prst="round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 name="Title 1">
            <a:extLst>
              <a:ext uri="{FF2B5EF4-FFF2-40B4-BE49-F238E27FC236}">
                <a16:creationId xmlns:a16="http://schemas.microsoft.com/office/drawing/2014/main" xmlns="" id="{4D283D38-AA42-5B2E-ADF4-45F3F0B201FF}"/>
              </a:ext>
            </a:extLst>
          </p:cNvPr>
          <p:cNvSpPr>
            <a:spLocks noGrp="1"/>
          </p:cNvSpPr>
          <p:nvPr>
            <p:ph type="title"/>
          </p:nvPr>
        </p:nvSpPr>
        <p:spPr>
          <a:xfrm>
            <a:off x="642938" y="481694"/>
            <a:ext cx="7886700" cy="1120775"/>
          </a:xfrm>
        </p:spPr>
        <p:txBody>
          <a:bodyPr/>
          <a:lstStyle/>
          <a:p>
            <a:pPr algn="ctr"/>
            <a:r>
              <a:rPr lang="en-IN" sz="4800" dirty="0">
                <a:latin typeface="Calibri" panose="020F0502020204030204" pitchFamily="34" charset="0"/>
                <a:ea typeface="Calibri" panose="020F0502020204030204" pitchFamily="34" charset="0"/>
                <a:cs typeface="Calibri" panose="020F0502020204030204" pitchFamily="34" charset="0"/>
              </a:rPr>
              <a:t>How Visa Token Service works</a:t>
            </a:r>
            <a:endParaRPr lang="en-IN" sz="3600" dirty="0">
              <a:solidFill>
                <a:schemeClr val="bg1"/>
              </a:solidFill>
              <a:latin typeface="Lucida Sans" pitchFamily="34" charset="0"/>
            </a:endParaRPr>
          </a:p>
        </p:txBody>
      </p:sp>
      <p:sp>
        <p:nvSpPr>
          <p:cNvPr id="3" name="Content Placeholder 2">
            <a:extLst>
              <a:ext uri="{FF2B5EF4-FFF2-40B4-BE49-F238E27FC236}">
                <a16:creationId xmlns:a16="http://schemas.microsoft.com/office/drawing/2014/main" xmlns="" id="{F683723B-F119-4302-BF18-666FE5899D10}"/>
              </a:ext>
            </a:extLst>
          </p:cNvPr>
          <p:cNvSpPr>
            <a:spLocks noGrp="1"/>
          </p:cNvSpPr>
          <p:nvPr>
            <p:ph idx="1"/>
          </p:nvPr>
        </p:nvSpPr>
        <p:spPr>
          <a:xfrm>
            <a:off x="440868" y="1804659"/>
            <a:ext cx="8229600" cy="688259"/>
          </a:xfrm>
        </p:spPr>
        <p:txBody>
          <a:bodyPr>
            <a:normAutofit lnSpcReduction="10000"/>
          </a:bodyPr>
          <a:lstStyle/>
          <a:p>
            <a:pPr marL="0" indent="0">
              <a:buNone/>
            </a:pPr>
            <a:r>
              <a:rPr lang="en-US" sz="1400" b="0" dirty="0">
                <a:latin typeface="+mj-lt"/>
                <a:ea typeface="Calibri" panose="020F0502020204030204" pitchFamily="34" charset="0"/>
                <a:cs typeface="Calibri" panose="020F0502020204030204" pitchFamily="34" charset="0"/>
              </a:rPr>
              <a:t>The Visa Token Service (VTS) provides a secure way for consumers to make online and mobile payments by replacing sensitive payment information with a unique digital identifier, known as a token. Here's how the Visa Token Service works.</a:t>
            </a:r>
            <a:endParaRPr lang="en-US" sz="1400" dirty="0">
              <a:latin typeface="+mj-lt"/>
            </a:endParaRPr>
          </a:p>
        </p:txBody>
      </p:sp>
      <p:pic>
        <p:nvPicPr>
          <p:cNvPr id="7" name="Google Shape;23;p3"/>
          <p:cNvPicPr preferRelativeResize="0"/>
          <p:nvPr/>
        </p:nvPicPr>
        <p:blipFill rotWithShape="1">
          <a:blip r:embed="rId2">
            <a:alphaModFix/>
          </a:blip>
          <a:srcRect/>
          <a:stretch/>
        </p:blipFill>
        <p:spPr>
          <a:xfrm>
            <a:off x="7775848" y="118105"/>
            <a:ext cx="1220840" cy="321479"/>
          </a:xfrm>
          <a:prstGeom prst="rect">
            <a:avLst/>
          </a:prstGeom>
          <a:noFill/>
          <a:ln>
            <a:noFill/>
          </a:ln>
        </p:spPr>
      </p:pic>
      <p:pic>
        <p:nvPicPr>
          <p:cNvPr id="5" name="Content Placeholder 5">
            <a:extLst>
              <a:ext uri="{FF2B5EF4-FFF2-40B4-BE49-F238E27FC236}">
                <a16:creationId xmlns:a16="http://schemas.microsoft.com/office/drawing/2014/main" xmlns="" id="{04CC746E-A46D-C698-7700-6D1868820EDD}"/>
              </a:ext>
            </a:extLst>
          </p:cNvPr>
          <p:cNvPicPr>
            <a:picLocks noChangeAspect="1"/>
          </p:cNvPicPr>
          <p:nvPr/>
        </p:nvPicPr>
        <p:blipFill>
          <a:blip r:embed="rId3"/>
          <a:stretch>
            <a:fillRect/>
          </a:stretch>
        </p:blipFill>
        <p:spPr>
          <a:xfrm>
            <a:off x="473532" y="2492917"/>
            <a:ext cx="8056102" cy="3504760"/>
          </a:xfrm>
          <a:prstGeom prst="rect">
            <a:avLst/>
          </a:prstGeom>
        </p:spPr>
      </p:pic>
    </p:spTree>
    <p:extLst>
      <p:ext uri="{BB962C8B-B14F-4D97-AF65-F5344CB8AC3E}">
        <p14:creationId xmlns:p14="http://schemas.microsoft.com/office/powerpoint/2010/main" val="87884931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ounded Rectangle 4"/>
          <p:cNvSpPr/>
          <p:nvPr/>
        </p:nvSpPr>
        <p:spPr>
          <a:xfrm>
            <a:off x="1396092" y="563336"/>
            <a:ext cx="6662059" cy="65748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 name="Title 1">
            <a:extLst>
              <a:ext uri="{FF2B5EF4-FFF2-40B4-BE49-F238E27FC236}">
                <a16:creationId xmlns:a16="http://schemas.microsoft.com/office/drawing/2014/main" xmlns="" id="{0DD74D89-5CAD-A69A-BE6A-8ED003A5DE30}"/>
              </a:ext>
            </a:extLst>
          </p:cNvPr>
          <p:cNvSpPr>
            <a:spLocks noGrp="1"/>
          </p:cNvSpPr>
          <p:nvPr>
            <p:ph type="title"/>
          </p:nvPr>
        </p:nvSpPr>
        <p:spPr>
          <a:xfrm>
            <a:off x="1396091" y="501822"/>
            <a:ext cx="6962091" cy="783774"/>
          </a:xfrm>
        </p:spPr>
        <p:txBody>
          <a:bodyPr>
            <a:normAutofit/>
          </a:bodyPr>
          <a:lstStyle/>
          <a:p>
            <a:pPr algn="ctr">
              <a:lnSpc>
                <a:spcPct val="125000"/>
              </a:lnSpc>
              <a:buClr>
                <a:srgbClr val="F5F0F0"/>
              </a:buClr>
              <a:buSzPts val="4860"/>
            </a:pPr>
            <a:r>
              <a:rPr lang="en-IN" sz="3200" dirty="0">
                <a:ea typeface="Calibri" panose="020F0502020204030204" pitchFamily="34" charset="0"/>
                <a:cs typeface="Calibri" panose="020F0502020204030204" pitchFamily="34" charset="0"/>
              </a:rPr>
              <a:t>How Visa Token Service works</a:t>
            </a:r>
            <a:endParaRPr lang="en-US" sz="3200" dirty="0">
              <a:solidFill>
                <a:schemeClr val="tx1"/>
              </a:solidFill>
              <a:ea typeface="Calibri"/>
              <a:cs typeface="Calibri"/>
              <a:sym typeface="Calibri"/>
            </a:endParaRPr>
          </a:p>
        </p:txBody>
      </p:sp>
      <p:sp>
        <p:nvSpPr>
          <p:cNvPr id="10" name="Rounded Rectangle 9"/>
          <p:cNvSpPr/>
          <p:nvPr/>
        </p:nvSpPr>
        <p:spPr>
          <a:xfrm>
            <a:off x="263297" y="2605926"/>
            <a:ext cx="1957388" cy="79138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latin typeface="+mj-lt"/>
                <a:ea typeface="Calibri" panose="020F0502020204030204" pitchFamily="34" charset="0"/>
                <a:cs typeface="Calibri" panose="020F0502020204030204" pitchFamily="34" charset="0"/>
              </a:rPr>
              <a:t>Token Request</a:t>
            </a:r>
            <a:endParaRPr lang="en-IN" sz="1600" dirty="0">
              <a:latin typeface="+mj-lt"/>
            </a:endParaRPr>
          </a:p>
        </p:txBody>
      </p:sp>
      <p:sp>
        <p:nvSpPr>
          <p:cNvPr id="11" name="Rounded Rectangle 10"/>
          <p:cNvSpPr/>
          <p:nvPr/>
        </p:nvSpPr>
        <p:spPr>
          <a:xfrm>
            <a:off x="263298" y="1476692"/>
            <a:ext cx="1957388" cy="73950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rgbClr val="E2E6E9"/>
              </a:buClr>
              <a:buSzPts val="2430"/>
            </a:pPr>
            <a:r>
              <a:rPr lang="en-US" sz="1600" b="1" dirty="0">
                <a:latin typeface="+mj-lt"/>
                <a:ea typeface="Calibri" panose="020F0502020204030204" pitchFamily="34" charset="0"/>
                <a:cs typeface="Calibri" panose="020F0502020204030204" pitchFamily="34" charset="0"/>
              </a:rPr>
              <a:t>Enrollment</a:t>
            </a:r>
            <a:endParaRPr lang="en-US" sz="1600" b="1" dirty="0">
              <a:solidFill>
                <a:schemeClr val="dk1"/>
              </a:solidFill>
              <a:latin typeface="+mj-lt"/>
              <a:ea typeface="Calibri"/>
              <a:cs typeface="Calibri"/>
              <a:sym typeface="Calibri"/>
            </a:endParaRPr>
          </a:p>
        </p:txBody>
      </p:sp>
      <p:sp>
        <p:nvSpPr>
          <p:cNvPr id="12" name="Rounded Rectangle 11"/>
          <p:cNvSpPr/>
          <p:nvPr/>
        </p:nvSpPr>
        <p:spPr>
          <a:xfrm>
            <a:off x="263297" y="3813724"/>
            <a:ext cx="1957388" cy="73671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latin typeface="+mj-lt"/>
                <a:ea typeface="Calibri" panose="020F0502020204030204" pitchFamily="34" charset="0"/>
                <a:cs typeface="Calibri" panose="020F0502020204030204" pitchFamily="34" charset="0"/>
              </a:rPr>
              <a:t>Issuer Verification</a:t>
            </a:r>
          </a:p>
        </p:txBody>
      </p:sp>
      <p:sp>
        <p:nvSpPr>
          <p:cNvPr id="13" name="Rounded Rectangle 12"/>
          <p:cNvSpPr/>
          <p:nvPr/>
        </p:nvSpPr>
        <p:spPr>
          <a:xfrm>
            <a:off x="263297" y="4984349"/>
            <a:ext cx="1957388" cy="73671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latin typeface="+mj-lt"/>
                <a:ea typeface="Calibri" panose="020F0502020204030204" pitchFamily="34" charset="0"/>
                <a:cs typeface="Calibri" panose="020F0502020204030204" pitchFamily="34" charset="0"/>
              </a:rPr>
              <a:t>Token Generation</a:t>
            </a:r>
            <a:endParaRPr lang="en-IN" sz="1600" dirty="0">
              <a:latin typeface="+mj-lt"/>
            </a:endParaRPr>
          </a:p>
        </p:txBody>
      </p:sp>
      <p:sp>
        <p:nvSpPr>
          <p:cNvPr id="15" name="TextBox 14"/>
          <p:cNvSpPr txBox="1"/>
          <p:nvPr/>
        </p:nvSpPr>
        <p:spPr>
          <a:xfrm>
            <a:off x="2469767" y="1476693"/>
            <a:ext cx="6410934" cy="861774"/>
          </a:xfrm>
          <a:prstGeom prst="rect">
            <a:avLst/>
          </a:prstGeom>
          <a:noFill/>
        </p:spPr>
        <p:txBody>
          <a:bodyPr wrap="square" rtlCol="0">
            <a:spAutoFit/>
          </a:bodyPr>
          <a:lstStyle/>
          <a:p>
            <a:pPr algn="just"/>
            <a:r>
              <a:rPr lang="en-US" sz="1400" b="1" dirty="0">
                <a:latin typeface="+mj-lt"/>
                <a:ea typeface="Calibri" panose="020F0502020204030204" pitchFamily="34" charset="0"/>
                <a:cs typeface="Calibri" panose="020F0502020204030204" pitchFamily="34" charset="0"/>
              </a:rPr>
              <a:t>Consumer Action:</a:t>
            </a:r>
            <a:r>
              <a:rPr lang="en-US" sz="1400" dirty="0">
                <a:latin typeface="+mj-lt"/>
                <a:ea typeface="Calibri" panose="020F0502020204030204" pitchFamily="34" charset="0"/>
                <a:cs typeface="Calibri" panose="020F0502020204030204" pitchFamily="34" charset="0"/>
              </a:rPr>
              <a:t> </a:t>
            </a:r>
            <a:r>
              <a:rPr lang="en-US" sz="1200" dirty="0">
                <a:latin typeface="+mj-lt"/>
                <a:ea typeface="Calibri" panose="020F0502020204030204" pitchFamily="34" charset="0"/>
                <a:cs typeface="Calibri" panose="020F0502020204030204" pitchFamily="34" charset="0"/>
              </a:rPr>
              <a:t>The consumer enrolls their Visa account with a digital payment service, such as an online retailer or mobile wallet. During this process, they enter their Primary Account Number (PAN), along with other payment information like the security code</a:t>
            </a:r>
            <a:r>
              <a:rPr lang="en-US" sz="1200" dirty="0">
                <a:latin typeface="Calibri" panose="020F0502020204030204" pitchFamily="34" charset="0"/>
                <a:ea typeface="Calibri" panose="020F0502020204030204" pitchFamily="34" charset="0"/>
                <a:cs typeface="Calibri" panose="020F0502020204030204" pitchFamily="34" charset="0"/>
              </a:rPr>
              <a:t>.</a:t>
            </a:r>
          </a:p>
        </p:txBody>
      </p:sp>
      <p:sp>
        <p:nvSpPr>
          <p:cNvPr id="16" name="TextBox 15"/>
          <p:cNvSpPr txBox="1"/>
          <p:nvPr/>
        </p:nvSpPr>
        <p:spPr>
          <a:xfrm>
            <a:off x="2469768" y="2627868"/>
            <a:ext cx="6598864" cy="677108"/>
          </a:xfrm>
          <a:prstGeom prst="rect">
            <a:avLst/>
          </a:prstGeom>
          <a:noFill/>
        </p:spPr>
        <p:txBody>
          <a:bodyPr wrap="square" rtlCol="0">
            <a:spAutoFit/>
          </a:bodyPr>
          <a:lstStyle/>
          <a:p>
            <a:pPr algn="just"/>
            <a:r>
              <a:rPr lang="en-US" sz="1400" b="1" dirty="0">
                <a:latin typeface="+mj-lt"/>
                <a:ea typeface="Calibri" panose="020F0502020204030204" pitchFamily="34" charset="0"/>
                <a:cs typeface="Calibri" panose="020F0502020204030204" pitchFamily="34" charset="0"/>
              </a:rPr>
              <a:t>Token Requestor:</a:t>
            </a:r>
            <a:r>
              <a:rPr lang="en-US" sz="1400" dirty="0">
                <a:latin typeface="+mj-lt"/>
                <a:ea typeface="Calibri" panose="020F0502020204030204" pitchFamily="34" charset="0"/>
                <a:cs typeface="Calibri" panose="020F0502020204030204" pitchFamily="34" charset="0"/>
              </a:rPr>
              <a:t> </a:t>
            </a:r>
            <a:r>
              <a:rPr lang="en-US" sz="1200" dirty="0">
                <a:latin typeface="+mj-lt"/>
                <a:ea typeface="Calibri" panose="020F0502020204030204" pitchFamily="34" charset="0"/>
                <a:cs typeface="Calibri" panose="020F0502020204030204" pitchFamily="34" charset="0"/>
              </a:rPr>
              <a:t>The digital payment service provider, acting as a token requestor, requests a payment token from Visa for the enrolled account. This is done by sending the PAN and other relevant information to Visa.</a:t>
            </a:r>
          </a:p>
        </p:txBody>
      </p:sp>
      <p:sp>
        <p:nvSpPr>
          <p:cNvPr id="17" name="TextBox 16"/>
          <p:cNvSpPr txBox="1"/>
          <p:nvPr/>
        </p:nvSpPr>
        <p:spPr>
          <a:xfrm>
            <a:off x="2541727" y="4984349"/>
            <a:ext cx="6526903" cy="677108"/>
          </a:xfrm>
          <a:prstGeom prst="rect">
            <a:avLst/>
          </a:prstGeom>
          <a:noFill/>
        </p:spPr>
        <p:txBody>
          <a:bodyPr wrap="square" rtlCol="0">
            <a:spAutoFit/>
          </a:bodyPr>
          <a:lstStyle/>
          <a:p>
            <a:r>
              <a:rPr lang="en-US" sz="1400" b="1" dirty="0">
                <a:latin typeface="+mj-lt"/>
                <a:ea typeface="Calibri" panose="020F0502020204030204" pitchFamily="34" charset="0"/>
                <a:cs typeface="Calibri" panose="020F0502020204030204" pitchFamily="34" charset="0"/>
              </a:rPr>
              <a:t>Token Vault</a:t>
            </a:r>
            <a:r>
              <a:rPr lang="en-US" sz="1400" dirty="0">
                <a:latin typeface="+mj-lt"/>
                <a:ea typeface="Calibri" panose="020F0502020204030204" pitchFamily="34" charset="0"/>
                <a:cs typeface="Calibri" panose="020F0502020204030204" pitchFamily="34" charset="0"/>
              </a:rPr>
              <a:t>: </a:t>
            </a:r>
            <a:r>
              <a:rPr lang="en-US" sz="1200" dirty="0">
                <a:latin typeface="+mj-lt"/>
                <a:ea typeface="Calibri" panose="020F0502020204030204" pitchFamily="34" charset="0"/>
                <a:cs typeface="Calibri" panose="020F0502020204030204" pitchFamily="34" charset="0"/>
              </a:rPr>
              <a:t>If the issuer approves the request, Visa replaces the consumer’s PAN with a unique digital identifier, called a token. This token is generated and securely stored in the Visa Token Vault.</a:t>
            </a:r>
          </a:p>
        </p:txBody>
      </p:sp>
      <p:sp>
        <p:nvSpPr>
          <p:cNvPr id="18" name="TextBox 17"/>
          <p:cNvSpPr txBox="1"/>
          <p:nvPr/>
        </p:nvSpPr>
        <p:spPr>
          <a:xfrm rot="10800000" flipV="1">
            <a:off x="2469768" y="3726002"/>
            <a:ext cx="6660016" cy="677108"/>
          </a:xfrm>
          <a:prstGeom prst="rect">
            <a:avLst/>
          </a:prstGeom>
          <a:noFill/>
        </p:spPr>
        <p:txBody>
          <a:bodyPr wrap="square" rtlCol="0">
            <a:spAutoFit/>
          </a:bodyPr>
          <a:lstStyle/>
          <a:p>
            <a:pPr algn="just"/>
            <a:r>
              <a:rPr lang="en-US" sz="1400" b="1" dirty="0">
                <a:latin typeface="+mj-lt"/>
                <a:ea typeface="Calibri" panose="020F0502020204030204" pitchFamily="34" charset="0"/>
                <a:cs typeface="Calibri" panose="020F0502020204030204" pitchFamily="34" charset="0"/>
              </a:rPr>
              <a:t>Visa &amp; Issuer</a:t>
            </a:r>
            <a:r>
              <a:rPr lang="en-US" sz="1400" dirty="0">
                <a:latin typeface="+mj-lt"/>
                <a:ea typeface="Calibri" panose="020F0502020204030204" pitchFamily="34" charset="0"/>
                <a:cs typeface="Calibri" panose="020F0502020204030204" pitchFamily="34" charset="0"/>
              </a:rPr>
              <a:t>: </a:t>
            </a:r>
            <a:r>
              <a:rPr lang="en-US" sz="1200" dirty="0">
                <a:latin typeface="+mj-lt"/>
                <a:ea typeface="Calibri" panose="020F0502020204030204" pitchFamily="34" charset="0"/>
                <a:cs typeface="Calibri" panose="020F0502020204030204" pitchFamily="34" charset="0"/>
              </a:rPr>
              <a:t>Visa receives the token request and shares it with the account issuer, which is typically the consumer’s bank. The issuer reviews the request and decides whether to approve or deny it.</a:t>
            </a:r>
          </a:p>
        </p:txBody>
      </p:sp>
      <p:pic>
        <p:nvPicPr>
          <p:cNvPr id="21" name="Google Shape;23;p3"/>
          <p:cNvPicPr preferRelativeResize="0"/>
          <p:nvPr/>
        </p:nvPicPr>
        <p:blipFill rotWithShape="1">
          <a:blip r:embed="rId2">
            <a:alphaModFix/>
          </a:blip>
          <a:srcRect/>
          <a:stretch/>
        </p:blipFill>
        <p:spPr>
          <a:xfrm>
            <a:off x="7847791" y="241857"/>
            <a:ext cx="1220840" cy="321479"/>
          </a:xfrm>
          <a:prstGeom prst="rect">
            <a:avLst/>
          </a:prstGeom>
          <a:noFill/>
          <a:ln>
            <a:noFill/>
          </a:ln>
        </p:spPr>
      </p:pic>
    </p:spTree>
    <p:extLst>
      <p:ext uri="{BB962C8B-B14F-4D97-AF65-F5344CB8AC3E}">
        <p14:creationId xmlns:p14="http://schemas.microsoft.com/office/powerpoint/2010/main" val="370538330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ounded Rectangle 4"/>
          <p:cNvSpPr/>
          <p:nvPr/>
        </p:nvSpPr>
        <p:spPr>
          <a:xfrm>
            <a:off x="1396092" y="563336"/>
            <a:ext cx="6662059" cy="65748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 name="Title 1">
            <a:extLst>
              <a:ext uri="{FF2B5EF4-FFF2-40B4-BE49-F238E27FC236}">
                <a16:creationId xmlns:a16="http://schemas.microsoft.com/office/drawing/2014/main" xmlns="" id="{0DD74D89-5CAD-A69A-BE6A-8ED003A5DE30}"/>
              </a:ext>
            </a:extLst>
          </p:cNvPr>
          <p:cNvSpPr>
            <a:spLocks noGrp="1"/>
          </p:cNvSpPr>
          <p:nvPr>
            <p:ph type="title"/>
          </p:nvPr>
        </p:nvSpPr>
        <p:spPr>
          <a:xfrm>
            <a:off x="1396091" y="501822"/>
            <a:ext cx="6962091" cy="783774"/>
          </a:xfrm>
        </p:spPr>
        <p:txBody>
          <a:bodyPr>
            <a:normAutofit/>
          </a:bodyPr>
          <a:lstStyle/>
          <a:p>
            <a:pPr algn="ctr">
              <a:lnSpc>
                <a:spcPct val="125000"/>
              </a:lnSpc>
              <a:buClr>
                <a:srgbClr val="F5F0F0"/>
              </a:buClr>
              <a:buSzPts val="4860"/>
            </a:pPr>
            <a:r>
              <a:rPr lang="en-IN" sz="3200" dirty="0">
                <a:ea typeface="Calibri" panose="020F0502020204030204" pitchFamily="34" charset="0"/>
                <a:cs typeface="Calibri" panose="020F0502020204030204" pitchFamily="34" charset="0"/>
              </a:rPr>
              <a:t>How Visa Token Service works</a:t>
            </a:r>
            <a:endParaRPr lang="en-US" sz="3200" dirty="0">
              <a:solidFill>
                <a:schemeClr val="tx1"/>
              </a:solidFill>
              <a:ea typeface="Calibri"/>
              <a:cs typeface="Calibri"/>
              <a:sym typeface="Calibri"/>
            </a:endParaRPr>
          </a:p>
        </p:txBody>
      </p:sp>
      <p:sp>
        <p:nvSpPr>
          <p:cNvPr id="11" name="Rounded Rectangle 10"/>
          <p:cNvSpPr/>
          <p:nvPr/>
        </p:nvSpPr>
        <p:spPr>
          <a:xfrm>
            <a:off x="263299" y="2084718"/>
            <a:ext cx="1957388" cy="73950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rgbClr val="E2E6E9"/>
              </a:buClr>
              <a:buSzPts val="2430"/>
            </a:pPr>
            <a:r>
              <a:rPr lang="en-US" sz="1600" b="1" dirty="0">
                <a:latin typeface="+mj-lt"/>
                <a:ea typeface="Calibri" panose="020F0502020204030204" pitchFamily="34" charset="0"/>
                <a:cs typeface="Calibri" panose="020F0502020204030204" pitchFamily="34" charset="0"/>
              </a:rPr>
              <a:t>Token Use</a:t>
            </a:r>
            <a:endParaRPr lang="en-US" sz="1600" b="1" dirty="0">
              <a:solidFill>
                <a:schemeClr val="dk1"/>
              </a:solidFill>
              <a:latin typeface="+mj-lt"/>
              <a:ea typeface="Calibri"/>
              <a:cs typeface="Calibri"/>
              <a:sym typeface="Calibri"/>
            </a:endParaRPr>
          </a:p>
        </p:txBody>
      </p:sp>
      <p:sp>
        <p:nvSpPr>
          <p:cNvPr id="15" name="TextBox 14"/>
          <p:cNvSpPr txBox="1"/>
          <p:nvPr/>
        </p:nvSpPr>
        <p:spPr>
          <a:xfrm>
            <a:off x="2528761" y="1994416"/>
            <a:ext cx="6410934" cy="1046440"/>
          </a:xfrm>
          <a:prstGeom prst="rect">
            <a:avLst/>
          </a:prstGeom>
          <a:noFill/>
        </p:spPr>
        <p:txBody>
          <a:bodyPr wrap="square" rtlCol="0">
            <a:spAutoFit/>
          </a:bodyPr>
          <a:lstStyle/>
          <a:p>
            <a:r>
              <a:rPr lang="en-US" sz="1400" b="1" dirty="0">
                <a:latin typeface="+mj-lt"/>
                <a:ea typeface="Calibri" panose="020F0502020204030204" pitchFamily="34" charset="0"/>
                <a:cs typeface="Calibri" panose="020F0502020204030204" pitchFamily="34" charset="0"/>
              </a:rPr>
              <a:t>Payment Use</a:t>
            </a:r>
            <a:r>
              <a:rPr lang="en-US" sz="1400" dirty="0">
                <a:latin typeface="+mj-lt"/>
                <a:ea typeface="Calibri" panose="020F0502020204030204" pitchFamily="34" charset="0"/>
                <a:cs typeface="Calibri" panose="020F0502020204030204" pitchFamily="34" charset="0"/>
              </a:rPr>
              <a:t>: </a:t>
            </a:r>
            <a:r>
              <a:rPr lang="en-US" sz="1200" dirty="0">
                <a:latin typeface="+mj-lt"/>
                <a:ea typeface="Calibri" panose="020F0502020204030204" pitchFamily="34" charset="0"/>
                <a:cs typeface="Calibri" panose="020F0502020204030204" pitchFamily="34" charset="0"/>
              </a:rPr>
              <a:t>Visa shares the token with the token requestor, enabling it to be used for future online and mobile (NFC) payments. The token can be limited to specific conditions, such as being valid only for a particular mobile device, eCommerce merchant, or a limited number of transactions (e.g., five purchases) before it expires.</a:t>
            </a:r>
          </a:p>
        </p:txBody>
      </p:sp>
      <p:sp>
        <p:nvSpPr>
          <p:cNvPr id="16" name="TextBox 15"/>
          <p:cNvSpPr txBox="1"/>
          <p:nvPr/>
        </p:nvSpPr>
        <p:spPr>
          <a:xfrm>
            <a:off x="263298" y="3688120"/>
            <a:ext cx="8563612" cy="830997"/>
          </a:xfrm>
          <a:prstGeom prst="rect">
            <a:avLst/>
          </a:prstGeom>
          <a:noFill/>
        </p:spPr>
        <p:txBody>
          <a:bodyPr wrap="square" rtlCol="0">
            <a:spAutoFit/>
          </a:bodyPr>
          <a:lstStyle/>
          <a:p>
            <a:r>
              <a:rPr lang="en-US" sz="1600" dirty="0">
                <a:latin typeface="+mj-lt"/>
                <a:ea typeface="Calibri" panose="020F0502020204030204" pitchFamily="34" charset="0"/>
                <a:cs typeface="Calibri" panose="020F0502020204030204" pitchFamily="34" charset="0"/>
              </a:rPr>
              <a:t>This process ensures that the consumer's actual payment information is not exposed during transactions, significantly enhancing security. Even if a token is intercepted, it cannot be used outside the specific context for which it was issued.</a:t>
            </a:r>
          </a:p>
        </p:txBody>
      </p:sp>
      <p:pic>
        <p:nvPicPr>
          <p:cNvPr id="21" name="Google Shape;23;p3"/>
          <p:cNvPicPr preferRelativeResize="0"/>
          <p:nvPr/>
        </p:nvPicPr>
        <p:blipFill rotWithShape="1">
          <a:blip r:embed="rId2">
            <a:alphaModFix/>
          </a:blip>
          <a:srcRect/>
          <a:stretch/>
        </p:blipFill>
        <p:spPr>
          <a:xfrm>
            <a:off x="7847791" y="241857"/>
            <a:ext cx="1220840" cy="321479"/>
          </a:xfrm>
          <a:prstGeom prst="rect">
            <a:avLst/>
          </a:prstGeom>
          <a:noFill/>
          <a:ln>
            <a:noFill/>
          </a:ln>
        </p:spPr>
      </p:pic>
    </p:spTree>
    <p:extLst>
      <p:ext uri="{BB962C8B-B14F-4D97-AF65-F5344CB8AC3E}">
        <p14:creationId xmlns:p14="http://schemas.microsoft.com/office/powerpoint/2010/main" val="16031297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ounded Rectangle 4"/>
          <p:cNvSpPr/>
          <p:nvPr/>
        </p:nvSpPr>
        <p:spPr>
          <a:xfrm>
            <a:off x="1396092" y="563336"/>
            <a:ext cx="6662059" cy="65748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 name="Title 1">
            <a:extLst>
              <a:ext uri="{FF2B5EF4-FFF2-40B4-BE49-F238E27FC236}">
                <a16:creationId xmlns:a16="http://schemas.microsoft.com/office/drawing/2014/main" xmlns="" id="{0DD74D89-5CAD-A69A-BE6A-8ED003A5DE30}"/>
              </a:ext>
            </a:extLst>
          </p:cNvPr>
          <p:cNvSpPr>
            <a:spLocks noGrp="1"/>
          </p:cNvSpPr>
          <p:nvPr>
            <p:ph type="title"/>
          </p:nvPr>
        </p:nvSpPr>
        <p:spPr>
          <a:xfrm>
            <a:off x="1396091" y="501822"/>
            <a:ext cx="6962091" cy="783774"/>
          </a:xfrm>
        </p:spPr>
        <p:txBody>
          <a:bodyPr>
            <a:normAutofit/>
          </a:bodyPr>
          <a:lstStyle/>
          <a:p>
            <a:pPr algn="ctr">
              <a:lnSpc>
                <a:spcPct val="125000"/>
              </a:lnSpc>
              <a:buClr>
                <a:srgbClr val="F5F0F0"/>
              </a:buClr>
              <a:buSzPts val="4860"/>
            </a:pPr>
            <a:r>
              <a:rPr lang="en-IN" sz="3200" dirty="0"/>
              <a:t>TOKEN BENEFITS</a:t>
            </a:r>
            <a:endParaRPr lang="en-US" sz="3200" dirty="0">
              <a:solidFill>
                <a:schemeClr val="tx1"/>
              </a:solidFill>
              <a:ea typeface="Calibri"/>
              <a:cs typeface="Calibri"/>
              <a:sym typeface="Calibri"/>
            </a:endParaRPr>
          </a:p>
        </p:txBody>
      </p:sp>
      <p:sp>
        <p:nvSpPr>
          <p:cNvPr id="10" name="Rounded Rectangle 9"/>
          <p:cNvSpPr/>
          <p:nvPr/>
        </p:nvSpPr>
        <p:spPr>
          <a:xfrm>
            <a:off x="263297" y="2605926"/>
            <a:ext cx="1957388" cy="79138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latin typeface="+mj-lt"/>
                <a:ea typeface="Calibri" panose="020F0502020204030204" pitchFamily="34" charset="0"/>
                <a:cs typeface="Calibri" panose="020F0502020204030204" pitchFamily="34" charset="0"/>
              </a:rPr>
              <a:t>Instant Replacement of Credentials</a:t>
            </a:r>
            <a:r>
              <a:rPr lang="en-US" sz="1600" dirty="0">
                <a:latin typeface="+mj-lt"/>
                <a:ea typeface="Calibri" panose="020F0502020204030204" pitchFamily="34" charset="0"/>
                <a:cs typeface="Calibri" panose="020F0502020204030204" pitchFamily="34" charset="0"/>
              </a:rPr>
              <a:t>:</a:t>
            </a:r>
            <a:endParaRPr lang="en-IN" sz="1600" dirty="0">
              <a:latin typeface="+mj-lt"/>
            </a:endParaRPr>
          </a:p>
        </p:txBody>
      </p:sp>
      <p:sp>
        <p:nvSpPr>
          <p:cNvPr id="11" name="Rounded Rectangle 10"/>
          <p:cNvSpPr/>
          <p:nvPr/>
        </p:nvSpPr>
        <p:spPr>
          <a:xfrm>
            <a:off x="263298" y="1476692"/>
            <a:ext cx="1957388" cy="73950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rgbClr val="E2E6E9"/>
              </a:buClr>
              <a:buSzPts val="2430"/>
            </a:pPr>
            <a:r>
              <a:rPr lang="en-US" sz="1600" b="1" dirty="0">
                <a:latin typeface="+mj-lt"/>
                <a:ea typeface="Calibri" panose="020F0502020204030204" pitchFamily="34" charset="0"/>
                <a:cs typeface="Calibri" panose="020F0502020204030204" pitchFamily="34" charset="0"/>
              </a:rPr>
              <a:t>Reduces Fraud &amp; Breach Risk</a:t>
            </a:r>
            <a:r>
              <a:rPr lang="en-US" sz="1600" dirty="0">
                <a:latin typeface="+mj-lt"/>
                <a:ea typeface="Calibri" panose="020F0502020204030204" pitchFamily="34" charset="0"/>
                <a:cs typeface="Calibri" panose="020F0502020204030204" pitchFamily="34" charset="0"/>
              </a:rPr>
              <a:t>:</a:t>
            </a:r>
            <a:endParaRPr lang="en-US" sz="1600" b="1" dirty="0">
              <a:solidFill>
                <a:schemeClr val="dk1"/>
              </a:solidFill>
              <a:latin typeface="+mj-lt"/>
              <a:ea typeface="Calibri"/>
              <a:cs typeface="Calibri"/>
              <a:sym typeface="Calibri"/>
            </a:endParaRPr>
          </a:p>
        </p:txBody>
      </p:sp>
      <p:sp>
        <p:nvSpPr>
          <p:cNvPr id="12" name="Rounded Rectangle 11"/>
          <p:cNvSpPr/>
          <p:nvPr/>
        </p:nvSpPr>
        <p:spPr>
          <a:xfrm>
            <a:off x="263297" y="3813724"/>
            <a:ext cx="1957388" cy="73671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latin typeface="+mj-lt"/>
                <a:ea typeface="Calibri" panose="020F0502020204030204" pitchFamily="34" charset="0"/>
                <a:cs typeface="Calibri" panose="020F0502020204030204" pitchFamily="34" charset="0"/>
              </a:rPr>
              <a:t>Improved Transaction Security</a:t>
            </a:r>
            <a:r>
              <a:rPr lang="en-US" sz="1600" dirty="0">
                <a:latin typeface="+mj-lt"/>
                <a:ea typeface="Calibri" panose="020F0502020204030204" pitchFamily="34" charset="0"/>
                <a:cs typeface="Calibri" panose="020F0502020204030204" pitchFamily="34" charset="0"/>
              </a:rPr>
              <a:t>:</a:t>
            </a:r>
            <a:endParaRPr lang="en-US" sz="1600" b="1" dirty="0">
              <a:latin typeface="+mj-lt"/>
              <a:ea typeface="Calibri" panose="020F0502020204030204" pitchFamily="34" charset="0"/>
              <a:cs typeface="Calibri" panose="020F0502020204030204" pitchFamily="34" charset="0"/>
            </a:endParaRPr>
          </a:p>
        </p:txBody>
      </p:sp>
      <p:sp>
        <p:nvSpPr>
          <p:cNvPr id="13" name="Rounded Rectangle 12"/>
          <p:cNvSpPr/>
          <p:nvPr/>
        </p:nvSpPr>
        <p:spPr>
          <a:xfrm>
            <a:off x="263297" y="4984349"/>
            <a:ext cx="1957388" cy="73671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latin typeface="+mj-lt"/>
                <a:ea typeface="Calibri" panose="020F0502020204030204" pitchFamily="34" charset="0"/>
                <a:cs typeface="Calibri" panose="020F0502020204030204" pitchFamily="34" charset="0"/>
              </a:rPr>
              <a:t>Enhanced Consumer Experience</a:t>
            </a:r>
            <a:r>
              <a:rPr lang="en-US" sz="1600" dirty="0">
                <a:latin typeface="+mj-lt"/>
                <a:ea typeface="Calibri" panose="020F0502020204030204" pitchFamily="34" charset="0"/>
                <a:cs typeface="Calibri" panose="020F0502020204030204" pitchFamily="34" charset="0"/>
              </a:rPr>
              <a:t>:</a:t>
            </a:r>
            <a:endParaRPr lang="en-IN" sz="1600" dirty="0">
              <a:latin typeface="+mj-lt"/>
            </a:endParaRPr>
          </a:p>
        </p:txBody>
      </p:sp>
      <p:sp>
        <p:nvSpPr>
          <p:cNvPr id="15" name="TextBox 14"/>
          <p:cNvSpPr txBox="1"/>
          <p:nvPr/>
        </p:nvSpPr>
        <p:spPr>
          <a:xfrm>
            <a:off x="2483985" y="1568122"/>
            <a:ext cx="6410934" cy="523220"/>
          </a:xfrm>
          <a:prstGeom prst="rect">
            <a:avLst/>
          </a:prstGeom>
          <a:noFill/>
        </p:spPr>
        <p:txBody>
          <a:bodyPr wrap="square" rtlCol="0">
            <a:spAutoFit/>
          </a:bodyPr>
          <a:lstStyle/>
          <a:p>
            <a:pPr algn="just"/>
            <a:r>
              <a:rPr lang="en-US" sz="1400" dirty="0">
                <a:latin typeface="+mj-lt"/>
                <a:ea typeface="Calibri" panose="020F0502020204030204" pitchFamily="34" charset="0"/>
                <a:cs typeface="Calibri" panose="020F0502020204030204" pitchFamily="34" charset="0"/>
              </a:rPr>
              <a:t>By replacing card numbers with a digital token, the risk of fraud and data breaches is significantly reduced.</a:t>
            </a:r>
          </a:p>
        </p:txBody>
      </p:sp>
      <p:sp>
        <p:nvSpPr>
          <p:cNvPr id="16" name="TextBox 15"/>
          <p:cNvSpPr txBox="1"/>
          <p:nvPr/>
        </p:nvSpPr>
        <p:spPr>
          <a:xfrm>
            <a:off x="2469768" y="2697724"/>
            <a:ext cx="6598864" cy="738664"/>
          </a:xfrm>
          <a:prstGeom prst="rect">
            <a:avLst/>
          </a:prstGeom>
          <a:noFill/>
        </p:spPr>
        <p:txBody>
          <a:bodyPr wrap="square" rtlCol="0">
            <a:spAutoFit/>
          </a:bodyPr>
          <a:lstStyle/>
          <a:p>
            <a:r>
              <a:rPr lang="en-US" sz="1400" dirty="0">
                <a:latin typeface="+mj-lt"/>
                <a:ea typeface="Calibri" panose="020F0502020204030204" pitchFamily="34" charset="0"/>
                <a:cs typeface="Calibri" panose="020F0502020204030204" pitchFamily="34" charset="0"/>
              </a:rPr>
              <a:t>Issuers can instantly replace stolen credentials or expired cards, and tokens can be updated automatically without requiring the consumer to take action.</a:t>
            </a:r>
          </a:p>
        </p:txBody>
      </p:sp>
      <p:sp>
        <p:nvSpPr>
          <p:cNvPr id="17" name="TextBox 16"/>
          <p:cNvSpPr txBox="1"/>
          <p:nvPr/>
        </p:nvSpPr>
        <p:spPr>
          <a:xfrm>
            <a:off x="2504857" y="5042735"/>
            <a:ext cx="6032150" cy="523220"/>
          </a:xfrm>
          <a:prstGeom prst="rect">
            <a:avLst/>
          </a:prstGeom>
          <a:noFill/>
        </p:spPr>
        <p:txBody>
          <a:bodyPr wrap="square" rtlCol="0">
            <a:spAutoFit/>
          </a:bodyPr>
          <a:lstStyle/>
          <a:p>
            <a:r>
              <a:rPr lang="en-US" sz="1400" dirty="0">
                <a:latin typeface="+mj-lt"/>
                <a:ea typeface="Calibri" panose="020F0502020204030204" pitchFamily="34" charset="0"/>
                <a:cs typeface="Calibri" panose="020F0502020204030204" pitchFamily="34" charset="0"/>
              </a:rPr>
              <a:t>Tokens contribute to an enhanced consumer experience and easier payments, making digital transactions more secure and convenient.</a:t>
            </a:r>
          </a:p>
        </p:txBody>
      </p:sp>
      <p:sp>
        <p:nvSpPr>
          <p:cNvPr id="18" name="TextBox 17"/>
          <p:cNvSpPr txBox="1"/>
          <p:nvPr/>
        </p:nvSpPr>
        <p:spPr>
          <a:xfrm rot="10800000" flipV="1">
            <a:off x="2483985" y="3920473"/>
            <a:ext cx="6660016" cy="523220"/>
          </a:xfrm>
          <a:prstGeom prst="rect">
            <a:avLst/>
          </a:prstGeom>
          <a:noFill/>
        </p:spPr>
        <p:txBody>
          <a:bodyPr wrap="square" rtlCol="0">
            <a:spAutoFit/>
          </a:bodyPr>
          <a:lstStyle/>
          <a:p>
            <a:r>
              <a:rPr lang="en-US" sz="1400" dirty="0">
                <a:latin typeface="+mj-lt"/>
                <a:ea typeface="Calibri" panose="020F0502020204030204" pitchFamily="34" charset="0"/>
                <a:cs typeface="Calibri" panose="020F0502020204030204" pitchFamily="34" charset="0"/>
              </a:rPr>
              <a:t>Each transaction is processed with both a token and cryptogram validation, which increases card authorization rates and decreases fraud.</a:t>
            </a:r>
          </a:p>
        </p:txBody>
      </p:sp>
      <p:pic>
        <p:nvPicPr>
          <p:cNvPr id="21" name="Google Shape;23;p3"/>
          <p:cNvPicPr preferRelativeResize="0"/>
          <p:nvPr/>
        </p:nvPicPr>
        <p:blipFill rotWithShape="1">
          <a:blip r:embed="rId2">
            <a:alphaModFix/>
          </a:blip>
          <a:srcRect/>
          <a:stretch/>
        </p:blipFill>
        <p:spPr>
          <a:xfrm>
            <a:off x="7847791" y="241857"/>
            <a:ext cx="1220840" cy="321479"/>
          </a:xfrm>
          <a:prstGeom prst="rect">
            <a:avLst/>
          </a:prstGeom>
          <a:noFill/>
          <a:ln>
            <a:noFill/>
          </a:ln>
        </p:spPr>
      </p:pic>
    </p:spTree>
    <p:extLst>
      <p:ext uri="{BB962C8B-B14F-4D97-AF65-F5344CB8AC3E}">
        <p14:creationId xmlns:p14="http://schemas.microsoft.com/office/powerpoint/2010/main" val="10607182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p:cNvSpPr/>
          <p:nvPr/>
        </p:nvSpPr>
        <p:spPr>
          <a:xfrm>
            <a:off x="440868" y="547007"/>
            <a:ext cx="8088766" cy="1036864"/>
          </a:xfrm>
          <a:prstGeom prst="round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 name="Title 1">
            <a:extLst>
              <a:ext uri="{FF2B5EF4-FFF2-40B4-BE49-F238E27FC236}">
                <a16:creationId xmlns:a16="http://schemas.microsoft.com/office/drawing/2014/main" xmlns="" id="{4D283D38-AA42-5B2E-ADF4-45F3F0B201FF}"/>
              </a:ext>
            </a:extLst>
          </p:cNvPr>
          <p:cNvSpPr>
            <a:spLocks noGrp="1"/>
          </p:cNvSpPr>
          <p:nvPr>
            <p:ph type="title"/>
          </p:nvPr>
        </p:nvSpPr>
        <p:spPr>
          <a:xfrm>
            <a:off x="642938" y="481694"/>
            <a:ext cx="7886700" cy="1120775"/>
          </a:xfrm>
        </p:spPr>
        <p:txBody>
          <a:bodyPr>
            <a:normAutofit/>
          </a:bodyPr>
          <a:lstStyle/>
          <a:p>
            <a:pPr algn="ctr"/>
            <a:r>
              <a:rPr lang="en-IN" sz="3200" dirty="0">
                <a:ea typeface="Calibri" panose="020F0502020204030204" pitchFamily="34" charset="0"/>
                <a:cs typeface="Calibri" panose="020F0502020204030204" pitchFamily="34" charset="0"/>
              </a:rPr>
              <a:t>How Does A Tokenized Transaction Work</a:t>
            </a:r>
            <a:endParaRPr lang="en-IN" sz="3200" dirty="0">
              <a:solidFill>
                <a:schemeClr val="bg1"/>
              </a:solidFill>
            </a:endParaRPr>
          </a:p>
        </p:txBody>
      </p:sp>
      <p:pic>
        <p:nvPicPr>
          <p:cNvPr id="7" name="Google Shape;23;p3"/>
          <p:cNvPicPr preferRelativeResize="0"/>
          <p:nvPr/>
        </p:nvPicPr>
        <p:blipFill rotWithShape="1">
          <a:blip r:embed="rId2">
            <a:alphaModFix/>
          </a:blip>
          <a:srcRect/>
          <a:stretch/>
        </p:blipFill>
        <p:spPr>
          <a:xfrm>
            <a:off x="7775848" y="118105"/>
            <a:ext cx="1220840" cy="321479"/>
          </a:xfrm>
          <a:prstGeom prst="rect">
            <a:avLst/>
          </a:prstGeom>
          <a:noFill/>
          <a:ln>
            <a:noFill/>
          </a:ln>
        </p:spPr>
      </p:pic>
      <p:pic>
        <p:nvPicPr>
          <p:cNvPr id="9" name="Content Placeholder 4">
            <a:extLst>
              <a:ext uri="{FF2B5EF4-FFF2-40B4-BE49-F238E27FC236}">
                <a16:creationId xmlns:a16="http://schemas.microsoft.com/office/drawing/2014/main" xmlns="" id="{BD866EDD-5206-F770-C16A-8519D6C1BAB7}"/>
              </a:ext>
            </a:extLst>
          </p:cNvPr>
          <p:cNvPicPr>
            <a:picLocks noGrp="1" noChangeAspect="1"/>
          </p:cNvPicPr>
          <p:nvPr>
            <p:ph idx="1"/>
          </p:nvPr>
        </p:nvPicPr>
        <p:blipFill>
          <a:blip r:embed="rId3"/>
          <a:stretch>
            <a:fillRect/>
          </a:stretch>
        </p:blipFill>
        <p:spPr>
          <a:xfrm>
            <a:off x="470365" y="1789470"/>
            <a:ext cx="8287211" cy="4159046"/>
          </a:xfrm>
        </p:spPr>
      </p:pic>
    </p:spTree>
    <p:extLst>
      <p:ext uri="{BB962C8B-B14F-4D97-AF65-F5344CB8AC3E}">
        <p14:creationId xmlns:p14="http://schemas.microsoft.com/office/powerpoint/2010/main" val="75163517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ounded Rectangle 4"/>
          <p:cNvSpPr/>
          <p:nvPr/>
        </p:nvSpPr>
        <p:spPr>
          <a:xfrm>
            <a:off x="1396092" y="563336"/>
            <a:ext cx="6662059" cy="65748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 name="Title 1">
            <a:extLst>
              <a:ext uri="{FF2B5EF4-FFF2-40B4-BE49-F238E27FC236}">
                <a16:creationId xmlns:a16="http://schemas.microsoft.com/office/drawing/2014/main" xmlns="" id="{0DD74D89-5CAD-A69A-BE6A-8ED003A5DE30}"/>
              </a:ext>
            </a:extLst>
          </p:cNvPr>
          <p:cNvSpPr>
            <a:spLocks noGrp="1"/>
          </p:cNvSpPr>
          <p:nvPr>
            <p:ph type="title"/>
          </p:nvPr>
        </p:nvSpPr>
        <p:spPr>
          <a:xfrm>
            <a:off x="1246075" y="481830"/>
            <a:ext cx="6962091" cy="783774"/>
          </a:xfrm>
        </p:spPr>
        <p:txBody>
          <a:bodyPr>
            <a:noAutofit/>
          </a:bodyPr>
          <a:lstStyle/>
          <a:p>
            <a:pPr algn="ctr">
              <a:lnSpc>
                <a:spcPct val="125000"/>
              </a:lnSpc>
              <a:buClr>
                <a:srgbClr val="F5F0F0"/>
              </a:buClr>
              <a:buSzPts val="4860"/>
            </a:pPr>
            <a:r>
              <a:rPr lang="en-IN" sz="2400" dirty="0">
                <a:ea typeface="Calibri" panose="020F0502020204030204" pitchFamily="34" charset="0"/>
                <a:cs typeface="Calibri" panose="020F0502020204030204" pitchFamily="34" charset="0"/>
              </a:rPr>
              <a:t>How Does A Tokenized Transaction Work</a:t>
            </a:r>
            <a:endParaRPr lang="en-US" sz="2400" dirty="0">
              <a:solidFill>
                <a:schemeClr val="tx1"/>
              </a:solidFill>
              <a:ea typeface="Calibri"/>
              <a:cs typeface="Calibri"/>
              <a:sym typeface="Calibri"/>
            </a:endParaRPr>
          </a:p>
        </p:txBody>
      </p:sp>
      <p:sp>
        <p:nvSpPr>
          <p:cNvPr id="10" name="Rounded Rectangle 9"/>
          <p:cNvSpPr/>
          <p:nvPr/>
        </p:nvSpPr>
        <p:spPr>
          <a:xfrm>
            <a:off x="263297" y="2605926"/>
            <a:ext cx="1957388" cy="79138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b="1" kern="100" dirty="0">
                <a:effectLst/>
                <a:latin typeface="+mj-lt"/>
                <a:ea typeface="Calibri" panose="020F0502020204030204" pitchFamily="34" charset="0"/>
                <a:cs typeface="Times New Roman" panose="02020603050405020304" pitchFamily="18" charset="0"/>
              </a:rPr>
              <a:t>Merchant's Role</a:t>
            </a:r>
            <a:endParaRPr lang="en-IN" sz="1600" dirty="0">
              <a:latin typeface="+mj-lt"/>
            </a:endParaRPr>
          </a:p>
        </p:txBody>
      </p:sp>
      <p:sp>
        <p:nvSpPr>
          <p:cNvPr id="11" name="Rounded Rectangle 10"/>
          <p:cNvSpPr/>
          <p:nvPr/>
        </p:nvSpPr>
        <p:spPr>
          <a:xfrm>
            <a:off x="263298" y="1476692"/>
            <a:ext cx="1957388" cy="73950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rgbClr val="E2E6E9"/>
              </a:buClr>
              <a:buSzPts val="2430"/>
            </a:pPr>
            <a:r>
              <a:rPr lang="en-IN" sz="1600" b="1" kern="100" dirty="0">
                <a:effectLst/>
                <a:latin typeface="+mj-lt"/>
                <a:ea typeface="Calibri" panose="020F0502020204030204" pitchFamily="34" charset="0"/>
                <a:cs typeface="Times New Roman" panose="02020603050405020304" pitchFamily="18" charset="0"/>
              </a:rPr>
              <a:t>Customer Payment</a:t>
            </a:r>
            <a:endParaRPr lang="en-US" sz="1600" b="1" dirty="0">
              <a:solidFill>
                <a:schemeClr val="dk1"/>
              </a:solidFill>
              <a:latin typeface="+mj-lt"/>
              <a:ea typeface="Calibri"/>
              <a:cs typeface="Calibri"/>
              <a:sym typeface="Calibri"/>
            </a:endParaRPr>
          </a:p>
        </p:txBody>
      </p:sp>
      <p:sp>
        <p:nvSpPr>
          <p:cNvPr id="12" name="Rounded Rectangle 11"/>
          <p:cNvSpPr/>
          <p:nvPr/>
        </p:nvSpPr>
        <p:spPr>
          <a:xfrm>
            <a:off x="263297" y="3813724"/>
            <a:ext cx="1957388" cy="73671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b="1" dirty="0">
                <a:effectLst/>
                <a:latin typeface="+mj-lt"/>
                <a:ea typeface="Calibri" panose="020F0502020204030204" pitchFamily="34" charset="0"/>
                <a:cs typeface="Times New Roman" panose="02020603050405020304" pitchFamily="18" charset="0"/>
              </a:rPr>
              <a:t>Merchant Acquirer</a:t>
            </a:r>
            <a:endParaRPr lang="en-US" sz="1600" b="1" dirty="0">
              <a:latin typeface="+mj-lt"/>
              <a:ea typeface="Calibri" panose="020F0502020204030204" pitchFamily="34" charset="0"/>
              <a:cs typeface="Calibri" panose="020F0502020204030204" pitchFamily="34" charset="0"/>
            </a:endParaRPr>
          </a:p>
        </p:txBody>
      </p:sp>
      <p:sp>
        <p:nvSpPr>
          <p:cNvPr id="13" name="Rounded Rectangle 12"/>
          <p:cNvSpPr/>
          <p:nvPr/>
        </p:nvSpPr>
        <p:spPr>
          <a:xfrm>
            <a:off x="263297" y="4984349"/>
            <a:ext cx="1957388" cy="73671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b="1" kern="100" dirty="0">
                <a:effectLst/>
                <a:latin typeface="+mj-lt"/>
                <a:ea typeface="Calibri" panose="020F0502020204030204" pitchFamily="34" charset="0"/>
                <a:cs typeface="Times New Roman" panose="02020603050405020304" pitchFamily="18" charset="0"/>
              </a:rPr>
              <a:t>Network and Security</a:t>
            </a:r>
            <a:endParaRPr lang="en-IN" sz="1600" dirty="0">
              <a:latin typeface="+mj-lt"/>
            </a:endParaRPr>
          </a:p>
        </p:txBody>
      </p:sp>
      <p:sp>
        <p:nvSpPr>
          <p:cNvPr id="15" name="TextBox 14"/>
          <p:cNvSpPr txBox="1"/>
          <p:nvPr/>
        </p:nvSpPr>
        <p:spPr>
          <a:xfrm>
            <a:off x="2469767" y="1510654"/>
            <a:ext cx="6410934" cy="954107"/>
          </a:xfrm>
          <a:prstGeom prst="rect">
            <a:avLst/>
          </a:prstGeom>
          <a:noFill/>
        </p:spPr>
        <p:txBody>
          <a:bodyPr wrap="square" rtlCol="0">
            <a:spAutoFit/>
          </a:bodyPr>
          <a:lstStyle/>
          <a:p>
            <a:r>
              <a:rPr lang="en-IN" sz="1400" kern="100" dirty="0">
                <a:effectLst/>
                <a:latin typeface="+mj-lt"/>
                <a:ea typeface="Calibri" panose="020F0502020204030204" pitchFamily="34" charset="0"/>
                <a:cs typeface="Times New Roman" panose="02020603050405020304" pitchFamily="18" charset="0"/>
              </a:rPr>
              <a:t>When a customer makes a payment, either online or via tap-to-pay, a token is generated and sent to the merchant. This token represents the customer's payment information without exposing their actual account details.</a:t>
            </a:r>
          </a:p>
        </p:txBody>
      </p:sp>
      <p:sp>
        <p:nvSpPr>
          <p:cNvPr id="16" name="TextBox 15"/>
          <p:cNvSpPr txBox="1"/>
          <p:nvPr/>
        </p:nvSpPr>
        <p:spPr>
          <a:xfrm>
            <a:off x="2469768" y="2627867"/>
            <a:ext cx="6598864" cy="738664"/>
          </a:xfrm>
          <a:prstGeom prst="rect">
            <a:avLst/>
          </a:prstGeom>
          <a:noFill/>
        </p:spPr>
        <p:txBody>
          <a:bodyPr wrap="square" rtlCol="0">
            <a:spAutoFit/>
          </a:bodyPr>
          <a:lstStyle/>
          <a:p>
            <a:r>
              <a:rPr lang="en-IN" sz="1400" kern="100" dirty="0">
                <a:effectLst/>
                <a:latin typeface="+mj-lt"/>
                <a:ea typeface="Calibri" panose="020F0502020204030204" pitchFamily="34" charset="0"/>
                <a:cs typeface="Times New Roman" panose="02020603050405020304" pitchFamily="18" charset="0"/>
              </a:rPr>
              <a:t>The merchant receives the token and passes it along to their Merchant Acquirer, which is typically a bank or financial institution that processes credit and debit card payments on behalf of the merchant.</a:t>
            </a:r>
          </a:p>
        </p:txBody>
      </p:sp>
      <p:sp>
        <p:nvSpPr>
          <p:cNvPr id="17" name="TextBox 16"/>
          <p:cNvSpPr txBox="1"/>
          <p:nvPr/>
        </p:nvSpPr>
        <p:spPr>
          <a:xfrm>
            <a:off x="2541728" y="5029414"/>
            <a:ext cx="6032150" cy="738664"/>
          </a:xfrm>
          <a:prstGeom prst="rect">
            <a:avLst/>
          </a:prstGeom>
          <a:noFill/>
        </p:spPr>
        <p:txBody>
          <a:bodyPr wrap="square" rtlCol="0">
            <a:spAutoFit/>
          </a:bodyPr>
          <a:lstStyle/>
          <a:p>
            <a:r>
              <a:rPr lang="en-IN" sz="1400" kern="100" dirty="0">
                <a:effectLst/>
                <a:latin typeface="+mj-lt"/>
                <a:ea typeface="Calibri" panose="020F0502020204030204" pitchFamily="34" charset="0"/>
                <a:cs typeface="Times New Roman" panose="02020603050405020304" pitchFamily="18" charset="0"/>
              </a:rPr>
              <a:t>Once the payment network receives the token, the data is securely transmitted and stored within a secure bank vault, known as the Token Vault.</a:t>
            </a:r>
            <a:endParaRPr lang="en-US" sz="1400" dirty="0">
              <a:latin typeface="+mj-lt"/>
              <a:ea typeface="Calibri" panose="020F0502020204030204" pitchFamily="34" charset="0"/>
              <a:cs typeface="Calibri" panose="020F0502020204030204" pitchFamily="34" charset="0"/>
            </a:endParaRPr>
          </a:p>
        </p:txBody>
      </p:sp>
      <p:sp>
        <p:nvSpPr>
          <p:cNvPr id="18" name="TextBox 17"/>
          <p:cNvSpPr txBox="1"/>
          <p:nvPr/>
        </p:nvSpPr>
        <p:spPr>
          <a:xfrm rot="10800000" flipV="1">
            <a:off x="2483985" y="3904112"/>
            <a:ext cx="6660016" cy="523220"/>
          </a:xfrm>
          <a:prstGeom prst="rect">
            <a:avLst/>
          </a:prstGeom>
          <a:noFill/>
        </p:spPr>
        <p:txBody>
          <a:bodyPr wrap="square" rtlCol="0">
            <a:spAutoFit/>
          </a:bodyPr>
          <a:lstStyle/>
          <a:p>
            <a:pPr algn="just"/>
            <a:r>
              <a:rPr lang="en-IN" sz="1400" dirty="0">
                <a:effectLst/>
                <a:latin typeface="+mj-lt"/>
                <a:ea typeface="Calibri" panose="020F0502020204030204" pitchFamily="34" charset="0"/>
                <a:cs typeface="Times New Roman" panose="02020603050405020304" pitchFamily="18" charset="0"/>
              </a:rPr>
              <a:t>The Merchant Acquirer forwards the token to the payment network, such as Visa, MasterCard, or another card network.</a:t>
            </a:r>
            <a:endParaRPr lang="en-US" sz="1400" dirty="0">
              <a:latin typeface="+mj-lt"/>
              <a:ea typeface="Calibri" panose="020F0502020204030204" pitchFamily="34" charset="0"/>
              <a:cs typeface="Calibri" panose="020F0502020204030204" pitchFamily="34" charset="0"/>
            </a:endParaRPr>
          </a:p>
        </p:txBody>
      </p:sp>
      <p:pic>
        <p:nvPicPr>
          <p:cNvPr id="21" name="Google Shape;23;p3"/>
          <p:cNvPicPr preferRelativeResize="0"/>
          <p:nvPr/>
        </p:nvPicPr>
        <p:blipFill rotWithShape="1">
          <a:blip r:embed="rId2">
            <a:alphaModFix/>
          </a:blip>
          <a:srcRect/>
          <a:stretch/>
        </p:blipFill>
        <p:spPr>
          <a:xfrm>
            <a:off x="7847791" y="241857"/>
            <a:ext cx="1220840" cy="321479"/>
          </a:xfrm>
          <a:prstGeom prst="rect">
            <a:avLst/>
          </a:prstGeom>
          <a:noFill/>
          <a:ln>
            <a:noFill/>
          </a:ln>
        </p:spPr>
      </p:pic>
    </p:spTree>
    <p:extLst>
      <p:ext uri="{BB962C8B-B14F-4D97-AF65-F5344CB8AC3E}">
        <p14:creationId xmlns:p14="http://schemas.microsoft.com/office/powerpoint/2010/main" val="154428849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ounded Rectangle 4"/>
          <p:cNvSpPr/>
          <p:nvPr/>
        </p:nvSpPr>
        <p:spPr>
          <a:xfrm>
            <a:off x="1396092" y="563336"/>
            <a:ext cx="6662059" cy="65748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 name="Title 1">
            <a:extLst>
              <a:ext uri="{FF2B5EF4-FFF2-40B4-BE49-F238E27FC236}">
                <a16:creationId xmlns:a16="http://schemas.microsoft.com/office/drawing/2014/main" xmlns="" id="{0DD74D89-5CAD-A69A-BE6A-8ED003A5DE30}"/>
              </a:ext>
            </a:extLst>
          </p:cNvPr>
          <p:cNvSpPr>
            <a:spLocks noGrp="1"/>
          </p:cNvSpPr>
          <p:nvPr>
            <p:ph type="title"/>
          </p:nvPr>
        </p:nvSpPr>
        <p:spPr>
          <a:xfrm>
            <a:off x="1246075" y="481830"/>
            <a:ext cx="6962091" cy="783774"/>
          </a:xfrm>
        </p:spPr>
        <p:txBody>
          <a:bodyPr>
            <a:noAutofit/>
          </a:bodyPr>
          <a:lstStyle/>
          <a:p>
            <a:pPr algn="ctr">
              <a:lnSpc>
                <a:spcPct val="125000"/>
              </a:lnSpc>
              <a:buClr>
                <a:srgbClr val="F5F0F0"/>
              </a:buClr>
              <a:buSzPts val="4860"/>
            </a:pPr>
            <a:r>
              <a:rPr lang="en-IN" sz="2400" dirty="0">
                <a:ea typeface="Calibri" panose="020F0502020204030204" pitchFamily="34" charset="0"/>
                <a:cs typeface="Calibri" panose="020F0502020204030204" pitchFamily="34" charset="0"/>
              </a:rPr>
              <a:t>How Does A Tokenized Transaction Work</a:t>
            </a:r>
            <a:endParaRPr lang="en-US" sz="2400" dirty="0">
              <a:solidFill>
                <a:schemeClr val="tx1"/>
              </a:solidFill>
              <a:ea typeface="Calibri"/>
              <a:cs typeface="Calibri"/>
              <a:sym typeface="Calibri"/>
            </a:endParaRPr>
          </a:p>
        </p:txBody>
      </p:sp>
      <p:sp>
        <p:nvSpPr>
          <p:cNvPr id="10" name="Rounded Rectangle 9"/>
          <p:cNvSpPr/>
          <p:nvPr/>
        </p:nvSpPr>
        <p:spPr>
          <a:xfrm>
            <a:off x="263297" y="2605926"/>
            <a:ext cx="1957388" cy="79138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b="1" kern="100" dirty="0">
                <a:effectLst/>
                <a:latin typeface="+mj-lt"/>
                <a:ea typeface="Calibri" panose="020F0502020204030204" pitchFamily="34" charset="0"/>
                <a:cs typeface="Times New Roman" panose="02020603050405020304" pitchFamily="18" charset="0"/>
              </a:rPr>
              <a:t>Token and Account Information</a:t>
            </a:r>
            <a:endParaRPr lang="en-IN" sz="1600" dirty="0">
              <a:latin typeface="+mj-lt"/>
            </a:endParaRPr>
          </a:p>
        </p:txBody>
      </p:sp>
      <p:sp>
        <p:nvSpPr>
          <p:cNvPr id="11" name="Rounded Rectangle 10"/>
          <p:cNvSpPr/>
          <p:nvPr/>
        </p:nvSpPr>
        <p:spPr>
          <a:xfrm>
            <a:off x="263298" y="1476692"/>
            <a:ext cx="1957388" cy="73950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rgbClr val="E2E6E9"/>
              </a:buClr>
              <a:buSzPts val="2430"/>
            </a:pPr>
            <a:r>
              <a:rPr lang="en-IN" sz="1600" b="1" kern="100" dirty="0">
                <a:effectLst/>
                <a:latin typeface="+mj-lt"/>
                <a:ea typeface="Calibri" panose="020F0502020204030204" pitchFamily="34" charset="0"/>
                <a:cs typeface="Times New Roman" panose="02020603050405020304" pitchFamily="18" charset="0"/>
              </a:rPr>
              <a:t>Token Vault</a:t>
            </a:r>
            <a:endParaRPr lang="en-US" sz="1600" b="1" dirty="0">
              <a:solidFill>
                <a:schemeClr val="dk1"/>
              </a:solidFill>
              <a:latin typeface="+mj-lt"/>
              <a:ea typeface="Calibri"/>
              <a:cs typeface="Calibri"/>
              <a:sym typeface="Calibri"/>
            </a:endParaRPr>
          </a:p>
        </p:txBody>
      </p:sp>
      <p:sp>
        <p:nvSpPr>
          <p:cNvPr id="12" name="Rounded Rectangle 11"/>
          <p:cNvSpPr/>
          <p:nvPr/>
        </p:nvSpPr>
        <p:spPr>
          <a:xfrm>
            <a:off x="263297" y="3813724"/>
            <a:ext cx="1957388" cy="73671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b="1" kern="100" dirty="0">
                <a:effectLst/>
                <a:latin typeface="+mj-lt"/>
                <a:ea typeface="Calibri" panose="020F0502020204030204" pitchFamily="34" charset="0"/>
                <a:cs typeface="Times New Roman" panose="02020603050405020304" pitchFamily="18" charset="0"/>
              </a:rPr>
              <a:t>Bank Verification</a:t>
            </a:r>
            <a:endParaRPr lang="en-US" sz="1600" b="1" dirty="0">
              <a:latin typeface="+mj-lt"/>
              <a:ea typeface="Calibri" panose="020F0502020204030204" pitchFamily="34" charset="0"/>
              <a:cs typeface="Calibri" panose="020F0502020204030204" pitchFamily="34" charset="0"/>
            </a:endParaRPr>
          </a:p>
        </p:txBody>
      </p:sp>
      <p:sp>
        <p:nvSpPr>
          <p:cNvPr id="13" name="Rounded Rectangle 12"/>
          <p:cNvSpPr/>
          <p:nvPr/>
        </p:nvSpPr>
        <p:spPr>
          <a:xfrm>
            <a:off x="263297" y="4984349"/>
            <a:ext cx="1957388" cy="73671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b="1" dirty="0">
                <a:effectLst/>
                <a:latin typeface="+mj-lt"/>
                <a:ea typeface="Calibri" panose="020F0502020204030204" pitchFamily="34" charset="0"/>
                <a:cs typeface="Times New Roman" panose="02020603050405020304" pitchFamily="18" charset="0"/>
              </a:rPr>
              <a:t>Authorization</a:t>
            </a:r>
            <a:endParaRPr lang="en-IN" sz="1600" dirty="0">
              <a:latin typeface="+mj-lt"/>
            </a:endParaRPr>
          </a:p>
        </p:txBody>
      </p:sp>
      <p:sp>
        <p:nvSpPr>
          <p:cNvPr id="15" name="TextBox 14"/>
          <p:cNvSpPr txBox="1"/>
          <p:nvPr/>
        </p:nvSpPr>
        <p:spPr>
          <a:xfrm>
            <a:off x="2469766" y="1510654"/>
            <a:ext cx="6494721" cy="738664"/>
          </a:xfrm>
          <a:prstGeom prst="rect">
            <a:avLst/>
          </a:prstGeom>
          <a:noFill/>
        </p:spPr>
        <p:txBody>
          <a:bodyPr wrap="square" rtlCol="0">
            <a:spAutoFit/>
          </a:bodyPr>
          <a:lstStyle/>
          <a:p>
            <a:pPr algn="just"/>
            <a:r>
              <a:rPr lang="en-IN" sz="1400" kern="100" dirty="0">
                <a:effectLst/>
                <a:latin typeface="+mj-lt"/>
                <a:ea typeface="Calibri" panose="020F0502020204030204" pitchFamily="34" charset="0"/>
                <a:cs typeface="Times New Roman" panose="02020603050405020304" pitchFamily="18" charset="0"/>
              </a:rPr>
              <a:t>The payment network consults the Token Vault, where the token is matched with the customer’s actual account number. This ensures that the token can be securely linked back to the correct account.</a:t>
            </a:r>
          </a:p>
        </p:txBody>
      </p:sp>
      <p:sp>
        <p:nvSpPr>
          <p:cNvPr id="16" name="TextBox 15"/>
          <p:cNvSpPr txBox="1"/>
          <p:nvPr/>
        </p:nvSpPr>
        <p:spPr>
          <a:xfrm>
            <a:off x="2483985" y="2692279"/>
            <a:ext cx="6598864" cy="523220"/>
          </a:xfrm>
          <a:prstGeom prst="rect">
            <a:avLst/>
          </a:prstGeom>
          <a:noFill/>
        </p:spPr>
        <p:txBody>
          <a:bodyPr wrap="square" rtlCol="0">
            <a:spAutoFit/>
          </a:bodyPr>
          <a:lstStyle/>
          <a:p>
            <a:pPr algn="just"/>
            <a:r>
              <a:rPr lang="en-IN" sz="1400" kern="100" dirty="0">
                <a:effectLst/>
                <a:latin typeface="+mj-lt"/>
                <a:ea typeface="Calibri" panose="020F0502020204030204" pitchFamily="34" charset="0"/>
                <a:cs typeface="Times New Roman" panose="02020603050405020304" pitchFamily="18" charset="0"/>
              </a:rPr>
              <a:t>The network then passes the token, along with the associated personal account number, to the customer’s bank.</a:t>
            </a:r>
          </a:p>
        </p:txBody>
      </p:sp>
      <p:sp>
        <p:nvSpPr>
          <p:cNvPr id="17" name="TextBox 16"/>
          <p:cNvSpPr txBox="1"/>
          <p:nvPr/>
        </p:nvSpPr>
        <p:spPr>
          <a:xfrm>
            <a:off x="2541728" y="5029414"/>
            <a:ext cx="6422760" cy="738664"/>
          </a:xfrm>
          <a:prstGeom prst="rect">
            <a:avLst/>
          </a:prstGeom>
          <a:noFill/>
        </p:spPr>
        <p:txBody>
          <a:bodyPr wrap="square" rtlCol="0">
            <a:spAutoFit/>
          </a:bodyPr>
          <a:lstStyle/>
          <a:p>
            <a:pPr algn="just"/>
            <a:r>
              <a:rPr lang="en-IN" sz="1400" dirty="0">
                <a:effectLst/>
                <a:latin typeface="+mj-lt"/>
                <a:ea typeface="Calibri" panose="020F0502020204030204" pitchFamily="34" charset="0"/>
                <a:cs typeface="Times New Roman" panose="02020603050405020304" pitchFamily="18" charset="0"/>
              </a:rPr>
              <a:t>Once the bank authorizes the transaction, this authorization is sent back through the network to the Merchant Acquirer, and finally to the merchant, completing the transaction.</a:t>
            </a:r>
            <a:endParaRPr lang="en-US" sz="1400" dirty="0">
              <a:latin typeface="+mj-lt"/>
              <a:ea typeface="Calibri" panose="020F0502020204030204" pitchFamily="34" charset="0"/>
              <a:cs typeface="Calibri" panose="020F0502020204030204" pitchFamily="34" charset="0"/>
            </a:endParaRPr>
          </a:p>
        </p:txBody>
      </p:sp>
      <p:sp>
        <p:nvSpPr>
          <p:cNvPr id="18" name="TextBox 17"/>
          <p:cNvSpPr txBox="1"/>
          <p:nvPr/>
        </p:nvSpPr>
        <p:spPr>
          <a:xfrm rot="10800000" flipV="1">
            <a:off x="2483985" y="3904113"/>
            <a:ext cx="6660016" cy="523220"/>
          </a:xfrm>
          <a:prstGeom prst="rect">
            <a:avLst/>
          </a:prstGeom>
          <a:noFill/>
        </p:spPr>
        <p:txBody>
          <a:bodyPr wrap="square" rtlCol="0">
            <a:spAutoFit/>
          </a:bodyPr>
          <a:lstStyle/>
          <a:p>
            <a:pPr algn="just"/>
            <a:r>
              <a:rPr lang="en-IN" sz="1400" kern="100" dirty="0">
                <a:effectLst/>
                <a:latin typeface="+mj-lt"/>
                <a:ea typeface="Calibri" panose="020F0502020204030204" pitchFamily="34" charset="0"/>
                <a:cs typeface="Times New Roman" panose="02020603050405020304" pitchFamily="18" charset="0"/>
              </a:rPr>
              <a:t>The bank verifies that the customer has sufficient funds and authorizes the transaction.</a:t>
            </a:r>
            <a:endParaRPr lang="en-US" sz="1400" dirty="0">
              <a:latin typeface="+mj-lt"/>
              <a:ea typeface="Calibri" panose="020F0502020204030204" pitchFamily="34" charset="0"/>
              <a:cs typeface="Calibri" panose="020F0502020204030204" pitchFamily="34" charset="0"/>
            </a:endParaRPr>
          </a:p>
        </p:txBody>
      </p:sp>
      <p:pic>
        <p:nvPicPr>
          <p:cNvPr id="21" name="Google Shape;23;p3"/>
          <p:cNvPicPr preferRelativeResize="0"/>
          <p:nvPr/>
        </p:nvPicPr>
        <p:blipFill rotWithShape="1">
          <a:blip r:embed="rId2">
            <a:alphaModFix/>
          </a:blip>
          <a:srcRect/>
          <a:stretch/>
        </p:blipFill>
        <p:spPr>
          <a:xfrm>
            <a:off x="7847791" y="241857"/>
            <a:ext cx="1220840" cy="321479"/>
          </a:xfrm>
          <a:prstGeom prst="rect">
            <a:avLst/>
          </a:prstGeom>
          <a:noFill/>
          <a:ln>
            <a:noFill/>
          </a:ln>
        </p:spPr>
      </p:pic>
    </p:spTree>
    <p:extLst>
      <p:ext uri="{BB962C8B-B14F-4D97-AF65-F5344CB8AC3E}">
        <p14:creationId xmlns:p14="http://schemas.microsoft.com/office/powerpoint/2010/main" val="130882763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D283D38-AA42-5B2E-ADF4-45F3F0B201FF}"/>
              </a:ext>
            </a:extLst>
          </p:cNvPr>
          <p:cNvSpPr>
            <a:spLocks noGrp="1"/>
          </p:cNvSpPr>
          <p:nvPr>
            <p:ph type="title"/>
          </p:nvPr>
        </p:nvSpPr>
        <p:spPr>
          <a:xfrm>
            <a:off x="964967" y="548680"/>
            <a:ext cx="6953398" cy="765757"/>
          </a:xfrm>
          <a:solidFill>
            <a:srgbClr val="0099CC"/>
          </a:solidFill>
        </p:spPr>
        <p:txBody>
          <a:bodyPr/>
          <a:lstStyle/>
          <a:p>
            <a:pPr marL="0" indent="0" algn="ctr">
              <a:lnSpc>
                <a:spcPts val="5249"/>
              </a:lnSpc>
            </a:pPr>
            <a:r>
              <a:rPr lang="en-US" sz="3600" dirty="0">
                <a:solidFill>
                  <a:srgbClr val="F5F0F0"/>
                </a:solidFill>
                <a:latin typeface="Asar" pitchFamily="34" charset="0"/>
                <a:ea typeface="Asar" pitchFamily="34" charset="-122"/>
                <a:cs typeface="Asar" pitchFamily="34" charset="-120"/>
              </a:rPr>
              <a:t>Secure </a:t>
            </a:r>
            <a:r>
              <a:rPr lang="en-US" sz="3600" dirty="0" smtClean="0">
                <a:solidFill>
                  <a:srgbClr val="F5F0F0"/>
                </a:solidFill>
                <a:latin typeface="Asar" pitchFamily="34" charset="0"/>
                <a:ea typeface="Asar" pitchFamily="34" charset="-122"/>
                <a:cs typeface="Asar" pitchFamily="34" charset="-120"/>
              </a:rPr>
              <a:t>Element Token</a:t>
            </a:r>
            <a:endParaRPr lang="en-US" sz="3600" dirty="0"/>
          </a:p>
        </p:txBody>
      </p:sp>
      <p:sp>
        <p:nvSpPr>
          <p:cNvPr id="3" name="Content Placeholder 2">
            <a:extLst>
              <a:ext uri="{FF2B5EF4-FFF2-40B4-BE49-F238E27FC236}">
                <a16:creationId xmlns="" xmlns:a16="http://schemas.microsoft.com/office/drawing/2014/main" id="{F683723B-F119-4302-BF18-666FE5899D10}"/>
              </a:ext>
            </a:extLst>
          </p:cNvPr>
          <p:cNvSpPr>
            <a:spLocks noGrp="1"/>
          </p:cNvSpPr>
          <p:nvPr>
            <p:ph idx="1"/>
          </p:nvPr>
        </p:nvSpPr>
        <p:spPr>
          <a:xfrm>
            <a:off x="395536" y="1574731"/>
            <a:ext cx="8229600" cy="4525963"/>
          </a:xfrm>
        </p:spPr>
        <p:txBody>
          <a:bodyPr>
            <a:normAutofit/>
          </a:bodyPr>
          <a:lstStyle/>
          <a:p>
            <a:pPr marL="0" indent="0">
              <a:buNone/>
            </a:pPr>
            <a:r>
              <a:rPr lang="en-IN" sz="3200" b="1" dirty="0" smtClean="0"/>
              <a:t>Description:</a:t>
            </a:r>
          </a:p>
          <a:p>
            <a:pPr marL="0" indent="0">
              <a:lnSpc>
                <a:spcPts val="2687"/>
              </a:lnSpc>
              <a:buNone/>
            </a:pPr>
            <a:r>
              <a:rPr lang="en-US" sz="2000" dirty="0"/>
              <a:t>A Secure Element (SE) token is a device-based token that is provisioned to a secure element within the device. This secure element can be a dedicated chip embedded in the device, such as a SIM card, a microSD card, or an embedded secure element (</a:t>
            </a:r>
            <a:r>
              <a:rPr lang="en-US" sz="2000" dirty="0" err="1"/>
              <a:t>eSE</a:t>
            </a:r>
            <a:r>
              <a:rPr lang="en-US" sz="2000" dirty="0"/>
              <a:t>) in smartphones.</a:t>
            </a:r>
          </a:p>
          <a:p>
            <a:pPr marL="0" indent="0" algn="just"/>
            <a:r>
              <a:rPr lang="en-IN" sz="2000" b="1" dirty="0"/>
              <a:t>Authentication Process</a:t>
            </a:r>
            <a:r>
              <a:rPr lang="en-IN" sz="2000" b="1" dirty="0" smtClean="0"/>
              <a:t>: </a:t>
            </a:r>
          </a:p>
          <a:p>
            <a:pPr marL="0" indent="0" algn="just"/>
            <a:r>
              <a:rPr lang="en-US" sz="1800" b="1" dirty="0" smtClean="0"/>
              <a:t>Device </a:t>
            </a:r>
            <a:r>
              <a:rPr lang="en-US" sz="1800" b="1" dirty="0"/>
              <a:t>binding</a:t>
            </a:r>
            <a:r>
              <a:rPr lang="en-US" sz="1800" dirty="0"/>
              <a:t>: Tokens are bound to the secure element of the device, ensuring that only the designated device can use the token. </a:t>
            </a:r>
            <a:endParaRPr lang="en-US" sz="1800" dirty="0" smtClean="0"/>
          </a:p>
          <a:p>
            <a:pPr marL="0" indent="0" algn="just"/>
            <a:r>
              <a:rPr lang="en-US" sz="1800" b="1" dirty="0" smtClean="0"/>
              <a:t>Issuer </a:t>
            </a:r>
            <a:r>
              <a:rPr lang="en-US" sz="1800" b="1" dirty="0"/>
              <a:t>ID &amp; V provisioning</a:t>
            </a:r>
            <a:r>
              <a:rPr lang="en-US" sz="1800" dirty="0"/>
              <a:t>: The issuing bank or institution provides identity and verification (ID &amp; V) data to the secure element. </a:t>
            </a:r>
            <a:endParaRPr lang="en-US" sz="1800" dirty="0" smtClean="0"/>
          </a:p>
          <a:p>
            <a:pPr marL="0" indent="0" algn="just"/>
            <a:r>
              <a:rPr lang="en-US" sz="1800" b="1" dirty="0" smtClean="0"/>
              <a:t>Cryptogram </a:t>
            </a:r>
            <a:r>
              <a:rPr lang="en-US" sz="1800" b="1" dirty="0"/>
              <a:t>validation</a:t>
            </a:r>
            <a:r>
              <a:rPr lang="en-US" sz="1800" dirty="0"/>
              <a:t>: During each transaction, a dynamic cryptogram is generated and validated by the issuer to ensure the transaction’s authenticity.</a:t>
            </a:r>
          </a:p>
          <a:p>
            <a:pPr marL="0" indent="0" algn="just"/>
            <a:endParaRPr lang="en-US" sz="2000" dirty="0"/>
          </a:p>
          <a:p>
            <a:pPr marL="0" indent="0" algn="just">
              <a:buNone/>
            </a:pPr>
            <a:endParaRPr lang="en-US" sz="2000" dirty="0"/>
          </a:p>
          <a:p>
            <a:pPr marL="0" indent="0" algn="just">
              <a:buNone/>
            </a:pPr>
            <a:endParaRPr lang="en-US" sz="2000" dirty="0"/>
          </a:p>
          <a:p>
            <a:pPr marL="0" indent="0" algn="just">
              <a:buNone/>
            </a:pPr>
            <a:endParaRPr lang="en-US" sz="2000" dirty="0"/>
          </a:p>
        </p:txBody>
      </p:sp>
      <p:sp>
        <p:nvSpPr>
          <p:cNvPr id="5" name="Rectangle 4"/>
          <p:cNvSpPr/>
          <p:nvPr/>
        </p:nvSpPr>
        <p:spPr>
          <a:xfrm>
            <a:off x="2483768" y="6093296"/>
            <a:ext cx="3915796" cy="555171"/>
          </a:xfrm>
          <a:prstGeom prst="rect">
            <a:avLst/>
          </a:prstGeom>
          <a:solidFill>
            <a:srgbClr val="00CC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smtClean="0"/>
              <a:t>Examples: </a:t>
            </a:r>
            <a:r>
              <a:rPr lang="en-US" sz="1400" dirty="0">
                <a:solidFill>
                  <a:schemeClr val="bg1"/>
                </a:solidFill>
              </a:rPr>
              <a:t>Apple Pay, Samsung Pay (with </a:t>
            </a:r>
            <a:r>
              <a:rPr lang="en-US" sz="1400" dirty="0" err="1">
                <a:solidFill>
                  <a:schemeClr val="bg1"/>
                </a:solidFill>
              </a:rPr>
              <a:t>eSE</a:t>
            </a:r>
            <a:r>
              <a:rPr lang="en-US" sz="1400" dirty="0">
                <a:solidFill>
                  <a:schemeClr val="bg1"/>
                </a:solidFill>
              </a:rPr>
              <a:t>).</a:t>
            </a:r>
          </a:p>
          <a:p>
            <a:pPr algn="ctr"/>
            <a:endParaRPr lang="en-IN" sz="1400" dirty="0"/>
          </a:p>
        </p:txBody>
      </p:sp>
      <p:pic>
        <p:nvPicPr>
          <p:cNvPr id="7" name="Google Shape;23;p3"/>
          <p:cNvPicPr preferRelativeResize="0"/>
          <p:nvPr/>
        </p:nvPicPr>
        <p:blipFill rotWithShape="1">
          <a:blip r:embed="rId2">
            <a:alphaModFix/>
          </a:blip>
          <a:srcRect/>
          <a:stretch/>
        </p:blipFill>
        <p:spPr>
          <a:xfrm>
            <a:off x="7775848" y="118105"/>
            <a:ext cx="1220840" cy="321479"/>
          </a:xfrm>
          <a:prstGeom prst="rect">
            <a:avLst/>
          </a:prstGeom>
          <a:noFill/>
          <a:ln>
            <a:noFill/>
          </a:ln>
        </p:spPr>
      </p:pic>
    </p:spTree>
    <p:extLst>
      <p:ext uri="{BB962C8B-B14F-4D97-AF65-F5344CB8AC3E}">
        <p14:creationId xmlns:p14="http://schemas.microsoft.com/office/powerpoint/2010/main" val="309224506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p:cNvSpPr/>
          <p:nvPr/>
        </p:nvSpPr>
        <p:spPr>
          <a:xfrm>
            <a:off x="827584" y="346119"/>
            <a:ext cx="6815138" cy="66130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3" name="Content Placeholder 2">
            <a:extLst>
              <a:ext uri="{FF2B5EF4-FFF2-40B4-BE49-F238E27FC236}">
                <a16:creationId xmlns="" xmlns:a16="http://schemas.microsoft.com/office/drawing/2014/main" id="{842A01C3-5F33-0E31-F76A-1EAE7EE22438}"/>
              </a:ext>
            </a:extLst>
          </p:cNvPr>
          <p:cNvSpPr>
            <a:spLocks noGrp="1"/>
          </p:cNvSpPr>
          <p:nvPr>
            <p:ph idx="1"/>
          </p:nvPr>
        </p:nvSpPr>
        <p:spPr>
          <a:xfrm>
            <a:off x="195942" y="2244403"/>
            <a:ext cx="8743949" cy="394606"/>
          </a:xfrm>
        </p:spPr>
        <p:txBody>
          <a:bodyPr>
            <a:normAutofit/>
          </a:bodyPr>
          <a:lstStyle/>
          <a:p>
            <a:pPr marL="0" indent="0" algn="just">
              <a:buNone/>
            </a:pPr>
            <a:r>
              <a:rPr lang="en-US" sz="1800" b="1" dirty="0" smtClean="0"/>
              <a:t>Advantages:</a:t>
            </a:r>
            <a:endParaRPr lang="en-US" sz="1800" b="1" dirty="0"/>
          </a:p>
          <a:p>
            <a:endParaRPr lang="en-IN" dirty="0"/>
          </a:p>
        </p:txBody>
      </p:sp>
      <p:sp>
        <p:nvSpPr>
          <p:cNvPr id="2" name="Title 1">
            <a:extLst>
              <a:ext uri="{FF2B5EF4-FFF2-40B4-BE49-F238E27FC236}">
                <a16:creationId xmlns="" xmlns:a16="http://schemas.microsoft.com/office/drawing/2014/main" id="{A6D0C247-18C0-0897-6E8C-0FB53434DF94}"/>
              </a:ext>
            </a:extLst>
          </p:cNvPr>
          <p:cNvSpPr>
            <a:spLocks noGrp="1"/>
          </p:cNvSpPr>
          <p:nvPr>
            <p:ph type="title"/>
          </p:nvPr>
        </p:nvSpPr>
        <p:spPr>
          <a:xfrm>
            <a:off x="971600" y="269419"/>
            <a:ext cx="6984410" cy="767446"/>
          </a:xfrm>
        </p:spPr>
        <p:txBody>
          <a:bodyPr>
            <a:normAutofit/>
          </a:bodyPr>
          <a:lstStyle/>
          <a:p>
            <a:pPr algn="ctr"/>
            <a:r>
              <a:rPr lang="en-US" sz="3200" dirty="0" smtClean="0">
                <a:latin typeface="+mn-lt"/>
              </a:rPr>
              <a:t>Card On File Token </a:t>
            </a:r>
            <a:endParaRPr lang="en-IN" sz="3200" dirty="0">
              <a:latin typeface="+mn-lt"/>
            </a:endParaRPr>
          </a:p>
        </p:txBody>
      </p:sp>
      <p:sp>
        <p:nvSpPr>
          <p:cNvPr id="5" name="Rounded Rectangle 4"/>
          <p:cNvSpPr/>
          <p:nvPr/>
        </p:nvSpPr>
        <p:spPr>
          <a:xfrm>
            <a:off x="195943" y="2639010"/>
            <a:ext cx="2123675" cy="45312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smtClean="0"/>
              <a:t>Flexibility</a:t>
            </a:r>
            <a:endParaRPr lang="en-IN" sz="1400" dirty="0"/>
          </a:p>
        </p:txBody>
      </p:sp>
      <p:sp>
        <p:nvSpPr>
          <p:cNvPr id="6" name="Rounded Rectangle 5"/>
          <p:cNvSpPr/>
          <p:nvPr/>
        </p:nvSpPr>
        <p:spPr>
          <a:xfrm>
            <a:off x="195942" y="3426413"/>
            <a:ext cx="2123675" cy="50989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smtClean="0"/>
              <a:t>Cost Effective </a:t>
            </a:r>
            <a:endParaRPr lang="en-IN" sz="1400" dirty="0"/>
          </a:p>
        </p:txBody>
      </p:sp>
      <p:sp>
        <p:nvSpPr>
          <p:cNvPr id="7" name="Rounded Rectangle 6"/>
          <p:cNvSpPr/>
          <p:nvPr/>
        </p:nvSpPr>
        <p:spPr>
          <a:xfrm>
            <a:off x="195943" y="4751929"/>
            <a:ext cx="2123675" cy="44458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smtClean="0"/>
              <a:t>Dependence On Cloud Connectivity</a:t>
            </a:r>
            <a:endParaRPr lang="en-IN" sz="1400" dirty="0"/>
          </a:p>
        </p:txBody>
      </p:sp>
      <p:sp>
        <p:nvSpPr>
          <p:cNvPr id="8" name="Rounded Rectangle 7"/>
          <p:cNvSpPr/>
          <p:nvPr/>
        </p:nvSpPr>
        <p:spPr>
          <a:xfrm>
            <a:off x="195941" y="5446719"/>
            <a:ext cx="2123675" cy="454481"/>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smtClean="0"/>
              <a:t>Lower Security</a:t>
            </a:r>
            <a:endParaRPr lang="en-IN" sz="1400" dirty="0"/>
          </a:p>
        </p:txBody>
      </p:sp>
      <p:sp>
        <p:nvSpPr>
          <p:cNvPr id="10" name="TextBox 9"/>
          <p:cNvSpPr txBox="1"/>
          <p:nvPr/>
        </p:nvSpPr>
        <p:spPr>
          <a:xfrm>
            <a:off x="2427358" y="2603961"/>
            <a:ext cx="6557962" cy="523220"/>
          </a:xfrm>
          <a:prstGeom prst="rect">
            <a:avLst/>
          </a:prstGeom>
          <a:noFill/>
        </p:spPr>
        <p:txBody>
          <a:bodyPr wrap="square" rtlCol="0">
            <a:spAutoFit/>
          </a:bodyPr>
          <a:lstStyle/>
          <a:p>
            <a:pPr algn="just"/>
            <a:r>
              <a:rPr lang="en-US" sz="1400" dirty="0">
                <a:latin typeface="+mj-lt"/>
                <a:ea typeface="Asar" pitchFamily="34" charset="-122"/>
                <a:cs typeface="Asar" pitchFamily="34" charset="-120"/>
              </a:rPr>
              <a:t>HCE tokens are not bound to specific hardware, making them more flexible and easier to deploy.</a:t>
            </a:r>
            <a:endParaRPr lang="en-US" sz="1400" dirty="0">
              <a:latin typeface="+mj-lt"/>
            </a:endParaRPr>
          </a:p>
        </p:txBody>
      </p:sp>
      <p:sp>
        <p:nvSpPr>
          <p:cNvPr id="11" name="TextBox 10"/>
          <p:cNvSpPr txBox="1"/>
          <p:nvPr/>
        </p:nvSpPr>
        <p:spPr>
          <a:xfrm>
            <a:off x="2400300" y="3413090"/>
            <a:ext cx="6557962" cy="523220"/>
          </a:xfrm>
          <a:prstGeom prst="rect">
            <a:avLst/>
          </a:prstGeom>
          <a:noFill/>
        </p:spPr>
        <p:txBody>
          <a:bodyPr wrap="square" rtlCol="0">
            <a:spAutoFit/>
          </a:bodyPr>
          <a:lstStyle/>
          <a:p>
            <a:pPr algn="just"/>
            <a:r>
              <a:rPr lang="en-US" sz="1400" dirty="0">
                <a:latin typeface="+mj-lt"/>
                <a:ea typeface="Asar" pitchFamily="34" charset="-122"/>
                <a:cs typeface="Asar" pitchFamily="34" charset="-120"/>
              </a:rPr>
              <a:t>Eliminates the need for dedicated secure element hardware, reducing implementation costs.</a:t>
            </a:r>
            <a:endParaRPr lang="en-US" sz="1400" dirty="0">
              <a:latin typeface="+mj-lt"/>
            </a:endParaRPr>
          </a:p>
        </p:txBody>
      </p:sp>
      <p:sp>
        <p:nvSpPr>
          <p:cNvPr id="12" name="TextBox 11"/>
          <p:cNvSpPr txBox="1"/>
          <p:nvPr/>
        </p:nvSpPr>
        <p:spPr>
          <a:xfrm>
            <a:off x="2400300" y="4680210"/>
            <a:ext cx="6557962" cy="523220"/>
          </a:xfrm>
          <a:prstGeom prst="rect">
            <a:avLst/>
          </a:prstGeom>
          <a:noFill/>
        </p:spPr>
        <p:txBody>
          <a:bodyPr wrap="square" rtlCol="0">
            <a:spAutoFit/>
          </a:bodyPr>
          <a:lstStyle/>
          <a:p>
            <a:pPr algn="just"/>
            <a:r>
              <a:rPr lang="en-US" sz="1400" dirty="0"/>
              <a:t>Requires continuous connectivity to the cloud for token provisioning and validation.</a:t>
            </a:r>
          </a:p>
        </p:txBody>
      </p:sp>
      <p:sp>
        <p:nvSpPr>
          <p:cNvPr id="13" name="TextBox 12"/>
          <p:cNvSpPr txBox="1"/>
          <p:nvPr/>
        </p:nvSpPr>
        <p:spPr>
          <a:xfrm>
            <a:off x="2400300" y="5377980"/>
            <a:ext cx="6557962" cy="523220"/>
          </a:xfrm>
          <a:prstGeom prst="rect">
            <a:avLst/>
          </a:prstGeom>
          <a:noFill/>
        </p:spPr>
        <p:txBody>
          <a:bodyPr wrap="square" rtlCol="0">
            <a:spAutoFit/>
          </a:bodyPr>
          <a:lstStyle/>
          <a:p>
            <a:pPr algn="just"/>
            <a:r>
              <a:rPr lang="en-US" sz="1400" dirty="0"/>
              <a:t>Implementing secure element technology can be more expensive </a:t>
            </a:r>
            <a:r>
              <a:rPr lang="en-US" sz="1400" dirty="0" smtClean="0"/>
              <a:t>due to high operating cost.</a:t>
            </a:r>
            <a:endParaRPr lang="en-US" sz="1400" dirty="0"/>
          </a:p>
        </p:txBody>
      </p:sp>
      <p:pic>
        <p:nvPicPr>
          <p:cNvPr id="14" name="Google Shape;23;p3"/>
          <p:cNvPicPr preferRelativeResize="0"/>
          <p:nvPr/>
        </p:nvPicPr>
        <p:blipFill rotWithShape="1">
          <a:blip r:embed="rId2">
            <a:alphaModFix/>
          </a:blip>
          <a:srcRect/>
          <a:stretch/>
        </p:blipFill>
        <p:spPr>
          <a:xfrm>
            <a:off x="7737422" y="110217"/>
            <a:ext cx="1220840" cy="318405"/>
          </a:xfrm>
          <a:prstGeom prst="rect">
            <a:avLst/>
          </a:prstGeom>
          <a:noFill/>
          <a:ln>
            <a:noFill/>
          </a:ln>
        </p:spPr>
      </p:pic>
      <p:sp>
        <p:nvSpPr>
          <p:cNvPr id="16" name="Content Placeholder 2">
            <a:extLst>
              <a:ext uri="{FF2B5EF4-FFF2-40B4-BE49-F238E27FC236}">
                <a16:creationId xmlns="" xmlns:a16="http://schemas.microsoft.com/office/drawing/2014/main" id="{842A01C3-5F33-0E31-F76A-1EAE7EE22438}"/>
              </a:ext>
            </a:extLst>
          </p:cNvPr>
          <p:cNvSpPr txBox="1">
            <a:spLocks/>
          </p:cNvSpPr>
          <p:nvPr/>
        </p:nvSpPr>
        <p:spPr>
          <a:xfrm>
            <a:off x="195942" y="4357322"/>
            <a:ext cx="2426234" cy="394606"/>
          </a:xfrm>
          <a:prstGeom prst="rect">
            <a:avLst/>
          </a:prstGeom>
        </p:spPr>
        <p:txBody>
          <a:bodyPr vert="horz">
            <a:normAutofit/>
          </a:bodyPr>
          <a:lstStyle>
            <a:lvl1pPr marL="365760" indent="-256032" algn="l" rtl="0" eaLnBrk="1" latinLnBrk="0"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300" kern="1200">
                <a:solidFill>
                  <a:schemeClr val="tx1"/>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a:lstStyle>
          <a:p>
            <a:pPr marL="0" indent="0" algn="just">
              <a:buFont typeface="Wingdings 3"/>
              <a:buNone/>
            </a:pPr>
            <a:r>
              <a:rPr lang="en-US" sz="1800" b="1" dirty="0" smtClean="0"/>
              <a:t>Disadvantages:</a:t>
            </a:r>
          </a:p>
          <a:p>
            <a:endParaRPr lang="en-IN" dirty="0"/>
          </a:p>
        </p:txBody>
      </p:sp>
      <p:sp>
        <p:nvSpPr>
          <p:cNvPr id="15" name="TextBox 14"/>
          <p:cNvSpPr txBox="1"/>
          <p:nvPr/>
        </p:nvSpPr>
        <p:spPr>
          <a:xfrm>
            <a:off x="258437" y="1124744"/>
            <a:ext cx="8726883" cy="1169551"/>
          </a:xfrm>
          <a:prstGeom prst="rect">
            <a:avLst/>
          </a:prstGeom>
          <a:noFill/>
        </p:spPr>
        <p:txBody>
          <a:bodyPr wrap="square" rtlCol="0">
            <a:spAutoFit/>
          </a:bodyPr>
          <a:lstStyle/>
          <a:p>
            <a:pPr algn="just"/>
            <a:r>
              <a:rPr lang="en-US" sz="1400" b="1" dirty="0" smtClean="0"/>
              <a:t>Description</a:t>
            </a:r>
            <a:r>
              <a:rPr lang="en-US" sz="1400" dirty="0" smtClean="0"/>
              <a:t> : </a:t>
            </a:r>
            <a:endParaRPr lang="en-US" sz="1400" dirty="0" smtClean="0"/>
          </a:p>
          <a:p>
            <a:pPr algn="just"/>
            <a:endParaRPr lang="en-US" sz="1400" dirty="0" smtClean="0"/>
          </a:p>
          <a:p>
            <a:pPr algn="just"/>
            <a:r>
              <a:rPr lang="en-US" sz="1400" dirty="0" smtClean="0"/>
              <a:t>A </a:t>
            </a:r>
            <a:r>
              <a:rPr lang="en-US" sz="1400" dirty="0"/>
              <a:t>COF token replaces the primary account number (PAN) with a token that is stored on file for use </a:t>
            </a:r>
            <a:r>
              <a:rPr lang="en-US" sz="1400" dirty="0" smtClean="0"/>
              <a:t>with </a:t>
            </a:r>
            <a:r>
              <a:rPr lang="en-US" sz="1400" dirty="0"/>
              <a:t>specific merchants. It is restricted for use with the particular merchant that holds the token.</a:t>
            </a:r>
          </a:p>
          <a:p>
            <a:pPr algn="just"/>
            <a:r>
              <a:rPr lang="en-US" sz="1400" dirty="0" smtClean="0"/>
              <a:t> </a:t>
            </a:r>
            <a:endParaRPr lang="en-US" sz="1400" dirty="0"/>
          </a:p>
        </p:txBody>
      </p:sp>
    </p:spTree>
    <p:extLst>
      <p:ext uri="{BB962C8B-B14F-4D97-AF65-F5344CB8AC3E}">
        <p14:creationId xmlns:p14="http://schemas.microsoft.com/office/powerpoint/2010/main" val="159865034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p:cNvSpPr/>
          <p:nvPr/>
        </p:nvSpPr>
        <p:spPr>
          <a:xfrm>
            <a:off x="827584" y="281033"/>
            <a:ext cx="6815138" cy="66130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3" name="Content Placeholder 2">
            <a:extLst>
              <a:ext uri="{FF2B5EF4-FFF2-40B4-BE49-F238E27FC236}">
                <a16:creationId xmlns="" xmlns:a16="http://schemas.microsoft.com/office/drawing/2014/main" id="{842A01C3-5F33-0E31-F76A-1EAE7EE22438}"/>
              </a:ext>
            </a:extLst>
          </p:cNvPr>
          <p:cNvSpPr>
            <a:spLocks noGrp="1"/>
          </p:cNvSpPr>
          <p:nvPr>
            <p:ph idx="1"/>
          </p:nvPr>
        </p:nvSpPr>
        <p:spPr>
          <a:xfrm>
            <a:off x="195942" y="2244403"/>
            <a:ext cx="8743949" cy="394606"/>
          </a:xfrm>
        </p:spPr>
        <p:txBody>
          <a:bodyPr>
            <a:normAutofit/>
          </a:bodyPr>
          <a:lstStyle/>
          <a:p>
            <a:pPr marL="0" indent="0" algn="just">
              <a:buNone/>
            </a:pPr>
            <a:r>
              <a:rPr lang="en-US" sz="1800" b="1" dirty="0" smtClean="0"/>
              <a:t>Advantages:</a:t>
            </a:r>
            <a:endParaRPr lang="en-US" sz="1800" b="1" dirty="0"/>
          </a:p>
          <a:p>
            <a:endParaRPr lang="en-IN" dirty="0"/>
          </a:p>
        </p:txBody>
      </p:sp>
      <p:sp>
        <p:nvSpPr>
          <p:cNvPr id="2" name="Title 1">
            <a:extLst>
              <a:ext uri="{FF2B5EF4-FFF2-40B4-BE49-F238E27FC236}">
                <a16:creationId xmlns="" xmlns:a16="http://schemas.microsoft.com/office/drawing/2014/main" id="{A6D0C247-18C0-0897-6E8C-0FB53434DF94}"/>
              </a:ext>
            </a:extLst>
          </p:cNvPr>
          <p:cNvSpPr>
            <a:spLocks noGrp="1"/>
          </p:cNvSpPr>
          <p:nvPr>
            <p:ph type="title"/>
          </p:nvPr>
        </p:nvSpPr>
        <p:spPr>
          <a:xfrm>
            <a:off x="753012" y="269419"/>
            <a:ext cx="6984410" cy="767446"/>
          </a:xfrm>
        </p:spPr>
        <p:txBody>
          <a:bodyPr>
            <a:normAutofit/>
          </a:bodyPr>
          <a:lstStyle/>
          <a:p>
            <a:pPr algn="ctr"/>
            <a:r>
              <a:rPr lang="en-US" sz="3200" dirty="0" smtClean="0">
                <a:latin typeface="+mn-lt"/>
              </a:rPr>
              <a:t>Host Card Emulation (HCE) Token </a:t>
            </a:r>
            <a:endParaRPr lang="en-IN" sz="3200" dirty="0">
              <a:latin typeface="+mn-lt"/>
            </a:endParaRPr>
          </a:p>
        </p:txBody>
      </p:sp>
      <p:sp>
        <p:nvSpPr>
          <p:cNvPr id="5" name="Rounded Rectangle 4"/>
          <p:cNvSpPr/>
          <p:nvPr/>
        </p:nvSpPr>
        <p:spPr>
          <a:xfrm>
            <a:off x="195943" y="2639010"/>
            <a:ext cx="2123675" cy="45312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smtClean="0"/>
              <a:t>Convenience </a:t>
            </a:r>
            <a:endParaRPr lang="en-IN" sz="1400" b="1" dirty="0"/>
          </a:p>
        </p:txBody>
      </p:sp>
      <p:sp>
        <p:nvSpPr>
          <p:cNvPr id="6" name="Rounded Rectangle 5"/>
          <p:cNvSpPr/>
          <p:nvPr/>
        </p:nvSpPr>
        <p:spPr>
          <a:xfrm>
            <a:off x="195942" y="3426414"/>
            <a:ext cx="2123675" cy="43549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smtClean="0"/>
              <a:t>Security </a:t>
            </a:r>
            <a:endParaRPr lang="en-IN" sz="1400" dirty="0"/>
          </a:p>
        </p:txBody>
      </p:sp>
      <p:sp>
        <p:nvSpPr>
          <p:cNvPr id="7" name="Rounded Rectangle 6"/>
          <p:cNvSpPr/>
          <p:nvPr/>
        </p:nvSpPr>
        <p:spPr>
          <a:xfrm>
            <a:off x="195943" y="4751929"/>
            <a:ext cx="2123675" cy="44458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smtClean="0"/>
              <a:t>Merchant Dependency </a:t>
            </a:r>
            <a:endParaRPr lang="en-IN" sz="1400" dirty="0"/>
          </a:p>
        </p:txBody>
      </p:sp>
      <p:sp>
        <p:nvSpPr>
          <p:cNvPr id="8" name="Rounded Rectangle 7"/>
          <p:cNvSpPr/>
          <p:nvPr/>
        </p:nvSpPr>
        <p:spPr>
          <a:xfrm>
            <a:off x="195941" y="5446719"/>
            <a:ext cx="2123675" cy="454481"/>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smtClean="0"/>
              <a:t>Single Point Of Failure </a:t>
            </a:r>
            <a:endParaRPr lang="en-IN" sz="1400" b="1" dirty="0"/>
          </a:p>
        </p:txBody>
      </p:sp>
      <p:sp>
        <p:nvSpPr>
          <p:cNvPr id="10" name="TextBox 9"/>
          <p:cNvSpPr txBox="1"/>
          <p:nvPr/>
        </p:nvSpPr>
        <p:spPr>
          <a:xfrm>
            <a:off x="2400299" y="2639010"/>
            <a:ext cx="6557962" cy="523220"/>
          </a:xfrm>
          <a:prstGeom prst="rect">
            <a:avLst/>
          </a:prstGeom>
          <a:noFill/>
        </p:spPr>
        <p:txBody>
          <a:bodyPr wrap="square" rtlCol="0">
            <a:spAutoFit/>
          </a:bodyPr>
          <a:lstStyle/>
          <a:p>
            <a:r>
              <a:rPr lang="en-US" sz="1400" dirty="0"/>
              <a:t>Simplifies the checkout process by allowing repeat transactions without needing to re-enter payment information. </a:t>
            </a:r>
          </a:p>
        </p:txBody>
      </p:sp>
      <p:sp>
        <p:nvSpPr>
          <p:cNvPr id="11" name="TextBox 10"/>
          <p:cNvSpPr txBox="1"/>
          <p:nvPr/>
        </p:nvSpPr>
        <p:spPr>
          <a:xfrm>
            <a:off x="2400299" y="3372033"/>
            <a:ext cx="6441141" cy="489878"/>
          </a:xfrm>
          <a:prstGeom prst="rect">
            <a:avLst/>
          </a:prstGeom>
          <a:noFill/>
        </p:spPr>
        <p:txBody>
          <a:bodyPr wrap="square" rtlCol="0">
            <a:spAutoFit/>
          </a:bodyPr>
          <a:lstStyle/>
          <a:p>
            <a:pPr>
              <a:lnSpc>
                <a:spcPts val="3110"/>
              </a:lnSpc>
            </a:pPr>
            <a:r>
              <a:rPr lang="en-US" sz="1400" dirty="0"/>
              <a:t>Protects the actual PAN from being exposed during transactions.</a:t>
            </a:r>
          </a:p>
        </p:txBody>
      </p:sp>
      <p:sp>
        <p:nvSpPr>
          <p:cNvPr id="12" name="TextBox 11"/>
          <p:cNvSpPr txBox="1"/>
          <p:nvPr/>
        </p:nvSpPr>
        <p:spPr>
          <a:xfrm>
            <a:off x="2400300" y="4680210"/>
            <a:ext cx="6557962" cy="489878"/>
          </a:xfrm>
          <a:prstGeom prst="rect">
            <a:avLst/>
          </a:prstGeom>
          <a:noFill/>
        </p:spPr>
        <p:txBody>
          <a:bodyPr wrap="square" rtlCol="0">
            <a:spAutoFit/>
          </a:bodyPr>
          <a:lstStyle/>
          <a:p>
            <a:pPr>
              <a:lnSpc>
                <a:spcPts val="3110"/>
              </a:lnSpc>
            </a:pPr>
            <a:r>
              <a:rPr lang="en-US" sz="1400" dirty="0"/>
              <a:t>Tokens are restricted to use with specific merchants, limiting flexibility.</a:t>
            </a:r>
          </a:p>
        </p:txBody>
      </p:sp>
      <p:sp>
        <p:nvSpPr>
          <p:cNvPr id="13" name="TextBox 12"/>
          <p:cNvSpPr txBox="1"/>
          <p:nvPr/>
        </p:nvSpPr>
        <p:spPr>
          <a:xfrm>
            <a:off x="2400300" y="5412349"/>
            <a:ext cx="6441140" cy="523220"/>
          </a:xfrm>
          <a:prstGeom prst="rect">
            <a:avLst/>
          </a:prstGeom>
          <a:noFill/>
        </p:spPr>
        <p:txBody>
          <a:bodyPr wrap="square" rtlCol="0">
            <a:spAutoFit/>
          </a:bodyPr>
          <a:lstStyle/>
          <a:p>
            <a:r>
              <a:rPr lang="en-US" sz="1400" dirty="0"/>
              <a:t>If the merchant's security is compromised, the token may also be at risk.</a:t>
            </a:r>
          </a:p>
        </p:txBody>
      </p:sp>
      <p:pic>
        <p:nvPicPr>
          <p:cNvPr id="14" name="Google Shape;23;p3"/>
          <p:cNvPicPr preferRelativeResize="0"/>
          <p:nvPr/>
        </p:nvPicPr>
        <p:blipFill rotWithShape="1">
          <a:blip r:embed="rId2">
            <a:alphaModFix/>
          </a:blip>
          <a:srcRect/>
          <a:stretch/>
        </p:blipFill>
        <p:spPr>
          <a:xfrm>
            <a:off x="7737422" y="110217"/>
            <a:ext cx="1220840" cy="318405"/>
          </a:xfrm>
          <a:prstGeom prst="rect">
            <a:avLst/>
          </a:prstGeom>
          <a:noFill/>
          <a:ln>
            <a:noFill/>
          </a:ln>
        </p:spPr>
      </p:pic>
      <p:sp>
        <p:nvSpPr>
          <p:cNvPr id="16" name="Content Placeholder 2">
            <a:extLst>
              <a:ext uri="{FF2B5EF4-FFF2-40B4-BE49-F238E27FC236}">
                <a16:creationId xmlns="" xmlns:a16="http://schemas.microsoft.com/office/drawing/2014/main" id="{842A01C3-5F33-0E31-F76A-1EAE7EE22438}"/>
              </a:ext>
            </a:extLst>
          </p:cNvPr>
          <p:cNvSpPr txBox="1">
            <a:spLocks/>
          </p:cNvSpPr>
          <p:nvPr/>
        </p:nvSpPr>
        <p:spPr>
          <a:xfrm>
            <a:off x="195942" y="4357322"/>
            <a:ext cx="2426234" cy="394606"/>
          </a:xfrm>
          <a:prstGeom prst="rect">
            <a:avLst/>
          </a:prstGeom>
        </p:spPr>
        <p:txBody>
          <a:bodyPr vert="horz">
            <a:normAutofit/>
          </a:bodyPr>
          <a:lstStyle>
            <a:lvl1pPr marL="365760" indent="-256032" algn="l" rtl="0" eaLnBrk="1" latinLnBrk="0"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300" kern="1200">
                <a:solidFill>
                  <a:schemeClr val="tx1"/>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a:lstStyle>
          <a:p>
            <a:pPr marL="0" indent="0" algn="just">
              <a:buFont typeface="Wingdings 3"/>
              <a:buNone/>
            </a:pPr>
            <a:r>
              <a:rPr lang="en-US" sz="1800" b="1" dirty="0" smtClean="0"/>
              <a:t>Disadvantages:</a:t>
            </a:r>
          </a:p>
          <a:p>
            <a:endParaRPr lang="en-IN" dirty="0"/>
          </a:p>
        </p:txBody>
      </p:sp>
      <p:sp>
        <p:nvSpPr>
          <p:cNvPr id="15" name="TextBox 14"/>
          <p:cNvSpPr txBox="1"/>
          <p:nvPr/>
        </p:nvSpPr>
        <p:spPr>
          <a:xfrm>
            <a:off x="239454" y="1196752"/>
            <a:ext cx="8726883" cy="954107"/>
          </a:xfrm>
          <a:prstGeom prst="rect">
            <a:avLst/>
          </a:prstGeom>
          <a:noFill/>
        </p:spPr>
        <p:txBody>
          <a:bodyPr wrap="square" rtlCol="0">
            <a:spAutoFit/>
          </a:bodyPr>
          <a:lstStyle/>
          <a:p>
            <a:r>
              <a:rPr lang="en-US" sz="1400" b="1" dirty="0" smtClean="0"/>
              <a:t>Description</a:t>
            </a:r>
            <a:r>
              <a:rPr lang="en-US" sz="1400" dirty="0" smtClean="0"/>
              <a:t> : </a:t>
            </a:r>
            <a:endParaRPr lang="en-US" sz="1400" dirty="0" smtClean="0"/>
          </a:p>
          <a:p>
            <a:endParaRPr lang="en-US" sz="1400" dirty="0" smtClean="0"/>
          </a:p>
          <a:p>
            <a:r>
              <a:rPr lang="en-US" sz="1400" dirty="0" smtClean="0"/>
              <a:t>Host </a:t>
            </a:r>
            <a:r>
              <a:rPr lang="en-US" sz="1400" dirty="0"/>
              <a:t>Card Emulation (HCE) is a software-based solution that allows the emulation of a card on a mobile </a:t>
            </a:r>
            <a:r>
              <a:rPr lang="en-US" sz="1400" dirty="0" smtClean="0"/>
              <a:t>device, </a:t>
            </a:r>
            <a:r>
              <a:rPr lang="en-US" sz="1400" dirty="0"/>
              <a:t>with the token provisioned to the cloud instead of a physical secure </a:t>
            </a:r>
            <a:r>
              <a:rPr lang="en-US" sz="1400" dirty="0" smtClean="0"/>
              <a:t>element.</a:t>
            </a:r>
            <a:endParaRPr lang="en-US" sz="1400" dirty="0"/>
          </a:p>
        </p:txBody>
      </p:sp>
    </p:spTree>
    <p:extLst>
      <p:ext uri="{BB962C8B-B14F-4D97-AF65-F5344CB8AC3E}">
        <p14:creationId xmlns:p14="http://schemas.microsoft.com/office/powerpoint/2010/main" val="94000214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p:cNvSpPr/>
          <p:nvPr/>
        </p:nvSpPr>
        <p:spPr>
          <a:xfrm>
            <a:off x="755576" y="428622"/>
            <a:ext cx="6815138" cy="66130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3" name="Content Placeholder 2">
            <a:extLst>
              <a:ext uri="{FF2B5EF4-FFF2-40B4-BE49-F238E27FC236}">
                <a16:creationId xmlns="" xmlns:a16="http://schemas.microsoft.com/office/drawing/2014/main" id="{842A01C3-5F33-0E31-F76A-1EAE7EE22438}"/>
              </a:ext>
            </a:extLst>
          </p:cNvPr>
          <p:cNvSpPr>
            <a:spLocks noGrp="1"/>
          </p:cNvSpPr>
          <p:nvPr>
            <p:ph idx="1"/>
          </p:nvPr>
        </p:nvSpPr>
        <p:spPr>
          <a:xfrm>
            <a:off x="195942" y="2244403"/>
            <a:ext cx="8743949" cy="394606"/>
          </a:xfrm>
        </p:spPr>
        <p:txBody>
          <a:bodyPr>
            <a:normAutofit/>
          </a:bodyPr>
          <a:lstStyle/>
          <a:p>
            <a:pPr marL="0" indent="0" algn="just">
              <a:buNone/>
            </a:pPr>
            <a:r>
              <a:rPr lang="en-US" sz="1800" b="1" dirty="0" smtClean="0"/>
              <a:t>Advantages:</a:t>
            </a:r>
            <a:endParaRPr lang="en-US" sz="1800" b="1" dirty="0"/>
          </a:p>
          <a:p>
            <a:endParaRPr lang="en-IN" dirty="0"/>
          </a:p>
        </p:txBody>
      </p:sp>
      <p:sp>
        <p:nvSpPr>
          <p:cNvPr id="2" name="Title 1">
            <a:extLst>
              <a:ext uri="{FF2B5EF4-FFF2-40B4-BE49-F238E27FC236}">
                <a16:creationId xmlns="" xmlns:a16="http://schemas.microsoft.com/office/drawing/2014/main" id="{A6D0C247-18C0-0897-6E8C-0FB53434DF94}"/>
              </a:ext>
            </a:extLst>
          </p:cNvPr>
          <p:cNvSpPr>
            <a:spLocks noGrp="1"/>
          </p:cNvSpPr>
          <p:nvPr>
            <p:ph type="title"/>
          </p:nvPr>
        </p:nvSpPr>
        <p:spPr>
          <a:xfrm>
            <a:off x="683568" y="375553"/>
            <a:ext cx="6984410" cy="767446"/>
          </a:xfrm>
        </p:spPr>
        <p:txBody>
          <a:bodyPr>
            <a:normAutofit/>
          </a:bodyPr>
          <a:lstStyle/>
          <a:p>
            <a:pPr algn="ctr"/>
            <a:r>
              <a:rPr lang="en-US" sz="3200" dirty="0" smtClean="0">
                <a:latin typeface="+mn-lt"/>
              </a:rPr>
              <a:t>E-Commerce (Enabler) Token </a:t>
            </a:r>
            <a:endParaRPr lang="en-IN" sz="3200" dirty="0">
              <a:latin typeface="+mn-lt"/>
            </a:endParaRPr>
          </a:p>
        </p:txBody>
      </p:sp>
      <p:sp>
        <p:nvSpPr>
          <p:cNvPr id="5" name="Rounded Rectangle 4"/>
          <p:cNvSpPr/>
          <p:nvPr/>
        </p:nvSpPr>
        <p:spPr>
          <a:xfrm>
            <a:off x="195943" y="2639010"/>
            <a:ext cx="2123675" cy="45312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smtClean="0"/>
              <a:t>Broad Acceptance </a:t>
            </a:r>
            <a:endParaRPr lang="en-IN" sz="1400" b="1" dirty="0"/>
          </a:p>
        </p:txBody>
      </p:sp>
      <p:sp>
        <p:nvSpPr>
          <p:cNvPr id="6" name="Rounded Rectangle 5"/>
          <p:cNvSpPr/>
          <p:nvPr/>
        </p:nvSpPr>
        <p:spPr>
          <a:xfrm>
            <a:off x="195942" y="3426413"/>
            <a:ext cx="2123675" cy="50989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smtClean="0"/>
              <a:t>Enhanced Security </a:t>
            </a:r>
            <a:endParaRPr lang="en-IN" sz="1400" dirty="0"/>
          </a:p>
        </p:txBody>
      </p:sp>
      <p:sp>
        <p:nvSpPr>
          <p:cNvPr id="7" name="Rounded Rectangle 6"/>
          <p:cNvSpPr/>
          <p:nvPr/>
        </p:nvSpPr>
        <p:spPr>
          <a:xfrm>
            <a:off x="195943" y="4751929"/>
            <a:ext cx="2123675" cy="44458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smtClean="0"/>
              <a:t>Complex  Implementation </a:t>
            </a:r>
            <a:endParaRPr lang="en-IN" sz="1400" dirty="0"/>
          </a:p>
        </p:txBody>
      </p:sp>
      <p:sp>
        <p:nvSpPr>
          <p:cNvPr id="8" name="Rounded Rectangle 7"/>
          <p:cNvSpPr/>
          <p:nvPr/>
        </p:nvSpPr>
        <p:spPr>
          <a:xfrm>
            <a:off x="195941" y="5446719"/>
            <a:ext cx="2123675" cy="454481"/>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smtClean="0"/>
              <a:t>Dependence On Tokenization Services</a:t>
            </a:r>
            <a:endParaRPr lang="en-IN" sz="1400" b="1" dirty="0"/>
          </a:p>
        </p:txBody>
      </p:sp>
      <p:sp>
        <p:nvSpPr>
          <p:cNvPr id="10" name="TextBox 9"/>
          <p:cNvSpPr txBox="1"/>
          <p:nvPr/>
        </p:nvSpPr>
        <p:spPr>
          <a:xfrm>
            <a:off x="2414556" y="2633085"/>
            <a:ext cx="6557962" cy="523220"/>
          </a:xfrm>
          <a:prstGeom prst="rect">
            <a:avLst/>
          </a:prstGeom>
          <a:noFill/>
        </p:spPr>
        <p:txBody>
          <a:bodyPr wrap="square" rtlCol="0">
            <a:spAutoFit/>
          </a:bodyPr>
          <a:lstStyle/>
          <a:p>
            <a:pPr algn="just"/>
            <a:r>
              <a:rPr lang="en-US" sz="1400" dirty="0"/>
              <a:t>Can be used across multiple merchants, enhancing flexibility and convenience for online shoppers.</a:t>
            </a:r>
          </a:p>
        </p:txBody>
      </p:sp>
      <p:sp>
        <p:nvSpPr>
          <p:cNvPr id="11" name="TextBox 10"/>
          <p:cNvSpPr txBox="1"/>
          <p:nvPr/>
        </p:nvSpPr>
        <p:spPr>
          <a:xfrm>
            <a:off x="2400299" y="3372033"/>
            <a:ext cx="6441141" cy="489878"/>
          </a:xfrm>
          <a:prstGeom prst="rect">
            <a:avLst/>
          </a:prstGeom>
          <a:noFill/>
        </p:spPr>
        <p:txBody>
          <a:bodyPr wrap="square" rtlCol="0">
            <a:spAutoFit/>
          </a:bodyPr>
          <a:lstStyle/>
          <a:p>
            <a:pPr>
              <a:lnSpc>
                <a:spcPts val="3110"/>
              </a:lnSpc>
            </a:pPr>
            <a:r>
              <a:rPr lang="en-US" sz="1400" dirty="0"/>
              <a:t>Reduces the risk of PAN exposure during online transactions.</a:t>
            </a:r>
          </a:p>
        </p:txBody>
      </p:sp>
      <p:sp>
        <p:nvSpPr>
          <p:cNvPr id="12" name="TextBox 11"/>
          <p:cNvSpPr txBox="1"/>
          <p:nvPr/>
        </p:nvSpPr>
        <p:spPr>
          <a:xfrm>
            <a:off x="2400300" y="4680210"/>
            <a:ext cx="6557962" cy="489878"/>
          </a:xfrm>
          <a:prstGeom prst="rect">
            <a:avLst/>
          </a:prstGeom>
          <a:noFill/>
        </p:spPr>
        <p:txBody>
          <a:bodyPr wrap="square" rtlCol="0">
            <a:spAutoFit/>
          </a:bodyPr>
          <a:lstStyle/>
          <a:p>
            <a:pPr>
              <a:lnSpc>
                <a:spcPts val="3110"/>
              </a:lnSpc>
            </a:pPr>
            <a:r>
              <a:rPr lang="en-US" sz="1400" dirty="0"/>
              <a:t>Requires integration with multiple merchants and payment gateways. </a:t>
            </a:r>
          </a:p>
        </p:txBody>
      </p:sp>
      <p:sp>
        <p:nvSpPr>
          <p:cNvPr id="13" name="TextBox 12"/>
          <p:cNvSpPr txBox="1"/>
          <p:nvPr/>
        </p:nvSpPr>
        <p:spPr>
          <a:xfrm>
            <a:off x="2400300" y="5446719"/>
            <a:ext cx="6557962" cy="307777"/>
          </a:xfrm>
          <a:prstGeom prst="rect">
            <a:avLst/>
          </a:prstGeom>
          <a:noFill/>
        </p:spPr>
        <p:txBody>
          <a:bodyPr wrap="square" rtlCol="0">
            <a:spAutoFit/>
          </a:bodyPr>
          <a:lstStyle/>
          <a:p>
            <a:r>
              <a:rPr lang="en-US" sz="1400" dirty="0"/>
              <a:t>If the merchant's security is compromised, the token may also be at risk.</a:t>
            </a:r>
          </a:p>
        </p:txBody>
      </p:sp>
      <p:pic>
        <p:nvPicPr>
          <p:cNvPr id="14" name="Google Shape;23;p3"/>
          <p:cNvPicPr preferRelativeResize="0"/>
          <p:nvPr/>
        </p:nvPicPr>
        <p:blipFill rotWithShape="1">
          <a:blip r:embed="rId2">
            <a:alphaModFix/>
          </a:blip>
          <a:srcRect/>
          <a:stretch/>
        </p:blipFill>
        <p:spPr>
          <a:xfrm>
            <a:off x="7737422" y="110217"/>
            <a:ext cx="1220840" cy="318405"/>
          </a:xfrm>
          <a:prstGeom prst="rect">
            <a:avLst/>
          </a:prstGeom>
          <a:noFill/>
          <a:ln>
            <a:noFill/>
          </a:ln>
        </p:spPr>
      </p:pic>
      <p:sp>
        <p:nvSpPr>
          <p:cNvPr id="16" name="Content Placeholder 2">
            <a:extLst>
              <a:ext uri="{FF2B5EF4-FFF2-40B4-BE49-F238E27FC236}">
                <a16:creationId xmlns="" xmlns:a16="http://schemas.microsoft.com/office/drawing/2014/main" id="{842A01C3-5F33-0E31-F76A-1EAE7EE22438}"/>
              </a:ext>
            </a:extLst>
          </p:cNvPr>
          <p:cNvSpPr txBox="1">
            <a:spLocks/>
          </p:cNvSpPr>
          <p:nvPr/>
        </p:nvSpPr>
        <p:spPr>
          <a:xfrm>
            <a:off x="195942" y="4357322"/>
            <a:ext cx="2426234" cy="394606"/>
          </a:xfrm>
          <a:prstGeom prst="rect">
            <a:avLst/>
          </a:prstGeom>
        </p:spPr>
        <p:txBody>
          <a:bodyPr vert="horz">
            <a:normAutofit/>
          </a:bodyPr>
          <a:lstStyle>
            <a:lvl1pPr marL="365760" indent="-256032" algn="l" rtl="0" eaLnBrk="1" latinLnBrk="0"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300" kern="1200">
                <a:solidFill>
                  <a:schemeClr val="tx1"/>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a:lstStyle>
          <a:p>
            <a:pPr marL="0" indent="0" algn="just">
              <a:buFont typeface="Wingdings 3"/>
              <a:buNone/>
            </a:pPr>
            <a:r>
              <a:rPr lang="en-US" sz="1800" b="1" dirty="0" smtClean="0"/>
              <a:t>Disadvantages:</a:t>
            </a:r>
          </a:p>
          <a:p>
            <a:endParaRPr lang="en-IN" dirty="0"/>
          </a:p>
        </p:txBody>
      </p:sp>
      <p:sp>
        <p:nvSpPr>
          <p:cNvPr id="15" name="TextBox 14"/>
          <p:cNvSpPr txBox="1"/>
          <p:nvPr/>
        </p:nvSpPr>
        <p:spPr>
          <a:xfrm>
            <a:off x="231379" y="1268760"/>
            <a:ext cx="8726883" cy="1169551"/>
          </a:xfrm>
          <a:prstGeom prst="rect">
            <a:avLst/>
          </a:prstGeom>
          <a:noFill/>
        </p:spPr>
        <p:txBody>
          <a:bodyPr wrap="square" rtlCol="0">
            <a:spAutoFit/>
          </a:bodyPr>
          <a:lstStyle/>
          <a:p>
            <a:pPr algn="just"/>
            <a:r>
              <a:rPr lang="en-US" sz="1400" b="1" dirty="0" smtClean="0"/>
              <a:t>Description</a:t>
            </a:r>
            <a:r>
              <a:rPr lang="en-US" sz="1400" dirty="0" smtClean="0"/>
              <a:t> : </a:t>
            </a:r>
            <a:endParaRPr lang="en-US" sz="1400" dirty="0" smtClean="0"/>
          </a:p>
          <a:p>
            <a:pPr algn="just"/>
            <a:endParaRPr lang="en-US" sz="1400" dirty="0" smtClean="0"/>
          </a:p>
          <a:p>
            <a:pPr algn="just"/>
            <a:r>
              <a:rPr lang="en-US" sz="1400" dirty="0" smtClean="0"/>
              <a:t>An </a:t>
            </a:r>
            <a:r>
              <a:rPr lang="en-US" sz="1400" dirty="0"/>
              <a:t>E-commerce token replaces the PAN stored with a payment-enabled token that can be used across </a:t>
            </a:r>
            <a:r>
              <a:rPr lang="en-US" sz="1400" dirty="0" smtClean="0"/>
              <a:t>multiple </a:t>
            </a:r>
            <a:r>
              <a:rPr lang="en-US" sz="1400" dirty="0"/>
              <a:t>merchants, facilitating online transactions.</a:t>
            </a:r>
          </a:p>
          <a:p>
            <a:pPr algn="just"/>
            <a:endParaRPr lang="en-US" sz="1400" dirty="0"/>
          </a:p>
        </p:txBody>
      </p:sp>
    </p:spTree>
    <p:extLst>
      <p:ext uri="{BB962C8B-B14F-4D97-AF65-F5344CB8AC3E}">
        <p14:creationId xmlns:p14="http://schemas.microsoft.com/office/powerpoint/2010/main" val="247982754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6D0C247-18C0-0897-6E8C-0FB53434DF94}"/>
              </a:ext>
            </a:extLst>
          </p:cNvPr>
          <p:cNvSpPr>
            <a:spLocks noGrp="1"/>
          </p:cNvSpPr>
          <p:nvPr>
            <p:ph type="title"/>
          </p:nvPr>
        </p:nvSpPr>
        <p:spPr>
          <a:xfrm>
            <a:off x="655275" y="474831"/>
            <a:ext cx="6984410" cy="767446"/>
          </a:xfrm>
          <a:solidFill>
            <a:srgbClr val="0099CC"/>
          </a:solidFill>
        </p:spPr>
        <p:txBody>
          <a:bodyPr>
            <a:normAutofit/>
          </a:bodyPr>
          <a:lstStyle/>
          <a:p>
            <a:pPr algn="ctr"/>
            <a:r>
              <a:rPr lang="en-US" sz="3200" dirty="0" smtClean="0">
                <a:latin typeface="+mn-lt"/>
              </a:rPr>
              <a:t>Fast Growing Token Type</a:t>
            </a:r>
            <a:endParaRPr lang="en-IN" sz="3200" dirty="0">
              <a:latin typeface="+mn-lt"/>
            </a:endParaRPr>
          </a:p>
        </p:txBody>
      </p:sp>
      <p:pic>
        <p:nvPicPr>
          <p:cNvPr id="14" name="Google Shape;23;p3"/>
          <p:cNvPicPr preferRelativeResize="0"/>
          <p:nvPr/>
        </p:nvPicPr>
        <p:blipFill rotWithShape="1">
          <a:blip r:embed="rId2">
            <a:alphaModFix/>
          </a:blip>
          <a:srcRect/>
          <a:stretch/>
        </p:blipFill>
        <p:spPr>
          <a:xfrm>
            <a:off x="7737422" y="110217"/>
            <a:ext cx="1220840" cy="318405"/>
          </a:xfrm>
          <a:prstGeom prst="rect">
            <a:avLst/>
          </a:prstGeom>
          <a:noFill/>
          <a:ln>
            <a:noFill/>
          </a:ln>
        </p:spPr>
      </p:pic>
      <p:pic>
        <p:nvPicPr>
          <p:cNvPr id="53" name="Image 2" descr="preencoded.png"/>
          <p:cNvPicPr>
            <a:picLocks noChangeAspect="1"/>
          </p:cNvPicPr>
          <p:nvPr/>
        </p:nvPicPr>
        <p:blipFill>
          <a:blip r:embed="rId3"/>
          <a:stretch>
            <a:fillRect/>
          </a:stretch>
        </p:blipFill>
        <p:spPr>
          <a:xfrm>
            <a:off x="6152029" y="1392120"/>
            <a:ext cx="2869004" cy="4979194"/>
          </a:xfrm>
          <a:prstGeom prst="rect">
            <a:avLst/>
          </a:prstGeom>
        </p:spPr>
      </p:pic>
      <p:sp>
        <p:nvSpPr>
          <p:cNvPr id="54" name="Shape 3"/>
          <p:cNvSpPr/>
          <p:nvPr/>
        </p:nvSpPr>
        <p:spPr>
          <a:xfrm>
            <a:off x="161117" y="2084890"/>
            <a:ext cx="5781258" cy="583168"/>
          </a:xfrm>
          <a:prstGeom prst="rect">
            <a:avLst/>
          </a:prstGeom>
          <a:solidFill>
            <a:srgbClr val="FFFFFF">
              <a:alpha val="4000"/>
            </a:srgbClr>
          </a:solidFill>
          <a:ln/>
        </p:spPr>
        <p:txBody>
          <a:bodyPr/>
          <a:lstStyle/>
          <a:p>
            <a:pPr algn="just">
              <a:lnSpc>
                <a:spcPts val="2989"/>
              </a:lnSpc>
            </a:pPr>
            <a:r>
              <a:rPr lang="en-US" sz="1600" dirty="0">
                <a:latin typeface="Lucida Sans" pitchFamily="34" charset="0"/>
                <a:ea typeface="Asar" pitchFamily="34" charset="-122"/>
                <a:cs typeface="Asar" pitchFamily="34" charset="-120"/>
              </a:rPr>
              <a:t>Host Card Emulation (HCE) tokens are experiencing rapid growth in the mobile payments space.</a:t>
            </a:r>
            <a:endParaRPr lang="en-US" sz="1600" dirty="0">
              <a:latin typeface="Lucida Sans" pitchFamily="34" charset="0"/>
            </a:endParaRPr>
          </a:p>
        </p:txBody>
      </p:sp>
      <p:sp>
        <p:nvSpPr>
          <p:cNvPr id="56" name="Text 2"/>
          <p:cNvSpPr/>
          <p:nvPr/>
        </p:nvSpPr>
        <p:spPr>
          <a:xfrm>
            <a:off x="189068" y="1688870"/>
            <a:ext cx="2223939" cy="370642"/>
          </a:xfrm>
          <a:prstGeom prst="rect">
            <a:avLst/>
          </a:prstGeom>
          <a:noFill/>
          <a:ln/>
        </p:spPr>
        <p:txBody>
          <a:bodyPr wrap="none" rtlCol="0" anchor="t"/>
          <a:lstStyle/>
          <a:p>
            <a:pPr marL="0" indent="0" algn="l">
              <a:lnSpc>
                <a:spcPts val="2919"/>
              </a:lnSpc>
              <a:buNone/>
            </a:pPr>
            <a:r>
              <a:rPr lang="en-US" sz="2335" dirty="0">
                <a:latin typeface="Asar" pitchFamily="34" charset="0"/>
                <a:ea typeface="Asar" pitchFamily="34" charset="-122"/>
                <a:cs typeface="Asar" pitchFamily="34" charset="-120"/>
              </a:rPr>
              <a:t>HCE Tokens</a:t>
            </a:r>
            <a:endParaRPr lang="en-US" sz="2335" dirty="0"/>
          </a:p>
        </p:txBody>
      </p:sp>
      <p:sp>
        <p:nvSpPr>
          <p:cNvPr id="57" name="Shape 3"/>
          <p:cNvSpPr/>
          <p:nvPr/>
        </p:nvSpPr>
        <p:spPr>
          <a:xfrm>
            <a:off x="161117" y="3874937"/>
            <a:ext cx="5990912" cy="583168"/>
          </a:xfrm>
          <a:prstGeom prst="rect">
            <a:avLst/>
          </a:prstGeom>
          <a:solidFill>
            <a:srgbClr val="FFFFFF">
              <a:alpha val="4000"/>
            </a:srgbClr>
          </a:solidFill>
          <a:ln/>
        </p:spPr>
        <p:txBody>
          <a:bodyPr/>
          <a:lstStyle/>
          <a:p>
            <a:pPr algn="just">
              <a:lnSpc>
                <a:spcPts val="2989"/>
              </a:lnSpc>
            </a:pPr>
            <a:r>
              <a:rPr lang="en-US" sz="1600" dirty="0">
                <a:latin typeface="Lucida Sans" pitchFamily="34" charset="0"/>
                <a:ea typeface="Asar" pitchFamily="34" charset="-122"/>
                <a:cs typeface="Asar" pitchFamily="34" charset="-120"/>
              </a:rPr>
              <a:t>HCE tokens are software-based, offering greater flexibility and ease of deployment compared to hardware-based solutions.</a:t>
            </a:r>
            <a:endParaRPr lang="en-US" sz="1600" dirty="0">
              <a:latin typeface="Lucida Sans" pitchFamily="34" charset="0"/>
            </a:endParaRPr>
          </a:p>
        </p:txBody>
      </p:sp>
      <p:sp>
        <p:nvSpPr>
          <p:cNvPr id="58" name="Text 2"/>
          <p:cNvSpPr/>
          <p:nvPr/>
        </p:nvSpPr>
        <p:spPr>
          <a:xfrm>
            <a:off x="174436" y="3325754"/>
            <a:ext cx="2223939" cy="370642"/>
          </a:xfrm>
          <a:prstGeom prst="rect">
            <a:avLst/>
          </a:prstGeom>
          <a:noFill/>
          <a:ln/>
        </p:spPr>
        <p:txBody>
          <a:bodyPr wrap="none" rtlCol="0" anchor="t"/>
          <a:lstStyle/>
          <a:p>
            <a:pPr marL="0" indent="0" algn="l">
              <a:lnSpc>
                <a:spcPts val="2919"/>
              </a:lnSpc>
              <a:buNone/>
            </a:pPr>
            <a:r>
              <a:rPr lang="en-US" sz="2335" dirty="0" smtClean="0">
                <a:latin typeface="Asar" pitchFamily="34" charset="0"/>
                <a:ea typeface="Asar" pitchFamily="34" charset="-122"/>
                <a:cs typeface="Asar" pitchFamily="34" charset="-120"/>
              </a:rPr>
              <a:t>Flexibility </a:t>
            </a:r>
            <a:endParaRPr lang="en-US" sz="2335" dirty="0"/>
          </a:p>
        </p:txBody>
      </p:sp>
      <p:sp>
        <p:nvSpPr>
          <p:cNvPr id="59" name="Shape 3"/>
          <p:cNvSpPr/>
          <p:nvPr/>
        </p:nvSpPr>
        <p:spPr>
          <a:xfrm>
            <a:off x="200503" y="5774341"/>
            <a:ext cx="5781258" cy="583168"/>
          </a:xfrm>
          <a:prstGeom prst="rect">
            <a:avLst/>
          </a:prstGeom>
          <a:solidFill>
            <a:srgbClr val="FFFFFF">
              <a:alpha val="4000"/>
            </a:srgbClr>
          </a:solidFill>
          <a:ln/>
        </p:spPr>
        <p:txBody>
          <a:bodyPr/>
          <a:lstStyle/>
          <a:p>
            <a:pPr>
              <a:lnSpc>
                <a:spcPts val="2989"/>
              </a:lnSpc>
            </a:pPr>
            <a:r>
              <a:rPr lang="en-US" sz="1600" dirty="0">
                <a:latin typeface="Lucida Sans" pitchFamily="34" charset="0"/>
                <a:ea typeface="Asar" pitchFamily="34" charset="-122"/>
                <a:cs typeface="Asar" pitchFamily="34" charset="-120"/>
              </a:rPr>
              <a:t>Services like Google Pay and Samsung Pay that utilize HCE are becoming increasingly popular.</a:t>
            </a:r>
            <a:endParaRPr lang="en-US" sz="1600" dirty="0">
              <a:latin typeface="Lucida Sans" pitchFamily="34" charset="0"/>
            </a:endParaRPr>
          </a:p>
        </p:txBody>
      </p:sp>
      <p:sp>
        <p:nvSpPr>
          <p:cNvPr id="60" name="Text 2"/>
          <p:cNvSpPr/>
          <p:nvPr/>
        </p:nvSpPr>
        <p:spPr>
          <a:xfrm>
            <a:off x="251520" y="5324380"/>
            <a:ext cx="2223939" cy="370642"/>
          </a:xfrm>
          <a:prstGeom prst="rect">
            <a:avLst/>
          </a:prstGeom>
          <a:noFill/>
          <a:ln/>
        </p:spPr>
        <p:txBody>
          <a:bodyPr wrap="none" rtlCol="0" anchor="t"/>
          <a:lstStyle/>
          <a:p>
            <a:pPr marL="0" indent="0" algn="l">
              <a:lnSpc>
                <a:spcPts val="2919"/>
              </a:lnSpc>
              <a:buNone/>
            </a:pPr>
            <a:r>
              <a:rPr lang="en-US" sz="2335" dirty="0" smtClean="0">
                <a:latin typeface="Asar" pitchFamily="34" charset="0"/>
                <a:ea typeface="Asar" pitchFamily="34" charset="-122"/>
              </a:rPr>
              <a:t>Adoption </a:t>
            </a:r>
            <a:endParaRPr lang="en-US" sz="2335" dirty="0"/>
          </a:p>
        </p:txBody>
      </p:sp>
    </p:spTree>
    <p:extLst>
      <p:ext uri="{BB962C8B-B14F-4D97-AF65-F5344CB8AC3E}">
        <p14:creationId xmlns:p14="http://schemas.microsoft.com/office/powerpoint/2010/main" val="177432532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p:cNvSpPr/>
          <p:nvPr/>
        </p:nvSpPr>
        <p:spPr>
          <a:xfrm>
            <a:off x="827584" y="428622"/>
            <a:ext cx="6815138" cy="66130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3" name="Content Placeholder 2">
            <a:extLst>
              <a:ext uri="{FF2B5EF4-FFF2-40B4-BE49-F238E27FC236}">
                <a16:creationId xmlns="" xmlns:a16="http://schemas.microsoft.com/office/drawing/2014/main" id="{842A01C3-5F33-0E31-F76A-1EAE7EE22438}"/>
              </a:ext>
            </a:extLst>
          </p:cNvPr>
          <p:cNvSpPr>
            <a:spLocks noGrp="1"/>
          </p:cNvSpPr>
          <p:nvPr>
            <p:ph idx="1"/>
          </p:nvPr>
        </p:nvSpPr>
        <p:spPr>
          <a:xfrm>
            <a:off x="323528" y="2348880"/>
            <a:ext cx="8743949" cy="394606"/>
          </a:xfrm>
        </p:spPr>
        <p:txBody>
          <a:bodyPr>
            <a:noAutofit/>
          </a:bodyPr>
          <a:lstStyle/>
          <a:p>
            <a:pPr marL="0" indent="0">
              <a:lnSpc>
                <a:spcPts val="2359"/>
              </a:lnSpc>
              <a:buNone/>
            </a:pPr>
            <a:r>
              <a:rPr lang="en-US" sz="2000" dirty="0">
                <a:latin typeface="Asar" pitchFamily="34" charset="0"/>
                <a:ea typeface="Asar" pitchFamily="34" charset="-122"/>
                <a:cs typeface="Asar" pitchFamily="34" charset="-120"/>
              </a:rPr>
              <a:t>The future of tokenization is leaning towards cloud-based tokens, offering enhanced security and seamless updates.</a:t>
            </a:r>
            <a:endParaRPr lang="en-US" sz="2000" dirty="0"/>
          </a:p>
        </p:txBody>
      </p:sp>
      <p:sp>
        <p:nvSpPr>
          <p:cNvPr id="2" name="Title 1">
            <a:extLst>
              <a:ext uri="{FF2B5EF4-FFF2-40B4-BE49-F238E27FC236}">
                <a16:creationId xmlns="" xmlns:a16="http://schemas.microsoft.com/office/drawing/2014/main" id="{A6D0C247-18C0-0897-6E8C-0FB53434DF94}"/>
              </a:ext>
            </a:extLst>
          </p:cNvPr>
          <p:cNvSpPr>
            <a:spLocks noGrp="1"/>
          </p:cNvSpPr>
          <p:nvPr>
            <p:ph type="title"/>
          </p:nvPr>
        </p:nvSpPr>
        <p:spPr>
          <a:xfrm>
            <a:off x="678925" y="375553"/>
            <a:ext cx="6984410" cy="767446"/>
          </a:xfrm>
        </p:spPr>
        <p:txBody>
          <a:bodyPr>
            <a:normAutofit/>
          </a:bodyPr>
          <a:lstStyle/>
          <a:p>
            <a:pPr algn="ctr"/>
            <a:r>
              <a:rPr lang="en-US" sz="3200" dirty="0" smtClean="0">
                <a:latin typeface="+mn-lt"/>
              </a:rPr>
              <a:t>Future Token Types</a:t>
            </a:r>
            <a:endParaRPr lang="en-IN" sz="3200" dirty="0">
              <a:latin typeface="+mn-lt"/>
            </a:endParaRPr>
          </a:p>
        </p:txBody>
      </p:sp>
      <p:pic>
        <p:nvPicPr>
          <p:cNvPr id="14" name="Google Shape;23;p3"/>
          <p:cNvPicPr preferRelativeResize="0"/>
          <p:nvPr/>
        </p:nvPicPr>
        <p:blipFill rotWithShape="1">
          <a:blip r:embed="rId2">
            <a:alphaModFix/>
          </a:blip>
          <a:srcRect/>
          <a:stretch/>
        </p:blipFill>
        <p:spPr>
          <a:xfrm>
            <a:off x="7737422" y="110217"/>
            <a:ext cx="1220840" cy="318405"/>
          </a:xfrm>
          <a:prstGeom prst="rect">
            <a:avLst/>
          </a:prstGeom>
          <a:noFill/>
          <a:ln>
            <a:noFill/>
          </a:ln>
        </p:spPr>
      </p:pic>
      <p:sp>
        <p:nvSpPr>
          <p:cNvPr id="17" name="Text 6"/>
          <p:cNvSpPr/>
          <p:nvPr/>
        </p:nvSpPr>
        <p:spPr>
          <a:xfrm>
            <a:off x="683568" y="1879187"/>
            <a:ext cx="1755398" cy="292537"/>
          </a:xfrm>
          <a:prstGeom prst="rect">
            <a:avLst/>
          </a:prstGeom>
          <a:noFill/>
          <a:ln/>
        </p:spPr>
        <p:txBody>
          <a:bodyPr wrap="none" rtlCol="0" anchor="t"/>
          <a:lstStyle/>
          <a:p>
            <a:pPr marL="0" indent="0" algn="ctr">
              <a:lnSpc>
                <a:spcPts val="2304"/>
              </a:lnSpc>
              <a:buNone/>
            </a:pPr>
            <a:r>
              <a:rPr lang="en-US" sz="1843" b="1" dirty="0">
                <a:latin typeface="Asar" pitchFamily="34" charset="0"/>
                <a:ea typeface="Asar" pitchFamily="34" charset="-122"/>
                <a:cs typeface="Asar" pitchFamily="34" charset="-120"/>
              </a:rPr>
              <a:t>Cloud-Based Tokens</a:t>
            </a:r>
            <a:endParaRPr lang="en-US" sz="1843" b="1" dirty="0"/>
          </a:p>
        </p:txBody>
      </p:sp>
      <p:sp>
        <p:nvSpPr>
          <p:cNvPr id="18" name="Text 6"/>
          <p:cNvSpPr/>
          <p:nvPr/>
        </p:nvSpPr>
        <p:spPr>
          <a:xfrm>
            <a:off x="611560" y="3647276"/>
            <a:ext cx="1755398" cy="292537"/>
          </a:xfrm>
          <a:prstGeom prst="rect">
            <a:avLst/>
          </a:prstGeom>
          <a:noFill/>
          <a:ln/>
        </p:spPr>
        <p:txBody>
          <a:bodyPr wrap="none" rtlCol="0" anchor="t"/>
          <a:lstStyle/>
          <a:p>
            <a:pPr marL="0" indent="0" algn="ctr">
              <a:lnSpc>
                <a:spcPts val="2304"/>
              </a:lnSpc>
              <a:buNone/>
            </a:pPr>
            <a:r>
              <a:rPr lang="en-US" sz="1843" b="1" dirty="0">
                <a:latin typeface="Asar" pitchFamily="34" charset="0"/>
                <a:ea typeface="Asar" pitchFamily="34" charset="-122"/>
                <a:cs typeface="Asar" pitchFamily="34" charset="-120"/>
              </a:rPr>
              <a:t>Cloud-Based Tokens</a:t>
            </a:r>
            <a:endParaRPr lang="en-US" sz="1843" b="1" dirty="0"/>
          </a:p>
        </p:txBody>
      </p:sp>
      <p:sp>
        <p:nvSpPr>
          <p:cNvPr id="19" name="Content Placeholder 2">
            <a:extLst>
              <a:ext uri="{FF2B5EF4-FFF2-40B4-BE49-F238E27FC236}">
                <a16:creationId xmlns="" xmlns:a16="http://schemas.microsoft.com/office/drawing/2014/main" id="{842A01C3-5F33-0E31-F76A-1EAE7EE22438}"/>
              </a:ext>
            </a:extLst>
          </p:cNvPr>
          <p:cNvSpPr txBox="1">
            <a:spLocks/>
          </p:cNvSpPr>
          <p:nvPr/>
        </p:nvSpPr>
        <p:spPr>
          <a:xfrm>
            <a:off x="107503" y="4018044"/>
            <a:ext cx="8743949" cy="394606"/>
          </a:xfrm>
          <a:prstGeom prst="rect">
            <a:avLst/>
          </a:prstGeom>
        </p:spPr>
        <p:txBody>
          <a:bodyPr vert="horz">
            <a:noAutofit/>
          </a:bodyPr>
          <a:lstStyle>
            <a:lvl1pPr marL="365760" indent="-256032" algn="l" rtl="0" eaLnBrk="1" latinLnBrk="0"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300" kern="1200">
                <a:solidFill>
                  <a:schemeClr val="tx1"/>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a:lstStyle>
          <a:p>
            <a:pPr marL="0" indent="0" algn="ctr">
              <a:lnSpc>
                <a:spcPts val="2359"/>
              </a:lnSpc>
              <a:buNone/>
            </a:pPr>
            <a:r>
              <a:rPr lang="en-US" sz="2000" dirty="0">
                <a:latin typeface="Asar" pitchFamily="34" charset="0"/>
                <a:ea typeface="Asar" pitchFamily="34" charset="-122"/>
                <a:cs typeface="Asar" pitchFamily="34" charset="-120"/>
              </a:rPr>
              <a:t>Incorporating biometric verification and AI-based fraud detection to further protect online transactions.</a:t>
            </a:r>
            <a:endParaRPr lang="en-US" sz="2000" dirty="0"/>
          </a:p>
        </p:txBody>
      </p:sp>
      <p:sp>
        <p:nvSpPr>
          <p:cNvPr id="20" name="Text 6"/>
          <p:cNvSpPr/>
          <p:nvPr/>
        </p:nvSpPr>
        <p:spPr>
          <a:xfrm>
            <a:off x="971600" y="4887177"/>
            <a:ext cx="1755398" cy="292537"/>
          </a:xfrm>
          <a:prstGeom prst="rect">
            <a:avLst/>
          </a:prstGeom>
          <a:noFill/>
          <a:ln/>
        </p:spPr>
        <p:txBody>
          <a:bodyPr wrap="none" rtlCol="0" anchor="t"/>
          <a:lstStyle/>
          <a:p>
            <a:pPr algn="ctr">
              <a:lnSpc>
                <a:spcPts val="2304"/>
              </a:lnSpc>
            </a:pPr>
            <a:r>
              <a:rPr lang="en-US" sz="1843" b="1" dirty="0">
                <a:latin typeface="Asar" pitchFamily="34" charset="0"/>
                <a:ea typeface="Asar" pitchFamily="34" charset="-122"/>
                <a:cs typeface="Asar" pitchFamily="34" charset="-120"/>
              </a:rPr>
              <a:t>Interoperable Tokenization</a:t>
            </a:r>
            <a:endParaRPr lang="en-US" sz="1843" b="1" dirty="0"/>
          </a:p>
        </p:txBody>
      </p:sp>
      <p:sp>
        <p:nvSpPr>
          <p:cNvPr id="21" name="Content Placeholder 2">
            <a:extLst>
              <a:ext uri="{FF2B5EF4-FFF2-40B4-BE49-F238E27FC236}">
                <a16:creationId xmlns="" xmlns:a16="http://schemas.microsoft.com/office/drawing/2014/main" id="{842A01C3-5F33-0E31-F76A-1EAE7EE22438}"/>
              </a:ext>
            </a:extLst>
          </p:cNvPr>
          <p:cNvSpPr txBox="1">
            <a:spLocks/>
          </p:cNvSpPr>
          <p:nvPr/>
        </p:nvSpPr>
        <p:spPr>
          <a:xfrm>
            <a:off x="107504" y="5301208"/>
            <a:ext cx="8743949" cy="394606"/>
          </a:xfrm>
          <a:prstGeom prst="rect">
            <a:avLst/>
          </a:prstGeom>
        </p:spPr>
        <p:txBody>
          <a:bodyPr vert="horz">
            <a:noAutofit/>
          </a:bodyPr>
          <a:lstStyle>
            <a:lvl1pPr marL="365760" indent="-256032" algn="l" rtl="0" eaLnBrk="1" latinLnBrk="0"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300" kern="1200">
                <a:solidFill>
                  <a:schemeClr val="tx1"/>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a:lstStyle>
          <a:p>
            <a:pPr marL="0" indent="0" algn="ctr">
              <a:lnSpc>
                <a:spcPts val="2359"/>
              </a:lnSpc>
              <a:buNone/>
            </a:pPr>
            <a:r>
              <a:rPr lang="en-US" sz="2000" dirty="0">
                <a:latin typeface="Asar" pitchFamily="34" charset="0"/>
                <a:ea typeface="Asar" pitchFamily="34" charset="-122"/>
                <a:cs typeface="Asar" pitchFamily="34" charset="-120"/>
              </a:rPr>
              <a:t>Developing tokens that can be used seamlessly across different payment networks and platforms.</a:t>
            </a:r>
            <a:endParaRPr lang="en-US" sz="2000" dirty="0"/>
          </a:p>
        </p:txBody>
      </p:sp>
    </p:spTree>
    <p:extLst>
      <p:ext uri="{BB962C8B-B14F-4D97-AF65-F5344CB8AC3E}">
        <p14:creationId xmlns:p14="http://schemas.microsoft.com/office/powerpoint/2010/main" val="370558720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p:cNvSpPr/>
          <p:nvPr/>
        </p:nvSpPr>
        <p:spPr>
          <a:xfrm>
            <a:off x="827584" y="628901"/>
            <a:ext cx="6815138" cy="661309"/>
          </a:xfrm>
          <a:prstGeom prst="roundRect">
            <a:avLst/>
          </a:prstGeom>
          <a:solidFill>
            <a:srgbClr val="0099C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 name="Title 1">
            <a:extLst>
              <a:ext uri="{FF2B5EF4-FFF2-40B4-BE49-F238E27FC236}">
                <a16:creationId xmlns="" xmlns:a16="http://schemas.microsoft.com/office/drawing/2014/main" id="{A6D0C247-18C0-0897-6E8C-0FB53434DF94}"/>
              </a:ext>
            </a:extLst>
          </p:cNvPr>
          <p:cNvSpPr>
            <a:spLocks noGrp="1"/>
          </p:cNvSpPr>
          <p:nvPr>
            <p:ph type="title"/>
          </p:nvPr>
        </p:nvSpPr>
        <p:spPr>
          <a:xfrm>
            <a:off x="658312" y="575832"/>
            <a:ext cx="6984410" cy="767446"/>
          </a:xfrm>
        </p:spPr>
        <p:txBody>
          <a:bodyPr>
            <a:normAutofit/>
          </a:bodyPr>
          <a:lstStyle/>
          <a:p>
            <a:pPr algn="ctr"/>
            <a:r>
              <a:rPr lang="en-US" sz="3200" dirty="0" smtClean="0">
                <a:latin typeface="+mn-lt"/>
              </a:rPr>
              <a:t>Token Fraud Risks</a:t>
            </a:r>
            <a:endParaRPr lang="en-IN" sz="3200" dirty="0">
              <a:latin typeface="+mn-lt"/>
            </a:endParaRPr>
          </a:p>
        </p:txBody>
      </p:sp>
      <p:pic>
        <p:nvPicPr>
          <p:cNvPr id="14" name="Google Shape;23;p3"/>
          <p:cNvPicPr preferRelativeResize="0"/>
          <p:nvPr/>
        </p:nvPicPr>
        <p:blipFill rotWithShape="1">
          <a:blip r:embed="rId2">
            <a:alphaModFix/>
          </a:blip>
          <a:srcRect/>
          <a:stretch/>
        </p:blipFill>
        <p:spPr>
          <a:xfrm>
            <a:off x="7737422" y="110217"/>
            <a:ext cx="1220840" cy="318405"/>
          </a:xfrm>
          <a:prstGeom prst="rect">
            <a:avLst/>
          </a:prstGeom>
          <a:noFill/>
          <a:ln>
            <a:noFill/>
          </a:ln>
        </p:spPr>
      </p:pic>
      <p:sp>
        <p:nvSpPr>
          <p:cNvPr id="15" name="TextBox 14"/>
          <p:cNvSpPr txBox="1"/>
          <p:nvPr/>
        </p:nvSpPr>
        <p:spPr>
          <a:xfrm>
            <a:off x="252807" y="1988840"/>
            <a:ext cx="8726883" cy="2095445"/>
          </a:xfrm>
          <a:prstGeom prst="rect">
            <a:avLst/>
          </a:prstGeom>
          <a:noFill/>
        </p:spPr>
        <p:txBody>
          <a:bodyPr wrap="square" rtlCol="0">
            <a:spAutoFit/>
          </a:bodyPr>
          <a:lstStyle/>
          <a:p>
            <a:pPr algn="just">
              <a:lnSpc>
                <a:spcPts val="2687"/>
              </a:lnSpc>
            </a:pPr>
            <a:r>
              <a:rPr lang="en-US" sz="1400" b="1" dirty="0" smtClean="0"/>
              <a:t>Inadequate </a:t>
            </a:r>
            <a:r>
              <a:rPr lang="en-US" sz="1400" b="1" dirty="0"/>
              <a:t>controls</a:t>
            </a:r>
            <a:r>
              <a:rPr lang="en-US" sz="1400" dirty="0"/>
              <a:t>: </a:t>
            </a:r>
            <a:endParaRPr lang="en-US" sz="1400" dirty="0" smtClean="0"/>
          </a:p>
          <a:p>
            <a:pPr algn="just"/>
            <a:r>
              <a:rPr lang="en-US" sz="1400" dirty="0" smtClean="0"/>
              <a:t>If </a:t>
            </a:r>
            <a:r>
              <a:rPr lang="en-US" sz="1400" dirty="0"/>
              <a:t>issuers do not set up proper controls for the token provisioning process, fraudsters can create tokens for lost or stolen cards.</a:t>
            </a:r>
          </a:p>
          <a:p>
            <a:pPr algn="just">
              <a:lnSpc>
                <a:spcPts val="3110"/>
              </a:lnSpc>
            </a:pPr>
            <a:r>
              <a:rPr lang="en-US" sz="1400" b="1" dirty="0" smtClean="0"/>
              <a:t>Identity </a:t>
            </a:r>
            <a:r>
              <a:rPr lang="en-US" sz="1400" b="1" dirty="0"/>
              <a:t>verification failures</a:t>
            </a:r>
            <a:r>
              <a:rPr lang="en-US" sz="1400" dirty="0"/>
              <a:t>: </a:t>
            </a:r>
            <a:endParaRPr lang="en-US" sz="1400" dirty="0" smtClean="0"/>
          </a:p>
          <a:p>
            <a:pPr algn="just"/>
            <a:r>
              <a:rPr lang="en-US" sz="1400" dirty="0" smtClean="0"/>
              <a:t>Weak </a:t>
            </a:r>
            <a:r>
              <a:rPr lang="en-US" sz="1400" dirty="0"/>
              <a:t>or compromised identity verification processes during token provisioning can lead to unauthorized tokens being issued.</a:t>
            </a:r>
          </a:p>
          <a:p>
            <a:pPr algn="just">
              <a:lnSpc>
                <a:spcPts val="3110"/>
              </a:lnSpc>
            </a:pPr>
            <a:endParaRPr lang="en-US" sz="1400" dirty="0"/>
          </a:p>
        </p:txBody>
      </p:sp>
      <p:sp>
        <p:nvSpPr>
          <p:cNvPr id="17" name="TextBox 16"/>
          <p:cNvSpPr txBox="1"/>
          <p:nvPr/>
        </p:nvSpPr>
        <p:spPr>
          <a:xfrm>
            <a:off x="245447" y="4437112"/>
            <a:ext cx="8726883" cy="2031325"/>
          </a:xfrm>
          <a:prstGeom prst="rect">
            <a:avLst/>
          </a:prstGeom>
          <a:noFill/>
        </p:spPr>
        <p:txBody>
          <a:bodyPr wrap="square" rtlCol="0">
            <a:spAutoFit/>
          </a:bodyPr>
          <a:lstStyle/>
          <a:p>
            <a:pPr lvl="0" algn="just" eaLnBrk="0" fontAlgn="base" hangingPunct="0">
              <a:spcBef>
                <a:spcPct val="0"/>
              </a:spcBef>
              <a:spcAft>
                <a:spcPct val="0"/>
              </a:spcAft>
              <a:buFontTx/>
              <a:buChar char="•"/>
            </a:pPr>
            <a:r>
              <a:rPr lang="en-US" altLang="en-US" sz="1400" b="1" dirty="0" smtClean="0">
                <a:latin typeface="+mj-lt"/>
              </a:rPr>
              <a:t>Social </a:t>
            </a:r>
            <a:r>
              <a:rPr lang="en-US" altLang="en-US" sz="1400" b="1" dirty="0">
                <a:latin typeface="+mj-lt"/>
              </a:rPr>
              <a:t>engineering attacks</a:t>
            </a:r>
            <a:r>
              <a:rPr lang="en-US" altLang="en-US" sz="1400" dirty="0">
                <a:latin typeface="+mj-lt"/>
              </a:rPr>
              <a:t>: Fraudsters may use social engineering tactics, such as phishing or </a:t>
            </a:r>
            <a:r>
              <a:rPr lang="en-US" altLang="en-US" sz="1400" dirty="0" err="1">
                <a:latin typeface="+mj-lt"/>
              </a:rPr>
              <a:t>vishing</a:t>
            </a:r>
            <a:r>
              <a:rPr lang="en-US" altLang="en-US" sz="1400" dirty="0">
                <a:latin typeface="+mj-lt"/>
              </a:rPr>
              <a:t>, to trick users into revealing their token information.</a:t>
            </a:r>
          </a:p>
          <a:p>
            <a:pPr lvl="0" algn="just" eaLnBrk="0" fontAlgn="base" hangingPunct="0">
              <a:spcBef>
                <a:spcPct val="0"/>
              </a:spcBef>
              <a:spcAft>
                <a:spcPct val="0"/>
              </a:spcAft>
              <a:buFontTx/>
              <a:buChar char="•"/>
            </a:pPr>
            <a:r>
              <a:rPr lang="en-US" altLang="en-US" sz="1400" b="1" dirty="0">
                <a:latin typeface="+mj-lt"/>
              </a:rPr>
              <a:t>Hacking merchant systems</a:t>
            </a:r>
            <a:r>
              <a:rPr lang="en-US" altLang="en-US" sz="1400" dirty="0">
                <a:latin typeface="+mj-lt"/>
              </a:rPr>
              <a:t>: Merchants' systems that store or process tokens can be targeted by hackers to steal token data.</a:t>
            </a:r>
          </a:p>
          <a:p>
            <a:pPr lvl="0" algn="just" eaLnBrk="0" fontAlgn="base" hangingPunct="0">
              <a:spcBef>
                <a:spcPct val="0"/>
              </a:spcBef>
              <a:spcAft>
                <a:spcPct val="0"/>
              </a:spcAft>
              <a:buFontTx/>
              <a:buChar char="•"/>
            </a:pPr>
            <a:r>
              <a:rPr lang="en-US" altLang="en-US" sz="1400" b="1" dirty="0">
                <a:latin typeface="+mj-lt"/>
              </a:rPr>
              <a:t>Lost or stolen devices</a:t>
            </a:r>
            <a:r>
              <a:rPr lang="en-US" altLang="en-US" sz="1400" dirty="0">
                <a:latin typeface="+mj-lt"/>
              </a:rPr>
              <a:t>: Tokens stored on lost or stolen devices can be used by unauthorized individuals if additional security measures (e.g., biometric authentication) are not in place.</a:t>
            </a:r>
          </a:p>
          <a:p>
            <a:pPr lvl="0" algn="just" eaLnBrk="0" fontAlgn="base" hangingPunct="0">
              <a:spcBef>
                <a:spcPct val="0"/>
              </a:spcBef>
              <a:spcAft>
                <a:spcPct val="0"/>
              </a:spcAft>
              <a:buFontTx/>
              <a:buChar char="•"/>
            </a:pPr>
            <a:r>
              <a:rPr lang="en-US" altLang="en-US" sz="1400" b="1" dirty="0">
                <a:latin typeface="+mj-lt"/>
              </a:rPr>
              <a:t>Man-in-the-middle attacks</a:t>
            </a:r>
            <a:r>
              <a:rPr lang="en-US" altLang="en-US" sz="1400" dirty="0">
                <a:latin typeface="+mj-lt"/>
              </a:rPr>
              <a:t>: Interception of token data during transmission can allow attackers to capture and misuse tokens.</a:t>
            </a:r>
          </a:p>
          <a:p>
            <a:pPr lvl="0" algn="just" eaLnBrk="0" fontAlgn="base" hangingPunct="0">
              <a:spcBef>
                <a:spcPct val="0"/>
              </a:spcBef>
              <a:spcAft>
                <a:spcPct val="0"/>
              </a:spcAft>
              <a:buFontTx/>
              <a:buChar char="•"/>
            </a:pPr>
            <a:r>
              <a:rPr lang="en-US" altLang="en-US" sz="1400" b="1" dirty="0">
                <a:latin typeface="+mj-lt"/>
              </a:rPr>
              <a:t>Malware attacks</a:t>
            </a:r>
            <a:r>
              <a:rPr lang="en-US" altLang="en-US" sz="1400" dirty="0">
                <a:latin typeface="+mj-lt"/>
              </a:rPr>
              <a:t>: Malware on users’ devices can capture token information and send it to attackers. </a:t>
            </a:r>
          </a:p>
        </p:txBody>
      </p:sp>
      <p:sp>
        <p:nvSpPr>
          <p:cNvPr id="18" name="Text 2">
            <a:extLst>
              <a:ext uri="{FF2B5EF4-FFF2-40B4-BE49-F238E27FC236}">
                <a16:creationId xmlns="" xmlns:a16="http://schemas.microsoft.com/office/drawing/2014/main" id="{C81101C4-F4AA-3619-8B04-CD28A4FB8EF1}"/>
              </a:ext>
            </a:extLst>
          </p:cNvPr>
          <p:cNvSpPr/>
          <p:nvPr/>
        </p:nvSpPr>
        <p:spPr>
          <a:xfrm>
            <a:off x="245447" y="3879476"/>
            <a:ext cx="2314575" cy="385763"/>
          </a:xfrm>
          <a:prstGeom prst="rect">
            <a:avLst/>
          </a:prstGeom>
          <a:noFill/>
          <a:ln/>
        </p:spPr>
        <p:txBody>
          <a:bodyPr wrap="none" rtlCol="0" anchor="t"/>
          <a:lstStyle/>
          <a:p>
            <a:pPr marL="0" indent="0">
              <a:lnSpc>
                <a:spcPts val="3038"/>
              </a:lnSpc>
              <a:buNone/>
            </a:pPr>
            <a:r>
              <a:rPr lang="en-IN" sz="2800" dirty="0"/>
              <a:t>Post-Provisioning Risks:</a:t>
            </a:r>
            <a:endParaRPr lang="en-US" sz="2430" dirty="0"/>
          </a:p>
        </p:txBody>
      </p:sp>
      <p:sp>
        <p:nvSpPr>
          <p:cNvPr id="19" name="Text 2">
            <a:extLst>
              <a:ext uri="{FF2B5EF4-FFF2-40B4-BE49-F238E27FC236}">
                <a16:creationId xmlns="" xmlns:a16="http://schemas.microsoft.com/office/drawing/2014/main" id="{C81101C4-F4AA-3619-8B04-CD28A4FB8EF1}"/>
              </a:ext>
            </a:extLst>
          </p:cNvPr>
          <p:cNvSpPr/>
          <p:nvPr/>
        </p:nvSpPr>
        <p:spPr>
          <a:xfrm>
            <a:off x="231379" y="1603077"/>
            <a:ext cx="2314575" cy="385763"/>
          </a:xfrm>
          <a:prstGeom prst="rect">
            <a:avLst/>
          </a:prstGeom>
          <a:noFill/>
          <a:ln/>
        </p:spPr>
        <p:txBody>
          <a:bodyPr wrap="none" rtlCol="0" anchor="t"/>
          <a:lstStyle/>
          <a:p>
            <a:pPr marL="0" indent="0">
              <a:lnSpc>
                <a:spcPts val="3038"/>
              </a:lnSpc>
              <a:buNone/>
            </a:pPr>
            <a:r>
              <a:rPr lang="en-IN" sz="2800" dirty="0" smtClean="0"/>
              <a:t>Provisioning </a:t>
            </a:r>
            <a:r>
              <a:rPr lang="en-IN" sz="2800" dirty="0"/>
              <a:t>Risks:</a:t>
            </a:r>
            <a:endParaRPr lang="en-US" sz="2430" dirty="0"/>
          </a:p>
        </p:txBody>
      </p:sp>
    </p:spTree>
    <p:extLst>
      <p:ext uri="{BB962C8B-B14F-4D97-AF65-F5344CB8AC3E}">
        <p14:creationId xmlns:p14="http://schemas.microsoft.com/office/powerpoint/2010/main" val="311389896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6D0C247-18C0-0897-6E8C-0FB53434DF94}"/>
              </a:ext>
            </a:extLst>
          </p:cNvPr>
          <p:cNvSpPr>
            <a:spLocks noGrp="1"/>
          </p:cNvSpPr>
          <p:nvPr>
            <p:ph type="title"/>
          </p:nvPr>
        </p:nvSpPr>
        <p:spPr>
          <a:xfrm>
            <a:off x="769174" y="417297"/>
            <a:ext cx="6984410" cy="767446"/>
          </a:xfrm>
          <a:solidFill>
            <a:srgbClr val="0099CC"/>
          </a:solidFill>
        </p:spPr>
        <p:txBody>
          <a:bodyPr>
            <a:noAutofit/>
          </a:bodyPr>
          <a:lstStyle/>
          <a:p>
            <a:pPr algn="ctr"/>
            <a:r>
              <a:rPr lang="en-US" sz="2400" dirty="0" smtClean="0">
                <a:latin typeface="+mn-lt"/>
              </a:rPr>
              <a:t>Specific Token Fraud Risks In E-Commerce </a:t>
            </a:r>
            <a:endParaRPr lang="en-IN" sz="2400" dirty="0">
              <a:latin typeface="+mn-lt"/>
            </a:endParaRPr>
          </a:p>
        </p:txBody>
      </p:sp>
      <p:pic>
        <p:nvPicPr>
          <p:cNvPr id="14" name="Google Shape;23;p3"/>
          <p:cNvPicPr preferRelativeResize="0"/>
          <p:nvPr/>
        </p:nvPicPr>
        <p:blipFill rotWithShape="1">
          <a:blip r:embed="rId2">
            <a:alphaModFix/>
          </a:blip>
          <a:srcRect/>
          <a:stretch/>
        </p:blipFill>
        <p:spPr>
          <a:xfrm>
            <a:off x="7737422" y="110217"/>
            <a:ext cx="1220840" cy="318405"/>
          </a:xfrm>
          <a:prstGeom prst="rect">
            <a:avLst/>
          </a:prstGeom>
          <a:noFill/>
          <a:ln>
            <a:noFill/>
          </a:ln>
        </p:spPr>
      </p:pic>
      <p:sp>
        <p:nvSpPr>
          <p:cNvPr id="15" name="TextBox 14"/>
          <p:cNvSpPr txBox="1"/>
          <p:nvPr/>
        </p:nvSpPr>
        <p:spPr>
          <a:xfrm>
            <a:off x="231379" y="1412776"/>
            <a:ext cx="8726883" cy="5078313"/>
          </a:xfrm>
          <a:prstGeom prst="rect">
            <a:avLst/>
          </a:prstGeom>
          <a:noFill/>
        </p:spPr>
        <p:txBody>
          <a:bodyPr wrap="square" rtlCol="0">
            <a:spAutoFit/>
          </a:bodyPr>
          <a:lstStyle/>
          <a:p>
            <a:pPr lvl="0" algn="just" eaLnBrk="0" fontAlgn="base" hangingPunct="0">
              <a:spcBef>
                <a:spcPct val="0"/>
              </a:spcBef>
              <a:spcAft>
                <a:spcPct val="0"/>
              </a:spcAft>
              <a:buFontTx/>
              <a:buChar char="•"/>
            </a:pPr>
            <a:r>
              <a:rPr lang="en-US" altLang="en-US" sz="1200" b="1" dirty="0">
                <a:latin typeface="Arial" panose="020B0604020202020204" pitchFamily="34" charset="0"/>
              </a:rPr>
              <a:t>Card-Not-Present (CNP) Fraud:</a:t>
            </a:r>
            <a:r>
              <a:rPr lang="en-US" altLang="en-US" sz="1200" dirty="0">
                <a:latin typeface="Arial" panose="020B0604020202020204" pitchFamily="34" charset="0"/>
              </a:rPr>
              <a:t> </a:t>
            </a:r>
            <a:endParaRPr lang="en-US" altLang="en-US" sz="1200" dirty="0" smtClean="0">
              <a:latin typeface="Arial" panose="020B0604020202020204" pitchFamily="34" charset="0"/>
            </a:endParaRPr>
          </a:p>
          <a:p>
            <a:pPr lvl="0" algn="just" eaLnBrk="0" fontAlgn="base" hangingPunct="0">
              <a:spcBef>
                <a:spcPct val="0"/>
              </a:spcBef>
              <a:spcAft>
                <a:spcPct val="0"/>
              </a:spcAft>
            </a:pPr>
            <a:r>
              <a:rPr lang="en-US" altLang="en-US" sz="1200" dirty="0">
                <a:latin typeface="Arial" panose="020B0604020202020204" pitchFamily="34" charset="0"/>
              </a:rPr>
              <a:t>	</a:t>
            </a:r>
            <a:r>
              <a:rPr lang="en-US" altLang="en-US" sz="1200" dirty="0" smtClean="0">
                <a:latin typeface="Arial" panose="020B0604020202020204" pitchFamily="34" charset="0"/>
              </a:rPr>
              <a:t>Fraudsters </a:t>
            </a:r>
            <a:r>
              <a:rPr lang="en-US" altLang="en-US" sz="1200" dirty="0">
                <a:latin typeface="Arial" panose="020B0604020202020204" pitchFamily="34" charset="0"/>
              </a:rPr>
              <a:t>use stolen token data to make online purchases where the physical card is not required.</a:t>
            </a:r>
          </a:p>
          <a:p>
            <a:pPr lvl="0" algn="just" eaLnBrk="0" fontAlgn="base" hangingPunct="0">
              <a:spcBef>
                <a:spcPct val="0"/>
              </a:spcBef>
              <a:spcAft>
                <a:spcPct val="0"/>
              </a:spcAft>
            </a:pPr>
            <a:endParaRPr lang="en-US" altLang="en-US" sz="1200" dirty="0">
              <a:latin typeface="Arial" panose="020B0604020202020204" pitchFamily="34" charset="0"/>
            </a:endParaRPr>
          </a:p>
          <a:p>
            <a:pPr lvl="0" algn="just" eaLnBrk="0" fontAlgn="base" hangingPunct="0">
              <a:spcBef>
                <a:spcPct val="0"/>
              </a:spcBef>
              <a:spcAft>
                <a:spcPct val="0"/>
              </a:spcAft>
            </a:pPr>
            <a:r>
              <a:rPr lang="en-US" altLang="en-US" sz="1200" b="1" dirty="0">
                <a:latin typeface="Arial" panose="020B0604020202020204" pitchFamily="34" charset="0"/>
              </a:rPr>
              <a:t>Examples:</a:t>
            </a:r>
            <a:r>
              <a:rPr lang="en-US" altLang="en-US" sz="1200" dirty="0">
                <a:latin typeface="Arial" panose="020B0604020202020204" pitchFamily="34" charset="0"/>
              </a:rPr>
              <a:t> Using tokenized payment details on e-commerce websites for unauthorized transactions.</a:t>
            </a:r>
          </a:p>
          <a:p>
            <a:pPr lvl="0" algn="just" eaLnBrk="0" fontAlgn="base" hangingPunct="0">
              <a:spcBef>
                <a:spcPct val="0"/>
              </a:spcBef>
              <a:spcAft>
                <a:spcPct val="0"/>
              </a:spcAft>
            </a:pPr>
            <a:endParaRPr lang="en-US" altLang="en-US" sz="1200" dirty="0">
              <a:latin typeface="Arial" panose="020B0604020202020204" pitchFamily="34" charset="0"/>
            </a:endParaRPr>
          </a:p>
          <a:p>
            <a:pPr lvl="0" algn="just" eaLnBrk="0" fontAlgn="base" hangingPunct="0">
              <a:spcBef>
                <a:spcPct val="0"/>
              </a:spcBef>
              <a:spcAft>
                <a:spcPct val="0"/>
              </a:spcAft>
              <a:buFontTx/>
              <a:buChar char="•"/>
            </a:pPr>
            <a:r>
              <a:rPr lang="en-US" altLang="en-US" sz="1200" b="1" dirty="0">
                <a:latin typeface="Arial" panose="020B0604020202020204" pitchFamily="34" charset="0"/>
              </a:rPr>
              <a:t>Account Takeover (ATO):</a:t>
            </a:r>
            <a:r>
              <a:rPr lang="en-US" altLang="en-US" sz="1200" dirty="0">
                <a:latin typeface="Arial" panose="020B0604020202020204" pitchFamily="34" charset="0"/>
              </a:rPr>
              <a:t> </a:t>
            </a:r>
            <a:endParaRPr lang="en-US" altLang="en-US" sz="1200" dirty="0" smtClean="0">
              <a:latin typeface="Arial" panose="020B0604020202020204" pitchFamily="34" charset="0"/>
            </a:endParaRPr>
          </a:p>
          <a:p>
            <a:pPr lvl="0" algn="just" eaLnBrk="0" fontAlgn="base" hangingPunct="0">
              <a:spcBef>
                <a:spcPct val="0"/>
              </a:spcBef>
              <a:spcAft>
                <a:spcPct val="0"/>
              </a:spcAft>
            </a:pPr>
            <a:r>
              <a:rPr lang="en-US" altLang="en-US" sz="1200" dirty="0">
                <a:latin typeface="Arial" panose="020B0604020202020204" pitchFamily="34" charset="0"/>
              </a:rPr>
              <a:t>	</a:t>
            </a:r>
            <a:r>
              <a:rPr lang="en-US" altLang="en-US" sz="1200" dirty="0" smtClean="0">
                <a:latin typeface="Arial" panose="020B0604020202020204" pitchFamily="34" charset="0"/>
              </a:rPr>
              <a:t>Fraudsters </a:t>
            </a:r>
            <a:r>
              <a:rPr lang="en-US" altLang="en-US" sz="1200" dirty="0">
                <a:latin typeface="Arial" panose="020B0604020202020204" pitchFamily="34" charset="0"/>
              </a:rPr>
              <a:t>gain access to a user's e-commerce account, change the payment method to a stolen token, </a:t>
            </a:r>
          </a:p>
          <a:p>
            <a:pPr lvl="0" algn="just" eaLnBrk="0" fontAlgn="base" hangingPunct="0">
              <a:spcBef>
                <a:spcPct val="0"/>
              </a:spcBef>
              <a:spcAft>
                <a:spcPct val="0"/>
              </a:spcAft>
            </a:pPr>
            <a:r>
              <a:rPr lang="en-US" altLang="en-US" sz="1200" dirty="0">
                <a:latin typeface="Arial" panose="020B0604020202020204" pitchFamily="34" charset="0"/>
              </a:rPr>
              <a:t>and make purchases.</a:t>
            </a:r>
          </a:p>
          <a:p>
            <a:pPr lvl="0" algn="just" eaLnBrk="0" fontAlgn="base" hangingPunct="0">
              <a:spcBef>
                <a:spcPct val="0"/>
              </a:spcBef>
              <a:spcAft>
                <a:spcPct val="0"/>
              </a:spcAft>
            </a:pPr>
            <a:endParaRPr lang="en-US" altLang="en-US" sz="1200" dirty="0">
              <a:latin typeface="Arial" panose="020B0604020202020204" pitchFamily="34" charset="0"/>
            </a:endParaRPr>
          </a:p>
          <a:p>
            <a:pPr lvl="0" algn="just" eaLnBrk="0" fontAlgn="base" hangingPunct="0">
              <a:spcBef>
                <a:spcPct val="0"/>
              </a:spcBef>
              <a:spcAft>
                <a:spcPct val="0"/>
              </a:spcAft>
            </a:pPr>
            <a:r>
              <a:rPr lang="en-US" altLang="en-US" sz="1200" b="1" dirty="0">
                <a:latin typeface="Arial" panose="020B0604020202020204" pitchFamily="34" charset="0"/>
              </a:rPr>
              <a:t>Examples:</a:t>
            </a:r>
            <a:r>
              <a:rPr lang="en-US" altLang="en-US" sz="1200" dirty="0">
                <a:latin typeface="Arial" panose="020B0604020202020204" pitchFamily="34" charset="0"/>
              </a:rPr>
              <a:t> Compromising a user's login credentials through phishing and then using stored tokens to make fraudulent purchases.</a:t>
            </a:r>
          </a:p>
          <a:p>
            <a:pPr lvl="0" algn="just" eaLnBrk="0" fontAlgn="base" hangingPunct="0">
              <a:spcBef>
                <a:spcPct val="0"/>
              </a:spcBef>
              <a:spcAft>
                <a:spcPct val="0"/>
              </a:spcAft>
            </a:pPr>
            <a:endParaRPr lang="en-US" altLang="en-US" sz="1200" dirty="0">
              <a:latin typeface="Arial" panose="020B0604020202020204" pitchFamily="34" charset="0"/>
            </a:endParaRPr>
          </a:p>
          <a:p>
            <a:pPr lvl="0" algn="just" eaLnBrk="0" fontAlgn="base" hangingPunct="0">
              <a:spcBef>
                <a:spcPct val="0"/>
              </a:spcBef>
              <a:spcAft>
                <a:spcPct val="0"/>
              </a:spcAft>
              <a:buFontTx/>
              <a:buChar char="•"/>
            </a:pPr>
            <a:r>
              <a:rPr lang="en-US" altLang="en-US" sz="1200" b="1" dirty="0">
                <a:latin typeface="Arial" panose="020B0604020202020204" pitchFamily="34" charset="0"/>
              </a:rPr>
              <a:t>Token Skimming:</a:t>
            </a:r>
            <a:r>
              <a:rPr lang="en-US" altLang="en-US" sz="1200" dirty="0">
                <a:latin typeface="Arial" panose="020B0604020202020204" pitchFamily="34" charset="0"/>
              </a:rPr>
              <a:t> </a:t>
            </a:r>
          </a:p>
          <a:p>
            <a:pPr lvl="0" algn="just" eaLnBrk="0" fontAlgn="base" hangingPunct="0">
              <a:spcBef>
                <a:spcPct val="0"/>
              </a:spcBef>
              <a:spcAft>
                <a:spcPct val="0"/>
              </a:spcAft>
            </a:pPr>
            <a:r>
              <a:rPr lang="en-US" altLang="en-US" sz="1200" dirty="0" smtClean="0">
                <a:latin typeface="Arial" panose="020B0604020202020204" pitchFamily="34" charset="0"/>
              </a:rPr>
              <a:t>	Fraudsters </a:t>
            </a:r>
            <a:r>
              <a:rPr lang="en-US" altLang="en-US" sz="1200" dirty="0">
                <a:latin typeface="Arial" panose="020B0604020202020204" pitchFamily="34" charset="0"/>
              </a:rPr>
              <a:t>use malicious software or devices to capture token information during online transactions.</a:t>
            </a:r>
          </a:p>
          <a:p>
            <a:pPr lvl="0" algn="just" eaLnBrk="0" fontAlgn="base" hangingPunct="0">
              <a:spcBef>
                <a:spcPct val="0"/>
              </a:spcBef>
              <a:spcAft>
                <a:spcPct val="0"/>
              </a:spcAft>
            </a:pPr>
            <a:endParaRPr lang="en-US" altLang="en-US" sz="1200" dirty="0">
              <a:latin typeface="Arial" panose="020B0604020202020204" pitchFamily="34" charset="0"/>
            </a:endParaRPr>
          </a:p>
          <a:p>
            <a:pPr lvl="0" algn="just" eaLnBrk="0" fontAlgn="base" hangingPunct="0">
              <a:spcBef>
                <a:spcPct val="0"/>
              </a:spcBef>
              <a:spcAft>
                <a:spcPct val="0"/>
              </a:spcAft>
            </a:pPr>
            <a:r>
              <a:rPr lang="en-US" altLang="en-US" sz="1200" b="1" dirty="0">
                <a:latin typeface="Arial" panose="020B0604020202020204" pitchFamily="34" charset="0"/>
              </a:rPr>
              <a:t>Examples:</a:t>
            </a:r>
            <a:r>
              <a:rPr lang="en-US" altLang="en-US" sz="1200" dirty="0">
                <a:latin typeface="Arial" panose="020B0604020202020204" pitchFamily="34" charset="0"/>
              </a:rPr>
              <a:t> Malware that intercepts token data when a user enters payment information on a compromised e-commerce site.</a:t>
            </a:r>
          </a:p>
          <a:p>
            <a:pPr lvl="0" algn="just" eaLnBrk="0" fontAlgn="base" hangingPunct="0">
              <a:spcBef>
                <a:spcPct val="0"/>
              </a:spcBef>
              <a:spcAft>
                <a:spcPct val="0"/>
              </a:spcAft>
            </a:pPr>
            <a:endParaRPr lang="en-US" altLang="en-US" sz="1200" dirty="0">
              <a:latin typeface="Arial" panose="020B0604020202020204" pitchFamily="34" charset="0"/>
            </a:endParaRPr>
          </a:p>
          <a:p>
            <a:pPr lvl="0" algn="just" eaLnBrk="0" fontAlgn="base" hangingPunct="0">
              <a:spcBef>
                <a:spcPct val="0"/>
              </a:spcBef>
              <a:spcAft>
                <a:spcPct val="0"/>
              </a:spcAft>
              <a:buFontTx/>
              <a:buChar char="•"/>
            </a:pPr>
            <a:r>
              <a:rPr lang="en-US" altLang="en-US" sz="1200" b="1" dirty="0">
                <a:latin typeface="Arial" panose="020B0604020202020204" pitchFamily="34" charset="0"/>
              </a:rPr>
              <a:t>Replay Attacks:</a:t>
            </a:r>
            <a:r>
              <a:rPr lang="en-US" altLang="en-US" sz="1200" dirty="0">
                <a:latin typeface="Arial" panose="020B0604020202020204" pitchFamily="34" charset="0"/>
              </a:rPr>
              <a:t> </a:t>
            </a:r>
            <a:endParaRPr lang="en-US" altLang="en-US" sz="1200" dirty="0" smtClean="0">
              <a:latin typeface="Arial" panose="020B0604020202020204" pitchFamily="34" charset="0"/>
            </a:endParaRPr>
          </a:p>
          <a:p>
            <a:pPr lvl="0" algn="just" eaLnBrk="0" fontAlgn="base" hangingPunct="0">
              <a:spcBef>
                <a:spcPct val="0"/>
              </a:spcBef>
              <a:spcAft>
                <a:spcPct val="0"/>
              </a:spcAft>
            </a:pPr>
            <a:r>
              <a:rPr lang="en-US" altLang="en-US" sz="1200" dirty="0">
                <a:latin typeface="Arial" panose="020B0604020202020204" pitchFamily="34" charset="0"/>
              </a:rPr>
              <a:t>	</a:t>
            </a:r>
            <a:r>
              <a:rPr lang="en-US" altLang="en-US" sz="1200" dirty="0" smtClean="0">
                <a:latin typeface="Arial" panose="020B0604020202020204" pitchFamily="34" charset="0"/>
              </a:rPr>
              <a:t>Attackers </a:t>
            </a:r>
            <a:r>
              <a:rPr lang="en-US" altLang="en-US" sz="1200" dirty="0">
                <a:latin typeface="Arial" panose="020B0604020202020204" pitchFamily="34" charset="0"/>
              </a:rPr>
              <a:t>intercept token transaction data and reuse it to make unauthorized purchases.</a:t>
            </a:r>
          </a:p>
          <a:p>
            <a:pPr lvl="0" algn="just" eaLnBrk="0" fontAlgn="base" hangingPunct="0">
              <a:spcBef>
                <a:spcPct val="0"/>
              </a:spcBef>
              <a:spcAft>
                <a:spcPct val="0"/>
              </a:spcAft>
            </a:pPr>
            <a:endParaRPr lang="en-US" altLang="en-US" sz="1200" dirty="0">
              <a:latin typeface="Arial" panose="020B0604020202020204" pitchFamily="34" charset="0"/>
            </a:endParaRPr>
          </a:p>
          <a:p>
            <a:pPr lvl="0" algn="just" eaLnBrk="0" fontAlgn="base" hangingPunct="0">
              <a:spcBef>
                <a:spcPct val="0"/>
              </a:spcBef>
              <a:spcAft>
                <a:spcPct val="0"/>
              </a:spcAft>
            </a:pPr>
            <a:r>
              <a:rPr lang="en-US" altLang="en-US" sz="1200" b="1" dirty="0">
                <a:latin typeface="Arial" panose="020B0604020202020204" pitchFamily="34" charset="0"/>
              </a:rPr>
              <a:t>Examples:</a:t>
            </a:r>
            <a:r>
              <a:rPr lang="en-US" altLang="en-US" sz="1200" dirty="0">
                <a:latin typeface="Arial" panose="020B0604020202020204" pitchFamily="34" charset="0"/>
              </a:rPr>
              <a:t> Reusing intercepted token data from a legitimate transaction to perform additional unauthorized transactions.</a:t>
            </a:r>
          </a:p>
          <a:p>
            <a:pPr lvl="0" algn="just" eaLnBrk="0" fontAlgn="base" hangingPunct="0">
              <a:spcBef>
                <a:spcPct val="0"/>
              </a:spcBef>
              <a:spcAft>
                <a:spcPct val="0"/>
              </a:spcAft>
            </a:pPr>
            <a:endParaRPr lang="en-US" altLang="en-US" sz="1200" dirty="0">
              <a:latin typeface="Arial" panose="020B0604020202020204" pitchFamily="34" charset="0"/>
            </a:endParaRPr>
          </a:p>
          <a:p>
            <a:pPr lvl="0" algn="just" eaLnBrk="0" fontAlgn="base" hangingPunct="0">
              <a:spcBef>
                <a:spcPct val="0"/>
              </a:spcBef>
              <a:spcAft>
                <a:spcPct val="0"/>
              </a:spcAft>
              <a:buFontTx/>
              <a:buChar char="•"/>
            </a:pPr>
            <a:r>
              <a:rPr lang="en-US" altLang="en-US" sz="1200" b="1" dirty="0">
                <a:latin typeface="Arial" panose="020B0604020202020204" pitchFamily="34" charset="0"/>
              </a:rPr>
              <a:t>Cross-Site Scripting (XSS) Attacks:</a:t>
            </a:r>
            <a:r>
              <a:rPr lang="en-US" altLang="en-US" sz="1200" dirty="0">
                <a:latin typeface="Arial" panose="020B0604020202020204" pitchFamily="34" charset="0"/>
              </a:rPr>
              <a:t> </a:t>
            </a:r>
            <a:endParaRPr lang="en-US" altLang="en-US" sz="1200" dirty="0" smtClean="0">
              <a:latin typeface="Arial" panose="020B0604020202020204" pitchFamily="34" charset="0"/>
            </a:endParaRPr>
          </a:p>
          <a:p>
            <a:pPr lvl="0" algn="just" eaLnBrk="0" fontAlgn="base" hangingPunct="0">
              <a:spcBef>
                <a:spcPct val="0"/>
              </a:spcBef>
              <a:spcAft>
                <a:spcPct val="0"/>
              </a:spcAft>
            </a:pPr>
            <a:r>
              <a:rPr lang="en-US" altLang="en-US" sz="1200" dirty="0">
                <a:latin typeface="Arial" panose="020B0604020202020204" pitchFamily="34" charset="0"/>
              </a:rPr>
              <a:t>	</a:t>
            </a:r>
            <a:r>
              <a:rPr lang="en-US" altLang="en-US" sz="1200" dirty="0" smtClean="0">
                <a:latin typeface="Arial" panose="020B0604020202020204" pitchFamily="34" charset="0"/>
              </a:rPr>
              <a:t>Exploiting </a:t>
            </a:r>
            <a:r>
              <a:rPr lang="en-US" altLang="en-US" sz="1200" dirty="0">
                <a:latin typeface="Arial" panose="020B0604020202020204" pitchFamily="34" charset="0"/>
              </a:rPr>
              <a:t>vulnerabilities in e-commerce websites to inject malicious scripts that capture token data.</a:t>
            </a:r>
          </a:p>
          <a:p>
            <a:pPr lvl="0" algn="just" eaLnBrk="0" fontAlgn="base" hangingPunct="0">
              <a:spcBef>
                <a:spcPct val="0"/>
              </a:spcBef>
              <a:spcAft>
                <a:spcPct val="0"/>
              </a:spcAft>
            </a:pPr>
            <a:endParaRPr lang="en-US" altLang="en-US" sz="1200" dirty="0">
              <a:latin typeface="Arial" panose="020B0604020202020204" pitchFamily="34" charset="0"/>
            </a:endParaRPr>
          </a:p>
          <a:p>
            <a:pPr lvl="0" algn="just" eaLnBrk="0" fontAlgn="base" hangingPunct="0">
              <a:spcBef>
                <a:spcPct val="0"/>
              </a:spcBef>
              <a:spcAft>
                <a:spcPct val="0"/>
              </a:spcAft>
            </a:pPr>
            <a:r>
              <a:rPr lang="en-US" altLang="en-US" sz="1200" b="1" dirty="0">
                <a:latin typeface="Arial" panose="020B0604020202020204" pitchFamily="34" charset="0"/>
              </a:rPr>
              <a:t>Examples:</a:t>
            </a:r>
            <a:r>
              <a:rPr lang="en-US" altLang="en-US" sz="1200" dirty="0">
                <a:latin typeface="Arial" panose="020B0604020202020204" pitchFamily="34" charset="0"/>
              </a:rPr>
              <a:t> Using XSS to steal token information entered by users on checkout pages.</a:t>
            </a:r>
          </a:p>
          <a:p>
            <a:pPr lvl="0" algn="just" eaLnBrk="0" fontAlgn="base" hangingPunct="0">
              <a:spcBef>
                <a:spcPct val="0"/>
              </a:spcBef>
              <a:spcAft>
                <a:spcPct val="0"/>
              </a:spcAft>
            </a:pPr>
            <a:endParaRPr lang="en-US" altLang="en-US" sz="1200" dirty="0">
              <a:latin typeface="Arial" panose="020B0604020202020204" pitchFamily="34" charset="0"/>
            </a:endParaRPr>
          </a:p>
        </p:txBody>
      </p:sp>
    </p:spTree>
    <p:extLst>
      <p:ext uri="{BB962C8B-B14F-4D97-AF65-F5344CB8AC3E}">
        <p14:creationId xmlns:p14="http://schemas.microsoft.com/office/powerpoint/2010/main" val="125226463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2699792" y="320255"/>
            <a:ext cx="4286751" cy="52322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p:cNvSpPr txBox="1"/>
          <p:nvPr/>
        </p:nvSpPr>
        <p:spPr>
          <a:xfrm>
            <a:off x="2699792" y="320255"/>
            <a:ext cx="4286751" cy="523220"/>
          </a:xfrm>
          <a:prstGeom prst="rect">
            <a:avLst/>
          </a:prstGeom>
          <a:noFill/>
        </p:spPr>
        <p:txBody>
          <a:bodyPr wrap="none" rtlCol="0">
            <a:spAutoFit/>
          </a:bodyPr>
          <a:lstStyle/>
          <a:p>
            <a:r>
              <a:rPr lang="en-US" sz="2800" dirty="0" smtClean="0">
                <a:solidFill>
                  <a:schemeClr val="tx1">
                    <a:lumMod val="75000"/>
                    <a:lumOff val="25000"/>
                  </a:schemeClr>
                </a:solidFill>
                <a:latin typeface="Lucida Sans" pitchFamily="34" charset="0"/>
              </a:rPr>
              <a:t>3D Secure Transactions</a:t>
            </a:r>
            <a:endParaRPr lang="en-IN" sz="2800" dirty="0">
              <a:solidFill>
                <a:schemeClr val="tx1">
                  <a:lumMod val="75000"/>
                  <a:lumOff val="25000"/>
                </a:schemeClr>
              </a:solidFill>
              <a:latin typeface="Lucida Sans" pitchFamily="34" charset="0"/>
            </a:endParaRPr>
          </a:p>
        </p:txBody>
      </p:sp>
      <p:sp>
        <p:nvSpPr>
          <p:cNvPr id="6" name="TextBox 5"/>
          <p:cNvSpPr txBox="1"/>
          <p:nvPr/>
        </p:nvSpPr>
        <p:spPr>
          <a:xfrm>
            <a:off x="323528" y="1309936"/>
            <a:ext cx="8424936" cy="1354217"/>
          </a:xfrm>
          <a:prstGeom prst="rect">
            <a:avLst/>
          </a:prstGeom>
          <a:noFill/>
        </p:spPr>
        <p:txBody>
          <a:bodyPr wrap="square" rtlCol="0">
            <a:spAutoFit/>
          </a:bodyPr>
          <a:lstStyle/>
          <a:p>
            <a:pPr marL="285750" indent="-285750">
              <a:buFont typeface="Arial" pitchFamily="34" charset="0"/>
              <a:buChar char="•"/>
            </a:pPr>
            <a:r>
              <a:rPr lang="en-US" sz="1600" dirty="0" smtClean="0">
                <a:latin typeface="Lucida Sans" pitchFamily="34" charset="0"/>
              </a:rPr>
              <a:t>3D Secure add an extra layer to the online card transactions </a:t>
            </a:r>
          </a:p>
          <a:p>
            <a:pPr marL="285750" indent="-285750">
              <a:buFont typeface="Arial" pitchFamily="34" charset="0"/>
              <a:buChar char="•"/>
            </a:pPr>
            <a:r>
              <a:rPr lang="en-US" sz="1600" dirty="0" smtClean="0">
                <a:latin typeface="Lucida Sans" pitchFamily="34" charset="0"/>
              </a:rPr>
              <a:t>3D Secure enhances security measures for merchants</a:t>
            </a:r>
          </a:p>
          <a:p>
            <a:pPr marL="285750" indent="-285750">
              <a:buFont typeface="Arial" pitchFamily="34" charset="0"/>
              <a:buChar char="•"/>
            </a:pPr>
            <a:r>
              <a:rPr lang="en-US" sz="1600" dirty="0" smtClean="0">
                <a:latin typeface="Lucida Sans" pitchFamily="34" charset="0"/>
              </a:rPr>
              <a:t>When 3D Secure is enabled -&gt; asked for validation of every transaction with PIN or Password</a:t>
            </a:r>
          </a:p>
          <a:p>
            <a:endParaRPr lang="en-IN" sz="1600" dirty="0">
              <a:latin typeface="Lucida Sans" pitchFamily="34" charset="0"/>
            </a:endParaRPr>
          </a:p>
        </p:txBody>
      </p:sp>
      <p:sp>
        <p:nvSpPr>
          <p:cNvPr id="7" name="TextBox 6"/>
          <p:cNvSpPr txBox="1"/>
          <p:nvPr/>
        </p:nvSpPr>
        <p:spPr>
          <a:xfrm>
            <a:off x="467544" y="2708919"/>
            <a:ext cx="8565165" cy="584775"/>
          </a:xfrm>
          <a:prstGeom prst="rect">
            <a:avLst/>
          </a:prstGeom>
          <a:noFill/>
        </p:spPr>
        <p:txBody>
          <a:bodyPr wrap="none" rtlCol="0">
            <a:spAutoFit/>
          </a:bodyPr>
          <a:lstStyle/>
          <a:p>
            <a:r>
              <a:rPr lang="en-US" sz="1600" dirty="0" smtClean="0">
                <a:latin typeface="Lucida Sans" pitchFamily="34" charset="0"/>
              </a:rPr>
              <a:t>3DS stands for 3 Domains Secure. It facilitates authentication across three domains.</a:t>
            </a:r>
          </a:p>
          <a:p>
            <a:r>
              <a:rPr lang="en-US" sz="1600" dirty="0" smtClean="0">
                <a:latin typeface="Lucida Sans" pitchFamily="34" charset="0"/>
              </a:rPr>
              <a:t>There are currently 2 types of 3DS – 3DS 1.0 and 3DS 2.0</a:t>
            </a:r>
            <a:endParaRPr lang="en-IN" sz="1600" dirty="0">
              <a:latin typeface="Lucida Sans" pitchFamily="34" charset="0"/>
            </a:endParaRPr>
          </a:p>
        </p:txBody>
      </p:sp>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28349" y="3623822"/>
            <a:ext cx="5985744" cy="2266922"/>
          </a:xfrm>
          <a:prstGeom prst="rect">
            <a:avLst/>
          </a:prstGeom>
        </p:spPr>
      </p:pic>
      <p:pic>
        <p:nvPicPr>
          <p:cNvPr id="9" name="Picture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895766" y="422"/>
            <a:ext cx="1248234" cy="317617"/>
          </a:xfrm>
          <a:prstGeom prst="rect">
            <a:avLst/>
          </a:prstGeom>
        </p:spPr>
      </p:pic>
    </p:spTree>
    <p:extLst>
      <p:ext uri="{BB962C8B-B14F-4D97-AF65-F5344CB8AC3E}">
        <p14:creationId xmlns:p14="http://schemas.microsoft.com/office/powerpoint/2010/main" val="1812941085"/>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886242" y="178872"/>
            <a:ext cx="3150221" cy="523220"/>
          </a:xfrm>
          <a:prstGeom prst="rect">
            <a:avLst/>
          </a:prstGeom>
          <a:solidFill>
            <a:srgbClr val="0099CC"/>
          </a:solidFill>
        </p:spPr>
        <p:txBody>
          <a:bodyPr wrap="none" rtlCol="0">
            <a:spAutoFit/>
          </a:bodyPr>
          <a:lstStyle/>
          <a:p>
            <a:r>
              <a:rPr lang="en-US" sz="2800" dirty="0" smtClean="0">
                <a:solidFill>
                  <a:schemeClr val="tx1">
                    <a:lumMod val="75000"/>
                    <a:lumOff val="25000"/>
                  </a:schemeClr>
                </a:solidFill>
                <a:latin typeface="Lucida Sans" pitchFamily="34" charset="0"/>
              </a:rPr>
              <a:t>Overview of 3DS </a:t>
            </a:r>
            <a:endParaRPr lang="en-IN" sz="2800" dirty="0">
              <a:solidFill>
                <a:schemeClr val="tx1">
                  <a:lumMod val="75000"/>
                  <a:lumOff val="25000"/>
                </a:schemeClr>
              </a:solidFill>
              <a:latin typeface="Lucida Sans" pitchFamily="34" charset="0"/>
            </a:endParaRPr>
          </a:p>
        </p:txBody>
      </p:sp>
      <p:sp>
        <p:nvSpPr>
          <p:cNvPr id="5" name="TextBox 4"/>
          <p:cNvSpPr txBox="1"/>
          <p:nvPr/>
        </p:nvSpPr>
        <p:spPr>
          <a:xfrm>
            <a:off x="150705" y="908720"/>
            <a:ext cx="8982587" cy="1538883"/>
          </a:xfrm>
          <a:prstGeom prst="rect">
            <a:avLst/>
          </a:prstGeom>
          <a:noFill/>
        </p:spPr>
        <p:txBody>
          <a:bodyPr wrap="square" rtlCol="0">
            <a:spAutoFit/>
          </a:bodyPr>
          <a:lstStyle/>
          <a:p>
            <a:pPr algn="just"/>
            <a:r>
              <a:rPr lang="en-US" sz="1400" dirty="0" smtClean="0">
                <a:latin typeface="Lucida Sans" pitchFamily="34" charset="0"/>
              </a:rPr>
              <a:t>3DS 1.0 developed in 1999 and it was first implemented in Visa as Verified by Visa (Visa Secure) in 2001.</a:t>
            </a:r>
          </a:p>
          <a:p>
            <a:pPr algn="just"/>
            <a:endParaRPr lang="en-US" sz="1400" dirty="0">
              <a:latin typeface="Lucida Sans" pitchFamily="34" charset="0"/>
            </a:endParaRPr>
          </a:p>
          <a:p>
            <a:pPr algn="just"/>
            <a:r>
              <a:rPr lang="en-US" sz="1400" b="1" dirty="0" smtClean="0">
                <a:latin typeface="Lucida Sans" pitchFamily="34" charset="0"/>
              </a:rPr>
              <a:t>How 3DS works?</a:t>
            </a:r>
          </a:p>
          <a:p>
            <a:pPr algn="just"/>
            <a:endParaRPr lang="en-US" sz="1400" dirty="0">
              <a:latin typeface="Lucida Sans" pitchFamily="34" charset="0"/>
            </a:endParaRPr>
          </a:p>
          <a:p>
            <a:pPr algn="just"/>
            <a:r>
              <a:rPr lang="en-US" sz="1200" dirty="0" smtClean="0">
                <a:latin typeface="Lucida Sans" pitchFamily="34" charset="0"/>
              </a:rPr>
              <a:t>Whenever you make online purchases, you enter your card details to confirm a payment, it redirected to another page where your bank asks for a code or password to authorize the transaction. </a:t>
            </a:r>
          </a:p>
        </p:txBody>
      </p:sp>
      <p:sp>
        <p:nvSpPr>
          <p:cNvPr id="11" name="TextBox 10"/>
          <p:cNvSpPr txBox="1"/>
          <p:nvPr/>
        </p:nvSpPr>
        <p:spPr>
          <a:xfrm>
            <a:off x="150705" y="2492896"/>
            <a:ext cx="5004047" cy="1846659"/>
          </a:xfrm>
          <a:prstGeom prst="rect">
            <a:avLst/>
          </a:prstGeom>
          <a:noFill/>
        </p:spPr>
        <p:txBody>
          <a:bodyPr wrap="square" rtlCol="0">
            <a:spAutoFit/>
          </a:bodyPr>
          <a:lstStyle/>
          <a:p>
            <a:pPr algn="just"/>
            <a:r>
              <a:rPr lang="en-US" sz="1400" b="1" dirty="0" smtClean="0">
                <a:latin typeface="Lucida Sans" pitchFamily="34" charset="0"/>
              </a:rPr>
              <a:t>Why 3DS needed?</a:t>
            </a:r>
          </a:p>
          <a:p>
            <a:pPr algn="just"/>
            <a:endParaRPr lang="en-US" sz="1400" dirty="0">
              <a:latin typeface="Lucida Sans" pitchFamily="34" charset="0"/>
            </a:endParaRPr>
          </a:p>
          <a:p>
            <a:pPr algn="just"/>
            <a:r>
              <a:rPr lang="en-US" sz="1200" dirty="0" smtClean="0">
                <a:latin typeface="Lucida Sans" pitchFamily="34" charset="0"/>
              </a:rPr>
              <a:t>Despite having security measures like Address Verification System or CVC verification, credit / debit card payments remains prone to fraud.</a:t>
            </a:r>
          </a:p>
          <a:p>
            <a:pPr algn="just"/>
            <a:endParaRPr lang="en-US" sz="1200" dirty="0" smtClean="0">
              <a:latin typeface="Lucida Sans" pitchFamily="34" charset="0"/>
            </a:endParaRPr>
          </a:p>
          <a:p>
            <a:pPr marL="285750" indent="-285750" algn="just">
              <a:buFont typeface="Arial" pitchFamily="34" charset="0"/>
              <a:buChar char="•"/>
            </a:pPr>
            <a:r>
              <a:rPr lang="en-US" sz="1200" dirty="0" smtClean="0">
                <a:latin typeface="Lucida Sans" pitchFamily="34" charset="0"/>
              </a:rPr>
              <a:t>It added extra layer of fraud protection by requesting static information like PIN or Password</a:t>
            </a:r>
          </a:p>
          <a:p>
            <a:pPr algn="just"/>
            <a:endParaRPr lang="en-IN" sz="1400" dirty="0">
              <a:latin typeface="Lucida Sans" pitchFamily="34" charset="0"/>
            </a:endParaRPr>
          </a:p>
        </p:txBody>
      </p:sp>
      <p:sp>
        <p:nvSpPr>
          <p:cNvPr id="12" name="TextBox 11"/>
          <p:cNvSpPr txBox="1"/>
          <p:nvPr/>
        </p:nvSpPr>
        <p:spPr>
          <a:xfrm>
            <a:off x="150705" y="4221088"/>
            <a:ext cx="5064581" cy="1815882"/>
          </a:xfrm>
          <a:prstGeom prst="rect">
            <a:avLst/>
          </a:prstGeom>
          <a:noFill/>
        </p:spPr>
        <p:txBody>
          <a:bodyPr wrap="square" rtlCol="0">
            <a:spAutoFit/>
          </a:bodyPr>
          <a:lstStyle/>
          <a:p>
            <a:pPr algn="just"/>
            <a:r>
              <a:rPr lang="en-US" sz="1400" b="1" dirty="0" smtClean="0">
                <a:latin typeface="Lucida Sans" pitchFamily="34" charset="0"/>
              </a:rPr>
              <a:t>Who decides the transactions as 3DS transactions ?</a:t>
            </a:r>
          </a:p>
          <a:p>
            <a:pPr algn="just"/>
            <a:endParaRPr lang="en-US" sz="1400" b="1" dirty="0">
              <a:latin typeface="Lucida Sans" pitchFamily="34" charset="0"/>
            </a:endParaRPr>
          </a:p>
          <a:p>
            <a:pPr algn="just"/>
            <a:r>
              <a:rPr lang="en-US" sz="1200" dirty="0" smtClean="0">
                <a:latin typeface="Lucida Sans" pitchFamily="34" charset="0"/>
              </a:rPr>
              <a:t>Merchant initiate or convert the normal transaction to 3DS</a:t>
            </a:r>
          </a:p>
          <a:p>
            <a:pPr algn="just"/>
            <a:endParaRPr lang="en-US" sz="1200" dirty="0">
              <a:latin typeface="Lucida Sans" pitchFamily="34" charset="0"/>
            </a:endParaRPr>
          </a:p>
          <a:p>
            <a:pPr algn="just"/>
            <a:r>
              <a:rPr lang="en" sz="1200" dirty="0" smtClean="0">
                <a:latin typeface="Lucida Sans" pitchFamily="34" charset="0"/>
              </a:rPr>
              <a:t>When merchant decides to step up a transaction with increase security by deploying 3D Secure then this protocol transfers more data points (IP address, device ID/Make, Click speed etc) to the  issuer/network/merchant infrastructure allowing them to conduct</a:t>
            </a:r>
          </a:p>
          <a:p>
            <a:pPr algn="just"/>
            <a:r>
              <a:rPr lang="en" sz="1200" dirty="0" smtClean="0">
                <a:latin typeface="Lucida Sans" pitchFamily="34" charset="0"/>
              </a:rPr>
              <a:t>risk assessment while approving/authenticating the transaction.</a:t>
            </a:r>
            <a:endParaRPr lang="en-IN" sz="1200" dirty="0">
              <a:latin typeface="Lucida Sans" pitchFamily="34" charset="0"/>
            </a:endParaRPr>
          </a:p>
        </p:txBody>
      </p:sp>
      <p:pic>
        <p:nvPicPr>
          <p:cNvPr id="10" name="Picture 9"/>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40969" y="3254548"/>
            <a:ext cx="3992323" cy="3596506"/>
          </a:xfrm>
          <a:prstGeom prst="rect">
            <a:avLst/>
          </a:prstGeom>
        </p:spPr>
      </p:pic>
      <p:pic>
        <p:nvPicPr>
          <p:cNvPr id="7" name="Picture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895766" y="422"/>
            <a:ext cx="1248234" cy="317617"/>
          </a:xfrm>
          <a:prstGeom prst="rect">
            <a:avLst/>
          </a:prstGeom>
        </p:spPr>
      </p:pic>
    </p:spTree>
    <p:extLst>
      <p:ext uri="{BB962C8B-B14F-4D97-AF65-F5344CB8AC3E}">
        <p14:creationId xmlns:p14="http://schemas.microsoft.com/office/powerpoint/2010/main" val="3387115420"/>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p:cNvSpPr txBox="1"/>
          <p:nvPr/>
        </p:nvSpPr>
        <p:spPr>
          <a:xfrm>
            <a:off x="161748" y="1746865"/>
            <a:ext cx="3970959" cy="461665"/>
          </a:xfrm>
          <a:prstGeom prst="rect">
            <a:avLst/>
          </a:prstGeom>
          <a:noFill/>
        </p:spPr>
        <p:txBody>
          <a:bodyPr wrap="none" rtlCol="0">
            <a:spAutoFit/>
          </a:bodyPr>
          <a:lstStyle/>
          <a:p>
            <a:pPr marL="171450" indent="-171450" algn="just">
              <a:buFont typeface="Arial" pitchFamily="34" charset="0"/>
              <a:buChar char="•"/>
            </a:pPr>
            <a:r>
              <a:rPr lang="en-US" sz="1200" dirty="0" smtClean="0">
                <a:latin typeface="Lucida Sans" pitchFamily="34" charset="0"/>
              </a:rPr>
              <a:t>It redirected </a:t>
            </a:r>
            <a:r>
              <a:rPr lang="en-US" sz="1200" dirty="0">
                <a:latin typeface="Lucida Sans" pitchFamily="34" charset="0"/>
              </a:rPr>
              <a:t>to a separate authentication page, </a:t>
            </a:r>
            <a:endParaRPr lang="en-US" sz="1200" dirty="0" smtClean="0">
              <a:latin typeface="Lucida Sans" pitchFamily="34" charset="0"/>
            </a:endParaRPr>
          </a:p>
          <a:p>
            <a:pPr algn="just"/>
            <a:r>
              <a:rPr lang="en-US" sz="1200" dirty="0">
                <a:latin typeface="Lucida Sans" pitchFamily="34" charset="0"/>
              </a:rPr>
              <a:t> </a:t>
            </a:r>
            <a:r>
              <a:rPr lang="en-US" sz="1200" dirty="0" smtClean="0">
                <a:latin typeface="Lucida Sans" pitchFamily="34" charset="0"/>
              </a:rPr>
              <a:t>   in </a:t>
            </a:r>
            <a:r>
              <a:rPr lang="en-US" sz="1200" dirty="0">
                <a:latin typeface="Lucida Sans" pitchFamily="34" charset="0"/>
              </a:rPr>
              <a:t>a more disruptive checkout experience.</a:t>
            </a:r>
            <a:endParaRPr lang="en-US" sz="1200" dirty="0" smtClean="0">
              <a:latin typeface="Lucida Sans" pitchFamily="34" charset="0"/>
            </a:endParaRPr>
          </a:p>
        </p:txBody>
      </p:sp>
      <p:sp>
        <p:nvSpPr>
          <p:cNvPr id="12" name="TextBox 11"/>
          <p:cNvSpPr txBox="1"/>
          <p:nvPr/>
        </p:nvSpPr>
        <p:spPr>
          <a:xfrm>
            <a:off x="4397266" y="1711480"/>
            <a:ext cx="4639230" cy="646331"/>
          </a:xfrm>
          <a:prstGeom prst="rect">
            <a:avLst/>
          </a:prstGeom>
          <a:noFill/>
        </p:spPr>
        <p:txBody>
          <a:bodyPr wrap="square" rtlCol="0">
            <a:spAutoFit/>
          </a:bodyPr>
          <a:lstStyle/>
          <a:p>
            <a:pPr marL="171450" indent="-171450" algn="just">
              <a:buFont typeface="Arial" pitchFamily="34" charset="0"/>
              <a:buChar char="•"/>
            </a:pPr>
            <a:r>
              <a:rPr lang="en-US" sz="1200" dirty="0" smtClean="0">
                <a:latin typeface="Lucida Sans" pitchFamily="34" charset="0"/>
              </a:rPr>
              <a:t>3DS2 minimizes </a:t>
            </a:r>
            <a:r>
              <a:rPr lang="en-US" sz="1200" dirty="0">
                <a:latin typeface="Lucida Sans" pitchFamily="34" charset="0"/>
              </a:rPr>
              <a:t>interruptions during the </a:t>
            </a:r>
            <a:r>
              <a:rPr lang="en-US" sz="1200" dirty="0" smtClean="0">
                <a:latin typeface="Lucida Sans" pitchFamily="34" charset="0"/>
              </a:rPr>
              <a:t>checkout process Only high-risk </a:t>
            </a:r>
            <a:r>
              <a:rPr lang="en-US" sz="1200" dirty="0">
                <a:latin typeface="Lucida Sans" pitchFamily="34" charset="0"/>
              </a:rPr>
              <a:t>transactions require </a:t>
            </a:r>
            <a:r>
              <a:rPr lang="en-US" sz="1200" dirty="0" smtClean="0">
                <a:latin typeface="Lucida Sans" pitchFamily="34" charset="0"/>
              </a:rPr>
              <a:t>additional auth.</a:t>
            </a:r>
          </a:p>
        </p:txBody>
      </p:sp>
      <p:sp>
        <p:nvSpPr>
          <p:cNvPr id="14" name="TextBox 13"/>
          <p:cNvSpPr txBox="1"/>
          <p:nvPr/>
        </p:nvSpPr>
        <p:spPr>
          <a:xfrm>
            <a:off x="197432" y="2649125"/>
            <a:ext cx="3645550" cy="276999"/>
          </a:xfrm>
          <a:prstGeom prst="rect">
            <a:avLst/>
          </a:prstGeom>
          <a:noFill/>
        </p:spPr>
        <p:txBody>
          <a:bodyPr wrap="none" rtlCol="0">
            <a:spAutoFit/>
          </a:bodyPr>
          <a:lstStyle/>
          <a:p>
            <a:pPr marL="171450" indent="-171450">
              <a:buFont typeface="Arial" pitchFamily="34" charset="0"/>
              <a:buChar char="•"/>
            </a:pPr>
            <a:r>
              <a:rPr lang="en-US" sz="1200" dirty="0" smtClean="0">
                <a:latin typeface="Lucida Sans" pitchFamily="34" charset="0"/>
              </a:rPr>
              <a:t>It was not optimized </a:t>
            </a:r>
            <a:r>
              <a:rPr lang="en-US" sz="1200" dirty="0">
                <a:latin typeface="Lucida Sans" pitchFamily="34" charset="0"/>
              </a:rPr>
              <a:t>for mobile </a:t>
            </a:r>
            <a:r>
              <a:rPr lang="en-US" sz="1200" dirty="0" smtClean="0">
                <a:latin typeface="Lucida Sans" pitchFamily="34" charset="0"/>
              </a:rPr>
              <a:t>experiences</a:t>
            </a:r>
          </a:p>
        </p:txBody>
      </p:sp>
      <p:sp>
        <p:nvSpPr>
          <p:cNvPr id="15" name="TextBox 14"/>
          <p:cNvSpPr txBox="1"/>
          <p:nvPr/>
        </p:nvSpPr>
        <p:spPr>
          <a:xfrm>
            <a:off x="4382577" y="2649125"/>
            <a:ext cx="4653919" cy="276999"/>
          </a:xfrm>
          <a:prstGeom prst="rect">
            <a:avLst/>
          </a:prstGeom>
          <a:noFill/>
        </p:spPr>
        <p:txBody>
          <a:bodyPr wrap="square" rtlCol="0">
            <a:spAutoFit/>
          </a:bodyPr>
          <a:lstStyle/>
          <a:p>
            <a:pPr marL="171450" indent="-171450" algn="just">
              <a:buFont typeface="Arial" pitchFamily="34" charset="0"/>
              <a:buChar char="•"/>
            </a:pPr>
            <a:r>
              <a:rPr lang="en-US" sz="1200" dirty="0" smtClean="0">
                <a:latin typeface="Lucida Sans" pitchFamily="34" charset="0"/>
              </a:rPr>
              <a:t>Built </a:t>
            </a:r>
            <a:r>
              <a:rPr lang="en-US" sz="1200" dirty="0">
                <a:latin typeface="Lucida Sans" pitchFamily="34" charset="0"/>
              </a:rPr>
              <a:t>for mobile </a:t>
            </a:r>
            <a:r>
              <a:rPr lang="en-US" sz="1200" dirty="0" smtClean="0">
                <a:latin typeface="Lucida Sans" pitchFamily="34" charset="0"/>
              </a:rPr>
              <a:t>use, optimized for mobile integrations</a:t>
            </a:r>
          </a:p>
        </p:txBody>
      </p:sp>
      <p:sp>
        <p:nvSpPr>
          <p:cNvPr id="17" name="TextBox 16"/>
          <p:cNvSpPr txBox="1"/>
          <p:nvPr/>
        </p:nvSpPr>
        <p:spPr>
          <a:xfrm>
            <a:off x="241950" y="3444181"/>
            <a:ext cx="4067139" cy="461665"/>
          </a:xfrm>
          <a:prstGeom prst="rect">
            <a:avLst/>
          </a:prstGeom>
          <a:noFill/>
        </p:spPr>
        <p:txBody>
          <a:bodyPr wrap="none" rtlCol="0">
            <a:spAutoFit/>
          </a:bodyPr>
          <a:lstStyle/>
          <a:p>
            <a:pPr marL="171450" indent="-171450">
              <a:buFont typeface="Arial" pitchFamily="34" charset="0"/>
              <a:buChar char="•"/>
            </a:pPr>
            <a:r>
              <a:rPr lang="en-US" sz="1200" dirty="0" smtClean="0">
                <a:latin typeface="Lucida Sans" pitchFamily="34" charset="0"/>
              </a:rPr>
              <a:t>Used </a:t>
            </a:r>
            <a:r>
              <a:rPr lang="en-US" sz="1200" dirty="0">
                <a:latin typeface="Lucida Sans" pitchFamily="34" charset="0"/>
              </a:rPr>
              <a:t>fewer data points during the authentication </a:t>
            </a:r>
            <a:endParaRPr lang="en-US" sz="1200" dirty="0" smtClean="0">
              <a:latin typeface="Lucida Sans" pitchFamily="34" charset="0"/>
            </a:endParaRPr>
          </a:p>
          <a:p>
            <a:r>
              <a:rPr lang="en-US" sz="1200" dirty="0" smtClean="0">
                <a:latin typeface="Lucida Sans" pitchFamily="34" charset="0"/>
              </a:rPr>
              <a:t>    process</a:t>
            </a:r>
          </a:p>
        </p:txBody>
      </p:sp>
      <p:sp>
        <p:nvSpPr>
          <p:cNvPr id="18" name="TextBox 17"/>
          <p:cNvSpPr txBox="1"/>
          <p:nvPr/>
        </p:nvSpPr>
        <p:spPr>
          <a:xfrm>
            <a:off x="4382577" y="3479228"/>
            <a:ext cx="4661279" cy="461665"/>
          </a:xfrm>
          <a:prstGeom prst="rect">
            <a:avLst/>
          </a:prstGeom>
          <a:noFill/>
        </p:spPr>
        <p:txBody>
          <a:bodyPr wrap="square" rtlCol="0">
            <a:spAutoFit/>
          </a:bodyPr>
          <a:lstStyle/>
          <a:p>
            <a:pPr marL="171450" indent="-171450" algn="just">
              <a:buFont typeface="Arial" pitchFamily="34" charset="0"/>
              <a:buChar char="•"/>
            </a:pPr>
            <a:r>
              <a:rPr lang="en-US" sz="1200" dirty="0" smtClean="0">
                <a:latin typeface="Lucida Sans" pitchFamily="34" charset="0"/>
              </a:rPr>
              <a:t>Uses </a:t>
            </a:r>
            <a:r>
              <a:rPr lang="en-US" sz="1200" dirty="0">
                <a:latin typeface="Lucida Sans" pitchFamily="34" charset="0"/>
              </a:rPr>
              <a:t>many more data points (such as transaction </a:t>
            </a:r>
            <a:r>
              <a:rPr lang="en-US" sz="1200" dirty="0" smtClean="0">
                <a:latin typeface="Lucida Sans" pitchFamily="34" charset="0"/>
              </a:rPr>
              <a:t>history, </a:t>
            </a:r>
          </a:p>
          <a:p>
            <a:pPr algn="just"/>
            <a:r>
              <a:rPr lang="en-US" sz="1200" dirty="0" smtClean="0">
                <a:latin typeface="Lucida Sans" pitchFamily="34" charset="0"/>
              </a:rPr>
              <a:t>   device info, OTP, Biometrics) </a:t>
            </a:r>
            <a:r>
              <a:rPr lang="en-US" sz="1200" dirty="0">
                <a:latin typeface="Lucida Sans" pitchFamily="34" charset="0"/>
              </a:rPr>
              <a:t>for a risk-based assessment</a:t>
            </a:r>
            <a:endParaRPr lang="en-US" sz="1200" dirty="0" smtClean="0">
              <a:latin typeface="Lucida Sans" pitchFamily="34" charset="0"/>
            </a:endParaRPr>
          </a:p>
        </p:txBody>
      </p:sp>
      <p:sp>
        <p:nvSpPr>
          <p:cNvPr id="20" name="TextBox 19"/>
          <p:cNvSpPr txBox="1"/>
          <p:nvPr/>
        </p:nvSpPr>
        <p:spPr>
          <a:xfrm>
            <a:off x="254266" y="4366136"/>
            <a:ext cx="3888432" cy="461665"/>
          </a:xfrm>
          <a:prstGeom prst="rect">
            <a:avLst/>
          </a:prstGeom>
          <a:noFill/>
        </p:spPr>
        <p:txBody>
          <a:bodyPr wrap="square" rtlCol="0">
            <a:spAutoFit/>
          </a:bodyPr>
          <a:lstStyle/>
          <a:p>
            <a:pPr marL="171450" indent="-171450">
              <a:buFont typeface="Arial" pitchFamily="34" charset="0"/>
              <a:buChar char="•"/>
            </a:pPr>
            <a:r>
              <a:rPr lang="en-US" sz="1200" dirty="0" smtClean="0">
                <a:latin typeface="Lucida Sans" pitchFamily="34" charset="0"/>
              </a:rPr>
              <a:t>Required </a:t>
            </a:r>
            <a:r>
              <a:rPr lang="en-US" sz="1200" dirty="0">
                <a:latin typeface="Lucida Sans" pitchFamily="34" charset="0"/>
              </a:rPr>
              <a:t>a password or some form of static authentication from the cardholder.</a:t>
            </a:r>
            <a:endParaRPr lang="en-US" sz="1200" dirty="0" smtClean="0">
              <a:latin typeface="Lucida Sans" pitchFamily="34" charset="0"/>
            </a:endParaRPr>
          </a:p>
        </p:txBody>
      </p:sp>
      <p:sp>
        <p:nvSpPr>
          <p:cNvPr id="21" name="TextBox 20"/>
          <p:cNvSpPr txBox="1"/>
          <p:nvPr/>
        </p:nvSpPr>
        <p:spPr>
          <a:xfrm>
            <a:off x="4397266" y="4366136"/>
            <a:ext cx="4639230" cy="461665"/>
          </a:xfrm>
          <a:prstGeom prst="rect">
            <a:avLst/>
          </a:prstGeom>
          <a:noFill/>
        </p:spPr>
        <p:txBody>
          <a:bodyPr wrap="square" rtlCol="0">
            <a:spAutoFit/>
          </a:bodyPr>
          <a:lstStyle/>
          <a:p>
            <a:pPr marL="171450" indent="-171450" algn="just">
              <a:buFont typeface="Arial" pitchFamily="34" charset="0"/>
              <a:buChar char="•"/>
            </a:pPr>
            <a:r>
              <a:rPr lang="en-US" sz="1200" dirty="0" smtClean="0">
                <a:latin typeface="Lucida Sans" pitchFamily="34" charset="0"/>
              </a:rPr>
              <a:t>It is frictionless flow, </a:t>
            </a:r>
            <a:r>
              <a:rPr lang="en-US" sz="1200" dirty="0">
                <a:latin typeface="Lucida Sans" pitchFamily="34" charset="0"/>
              </a:rPr>
              <a:t>where </a:t>
            </a:r>
            <a:r>
              <a:rPr lang="en-US" sz="1200" dirty="0" smtClean="0">
                <a:latin typeface="Lucida Sans" pitchFamily="34" charset="0"/>
              </a:rPr>
              <a:t>transactions can </a:t>
            </a:r>
            <a:r>
              <a:rPr lang="en-US" sz="1200" dirty="0">
                <a:latin typeface="Lucida Sans" pitchFamily="34" charset="0"/>
              </a:rPr>
              <a:t>be </a:t>
            </a:r>
            <a:endParaRPr lang="en-US" sz="1200" dirty="0" smtClean="0">
              <a:latin typeface="Lucida Sans" pitchFamily="34" charset="0"/>
            </a:endParaRPr>
          </a:p>
          <a:p>
            <a:pPr algn="just"/>
            <a:r>
              <a:rPr lang="en-US" sz="1200" dirty="0" smtClean="0">
                <a:latin typeface="Lucida Sans" pitchFamily="34" charset="0"/>
              </a:rPr>
              <a:t>   authenticated </a:t>
            </a:r>
            <a:r>
              <a:rPr lang="en-US" sz="1200" dirty="0">
                <a:latin typeface="Lucida Sans" pitchFamily="34" charset="0"/>
              </a:rPr>
              <a:t>without the need for cardholder interaction.</a:t>
            </a:r>
            <a:endParaRPr lang="en-US" sz="1200" dirty="0" smtClean="0">
              <a:latin typeface="Lucida Sans" pitchFamily="34" charset="0"/>
            </a:endParaRPr>
          </a:p>
        </p:txBody>
      </p:sp>
      <p:sp>
        <p:nvSpPr>
          <p:cNvPr id="23" name="TextBox 22"/>
          <p:cNvSpPr txBox="1"/>
          <p:nvPr/>
        </p:nvSpPr>
        <p:spPr>
          <a:xfrm>
            <a:off x="254266" y="5324958"/>
            <a:ext cx="3888432" cy="276999"/>
          </a:xfrm>
          <a:prstGeom prst="rect">
            <a:avLst/>
          </a:prstGeom>
          <a:noFill/>
        </p:spPr>
        <p:txBody>
          <a:bodyPr wrap="square" rtlCol="0">
            <a:spAutoFit/>
          </a:bodyPr>
          <a:lstStyle/>
          <a:p>
            <a:pPr marL="171450" indent="-171450">
              <a:buFont typeface="Arial" pitchFamily="34" charset="0"/>
              <a:buChar char="•"/>
            </a:pPr>
            <a:r>
              <a:rPr lang="en-US" sz="1200" dirty="0" smtClean="0">
                <a:latin typeface="Lucida Sans" pitchFamily="34" charset="0"/>
              </a:rPr>
              <a:t>Mainly </a:t>
            </a:r>
            <a:r>
              <a:rPr lang="en-US" sz="1200" dirty="0">
                <a:latin typeface="Lucida Sans" pitchFamily="34" charset="0"/>
              </a:rPr>
              <a:t>focused on </a:t>
            </a:r>
            <a:r>
              <a:rPr lang="en-US" sz="1200" dirty="0" smtClean="0">
                <a:latin typeface="Lucida Sans" pitchFamily="34" charset="0"/>
              </a:rPr>
              <a:t>card-not-present transaction</a:t>
            </a:r>
          </a:p>
        </p:txBody>
      </p:sp>
      <p:sp>
        <p:nvSpPr>
          <p:cNvPr id="24" name="TextBox 23"/>
          <p:cNvSpPr txBox="1"/>
          <p:nvPr/>
        </p:nvSpPr>
        <p:spPr>
          <a:xfrm>
            <a:off x="4415666" y="5327418"/>
            <a:ext cx="4628190" cy="461665"/>
          </a:xfrm>
          <a:prstGeom prst="rect">
            <a:avLst/>
          </a:prstGeom>
          <a:noFill/>
        </p:spPr>
        <p:txBody>
          <a:bodyPr wrap="none" rtlCol="0">
            <a:spAutoFit/>
          </a:bodyPr>
          <a:lstStyle/>
          <a:p>
            <a:pPr marL="171450" indent="-171450" algn="just">
              <a:buFont typeface="Arial" pitchFamily="34" charset="0"/>
              <a:buChar char="•"/>
            </a:pPr>
            <a:r>
              <a:rPr lang="en-US" sz="1200" dirty="0" smtClean="0">
                <a:latin typeface="Lucida Sans" pitchFamily="34" charset="0"/>
              </a:rPr>
              <a:t>Broader </a:t>
            </a:r>
            <a:r>
              <a:rPr lang="en-US" sz="1200" dirty="0">
                <a:latin typeface="Lucida Sans" pitchFamily="34" charset="0"/>
              </a:rPr>
              <a:t>in scope and covers more transaction types, </a:t>
            </a:r>
            <a:endParaRPr lang="en-US" sz="1200" dirty="0" smtClean="0">
              <a:latin typeface="Lucida Sans" pitchFamily="34" charset="0"/>
            </a:endParaRPr>
          </a:p>
          <a:p>
            <a:pPr algn="just"/>
            <a:r>
              <a:rPr lang="en-US" sz="1200" dirty="0" smtClean="0">
                <a:latin typeface="Lucida Sans" pitchFamily="34" charset="0"/>
              </a:rPr>
              <a:t>    including</a:t>
            </a:r>
            <a:r>
              <a:rPr lang="en-US" sz="1200" dirty="0">
                <a:latin typeface="Lucida Sans" pitchFamily="34" charset="0"/>
              </a:rPr>
              <a:t> </a:t>
            </a:r>
            <a:r>
              <a:rPr lang="en-US" sz="1200" dirty="0" smtClean="0">
                <a:latin typeface="Lucida Sans" pitchFamily="34" charset="0"/>
              </a:rPr>
              <a:t>mobile payments</a:t>
            </a:r>
            <a:r>
              <a:rPr lang="en-US" sz="1200" dirty="0">
                <a:latin typeface="Lucida Sans" pitchFamily="34" charset="0"/>
              </a:rPr>
              <a:t> and card-on-file transactions.</a:t>
            </a:r>
            <a:endParaRPr lang="en-US" sz="1200" dirty="0" smtClean="0">
              <a:latin typeface="Lucida Sans" pitchFamily="34" charset="0"/>
            </a:endParaRPr>
          </a:p>
        </p:txBody>
      </p:sp>
      <p:sp>
        <p:nvSpPr>
          <p:cNvPr id="26" name="TextBox 25"/>
          <p:cNvSpPr txBox="1"/>
          <p:nvPr/>
        </p:nvSpPr>
        <p:spPr>
          <a:xfrm>
            <a:off x="236394" y="6163187"/>
            <a:ext cx="3888432" cy="461665"/>
          </a:xfrm>
          <a:prstGeom prst="rect">
            <a:avLst/>
          </a:prstGeom>
          <a:noFill/>
        </p:spPr>
        <p:txBody>
          <a:bodyPr wrap="square" rtlCol="0">
            <a:spAutoFit/>
          </a:bodyPr>
          <a:lstStyle/>
          <a:p>
            <a:pPr marL="171450" indent="-171450">
              <a:buFont typeface="Arial" pitchFamily="34" charset="0"/>
              <a:buChar char="•"/>
            </a:pPr>
            <a:r>
              <a:rPr lang="en-US" sz="1200" dirty="0" smtClean="0">
                <a:latin typeface="Lucida Sans" pitchFamily="34" charset="0"/>
              </a:rPr>
              <a:t>Pre-dated </a:t>
            </a:r>
            <a:r>
              <a:rPr lang="en-US" sz="1200" dirty="0">
                <a:latin typeface="Lucida Sans" pitchFamily="34" charset="0"/>
              </a:rPr>
              <a:t>some of the modern online payment regulations.</a:t>
            </a:r>
            <a:endParaRPr lang="en-US" sz="1200" dirty="0" smtClean="0">
              <a:latin typeface="Lucida Sans" pitchFamily="34" charset="0"/>
            </a:endParaRPr>
          </a:p>
        </p:txBody>
      </p:sp>
      <p:sp>
        <p:nvSpPr>
          <p:cNvPr id="27" name="TextBox 26"/>
          <p:cNvSpPr txBox="1"/>
          <p:nvPr/>
        </p:nvSpPr>
        <p:spPr>
          <a:xfrm>
            <a:off x="4419956" y="6067538"/>
            <a:ext cx="4616540" cy="646331"/>
          </a:xfrm>
          <a:prstGeom prst="rect">
            <a:avLst/>
          </a:prstGeom>
          <a:noFill/>
        </p:spPr>
        <p:txBody>
          <a:bodyPr wrap="square" rtlCol="0">
            <a:spAutoFit/>
          </a:bodyPr>
          <a:lstStyle/>
          <a:p>
            <a:pPr marL="171450" indent="-171450" algn="just">
              <a:buFont typeface="Arial" pitchFamily="34" charset="0"/>
              <a:buChar char="•"/>
            </a:pPr>
            <a:r>
              <a:rPr lang="en-US" sz="1200" dirty="0" smtClean="0">
                <a:latin typeface="Lucida Sans" pitchFamily="34" charset="0"/>
              </a:rPr>
              <a:t>Comply </a:t>
            </a:r>
            <a:r>
              <a:rPr lang="en-US" sz="1200" dirty="0">
                <a:latin typeface="Lucida Sans" pitchFamily="34" charset="0"/>
              </a:rPr>
              <a:t>with the European Union's Revised Payment Services Directive (PSD2), </a:t>
            </a:r>
            <a:r>
              <a:rPr lang="en-US" sz="1200" dirty="0" smtClean="0">
                <a:latin typeface="Lucida Sans" pitchFamily="34" charset="0"/>
              </a:rPr>
              <a:t>its </a:t>
            </a:r>
            <a:r>
              <a:rPr lang="en-US" sz="1200" dirty="0">
                <a:latin typeface="Lucida Sans" pitchFamily="34" charset="0"/>
              </a:rPr>
              <a:t>requirement for Strong Customer Authentication (SCA) for </a:t>
            </a:r>
            <a:r>
              <a:rPr lang="en-US" sz="1200" dirty="0" smtClean="0">
                <a:latin typeface="Lucida Sans" pitchFamily="34" charset="0"/>
              </a:rPr>
              <a:t>online transaction</a:t>
            </a:r>
          </a:p>
        </p:txBody>
      </p:sp>
      <p:sp>
        <p:nvSpPr>
          <p:cNvPr id="28" name="Rounded Rectangle 27"/>
          <p:cNvSpPr/>
          <p:nvPr/>
        </p:nvSpPr>
        <p:spPr>
          <a:xfrm>
            <a:off x="1133927" y="836712"/>
            <a:ext cx="1621716" cy="432048"/>
          </a:xfrm>
          <a:prstGeom prst="roundRect">
            <a:avLst/>
          </a:prstGeom>
          <a:solidFill>
            <a:srgbClr val="0070C0"/>
          </a:solidFill>
          <a:ln>
            <a:solidFill>
              <a:schemeClr val="bg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3DS 1.0</a:t>
            </a:r>
            <a:endParaRPr lang="en-IN" dirty="0"/>
          </a:p>
        </p:txBody>
      </p:sp>
      <p:sp>
        <p:nvSpPr>
          <p:cNvPr id="29" name="Rounded Rectangle 28"/>
          <p:cNvSpPr/>
          <p:nvPr/>
        </p:nvSpPr>
        <p:spPr>
          <a:xfrm>
            <a:off x="5909315" y="843247"/>
            <a:ext cx="1621716" cy="432048"/>
          </a:xfrm>
          <a:prstGeom prst="roundRect">
            <a:avLst/>
          </a:prstGeom>
          <a:solidFill>
            <a:srgbClr val="0070C0"/>
          </a:solidFill>
          <a:ln>
            <a:solidFill>
              <a:schemeClr val="bg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3DS 2.0</a:t>
            </a:r>
            <a:endParaRPr lang="en-IN" dirty="0"/>
          </a:p>
        </p:txBody>
      </p:sp>
      <p:sp>
        <p:nvSpPr>
          <p:cNvPr id="30" name="Rounded Rectangle 29"/>
          <p:cNvSpPr/>
          <p:nvPr/>
        </p:nvSpPr>
        <p:spPr>
          <a:xfrm>
            <a:off x="230995" y="1346175"/>
            <a:ext cx="2922532" cy="400690"/>
          </a:xfrm>
          <a:prstGeom prst="roundRect">
            <a:avLst/>
          </a:prstGeom>
          <a:solidFill>
            <a:srgbClr val="0099CC"/>
          </a:solidFill>
          <a:ln>
            <a:solidFill>
              <a:schemeClr val="bg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smtClean="0">
                <a:latin typeface="Lucida Sans" pitchFamily="34" charset="0"/>
              </a:rPr>
              <a:t>Customer Experience</a:t>
            </a:r>
            <a:endParaRPr lang="en-IN" sz="1400" dirty="0">
              <a:latin typeface="Lucida Sans" pitchFamily="34" charset="0"/>
            </a:endParaRPr>
          </a:p>
        </p:txBody>
      </p:sp>
      <p:sp>
        <p:nvSpPr>
          <p:cNvPr id="31" name="Rounded Rectangle 30"/>
          <p:cNvSpPr/>
          <p:nvPr/>
        </p:nvSpPr>
        <p:spPr>
          <a:xfrm>
            <a:off x="230995" y="2248027"/>
            <a:ext cx="2914495" cy="400690"/>
          </a:xfrm>
          <a:prstGeom prst="roundRect">
            <a:avLst/>
          </a:prstGeom>
          <a:solidFill>
            <a:srgbClr val="0099CC"/>
          </a:solidFill>
          <a:ln>
            <a:solidFill>
              <a:schemeClr val="bg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smtClean="0">
                <a:latin typeface="Lucida Sans" pitchFamily="34" charset="0"/>
              </a:rPr>
              <a:t>Mobile Integration</a:t>
            </a:r>
          </a:p>
        </p:txBody>
      </p:sp>
      <p:sp>
        <p:nvSpPr>
          <p:cNvPr id="32" name="Rounded Rectangle 31"/>
          <p:cNvSpPr/>
          <p:nvPr/>
        </p:nvSpPr>
        <p:spPr>
          <a:xfrm>
            <a:off x="233214" y="5762497"/>
            <a:ext cx="2877574" cy="400690"/>
          </a:xfrm>
          <a:prstGeom prst="roundRect">
            <a:avLst/>
          </a:prstGeom>
          <a:solidFill>
            <a:srgbClr val="0099CC"/>
          </a:solidFill>
          <a:ln>
            <a:solidFill>
              <a:schemeClr val="bg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smtClean="0">
                <a:latin typeface="Lucida Sans" pitchFamily="34" charset="0"/>
              </a:rPr>
              <a:t>Regulation and Compliance</a:t>
            </a:r>
          </a:p>
        </p:txBody>
      </p:sp>
      <p:sp>
        <p:nvSpPr>
          <p:cNvPr id="33" name="Rounded Rectangle 32"/>
          <p:cNvSpPr/>
          <p:nvPr/>
        </p:nvSpPr>
        <p:spPr>
          <a:xfrm>
            <a:off x="230995" y="3938563"/>
            <a:ext cx="2859641" cy="400690"/>
          </a:xfrm>
          <a:prstGeom prst="roundRect">
            <a:avLst/>
          </a:prstGeom>
          <a:solidFill>
            <a:srgbClr val="0099CC"/>
          </a:solidFill>
          <a:ln>
            <a:solidFill>
              <a:schemeClr val="bg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smtClean="0">
                <a:latin typeface="Lucida Sans" pitchFamily="34" charset="0"/>
              </a:rPr>
              <a:t>Frictionless Flow</a:t>
            </a:r>
          </a:p>
        </p:txBody>
      </p:sp>
      <p:sp>
        <p:nvSpPr>
          <p:cNvPr id="34" name="Rounded Rectangle 33"/>
          <p:cNvSpPr/>
          <p:nvPr/>
        </p:nvSpPr>
        <p:spPr>
          <a:xfrm>
            <a:off x="241950" y="4924268"/>
            <a:ext cx="2860201" cy="400690"/>
          </a:xfrm>
          <a:prstGeom prst="roundRect">
            <a:avLst/>
          </a:prstGeom>
          <a:solidFill>
            <a:srgbClr val="0099CC"/>
          </a:solidFill>
          <a:ln>
            <a:solidFill>
              <a:schemeClr val="bg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smtClean="0">
                <a:latin typeface="Lucida Sans" pitchFamily="34" charset="0"/>
              </a:rPr>
              <a:t>Scope of Transaction</a:t>
            </a:r>
          </a:p>
        </p:txBody>
      </p:sp>
      <p:sp>
        <p:nvSpPr>
          <p:cNvPr id="35" name="Rounded Rectangle 34"/>
          <p:cNvSpPr/>
          <p:nvPr/>
        </p:nvSpPr>
        <p:spPr>
          <a:xfrm>
            <a:off x="221383" y="3028904"/>
            <a:ext cx="2889405" cy="400690"/>
          </a:xfrm>
          <a:prstGeom prst="roundRect">
            <a:avLst/>
          </a:prstGeom>
          <a:solidFill>
            <a:srgbClr val="0099CC"/>
          </a:solidFill>
          <a:ln>
            <a:solidFill>
              <a:schemeClr val="bg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smtClean="0">
                <a:latin typeface="Lucida Sans" pitchFamily="34" charset="0"/>
              </a:rPr>
              <a:t>Data Points</a:t>
            </a:r>
          </a:p>
        </p:txBody>
      </p:sp>
      <p:sp>
        <p:nvSpPr>
          <p:cNvPr id="36" name="Rounded Rectangle 35"/>
          <p:cNvSpPr/>
          <p:nvPr/>
        </p:nvSpPr>
        <p:spPr>
          <a:xfrm>
            <a:off x="822142" y="129782"/>
            <a:ext cx="6973893" cy="376515"/>
          </a:xfrm>
          <a:prstGeom prst="roundRect">
            <a:avLst/>
          </a:prstGeom>
          <a:solidFill>
            <a:srgbClr val="0099CC"/>
          </a:solidFill>
          <a:ln>
            <a:solidFill>
              <a:schemeClr val="bg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solidFill>
                  <a:schemeClr val="tx1"/>
                </a:solidFill>
                <a:latin typeface="Lucida Sans" pitchFamily="34" charset="0"/>
              </a:rPr>
              <a:t>3DS 1.0 vs 3DS 2.0</a:t>
            </a:r>
            <a:endParaRPr lang="en-IN" b="1" dirty="0">
              <a:solidFill>
                <a:schemeClr val="tx1"/>
              </a:solidFill>
              <a:latin typeface="Lucida Sans" pitchFamily="34" charset="0"/>
            </a:endParaRPr>
          </a:p>
        </p:txBody>
      </p:sp>
      <p:pic>
        <p:nvPicPr>
          <p:cNvPr id="2" name="Picture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895766" y="422"/>
            <a:ext cx="1248234" cy="317617"/>
          </a:xfrm>
          <a:prstGeom prst="rect">
            <a:avLst/>
          </a:prstGeom>
        </p:spPr>
      </p:pic>
    </p:spTree>
    <p:extLst>
      <p:ext uri="{BB962C8B-B14F-4D97-AF65-F5344CB8AC3E}">
        <p14:creationId xmlns:p14="http://schemas.microsoft.com/office/powerpoint/2010/main" val="1982588730"/>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p:cNvSpPr/>
          <p:nvPr/>
        </p:nvSpPr>
        <p:spPr>
          <a:xfrm>
            <a:off x="1904142" y="188640"/>
            <a:ext cx="5256584" cy="504056"/>
          </a:xfrm>
          <a:prstGeom prst="roundRect">
            <a:avLst/>
          </a:prstGeom>
          <a:solidFill>
            <a:srgbClr val="0099C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smtClean="0">
                <a:solidFill>
                  <a:schemeClr val="tx1">
                    <a:lumMod val="75000"/>
                    <a:lumOff val="25000"/>
                  </a:schemeClr>
                </a:solidFill>
              </a:rPr>
              <a:t>Flow of 3DS Transactions</a:t>
            </a:r>
            <a:endParaRPr lang="en-IN" sz="2400" dirty="0">
              <a:solidFill>
                <a:schemeClr val="tx1">
                  <a:lumMod val="75000"/>
                  <a:lumOff val="25000"/>
                </a:schemeClr>
              </a:solidFill>
            </a:endParaRPr>
          </a:p>
        </p:txBody>
      </p:sp>
      <p:sp>
        <p:nvSpPr>
          <p:cNvPr id="9" name="Rounded Rectangle 8"/>
          <p:cNvSpPr/>
          <p:nvPr/>
        </p:nvSpPr>
        <p:spPr>
          <a:xfrm>
            <a:off x="148471" y="5085184"/>
            <a:ext cx="2232248" cy="648072"/>
          </a:xfrm>
          <a:prstGeom prst="roundRect">
            <a:avLst/>
          </a:prstGeom>
          <a:solidFill>
            <a:schemeClr val="accent1">
              <a:lumMod val="40000"/>
              <a:lumOff val="60000"/>
            </a:schemeClr>
          </a:solidFill>
          <a:effectLst>
            <a:outerShdw blurRad="50800" dist="38100" algn="l" rotWithShape="0">
              <a:schemeClr val="tx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smtClean="0">
                <a:solidFill>
                  <a:schemeClr val="tx1"/>
                </a:solidFill>
              </a:rPr>
              <a:t>3DS supported?</a:t>
            </a:r>
            <a:endParaRPr lang="en-US" sz="1400" b="1" dirty="0" smtClean="0">
              <a:solidFill>
                <a:schemeClr val="tx1"/>
              </a:solidFill>
            </a:endParaRPr>
          </a:p>
          <a:p>
            <a:pPr algn="ctr"/>
            <a:r>
              <a:rPr lang="en-US" sz="1000" dirty="0" smtClean="0">
                <a:solidFill>
                  <a:schemeClr val="tx1"/>
                </a:solidFill>
              </a:rPr>
              <a:t>Is 3D Secure 2 supported for this transaction?</a:t>
            </a:r>
            <a:endParaRPr lang="en-IN" sz="1600" dirty="0">
              <a:solidFill>
                <a:schemeClr val="tx1"/>
              </a:solidFill>
            </a:endParaRPr>
          </a:p>
        </p:txBody>
      </p:sp>
      <p:sp>
        <p:nvSpPr>
          <p:cNvPr id="11" name="Rounded Rectangle 10"/>
          <p:cNvSpPr/>
          <p:nvPr/>
        </p:nvSpPr>
        <p:spPr>
          <a:xfrm>
            <a:off x="3448895" y="6021288"/>
            <a:ext cx="2376264" cy="648072"/>
          </a:xfrm>
          <a:prstGeom prst="roundRect">
            <a:avLst/>
          </a:prstGeom>
          <a:solidFill>
            <a:schemeClr val="accent1">
              <a:lumMod val="40000"/>
              <a:lumOff val="60000"/>
            </a:schemeClr>
          </a:solidFill>
          <a:effectLst>
            <a:outerShdw blurRad="50800" dist="38100" algn="l" rotWithShape="0">
              <a:schemeClr val="tx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smtClean="0">
                <a:solidFill>
                  <a:schemeClr val="tx1"/>
                </a:solidFill>
              </a:rPr>
              <a:t>3DS1 supported?</a:t>
            </a:r>
            <a:endParaRPr lang="en-US" sz="1600" b="1" dirty="0" smtClean="0">
              <a:solidFill>
                <a:schemeClr val="tx1"/>
              </a:solidFill>
            </a:endParaRPr>
          </a:p>
          <a:p>
            <a:pPr algn="ctr"/>
            <a:r>
              <a:rPr lang="en-US" sz="1000" dirty="0" smtClean="0">
                <a:solidFill>
                  <a:schemeClr val="tx1"/>
                </a:solidFill>
              </a:rPr>
              <a:t>Is 3D Secure 1 supported for this transaction?</a:t>
            </a:r>
            <a:endParaRPr lang="en-IN" sz="1050" dirty="0">
              <a:solidFill>
                <a:schemeClr val="tx1"/>
              </a:solidFill>
            </a:endParaRPr>
          </a:p>
        </p:txBody>
      </p:sp>
      <p:cxnSp>
        <p:nvCxnSpPr>
          <p:cNvPr id="16" name="Straight Connector 15"/>
          <p:cNvCxnSpPr/>
          <p:nvPr/>
        </p:nvCxnSpPr>
        <p:spPr>
          <a:xfrm>
            <a:off x="2843808" y="4554076"/>
            <a:ext cx="15711" cy="1683236"/>
          </a:xfrm>
          <a:prstGeom prst="line">
            <a:avLst/>
          </a:prstGeom>
        </p:spPr>
        <p:style>
          <a:lnRef idx="1">
            <a:schemeClr val="accent1"/>
          </a:lnRef>
          <a:fillRef idx="0">
            <a:schemeClr val="accent1"/>
          </a:fillRef>
          <a:effectRef idx="0">
            <a:schemeClr val="accent1"/>
          </a:effectRef>
          <a:fontRef idx="minor">
            <a:schemeClr val="tx1"/>
          </a:fontRef>
        </p:style>
      </p:cxnSp>
      <p:sp>
        <p:nvSpPr>
          <p:cNvPr id="18" name="Rectangle 17"/>
          <p:cNvSpPr/>
          <p:nvPr/>
        </p:nvSpPr>
        <p:spPr>
          <a:xfrm>
            <a:off x="6002138" y="3823912"/>
            <a:ext cx="417883" cy="9448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dirty="0" smtClean="0"/>
              <a:t>Yes</a:t>
            </a:r>
            <a:endParaRPr lang="en-IN" sz="1050" dirty="0"/>
          </a:p>
        </p:txBody>
      </p:sp>
      <p:sp>
        <p:nvSpPr>
          <p:cNvPr id="19" name="Rectangle 18"/>
          <p:cNvSpPr/>
          <p:nvPr/>
        </p:nvSpPr>
        <p:spPr>
          <a:xfrm>
            <a:off x="6002139" y="5184577"/>
            <a:ext cx="417883" cy="94486"/>
          </a:xfrm>
          <a:prstGeom prst="rect">
            <a:avLst/>
          </a:prstGeom>
          <a:solidFill>
            <a:schemeClr val="tx1">
              <a:lumMod val="50000"/>
              <a:lumOff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dirty="0" smtClean="0"/>
              <a:t>No</a:t>
            </a:r>
            <a:endParaRPr lang="en-IN" sz="1050" dirty="0"/>
          </a:p>
        </p:txBody>
      </p:sp>
      <p:sp>
        <p:nvSpPr>
          <p:cNvPr id="20" name="Rectangle 19"/>
          <p:cNvSpPr/>
          <p:nvPr/>
        </p:nvSpPr>
        <p:spPr>
          <a:xfrm>
            <a:off x="2634866" y="4458526"/>
            <a:ext cx="417883" cy="9448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dirty="0" smtClean="0"/>
              <a:t>Yes</a:t>
            </a:r>
            <a:endParaRPr lang="en-IN" sz="1050" dirty="0"/>
          </a:p>
        </p:txBody>
      </p:sp>
      <p:sp>
        <p:nvSpPr>
          <p:cNvPr id="21" name="Rectangle 20"/>
          <p:cNvSpPr/>
          <p:nvPr/>
        </p:nvSpPr>
        <p:spPr>
          <a:xfrm>
            <a:off x="6034100" y="6298081"/>
            <a:ext cx="417883" cy="9448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dirty="0" smtClean="0"/>
              <a:t>Yes</a:t>
            </a:r>
            <a:endParaRPr lang="en-IN" sz="1050" dirty="0"/>
          </a:p>
        </p:txBody>
      </p:sp>
      <p:sp>
        <p:nvSpPr>
          <p:cNvPr id="22" name="Rectangle 21"/>
          <p:cNvSpPr/>
          <p:nvPr/>
        </p:nvSpPr>
        <p:spPr>
          <a:xfrm>
            <a:off x="2642721" y="6260632"/>
            <a:ext cx="417883" cy="94486"/>
          </a:xfrm>
          <a:prstGeom prst="rect">
            <a:avLst/>
          </a:prstGeom>
          <a:solidFill>
            <a:schemeClr val="tx1">
              <a:lumMod val="50000"/>
              <a:lumOff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dirty="0" smtClean="0"/>
              <a:t>No</a:t>
            </a:r>
            <a:endParaRPr lang="en-IN" sz="1050" dirty="0"/>
          </a:p>
        </p:txBody>
      </p:sp>
      <p:cxnSp>
        <p:nvCxnSpPr>
          <p:cNvPr id="25" name="Straight Connector 24"/>
          <p:cNvCxnSpPr>
            <a:stCxn id="18" idx="2"/>
            <a:endCxn id="19" idx="0"/>
          </p:cNvCxnSpPr>
          <p:nvPr/>
        </p:nvCxnSpPr>
        <p:spPr>
          <a:xfrm>
            <a:off x="6211080" y="3918398"/>
            <a:ext cx="1" cy="1266179"/>
          </a:xfrm>
          <a:prstGeom prst="line">
            <a:avLst/>
          </a:prstGeom>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a:off x="5800292" y="4589990"/>
            <a:ext cx="403691"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9" name="Straight Connector 28"/>
          <p:cNvCxnSpPr>
            <a:stCxn id="9" idx="3"/>
          </p:cNvCxnSpPr>
          <p:nvPr/>
        </p:nvCxnSpPr>
        <p:spPr>
          <a:xfrm>
            <a:off x="2380719" y="5409220"/>
            <a:ext cx="4788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1" name="Straight Connector 30"/>
          <p:cNvCxnSpPr>
            <a:stCxn id="20" idx="3"/>
          </p:cNvCxnSpPr>
          <p:nvPr/>
        </p:nvCxnSpPr>
        <p:spPr>
          <a:xfrm>
            <a:off x="3052749" y="4505769"/>
            <a:ext cx="396146" cy="0"/>
          </a:xfrm>
          <a:prstGeom prst="line">
            <a:avLst/>
          </a:prstGeom>
        </p:spPr>
        <p:style>
          <a:lnRef idx="1">
            <a:schemeClr val="accent1"/>
          </a:lnRef>
          <a:fillRef idx="0">
            <a:schemeClr val="accent1"/>
          </a:fillRef>
          <a:effectRef idx="0">
            <a:schemeClr val="accent1"/>
          </a:effectRef>
          <a:fontRef idx="minor">
            <a:schemeClr val="tx1"/>
          </a:fontRef>
        </p:style>
      </p:cxnSp>
      <p:sp>
        <p:nvSpPr>
          <p:cNvPr id="10" name="Rounded Rectangle 9"/>
          <p:cNvSpPr/>
          <p:nvPr/>
        </p:nvSpPr>
        <p:spPr>
          <a:xfrm>
            <a:off x="3434704" y="4252646"/>
            <a:ext cx="2404646" cy="648072"/>
          </a:xfrm>
          <a:prstGeom prst="roundRect">
            <a:avLst/>
          </a:prstGeom>
          <a:solidFill>
            <a:schemeClr val="accent1">
              <a:lumMod val="40000"/>
              <a:lumOff val="60000"/>
            </a:schemeClr>
          </a:solidFill>
          <a:effectLst>
            <a:outerShdw blurRad="50800" dist="38100" algn="l" rotWithShape="0">
              <a:schemeClr val="tx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smtClean="0">
                <a:solidFill>
                  <a:schemeClr val="tx1"/>
                </a:solidFill>
              </a:rPr>
              <a:t>Frictionless possible?</a:t>
            </a:r>
            <a:endParaRPr lang="en-US" sz="1600" b="1" dirty="0" smtClean="0">
              <a:solidFill>
                <a:schemeClr val="tx1"/>
              </a:solidFill>
            </a:endParaRPr>
          </a:p>
          <a:p>
            <a:pPr algn="ctr"/>
            <a:r>
              <a:rPr lang="en-US" sz="1000" dirty="0" smtClean="0">
                <a:solidFill>
                  <a:schemeClr val="tx1"/>
                </a:solidFill>
              </a:rPr>
              <a:t>Can the transaction avail of frictionless authentication?</a:t>
            </a:r>
            <a:endParaRPr lang="en-IN" sz="1050" dirty="0">
              <a:solidFill>
                <a:schemeClr val="tx1"/>
              </a:solidFill>
            </a:endParaRPr>
          </a:p>
        </p:txBody>
      </p:sp>
      <p:cxnSp>
        <p:nvCxnSpPr>
          <p:cNvPr id="33" name="Straight Connector 32"/>
          <p:cNvCxnSpPr/>
          <p:nvPr/>
        </p:nvCxnSpPr>
        <p:spPr>
          <a:xfrm>
            <a:off x="3083043" y="6308194"/>
            <a:ext cx="396146"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6" name="Straight Connector 35"/>
          <p:cNvCxnSpPr>
            <a:stCxn id="18" idx="3"/>
          </p:cNvCxnSpPr>
          <p:nvPr/>
        </p:nvCxnSpPr>
        <p:spPr>
          <a:xfrm>
            <a:off x="6420021" y="3871155"/>
            <a:ext cx="528243"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7" name="Straight Connector 36"/>
          <p:cNvCxnSpPr/>
          <p:nvPr/>
        </p:nvCxnSpPr>
        <p:spPr>
          <a:xfrm>
            <a:off x="6446729" y="5248305"/>
            <a:ext cx="528243"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8" name="Straight Connector 37"/>
          <p:cNvCxnSpPr/>
          <p:nvPr/>
        </p:nvCxnSpPr>
        <p:spPr>
          <a:xfrm>
            <a:off x="6420022" y="6332565"/>
            <a:ext cx="528243" cy="0"/>
          </a:xfrm>
          <a:prstGeom prst="line">
            <a:avLst/>
          </a:prstGeom>
        </p:spPr>
        <p:style>
          <a:lnRef idx="1">
            <a:schemeClr val="accent1"/>
          </a:lnRef>
          <a:fillRef idx="0">
            <a:schemeClr val="accent1"/>
          </a:fillRef>
          <a:effectRef idx="0">
            <a:schemeClr val="accent1"/>
          </a:effectRef>
          <a:fontRef idx="minor">
            <a:schemeClr val="tx1"/>
          </a:fontRef>
        </p:style>
      </p:cxnSp>
      <p:sp>
        <p:nvSpPr>
          <p:cNvPr id="12" name="Rounded Rectangle 11"/>
          <p:cNvSpPr/>
          <p:nvPr/>
        </p:nvSpPr>
        <p:spPr>
          <a:xfrm>
            <a:off x="6587684" y="5974045"/>
            <a:ext cx="2337030" cy="648072"/>
          </a:xfrm>
          <a:prstGeom prst="roundRect">
            <a:avLst/>
          </a:prstGeom>
          <a:solidFill>
            <a:schemeClr val="accent1">
              <a:lumMod val="40000"/>
              <a:lumOff val="60000"/>
            </a:schemeClr>
          </a:solidFill>
          <a:effectLst>
            <a:outerShdw blurRad="50800" dist="38100" algn="l" rotWithShape="0">
              <a:schemeClr val="tx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smtClean="0">
                <a:solidFill>
                  <a:schemeClr val="tx1"/>
                </a:solidFill>
              </a:rPr>
              <a:t>Traditional authentication</a:t>
            </a:r>
          </a:p>
          <a:p>
            <a:pPr algn="ctr"/>
            <a:r>
              <a:rPr lang="en-US" sz="1000" dirty="0">
                <a:solidFill>
                  <a:schemeClr val="tx1"/>
                </a:solidFill>
              </a:rPr>
              <a:t>C</a:t>
            </a:r>
            <a:r>
              <a:rPr lang="en-US" sz="1000" dirty="0" smtClean="0">
                <a:solidFill>
                  <a:schemeClr val="tx1"/>
                </a:solidFill>
              </a:rPr>
              <a:t>ustomer either prompted for input or automatically approved(risk-based authentication).</a:t>
            </a:r>
            <a:endParaRPr lang="en-IN" sz="1050" dirty="0">
              <a:solidFill>
                <a:schemeClr val="tx1"/>
              </a:solidFill>
            </a:endParaRPr>
          </a:p>
        </p:txBody>
      </p:sp>
      <p:sp>
        <p:nvSpPr>
          <p:cNvPr id="13" name="Rounded Rectangle 12"/>
          <p:cNvSpPr/>
          <p:nvPr/>
        </p:nvSpPr>
        <p:spPr>
          <a:xfrm>
            <a:off x="6588224" y="4907784"/>
            <a:ext cx="2337031" cy="648072"/>
          </a:xfrm>
          <a:prstGeom prst="roundRect">
            <a:avLst/>
          </a:prstGeom>
          <a:solidFill>
            <a:schemeClr val="accent1">
              <a:lumMod val="40000"/>
              <a:lumOff val="60000"/>
            </a:schemeClr>
          </a:solidFill>
          <a:effectLst>
            <a:outerShdw blurRad="50800" dist="38100" algn="l" rotWithShape="0">
              <a:schemeClr val="tx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smtClean="0">
                <a:solidFill>
                  <a:schemeClr val="tx1"/>
                </a:solidFill>
              </a:rPr>
              <a:t>Challenge authentication</a:t>
            </a:r>
            <a:endParaRPr lang="en-US" sz="1600" b="1" dirty="0" smtClean="0">
              <a:solidFill>
                <a:schemeClr val="tx1"/>
              </a:solidFill>
            </a:endParaRPr>
          </a:p>
          <a:p>
            <a:pPr algn="ctr"/>
            <a:r>
              <a:rPr lang="en-US" sz="1000" dirty="0" smtClean="0">
                <a:solidFill>
                  <a:schemeClr val="tx1"/>
                </a:solidFill>
              </a:rPr>
              <a:t>Customer prompted to authenticate payment with additional input (password or biometric).</a:t>
            </a:r>
            <a:endParaRPr lang="en-IN" sz="1050" dirty="0">
              <a:solidFill>
                <a:schemeClr val="tx1"/>
              </a:solidFill>
            </a:endParaRPr>
          </a:p>
        </p:txBody>
      </p:sp>
      <p:sp>
        <p:nvSpPr>
          <p:cNvPr id="14" name="Rounded Rectangle 13"/>
          <p:cNvSpPr/>
          <p:nvPr/>
        </p:nvSpPr>
        <p:spPr>
          <a:xfrm>
            <a:off x="6588223" y="3567480"/>
            <a:ext cx="2337031" cy="648072"/>
          </a:xfrm>
          <a:prstGeom prst="roundRect">
            <a:avLst/>
          </a:prstGeom>
          <a:solidFill>
            <a:schemeClr val="accent1">
              <a:lumMod val="40000"/>
              <a:lumOff val="60000"/>
            </a:schemeClr>
          </a:solidFill>
          <a:effectLst>
            <a:outerShdw blurRad="50800" dist="38100" algn="l" rotWithShape="0">
              <a:schemeClr val="tx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smtClean="0">
                <a:solidFill>
                  <a:schemeClr val="tx1"/>
                </a:solidFill>
              </a:rPr>
              <a:t>Frictionless authentication</a:t>
            </a:r>
            <a:endParaRPr lang="en-US" sz="1600" b="1" dirty="0" smtClean="0">
              <a:solidFill>
                <a:schemeClr val="tx1"/>
              </a:solidFill>
            </a:endParaRPr>
          </a:p>
          <a:p>
            <a:pPr algn="ctr"/>
            <a:r>
              <a:rPr lang="en-US" sz="1000" dirty="0" smtClean="0">
                <a:solidFill>
                  <a:schemeClr val="tx1"/>
                </a:solidFill>
              </a:rPr>
              <a:t>Transaction is authenticated without additional input from the customer.</a:t>
            </a:r>
            <a:endParaRPr lang="en-IN" sz="1050" dirty="0">
              <a:solidFill>
                <a:schemeClr val="tx1"/>
              </a:solidFill>
            </a:endParaRPr>
          </a:p>
        </p:txBody>
      </p:sp>
      <p:cxnSp>
        <p:nvCxnSpPr>
          <p:cNvPr id="40" name="Straight Connector 39"/>
          <p:cNvCxnSpPr>
            <a:stCxn id="11" idx="3"/>
            <a:endCxn id="21" idx="1"/>
          </p:cNvCxnSpPr>
          <p:nvPr/>
        </p:nvCxnSpPr>
        <p:spPr>
          <a:xfrm>
            <a:off x="5825159" y="6345324"/>
            <a:ext cx="208941" cy="0"/>
          </a:xfrm>
          <a:prstGeom prst="line">
            <a:avLst/>
          </a:prstGeom>
        </p:spPr>
        <p:style>
          <a:lnRef idx="1">
            <a:schemeClr val="accent1"/>
          </a:lnRef>
          <a:fillRef idx="0">
            <a:schemeClr val="accent1"/>
          </a:fillRef>
          <a:effectRef idx="0">
            <a:schemeClr val="accent1"/>
          </a:effectRef>
          <a:fontRef idx="minor">
            <a:schemeClr val="tx1"/>
          </a:fontRef>
        </p:style>
      </p:cxnSp>
      <p:sp>
        <p:nvSpPr>
          <p:cNvPr id="42" name="TextBox 41"/>
          <p:cNvSpPr txBox="1"/>
          <p:nvPr/>
        </p:nvSpPr>
        <p:spPr>
          <a:xfrm>
            <a:off x="143256" y="848228"/>
            <a:ext cx="8893239" cy="1031051"/>
          </a:xfrm>
          <a:prstGeom prst="rect">
            <a:avLst/>
          </a:prstGeom>
          <a:noFill/>
        </p:spPr>
        <p:txBody>
          <a:bodyPr wrap="square" rtlCol="0">
            <a:spAutoFit/>
          </a:bodyPr>
          <a:lstStyle/>
          <a:p>
            <a:r>
              <a:rPr lang="en-US" sz="1400" b="1" dirty="0" smtClean="0">
                <a:latin typeface="Lucida Sans" pitchFamily="34" charset="0"/>
              </a:rPr>
              <a:t>Frictionless Authentication?</a:t>
            </a:r>
          </a:p>
          <a:p>
            <a:endParaRPr lang="en-US" sz="1400" b="1" dirty="0" smtClean="0">
              <a:latin typeface="Lucida Sans" pitchFamily="34" charset="0"/>
            </a:endParaRPr>
          </a:p>
          <a:p>
            <a:r>
              <a:rPr lang="en-US" sz="1100" dirty="0" smtClean="0">
                <a:latin typeface="Lucida Sans" pitchFamily="34" charset="0"/>
              </a:rPr>
              <a:t>Frictionless authentication is an automated identity verification approach centered on risk assessment</a:t>
            </a:r>
          </a:p>
          <a:p>
            <a:pPr marL="285750" indent="-285750">
              <a:buFont typeface="Arial" pitchFamily="34" charset="0"/>
              <a:buChar char="•"/>
            </a:pPr>
            <a:r>
              <a:rPr lang="en-US" sz="1100" dirty="0" smtClean="0">
                <a:latin typeface="Lucida Sans" pitchFamily="34" charset="0"/>
              </a:rPr>
              <a:t>to facilitate access for legitimate users while minimizing the need for the user to provide personal information.</a:t>
            </a:r>
          </a:p>
          <a:p>
            <a:pPr marL="285750" indent="-285750">
              <a:buFont typeface="Arial" pitchFamily="34" charset="0"/>
              <a:buChar char="•"/>
            </a:pPr>
            <a:r>
              <a:rPr lang="en-US" sz="1100" dirty="0" smtClean="0">
                <a:latin typeface="Lucida Sans" pitchFamily="34" charset="0"/>
              </a:rPr>
              <a:t>To eliminate the risky users by declining the transaction</a:t>
            </a:r>
            <a:endParaRPr lang="en-IN" sz="1100" dirty="0">
              <a:latin typeface="Lucida Sans" pitchFamily="34" charset="0"/>
            </a:endParaRPr>
          </a:p>
        </p:txBody>
      </p:sp>
      <p:sp>
        <p:nvSpPr>
          <p:cNvPr id="43" name="TextBox 42"/>
          <p:cNvSpPr txBox="1"/>
          <p:nvPr/>
        </p:nvSpPr>
        <p:spPr>
          <a:xfrm>
            <a:off x="94758" y="1916832"/>
            <a:ext cx="8364790" cy="1031051"/>
          </a:xfrm>
          <a:prstGeom prst="rect">
            <a:avLst/>
          </a:prstGeom>
          <a:noFill/>
        </p:spPr>
        <p:txBody>
          <a:bodyPr wrap="none" rtlCol="0">
            <a:spAutoFit/>
          </a:bodyPr>
          <a:lstStyle/>
          <a:p>
            <a:r>
              <a:rPr lang="en-US" sz="1400" b="1" dirty="0">
                <a:latin typeface="Lucida Sans" pitchFamily="34" charset="0"/>
              </a:rPr>
              <a:t>How Does Frictionless Authentication Work</a:t>
            </a:r>
            <a:r>
              <a:rPr lang="en-US" sz="1400" b="1" dirty="0" smtClean="0">
                <a:latin typeface="Lucida Sans" pitchFamily="34" charset="0"/>
              </a:rPr>
              <a:t>?</a:t>
            </a:r>
          </a:p>
          <a:p>
            <a:endParaRPr lang="en-US" sz="1400" b="1" dirty="0" smtClean="0">
              <a:latin typeface="Lucida Sans" pitchFamily="34" charset="0"/>
            </a:endParaRPr>
          </a:p>
          <a:p>
            <a:r>
              <a:rPr lang="en-US" sz="1100" dirty="0" smtClean="0">
                <a:latin typeface="Lucida Sans" pitchFamily="34" charset="0"/>
              </a:rPr>
              <a:t>The </a:t>
            </a:r>
            <a:r>
              <a:rPr lang="en-US" sz="1100" dirty="0">
                <a:latin typeface="Lucida Sans" pitchFamily="34" charset="0"/>
              </a:rPr>
              <a:t>approval of a transaction depends on the 3D Secure protocol's evaluation of the transaction's risk factor. </a:t>
            </a:r>
            <a:endParaRPr lang="en-US" sz="1100" dirty="0" smtClean="0">
              <a:latin typeface="Lucida Sans" pitchFamily="34" charset="0"/>
            </a:endParaRPr>
          </a:p>
          <a:p>
            <a:r>
              <a:rPr lang="en-US" sz="1100" dirty="0" smtClean="0">
                <a:latin typeface="Lucida Sans" pitchFamily="34" charset="0"/>
              </a:rPr>
              <a:t>The </a:t>
            </a:r>
            <a:r>
              <a:rPr lang="en-US" sz="1100" dirty="0">
                <a:latin typeface="Lucida Sans" pitchFamily="34" charset="0"/>
              </a:rPr>
              <a:t>3D Secure protocol employs a range of risk-based assessments to thoroughly analyze each transaction and decide </a:t>
            </a:r>
            <a:endParaRPr lang="en-US" sz="1100" dirty="0" smtClean="0">
              <a:latin typeface="Lucida Sans" pitchFamily="34" charset="0"/>
            </a:endParaRPr>
          </a:p>
          <a:p>
            <a:r>
              <a:rPr lang="en-US" sz="1100" dirty="0" smtClean="0">
                <a:latin typeface="Lucida Sans" pitchFamily="34" charset="0"/>
              </a:rPr>
              <a:t>if </a:t>
            </a:r>
            <a:r>
              <a:rPr lang="en-US" sz="1100" dirty="0">
                <a:latin typeface="Lucida Sans" pitchFamily="34" charset="0"/>
              </a:rPr>
              <a:t>additional authentication is necessary.</a:t>
            </a:r>
            <a:endParaRPr lang="en-IN" sz="1100" dirty="0">
              <a:latin typeface="Lucida Sans" pitchFamily="34" charset="0"/>
            </a:endParaRPr>
          </a:p>
        </p:txBody>
      </p:sp>
      <p:sp>
        <p:nvSpPr>
          <p:cNvPr id="44" name="TextBox 43"/>
          <p:cNvSpPr txBox="1"/>
          <p:nvPr/>
        </p:nvSpPr>
        <p:spPr>
          <a:xfrm>
            <a:off x="94758" y="2996952"/>
            <a:ext cx="8776242" cy="1400383"/>
          </a:xfrm>
          <a:prstGeom prst="rect">
            <a:avLst/>
          </a:prstGeom>
          <a:noFill/>
        </p:spPr>
        <p:txBody>
          <a:bodyPr wrap="square" rtlCol="0">
            <a:spAutoFit/>
          </a:bodyPr>
          <a:lstStyle/>
          <a:p>
            <a:r>
              <a:rPr lang="en-US" sz="1400" b="1" dirty="0" smtClean="0">
                <a:latin typeface="Lucida Sans" pitchFamily="34" charset="0"/>
              </a:rPr>
              <a:t>Risk-based </a:t>
            </a:r>
            <a:r>
              <a:rPr lang="en-US" sz="1400" b="1" dirty="0">
                <a:latin typeface="Lucida Sans" pitchFamily="34" charset="0"/>
              </a:rPr>
              <a:t>assessments encompass factors like</a:t>
            </a:r>
            <a:r>
              <a:rPr lang="en-US" sz="1400" b="1" dirty="0" smtClean="0">
                <a:latin typeface="Lucida Sans" pitchFamily="34" charset="0"/>
              </a:rPr>
              <a:t>:</a:t>
            </a:r>
          </a:p>
          <a:p>
            <a:endParaRPr lang="en-US" sz="1600" dirty="0" smtClean="0">
              <a:latin typeface="Lucida Sans" pitchFamily="34" charset="0"/>
            </a:endParaRPr>
          </a:p>
          <a:p>
            <a:pPr marL="171450" indent="-171450">
              <a:buFont typeface="Arial" pitchFamily="34" charset="0"/>
              <a:buChar char="•"/>
            </a:pPr>
            <a:r>
              <a:rPr lang="en-US" sz="1100" dirty="0" smtClean="0">
                <a:latin typeface="Lucida Sans" pitchFamily="34" charset="0"/>
              </a:rPr>
              <a:t>Customer </a:t>
            </a:r>
            <a:r>
              <a:rPr lang="en-US" sz="1100" dirty="0">
                <a:latin typeface="Lucida Sans" pitchFamily="34" charset="0"/>
              </a:rPr>
              <a:t>status (new or existing</a:t>
            </a:r>
            <a:r>
              <a:rPr lang="en-US" sz="1100" dirty="0" smtClean="0">
                <a:latin typeface="Lucida Sans" pitchFamily="34" charset="0"/>
              </a:rPr>
              <a:t>)</a:t>
            </a:r>
            <a:r>
              <a:rPr lang="en-IN" sz="1100" dirty="0" smtClean="0">
                <a:latin typeface="Lucida Sans" pitchFamily="34" charset="0"/>
              </a:rPr>
              <a:t>                </a:t>
            </a:r>
          </a:p>
          <a:p>
            <a:pPr marL="171450" indent="-171450">
              <a:buFont typeface="Arial" pitchFamily="34" charset="0"/>
              <a:buChar char="•"/>
            </a:pPr>
            <a:r>
              <a:rPr lang="en-IN" sz="1100" dirty="0" smtClean="0">
                <a:latin typeface="Lucida Sans" pitchFamily="34" charset="0"/>
              </a:rPr>
              <a:t>Total </a:t>
            </a:r>
            <a:r>
              <a:rPr lang="en-IN" sz="1100" dirty="0">
                <a:latin typeface="Lucida Sans" pitchFamily="34" charset="0"/>
              </a:rPr>
              <a:t>transaction </a:t>
            </a:r>
            <a:r>
              <a:rPr lang="en-IN" sz="1100" dirty="0" smtClean="0">
                <a:latin typeface="Lucida Sans" pitchFamily="34" charset="0"/>
              </a:rPr>
              <a:t>value  		</a:t>
            </a:r>
          </a:p>
          <a:p>
            <a:pPr marL="171450" indent="-171450">
              <a:buFont typeface="Arial" pitchFamily="34" charset="0"/>
              <a:buChar char="•"/>
            </a:pPr>
            <a:r>
              <a:rPr lang="en-IN" sz="1100" dirty="0" smtClean="0">
                <a:latin typeface="Lucida Sans" pitchFamily="34" charset="0"/>
              </a:rPr>
              <a:t>Device </a:t>
            </a:r>
            <a:r>
              <a:rPr lang="en-IN" sz="1100" dirty="0">
                <a:latin typeface="Lucida Sans" pitchFamily="34" charset="0"/>
              </a:rPr>
              <a:t>information</a:t>
            </a:r>
          </a:p>
          <a:p>
            <a:pPr marL="171450" indent="-171450">
              <a:buFont typeface="Arial" pitchFamily="34" charset="0"/>
              <a:buChar char="•"/>
            </a:pPr>
            <a:r>
              <a:rPr lang="en-IN" sz="1100" dirty="0" smtClean="0">
                <a:latin typeface="Lucida Sans" pitchFamily="34" charset="0"/>
              </a:rPr>
              <a:t>Transaction history                          	  </a:t>
            </a:r>
          </a:p>
          <a:p>
            <a:pPr marL="171450" indent="-171450">
              <a:buFont typeface="Arial" pitchFamily="34" charset="0"/>
              <a:buChar char="•"/>
            </a:pPr>
            <a:r>
              <a:rPr lang="en-IN" sz="1100" dirty="0" smtClean="0">
                <a:latin typeface="Lucida Sans" pitchFamily="34" charset="0"/>
              </a:rPr>
              <a:t>Behaviour history</a:t>
            </a:r>
            <a:endParaRPr lang="en-IN" sz="1100" dirty="0">
              <a:latin typeface="Lucida Sans" pitchFamily="34" charset="0"/>
            </a:endParaRPr>
          </a:p>
        </p:txBody>
      </p:sp>
      <p:pic>
        <p:nvPicPr>
          <p:cNvPr id="28" name="Picture 2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895766" y="422"/>
            <a:ext cx="1248234" cy="317617"/>
          </a:xfrm>
          <a:prstGeom prst="rect">
            <a:avLst/>
          </a:prstGeom>
        </p:spPr>
      </p:pic>
    </p:spTree>
    <p:extLst>
      <p:ext uri="{BB962C8B-B14F-4D97-AF65-F5344CB8AC3E}">
        <p14:creationId xmlns:p14="http://schemas.microsoft.com/office/powerpoint/2010/main" val="2569401056"/>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ounded Rectangle 4"/>
          <p:cNvSpPr/>
          <p:nvPr/>
        </p:nvSpPr>
        <p:spPr>
          <a:xfrm>
            <a:off x="1691680" y="188640"/>
            <a:ext cx="6024406" cy="646331"/>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TextBox 5"/>
          <p:cNvSpPr txBox="1"/>
          <p:nvPr/>
        </p:nvSpPr>
        <p:spPr>
          <a:xfrm>
            <a:off x="1691680" y="188640"/>
            <a:ext cx="6024406" cy="646331"/>
          </a:xfrm>
          <a:prstGeom prst="rect">
            <a:avLst/>
          </a:prstGeom>
          <a:solidFill>
            <a:srgbClr val="0099CC"/>
          </a:solidFill>
        </p:spPr>
        <p:txBody>
          <a:bodyPr wrap="none" rtlCol="0">
            <a:spAutoFit/>
          </a:bodyPr>
          <a:lstStyle/>
          <a:p>
            <a:pPr algn="ctr"/>
            <a:r>
              <a:rPr lang="en-US" b="1" dirty="0" smtClean="0">
                <a:solidFill>
                  <a:schemeClr val="tx1">
                    <a:lumMod val="75000"/>
                    <a:lumOff val="25000"/>
                  </a:schemeClr>
                </a:solidFill>
                <a:latin typeface="Lucida Sans" pitchFamily="34" charset="0"/>
              </a:rPr>
              <a:t>3D Secure Authentication: The good, the bad and </a:t>
            </a:r>
          </a:p>
          <a:p>
            <a:pPr algn="ctr"/>
            <a:r>
              <a:rPr lang="en-US" b="1" dirty="0" smtClean="0">
                <a:solidFill>
                  <a:schemeClr val="tx1">
                    <a:lumMod val="75000"/>
                    <a:lumOff val="25000"/>
                  </a:schemeClr>
                </a:solidFill>
                <a:latin typeface="Lucida Sans" pitchFamily="34" charset="0"/>
              </a:rPr>
              <a:t>what it means for your fraud prevention</a:t>
            </a:r>
          </a:p>
        </p:txBody>
      </p:sp>
      <p:sp>
        <p:nvSpPr>
          <p:cNvPr id="8" name="TextBox 7"/>
          <p:cNvSpPr txBox="1"/>
          <p:nvPr/>
        </p:nvSpPr>
        <p:spPr>
          <a:xfrm>
            <a:off x="157520" y="1049693"/>
            <a:ext cx="4990544" cy="861774"/>
          </a:xfrm>
          <a:prstGeom prst="rect">
            <a:avLst/>
          </a:prstGeom>
          <a:noFill/>
        </p:spPr>
        <p:txBody>
          <a:bodyPr wrap="square" rtlCol="0">
            <a:spAutoFit/>
          </a:bodyPr>
          <a:lstStyle/>
          <a:p>
            <a:r>
              <a:rPr lang="en-US" sz="1400" b="1" dirty="0">
                <a:latin typeface="Lucida Sans" pitchFamily="34" charset="0"/>
              </a:rPr>
              <a:t>How online merchants use 3D </a:t>
            </a:r>
            <a:r>
              <a:rPr lang="en-US" sz="1400" b="1" dirty="0" smtClean="0">
                <a:latin typeface="Lucida Sans" pitchFamily="34" charset="0"/>
              </a:rPr>
              <a:t>Secure</a:t>
            </a:r>
          </a:p>
          <a:p>
            <a:endParaRPr lang="en-US" sz="1400" b="1" dirty="0">
              <a:latin typeface="Lucida Sans" pitchFamily="34" charset="0"/>
            </a:endParaRPr>
          </a:p>
          <a:p>
            <a:r>
              <a:rPr lang="en-US" sz="1100" dirty="0">
                <a:latin typeface="Lucida Sans" pitchFamily="34" charset="0"/>
              </a:rPr>
              <a:t>Online merchants integrate </a:t>
            </a:r>
            <a:r>
              <a:rPr lang="en-US" sz="1100" dirty="0" smtClean="0">
                <a:latin typeface="Lucida Sans" pitchFamily="34" charset="0"/>
              </a:rPr>
              <a:t>3D Secure</a:t>
            </a:r>
            <a:r>
              <a:rPr lang="en-US" sz="1100" dirty="0">
                <a:latin typeface="Lucida Sans" pitchFamily="34" charset="0"/>
              </a:rPr>
              <a:t> into their checkout </a:t>
            </a:r>
            <a:r>
              <a:rPr lang="en-US" sz="1100" dirty="0" smtClean="0">
                <a:latin typeface="Lucida Sans" pitchFamily="34" charset="0"/>
              </a:rPr>
              <a:t>processes </a:t>
            </a:r>
            <a:r>
              <a:rPr lang="en-US" sz="1100" dirty="0">
                <a:latin typeface="Lucida Sans" pitchFamily="34" charset="0"/>
              </a:rPr>
              <a:t>to add an extra layer of security to card transactions</a:t>
            </a:r>
            <a:endParaRPr lang="en-IN" sz="1100" dirty="0">
              <a:latin typeface="Lucida Sans" pitchFamily="34" charset="0"/>
            </a:endParaRPr>
          </a:p>
        </p:txBody>
      </p:sp>
      <p:sp>
        <p:nvSpPr>
          <p:cNvPr id="9" name="TextBox 8"/>
          <p:cNvSpPr txBox="1"/>
          <p:nvPr/>
        </p:nvSpPr>
        <p:spPr>
          <a:xfrm>
            <a:off x="107504" y="2455528"/>
            <a:ext cx="5099280" cy="1092607"/>
          </a:xfrm>
          <a:prstGeom prst="rect">
            <a:avLst/>
          </a:prstGeom>
          <a:noFill/>
        </p:spPr>
        <p:txBody>
          <a:bodyPr wrap="square" rtlCol="0">
            <a:spAutoFit/>
          </a:bodyPr>
          <a:lstStyle/>
          <a:p>
            <a:pPr algn="just"/>
            <a:r>
              <a:rPr lang="en-US" sz="1400" b="1" dirty="0">
                <a:latin typeface="Lucida Sans" pitchFamily="34" charset="0"/>
              </a:rPr>
              <a:t>What are the main changes </a:t>
            </a:r>
            <a:r>
              <a:rPr lang="en-US" sz="1400" b="1" dirty="0" smtClean="0">
                <a:latin typeface="Lucida Sans" pitchFamily="34" charset="0"/>
              </a:rPr>
              <a:t>in</a:t>
            </a:r>
            <a:r>
              <a:rPr lang="en-US" sz="1400" b="1" dirty="0">
                <a:latin typeface="Lucida Sans" pitchFamily="34" charset="0"/>
              </a:rPr>
              <a:t> </a:t>
            </a:r>
            <a:r>
              <a:rPr lang="en-US" sz="1400" b="1" dirty="0" smtClean="0">
                <a:latin typeface="Lucida Sans" pitchFamily="34" charset="0"/>
              </a:rPr>
              <a:t>3DS 2.0</a:t>
            </a:r>
            <a:endParaRPr lang="en-US" sz="1400" b="1" dirty="0">
              <a:latin typeface="Lucida Sans" pitchFamily="34" charset="0"/>
            </a:endParaRPr>
          </a:p>
          <a:p>
            <a:pPr algn="just"/>
            <a:endParaRPr lang="en-US" dirty="0" smtClean="0">
              <a:latin typeface="Lucida Sans" pitchFamily="34" charset="0"/>
            </a:endParaRPr>
          </a:p>
          <a:p>
            <a:pPr algn="just"/>
            <a:r>
              <a:rPr lang="en-US" sz="1100" dirty="0" smtClean="0">
                <a:latin typeface="Lucida Sans" pitchFamily="34" charset="0"/>
              </a:rPr>
              <a:t>3DS 2.0 </a:t>
            </a:r>
            <a:r>
              <a:rPr lang="en-US" sz="1100" dirty="0">
                <a:latin typeface="Lucida Sans" pitchFamily="34" charset="0"/>
              </a:rPr>
              <a:t>provides much more data to the issuing </a:t>
            </a:r>
            <a:r>
              <a:rPr lang="en-US" sz="1100" dirty="0" smtClean="0">
                <a:latin typeface="Lucida Sans" pitchFamily="34" charset="0"/>
              </a:rPr>
              <a:t>bank than </a:t>
            </a:r>
            <a:r>
              <a:rPr lang="en-US" sz="1100" dirty="0">
                <a:latin typeface="Lucida Sans" pitchFamily="34" charset="0"/>
              </a:rPr>
              <a:t>3DS version 1. That increases the chance the bank </a:t>
            </a:r>
            <a:r>
              <a:rPr lang="en-US" sz="1100" dirty="0" smtClean="0">
                <a:latin typeface="Lucida Sans" pitchFamily="34" charset="0"/>
              </a:rPr>
              <a:t>can </a:t>
            </a:r>
            <a:r>
              <a:rPr lang="en-US" sz="1100" dirty="0">
                <a:latin typeface="Lucida Sans" pitchFamily="34" charset="0"/>
              </a:rPr>
              <a:t>approve the transaction through a frictionless flow, </a:t>
            </a:r>
            <a:r>
              <a:rPr lang="en-US" sz="1100" dirty="0" smtClean="0">
                <a:latin typeface="Lucida Sans" pitchFamily="34" charset="0"/>
              </a:rPr>
              <a:t>rather </a:t>
            </a:r>
            <a:r>
              <a:rPr lang="en-US" sz="1100" dirty="0">
                <a:latin typeface="Lucida Sans" pitchFamily="34" charset="0"/>
              </a:rPr>
              <a:t>than a challenge flow</a:t>
            </a:r>
            <a:endParaRPr lang="en-IN" sz="1100" dirty="0">
              <a:latin typeface="Lucida Sans" pitchFamily="34" charset="0"/>
            </a:endParaRPr>
          </a:p>
        </p:txBody>
      </p:sp>
      <p:sp>
        <p:nvSpPr>
          <p:cNvPr id="10" name="TextBox 9"/>
          <p:cNvSpPr txBox="1"/>
          <p:nvPr/>
        </p:nvSpPr>
        <p:spPr>
          <a:xfrm>
            <a:off x="105686" y="3734995"/>
            <a:ext cx="5101098" cy="1431161"/>
          </a:xfrm>
          <a:prstGeom prst="rect">
            <a:avLst/>
          </a:prstGeom>
          <a:noFill/>
        </p:spPr>
        <p:txBody>
          <a:bodyPr wrap="square" rtlCol="0">
            <a:spAutoFit/>
          </a:bodyPr>
          <a:lstStyle/>
          <a:p>
            <a:pPr algn="just"/>
            <a:r>
              <a:rPr lang="en-US" sz="1400" b="1" dirty="0">
                <a:latin typeface="Lucida Sans" pitchFamily="34" charset="0"/>
              </a:rPr>
              <a:t>What is the liability shift rule in 3D Secure 2?</a:t>
            </a:r>
          </a:p>
          <a:p>
            <a:pPr algn="just"/>
            <a:endParaRPr lang="en-US" dirty="0" smtClean="0">
              <a:latin typeface="Lucida Sans" pitchFamily="34" charset="0"/>
            </a:endParaRPr>
          </a:p>
          <a:p>
            <a:pPr algn="just"/>
            <a:r>
              <a:rPr lang="en-US" sz="1100" dirty="0">
                <a:latin typeface="Lucida Sans" pitchFamily="34" charset="0"/>
              </a:rPr>
              <a:t>In traditional card-not-present transactions, where the </a:t>
            </a:r>
            <a:r>
              <a:rPr lang="en-US" sz="1100" dirty="0" smtClean="0">
                <a:latin typeface="Lucida Sans" pitchFamily="34" charset="0"/>
              </a:rPr>
              <a:t>cardholder’s </a:t>
            </a:r>
            <a:r>
              <a:rPr lang="en-US" sz="1100" dirty="0">
                <a:latin typeface="Lucida Sans" pitchFamily="34" charset="0"/>
              </a:rPr>
              <a:t>presence cannot be physically verified, </a:t>
            </a:r>
            <a:r>
              <a:rPr lang="en-US" sz="1100" b="1" dirty="0" smtClean="0">
                <a:latin typeface="Lucida Sans" pitchFamily="34" charset="0"/>
              </a:rPr>
              <a:t>merchants</a:t>
            </a:r>
            <a:r>
              <a:rPr lang="en-US" sz="1100" dirty="0" smtClean="0">
                <a:latin typeface="Lucida Sans" pitchFamily="34" charset="0"/>
              </a:rPr>
              <a:t> </a:t>
            </a:r>
            <a:r>
              <a:rPr lang="en-US" sz="1100" dirty="0">
                <a:latin typeface="Lucida Sans" pitchFamily="34" charset="0"/>
              </a:rPr>
              <a:t>are liable for chargebacks resulting from fraud. </a:t>
            </a:r>
            <a:r>
              <a:rPr lang="en-US" sz="1100" dirty="0" smtClean="0">
                <a:latin typeface="Lucida Sans" pitchFamily="34" charset="0"/>
              </a:rPr>
              <a:t>But </a:t>
            </a:r>
            <a:r>
              <a:rPr lang="en-US" sz="1100" dirty="0">
                <a:latin typeface="Lucida Sans" pitchFamily="34" charset="0"/>
              </a:rPr>
              <a:t>when orders are authenticated through </a:t>
            </a:r>
            <a:r>
              <a:rPr lang="en-US" sz="1100" b="1" dirty="0">
                <a:latin typeface="Lucida Sans" pitchFamily="34" charset="0"/>
              </a:rPr>
              <a:t>3D Secure</a:t>
            </a:r>
            <a:r>
              <a:rPr lang="en-US" sz="1100" dirty="0">
                <a:latin typeface="Lucida Sans" pitchFamily="34" charset="0"/>
              </a:rPr>
              <a:t>, </a:t>
            </a:r>
            <a:r>
              <a:rPr lang="en-US" sz="1100" dirty="0" smtClean="0">
                <a:latin typeface="Lucida Sans" pitchFamily="34" charset="0"/>
              </a:rPr>
              <a:t>the </a:t>
            </a:r>
            <a:r>
              <a:rPr lang="en-US" sz="1100" dirty="0">
                <a:latin typeface="Lucida Sans" pitchFamily="34" charset="0"/>
              </a:rPr>
              <a:t>fraud liability shifts from the </a:t>
            </a:r>
            <a:r>
              <a:rPr lang="en-US" sz="1100" b="1" dirty="0">
                <a:latin typeface="Lucida Sans" pitchFamily="34" charset="0"/>
              </a:rPr>
              <a:t>merchant</a:t>
            </a:r>
            <a:r>
              <a:rPr lang="en-US" sz="1100" dirty="0">
                <a:latin typeface="Lucida Sans" pitchFamily="34" charset="0"/>
              </a:rPr>
              <a:t> to the </a:t>
            </a:r>
            <a:r>
              <a:rPr lang="en-US" sz="1100" b="1" dirty="0">
                <a:latin typeface="Lucida Sans" pitchFamily="34" charset="0"/>
              </a:rPr>
              <a:t>card </a:t>
            </a:r>
            <a:r>
              <a:rPr lang="en-US" sz="1100" b="1" dirty="0" smtClean="0">
                <a:latin typeface="Lucida Sans" pitchFamily="34" charset="0"/>
              </a:rPr>
              <a:t>issuer</a:t>
            </a:r>
            <a:r>
              <a:rPr lang="en-US" sz="1100" dirty="0" smtClean="0">
                <a:latin typeface="Lucida Sans" pitchFamily="34" charset="0"/>
              </a:rPr>
              <a:t> </a:t>
            </a:r>
            <a:r>
              <a:rPr lang="en-US" sz="1100" dirty="0">
                <a:latin typeface="Lucida Sans" pitchFamily="34" charset="0"/>
              </a:rPr>
              <a:t>or </a:t>
            </a:r>
            <a:r>
              <a:rPr lang="en-US" sz="1100" b="1" dirty="0">
                <a:latin typeface="Lucida Sans" pitchFamily="34" charset="0"/>
              </a:rPr>
              <a:t>issuing bank</a:t>
            </a:r>
            <a:r>
              <a:rPr lang="en-US" sz="1100" dirty="0">
                <a:latin typeface="Lucida Sans" pitchFamily="34" charset="0"/>
              </a:rPr>
              <a:t>.</a:t>
            </a:r>
            <a:endParaRPr lang="en-IN" sz="1100" dirty="0">
              <a:latin typeface="Lucida Sans" pitchFamily="34" charset="0"/>
            </a:endParaRPr>
          </a:p>
        </p:txBody>
      </p:sp>
      <p:sp>
        <p:nvSpPr>
          <p:cNvPr id="11" name="TextBox 10"/>
          <p:cNvSpPr txBox="1"/>
          <p:nvPr/>
        </p:nvSpPr>
        <p:spPr>
          <a:xfrm>
            <a:off x="169108" y="5548301"/>
            <a:ext cx="4856685" cy="1169551"/>
          </a:xfrm>
          <a:prstGeom prst="rect">
            <a:avLst/>
          </a:prstGeom>
          <a:noFill/>
        </p:spPr>
        <p:txBody>
          <a:bodyPr wrap="square" rtlCol="0">
            <a:spAutoFit/>
          </a:bodyPr>
          <a:lstStyle/>
          <a:p>
            <a:pPr algn="just"/>
            <a:r>
              <a:rPr lang="en-IN" sz="1400" b="1" dirty="0">
                <a:latin typeface="Lucida Sans" pitchFamily="34" charset="0"/>
              </a:rPr>
              <a:t>Disadvantages of 3DS</a:t>
            </a:r>
          </a:p>
          <a:p>
            <a:pPr algn="just"/>
            <a:endParaRPr lang="en-US" sz="1200" dirty="0" smtClean="0">
              <a:latin typeface="Lucida Sans" pitchFamily="34" charset="0"/>
            </a:endParaRPr>
          </a:p>
          <a:p>
            <a:pPr algn="just"/>
            <a:r>
              <a:rPr lang="en-US" sz="1100" dirty="0">
                <a:latin typeface="Lucida Sans" pitchFamily="34" charset="0"/>
              </a:rPr>
              <a:t>While the new, improved version of 3DS is just that, </a:t>
            </a:r>
            <a:r>
              <a:rPr lang="en-US" sz="1100" dirty="0" smtClean="0">
                <a:latin typeface="Lucida Sans" pitchFamily="34" charset="0"/>
              </a:rPr>
              <a:t>the </a:t>
            </a:r>
            <a:r>
              <a:rPr lang="en-US" sz="1100" dirty="0">
                <a:latin typeface="Lucida Sans" pitchFamily="34" charset="0"/>
              </a:rPr>
              <a:t>potential friction endured by </a:t>
            </a:r>
            <a:r>
              <a:rPr lang="en-US" sz="1100" dirty="0" smtClean="0">
                <a:latin typeface="Lucida Sans" pitchFamily="34" charset="0"/>
              </a:rPr>
              <a:t>consumers</a:t>
            </a:r>
          </a:p>
          <a:p>
            <a:pPr marL="171450" indent="-171450" algn="just">
              <a:buFont typeface="Arial" pitchFamily="34" charset="0"/>
              <a:buChar char="•"/>
            </a:pPr>
            <a:r>
              <a:rPr lang="en-US" sz="1100" dirty="0" smtClean="0">
                <a:latin typeface="Lucida Sans" pitchFamily="34" charset="0"/>
              </a:rPr>
              <a:t>Entering </a:t>
            </a:r>
            <a:r>
              <a:rPr lang="en-US" sz="1100" dirty="0">
                <a:latin typeface="Lucida Sans" pitchFamily="34" charset="0"/>
              </a:rPr>
              <a:t>a password or receiving a one-time code, </a:t>
            </a:r>
            <a:r>
              <a:rPr lang="en-US" sz="1100" dirty="0" smtClean="0">
                <a:latin typeface="Lucida Sans" pitchFamily="34" charset="0"/>
              </a:rPr>
              <a:t>can </a:t>
            </a:r>
            <a:r>
              <a:rPr lang="en-US" sz="1100" dirty="0">
                <a:latin typeface="Lucida Sans" pitchFamily="34" charset="0"/>
              </a:rPr>
              <a:t>lead to a higher rate of cart abandonment</a:t>
            </a:r>
            <a:endParaRPr lang="en-IN" sz="1100" dirty="0">
              <a:latin typeface="Lucida Sans" pitchFamily="34" charset="0"/>
            </a:endParaRPr>
          </a:p>
        </p:txBody>
      </p:sp>
      <p:graphicFrame>
        <p:nvGraphicFramePr>
          <p:cNvPr id="4" name="Table 3"/>
          <p:cNvGraphicFramePr>
            <a:graphicFrameLocks noGrp="1"/>
          </p:cNvGraphicFramePr>
          <p:nvPr>
            <p:extLst>
              <p:ext uri="{D42A27DB-BD31-4B8C-83A1-F6EECF244321}">
                <p14:modId xmlns:p14="http://schemas.microsoft.com/office/powerpoint/2010/main" val="861533999"/>
              </p:ext>
            </p:extLst>
          </p:nvPr>
        </p:nvGraphicFramePr>
        <p:xfrm>
          <a:off x="5206782" y="1069520"/>
          <a:ext cx="3918248" cy="1357876"/>
        </p:xfrm>
        <a:graphic>
          <a:graphicData uri="http://schemas.openxmlformats.org/drawingml/2006/table">
            <a:tbl>
              <a:tblPr firstRow="1" bandRow="1">
                <a:tableStyleId>{5C22544A-7EE6-4342-B048-85BDC9FD1C3A}</a:tableStyleId>
              </a:tblPr>
              <a:tblGrid>
                <a:gridCol w="979562"/>
                <a:gridCol w="979562"/>
                <a:gridCol w="979562"/>
                <a:gridCol w="979562"/>
              </a:tblGrid>
              <a:tr h="291076">
                <a:tc gridSpan="4">
                  <a:txBody>
                    <a:bodyPr/>
                    <a:lstStyle/>
                    <a:p>
                      <a:pPr algn="ctr"/>
                      <a:r>
                        <a:rPr lang="en-US" sz="900" dirty="0" smtClean="0"/>
                        <a:t>3D</a:t>
                      </a:r>
                      <a:r>
                        <a:rPr lang="en-US" sz="900" baseline="0" dirty="0" smtClean="0"/>
                        <a:t> Secure authentication by the numbers:</a:t>
                      </a:r>
                      <a:endParaRPr lang="en-IN" sz="900" dirty="0"/>
                    </a:p>
                  </a:txBody>
                  <a:tcPr>
                    <a:solidFill>
                      <a:srgbClr val="0099CC"/>
                    </a:solidFill>
                  </a:tcPr>
                </a:tc>
                <a:tc hMerge="1">
                  <a:txBody>
                    <a:bodyPr/>
                    <a:lstStyle/>
                    <a:p>
                      <a:endParaRPr lang="en-IN" dirty="0"/>
                    </a:p>
                  </a:txBody>
                  <a:tcPr/>
                </a:tc>
                <a:tc hMerge="1">
                  <a:txBody>
                    <a:bodyPr/>
                    <a:lstStyle/>
                    <a:p>
                      <a:endParaRPr lang="en-IN" dirty="0"/>
                    </a:p>
                  </a:txBody>
                  <a:tcPr/>
                </a:tc>
                <a:tc hMerge="1">
                  <a:txBody>
                    <a:bodyPr/>
                    <a:lstStyle/>
                    <a:p>
                      <a:endParaRPr lang="en-IN" dirty="0"/>
                    </a:p>
                  </a:txBody>
                  <a:tcPr/>
                </a:tc>
              </a:tr>
              <a:tr h="838849">
                <a:tc>
                  <a:txBody>
                    <a:bodyPr/>
                    <a:lstStyle/>
                    <a:p>
                      <a:pPr algn="ctr"/>
                      <a:r>
                        <a:rPr lang="en-US" sz="1000" b="1" dirty="0" smtClean="0"/>
                        <a:t>3%</a:t>
                      </a:r>
                    </a:p>
                    <a:p>
                      <a:pPr algn="ctr"/>
                      <a:r>
                        <a:rPr lang="en-US" sz="900" dirty="0" smtClean="0"/>
                        <a:t>The portion of transaction</a:t>
                      </a:r>
                      <a:r>
                        <a:rPr lang="en-US" sz="900" baseline="0" dirty="0" smtClean="0"/>
                        <a:t> in the US that are subject 3D secure reviews</a:t>
                      </a:r>
                      <a:endParaRPr lang="en-IN" sz="900" dirty="0"/>
                    </a:p>
                  </a:txBody>
                  <a:tcPr/>
                </a:tc>
                <a:tc>
                  <a:txBody>
                    <a:bodyPr/>
                    <a:lstStyle/>
                    <a:p>
                      <a:pPr algn="ctr"/>
                      <a:r>
                        <a:rPr lang="en-US" sz="1000" b="1" dirty="0" smtClean="0"/>
                        <a:t>12%</a:t>
                      </a:r>
                    </a:p>
                    <a:p>
                      <a:pPr algn="ctr"/>
                      <a:r>
                        <a:rPr lang="en-US" sz="900" dirty="0" smtClean="0"/>
                        <a:t>10-year global compound annual growth</a:t>
                      </a:r>
                      <a:r>
                        <a:rPr lang="en-US" sz="900" baseline="0" dirty="0" smtClean="0"/>
                        <a:t> rate of 3DS- generated revenue</a:t>
                      </a:r>
                      <a:endParaRPr lang="en-IN" sz="900" dirty="0"/>
                    </a:p>
                  </a:txBody>
                  <a:tcPr/>
                </a:tc>
                <a:tc>
                  <a:txBody>
                    <a:bodyPr/>
                    <a:lstStyle/>
                    <a:p>
                      <a:pPr algn="ctr"/>
                      <a:r>
                        <a:rPr lang="en-US" sz="1000" b="1" dirty="0" smtClean="0"/>
                        <a:t>33%</a:t>
                      </a:r>
                    </a:p>
                    <a:p>
                      <a:pPr algn="ctr"/>
                      <a:r>
                        <a:rPr lang="en-US" sz="900" dirty="0" smtClean="0"/>
                        <a:t>Growth in merchants</a:t>
                      </a:r>
                      <a:r>
                        <a:rPr lang="en-US" sz="900" baseline="0" dirty="0" smtClean="0"/>
                        <a:t> globally using 3D secure in 2023 vs 2022</a:t>
                      </a:r>
                      <a:endParaRPr lang="en-IN" sz="900" dirty="0"/>
                    </a:p>
                  </a:txBody>
                  <a:tcPr/>
                </a:tc>
                <a:tc>
                  <a:txBody>
                    <a:bodyPr/>
                    <a:lstStyle/>
                    <a:p>
                      <a:pPr algn="ctr"/>
                      <a:r>
                        <a:rPr lang="en-US" sz="1000" b="1" dirty="0" smtClean="0"/>
                        <a:t>1 to 2</a:t>
                      </a:r>
                      <a:endParaRPr lang="en-US" sz="900" b="1" dirty="0" smtClean="0"/>
                    </a:p>
                    <a:p>
                      <a:pPr algn="ctr"/>
                      <a:r>
                        <a:rPr lang="en-US" sz="900" dirty="0" smtClean="0"/>
                        <a:t>Average</a:t>
                      </a:r>
                      <a:r>
                        <a:rPr lang="en-US" sz="900" baseline="0" dirty="0" smtClean="0"/>
                        <a:t> number of AI &amp; ML fraud solutions used by merchants globally</a:t>
                      </a:r>
                      <a:endParaRPr lang="en-IN" sz="900" dirty="0"/>
                    </a:p>
                  </a:txBody>
                  <a:tcPr/>
                </a:tc>
              </a:tr>
            </a:tbl>
          </a:graphicData>
        </a:graphic>
      </p:graphicFrame>
      <p:graphicFrame>
        <p:nvGraphicFramePr>
          <p:cNvPr id="14" name="Table 13"/>
          <p:cNvGraphicFramePr>
            <a:graphicFrameLocks noGrp="1"/>
          </p:cNvGraphicFramePr>
          <p:nvPr>
            <p:extLst>
              <p:ext uri="{D42A27DB-BD31-4B8C-83A1-F6EECF244321}">
                <p14:modId xmlns:p14="http://schemas.microsoft.com/office/powerpoint/2010/main" val="65633558"/>
              </p:ext>
            </p:extLst>
          </p:nvPr>
        </p:nvGraphicFramePr>
        <p:xfrm>
          <a:off x="5206784" y="2642344"/>
          <a:ext cx="3937216" cy="1067449"/>
        </p:xfrm>
        <a:graphic>
          <a:graphicData uri="http://schemas.openxmlformats.org/drawingml/2006/table">
            <a:tbl>
              <a:tblPr firstRow="1" bandRow="1">
                <a:tableStyleId>{5C22544A-7EE6-4342-B048-85BDC9FD1C3A}</a:tableStyleId>
              </a:tblPr>
              <a:tblGrid>
                <a:gridCol w="2096234"/>
                <a:gridCol w="1840982"/>
              </a:tblGrid>
              <a:tr h="152400">
                <a:tc gridSpan="2">
                  <a:txBody>
                    <a:bodyPr/>
                    <a:lstStyle/>
                    <a:p>
                      <a:pPr algn="ctr"/>
                      <a:r>
                        <a:rPr lang="en-US" sz="900" dirty="0" smtClean="0"/>
                        <a:t>The picture from where</a:t>
                      </a:r>
                      <a:r>
                        <a:rPr lang="en-US" sz="900" baseline="0" dirty="0" smtClean="0"/>
                        <a:t> 3DS Secure is virtually mandated:</a:t>
                      </a:r>
                      <a:endParaRPr lang="en-IN" sz="900" dirty="0"/>
                    </a:p>
                  </a:txBody>
                  <a:tcPr>
                    <a:solidFill>
                      <a:srgbClr val="0099CC"/>
                    </a:solidFill>
                  </a:tcPr>
                </a:tc>
                <a:tc hMerge="1">
                  <a:txBody>
                    <a:bodyPr/>
                    <a:lstStyle/>
                    <a:p>
                      <a:endParaRPr lang="en-IN" dirty="0"/>
                    </a:p>
                  </a:txBody>
                  <a:tcPr/>
                </a:tc>
              </a:tr>
              <a:tr h="838849">
                <a:tc>
                  <a:txBody>
                    <a:bodyPr/>
                    <a:lstStyle/>
                    <a:p>
                      <a:pPr algn="ctr"/>
                      <a:r>
                        <a:rPr lang="en-US" sz="1000" b="1" dirty="0" smtClean="0"/>
                        <a:t>47%</a:t>
                      </a:r>
                    </a:p>
                    <a:p>
                      <a:pPr algn="ctr"/>
                      <a:r>
                        <a:rPr lang="en-US" sz="900" dirty="0" smtClean="0"/>
                        <a:t>Reduction in fraud pressure since 3DS-based SCA was required in Europe</a:t>
                      </a:r>
                      <a:endParaRPr lang="en-IN" sz="900" dirty="0"/>
                    </a:p>
                  </a:txBody>
                  <a:tcPr/>
                </a:tc>
                <a:tc>
                  <a:txBody>
                    <a:bodyPr/>
                    <a:lstStyle/>
                    <a:p>
                      <a:pPr algn="ctr"/>
                      <a:r>
                        <a:rPr lang="en-US" sz="1000" b="1" dirty="0" smtClean="0"/>
                        <a:t>82%</a:t>
                      </a:r>
                    </a:p>
                    <a:p>
                      <a:pPr algn="ctr"/>
                      <a:r>
                        <a:rPr lang="en-US" sz="900" dirty="0" smtClean="0"/>
                        <a:t>Criminal</a:t>
                      </a:r>
                      <a:r>
                        <a:rPr lang="en-US" sz="900" baseline="0" dirty="0" smtClean="0"/>
                        <a:t> fraud chargeback reduction since 3DS-based SCA- was required in Europe</a:t>
                      </a:r>
                      <a:endParaRPr lang="en-IN" sz="900" dirty="0"/>
                    </a:p>
                  </a:txBody>
                  <a:tcPr/>
                </a:tc>
              </a:tr>
            </a:tbl>
          </a:graphicData>
        </a:graphic>
      </p:graphicFrame>
      <p:graphicFrame>
        <p:nvGraphicFramePr>
          <p:cNvPr id="15" name="Table 14"/>
          <p:cNvGraphicFramePr>
            <a:graphicFrameLocks noGrp="1"/>
          </p:cNvGraphicFramePr>
          <p:nvPr>
            <p:extLst>
              <p:ext uri="{D42A27DB-BD31-4B8C-83A1-F6EECF244321}">
                <p14:modId xmlns:p14="http://schemas.microsoft.com/office/powerpoint/2010/main" val="1504914534"/>
              </p:ext>
            </p:extLst>
          </p:nvPr>
        </p:nvGraphicFramePr>
        <p:xfrm>
          <a:off x="5206784" y="4095485"/>
          <a:ext cx="3937216" cy="1067449"/>
        </p:xfrm>
        <a:graphic>
          <a:graphicData uri="http://schemas.openxmlformats.org/drawingml/2006/table">
            <a:tbl>
              <a:tblPr firstRow="1" bandRow="1">
                <a:tableStyleId>{5C22544A-7EE6-4342-B048-85BDC9FD1C3A}</a:tableStyleId>
              </a:tblPr>
              <a:tblGrid>
                <a:gridCol w="2096234"/>
                <a:gridCol w="1840982"/>
              </a:tblGrid>
              <a:tr h="0">
                <a:tc gridSpan="2">
                  <a:txBody>
                    <a:bodyPr/>
                    <a:lstStyle/>
                    <a:p>
                      <a:pPr algn="ctr"/>
                      <a:r>
                        <a:rPr lang="en-US" sz="900" dirty="0" smtClean="0"/>
                        <a:t>Online customer</a:t>
                      </a:r>
                      <a:r>
                        <a:rPr lang="en-US" sz="900" baseline="0" dirty="0" smtClean="0"/>
                        <a:t> experience vs. friction with 3D Secure:</a:t>
                      </a:r>
                      <a:endParaRPr lang="en-IN" sz="900" dirty="0"/>
                    </a:p>
                  </a:txBody>
                  <a:tcPr>
                    <a:solidFill>
                      <a:srgbClr val="0099CC"/>
                    </a:solidFill>
                  </a:tcPr>
                </a:tc>
                <a:tc hMerge="1">
                  <a:txBody>
                    <a:bodyPr/>
                    <a:lstStyle/>
                    <a:p>
                      <a:endParaRPr lang="en-IN" dirty="0"/>
                    </a:p>
                  </a:txBody>
                  <a:tcPr/>
                </a:tc>
              </a:tr>
              <a:tr h="838849">
                <a:tc>
                  <a:txBody>
                    <a:bodyPr/>
                    <a:lstStyle/>
                    <a:p>
                      <a:pPr algn="ctr"/>
                      <a:r>
                        <a:rPr lang="en-US" sz="1000" b="1" dirty="0" smtClean="0"/>
                        <a:t>36%</a:t>
                      </a:r>
                    </a:p>
                    <a:p>
                      <a:pPr algn="ctr"/>
                      <a:r>
                        <a:rPr lang="en-US" sz="900" dirty="0" smtClean="0"/>
                        <a:t>of</a:t>
                      </a:r>
                      <a:r>
                        <a:rPr lang="en-US" sz="900" baseline="0" dirty="0" smtClean="0"/>
                        <a:t> UK consumers couldn’t complete an online transaction due to 3DS-powered SCA</a:t>
                      </a:r>
                      <a:endParaRPr lang="en-IN" sz="900" dirty="0"/>
                    </a:p>
                  </a:txBody>
                  <a:tcPr/>
                </a:tc>
                <a:tc>
                  <a:txBody>
                    <a:bodyPr/>
                    <a:lstStyle/>
                    <a:p>
                      <a:pPr algn="ctr"/>
                      <a:r>
                        <a:rPr lang="en-US" sz="1000" b="1" dirty="0" smtClean="0"/>
                        <a:t>37%</a:t>
                      </a:r>
                    </a:p>
                    <a:p>
                      <a:pPr algn="ctr"/>
                      <a:r>
                        <a:rPr lang="en-US" sz="900" dirty="0" smtClean="0"/>
                        <a:t>CUK</a:t>
                      </a:r>
                      <a:r>
                        <a:rPr lang="en-US" sz="900" baseline="0" dirty="0" smtClean="0"/>
                        <a:t> consumers who said they’d quite shopping with a retailer after 1 or 2 bad checkout experience</a:t>
                      </a:r>
                      <a:endParaRPr lang="en-IN" sz="900" dirty="0"/>
                    </a:p>
                  </a:txBody>
                  <a:tcPr/>
                </a:tc>
              </a:tr>
            </a:tbl>
          </a:graphicData>
        </a:graphic>
      </p:graphicFrame>
      <p:graphicFrame>
        <p:nvGraphicFramePr>
          <p:cNvPr id="16" name="Table 15"/>
          <p:cNvGraphicFramePr>
            <a:graphicFrameLocks noGrp="1"/>
          </p:cNvGraphicFramePr>
          <p:nvPr>
            <p:extLst>
              <p:ext uri="{D42A27DB-BD31-4B8C-83A1-F6EECF244321}">
                <p14:modId xmlns:p14="http://schemas.microsoft.com/office/powerpoint/2010/main" val="2812453785"/>
              </p:ext>
            </p:extLst>
          </p:nvPr>
        </p:nvGraphicFramePr>
        <p:xfrm>
          <a:off x="5225752" y="5681599"/>
          <a:ext cx="3918248" cy="1067449"/>
        </p:xfrm>
        <a:graphic>
          <a:graphicData uri="http://schemas.openxmlformats.org/drawingml/2006/table">
            <a:tbl>
              <a:tblPr firstRow="1" bandRow="1">
                <a:tableStyleId>{5C22544A-7EE6-4342-B048-85BDC9FD1C3A}</a:tableStyleId>
              </a:tblPr>
              <a:tblGrid>
                <a:gridCol w="1215444"/>
                <a:gridCol w="1368152"/>
                <a:gridCol w="1334652"/>
              </a:tblGrid>
              <a:tr h="0">
                <a:tc gridSpan="3">
                  <a:txBody>
                    <a:bodyPr/>
                    <a:lstStyle/>
                    <a:p>
                      <a:pPr algn="ctr"/>
                      <a:r>
                        <a:rPr lang="en-US" sz="900" dirty="0" smtClean="0"/>
                        <a:t>3D</a:t>
                      </a:r>
                      <a:r>
                        <a:rPr lang="en-US" sz="900" baseline="0" dirty="0" smtClean="0"/>
                        <a:t> Secure authorization comes with downsides:</a:t>
                      </a:r>
                      <a:endParaRPr lang="en-IN" sz="900" dirty="0"/>
                    </a:p>
                  </a:txBody>
                  <a:tcPr>
                    <a:solidFill>
                      <a:srgbClr val="0099CC"/>
                    </a:solidFill>
                  </a:tcPr>
                </a:tc>
                <a:tc hMerge="1">
                  <a:txBody>
                    <a:bodyPr/>
                    <a:lstStyle/>
                    <a:p>
                      <a:endParaRPr lang="en-IN" dirty="0"/>
                    </a:p>
                  </a:txBody>
                  <a:tcPr/>
                </a:tc>
                <a:tc hMerge="1">
                  <a:txBody>
                    <a:bodyPr/>
                    <a:lstStyle/>
                    <a:p>
                      <a:endParaRPr lang="en-IN" dirty="0"/>
                    </a:p>
                  </a:txBody>
                  <a:tcPr/>
                </a:tc>
              </a:tr>
              <a:tr h="838849">
                <a:tc>
                  <a:txBody>
                    <a:bodyPr/>
                    <a:lstStyle/>
                    <a:p>
                      <a:pPr algn="ctr"/>
                      <a:r>
                        <a:rPr lang="en-US" sz="1000" b="1" dirty="0" smtClean="0"/>
                        <a:t>66%</a:t>
                      </a:r>
                    </a:p>
                    <a:p>
                      <a:pPr algn="ctr"/>
                      <a:r>
                        <a:rPr lang="en-US" sz="900" dirty="0" smtClean="0"/>
                        <a:t>Increase</a:t>
                      </a:r>
                      <a:r>
                        <a:rPr lang="en-US" sz="900" baseline="0" dirty="0" smtClean="0"/>
                        <a:t> in 1</a:t>
                      </a:r>
                      <a:r>
                        <a:rPr lang="en-US" sz="900" baseline="30000" dirty="0" smtClean="0"/>
                        <a:t>st</a:t>
                      </a:r>
                      <a:r>
                        <a:rPr lang="en-US" sz="900" baseline="0" dirty="0" smtClean="0"/>
                        <a:t> Party fraud chargebacks since 3DS powered SCA</a:t>
                      </a:r>
                      <a:endParaRPr lang="en-IN" sz="900" dirty="0"/>
                    </a:p>
                  </a:txBody>
                  <a:tcPr/>
                </a:tc>
                <a:tc>
                  <a:txBody>
                    <a:bodyPr/>
                    <a:lstStyle/>
                    <a:p>
                      <a:pPr algn="ctr"/>
                      <a:r>
                        <a:rPr lang="en-US" sz="1000" b="1" dirty="0" smtClean="0"/>
                        <a:t>22%</a:t>
                      </a:r>
                    </a:p>
                    <a:p>
                      <a:pPr algn="ctr"/>
                      <a:r>
                        <a:rPr lang="en-US" sz="900" dirty="0" smtClean="0"/>
                        <a:t>U.S</a:t>
                      </a:r>
                      <a:r>
                        <a:rPr lang="en-US" sz="900" baseline="0" dirty="0" smtClean="0"/>
                        <a:t> card abandonment due to checkout being too long and complicated</a:t>
                      </a:r>
                      <a:endParaRPr lang="en-IN" sz="900" dirty="0"/>
                    </a:p>
                  </a:txBody>
                  <a:tcPr/>
                </a:tc>
                <a:tc>
                  <a:txBody>
                    <a:bodyPr/>
                    <a:lstStyle/>
                    <a:p>
                      <a:pPr algn="ctr"/>
                      <a:r>
                        <a:rPr lang="en-US" sz="1000" b="1" dirty="0" smtClean="0"/>
                        <a:t>6x</a:t>
                      </a:r>
                    </a:p>
                    <a:p>
                      <a:pPr algn="ctr"/>
                      <a:r>
                        <a:rPr lang="en-US" sz="900" dirty="0" smtClean="0"/>
                        <a:t>fraud</a:t>
                      </a:r>
                      <a:r>
                        <a:rPr lang="en-US" sz="900" baseline="0" dirty="0" smtClean="0"/>
                        <a:t> rate on 3DS- protected orders in North America vs. all CNP transactions</a:t>
                      </a:r>
                      <a:endParaRPr lang="en-IN" sz="900" dirty="0"/>
                    </a:p>
                  </a:txBody>
                  <a:tcPr/>
                </a:tc>
              </a:tr>
            </a:tbl>
          </a:graphicData>
        </a:graphic>
      </p:graphicFrame>
      <p:pic>
        <p:nvPicPr>
          <p:cNvPr id="18" name="Picture 1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895766" y="422"/>
            <a:ext cx="1248234" cy="317617"/>
          </a:xfrm>
          <a:prstGeom prst="rect">
            <a:avLst/>
          </a:prstGeom>
        </p:spPr>
      </p:pic>
    </p:spTree>
    <p:extLst>
      <p:ext uri="{BB962C8B-B14F-4D97-AF65-F5344CB8AC3E}">
        <p14:creationId xmlns:p14="http://schemas.microsoft.com/office/powerpoint/2010/main" val="2657829517"/>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2371730" y="43133"/>
            <a:ext cx="4407792" cy="369332"/>
          </a:xfrm>
          <a:prstGeom prst="roundRect">
            <a:avLst/>
          </a:prstGeom>
          <a:solidFill>
            <a:srgbClr val="0099C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TextBox 3"/>
          <p:cNvSpPr txBox="1"/>
          <p:nvPr/>
        </p:nvSpPr>
        <p:spPr>
          <a:xfrm>
            <a:off x="2412242" y="43133"/>
            <a:ext cx="4384534" cy="369332"/>
          </a:xfrm>
          <a:prstGeom prst="rect">
            <a:avLst/>
          </a:prstGeom>
          <a:noFill/>
        </p:spPr>
        <p:txBody>
          <a:bodyPr wrap="none" rtlCol="0">
            <a:spAutoFit/>
          </a:bodyPr>
          <a:lstStyle/>
          <a:p>
            <a:r>
              <a:rPr lang="en-US" b="1" dirty="0" smtClean="0">
                <a:solidFill>
                  <a:schemeClr val="tx1">
                    <a:lumMod val="75000"/>
                    <a:lumOff val="25000"/>
                  </a:schemeClr>
                </a:solidFill>
                <a:latin typeface="Lucida Sans" pitchFamily="34" charset="0"/>
              </a:rPr>
              <a:t>ECI Indicator on 3D Secure Protocol</a:t>
            </a:r>
            <a:endParaRPr lang="en-IN" b="1" dirty="0">
              <a:solidFill>
                <a:schemeClr val="tx1">
                  <a:lumMod val="75000"/>
                  <a:lumOff val="25000"/>
                </a:schemeClr>
              </a:solidFill>
              <a:latin typeface="Lucida Sans" pitchFamily="34" charset="0"/>
            </a:endParaRPr>
          </a:p>
        </p:txBody>
      </p:sp>
      <p:sp>
        <p:nvSpPr>
          <p:cNvPr id="5" name="TextBox 4"/>
          <p:cNvSpPr txBox="1"/>
          <p:nvPr/>
        </p:nvSpPr>
        <p:spPr>
          <a:xfrm>
            <a:off x="539552" y="476672"/>
            <a:ext cx="7987058" cy="830997"/>
          </a:xfrm>
          <a:prstGeom prst="rect">
            <a:avLst/>
          </a:prstGeom>
          <a:noFill/>
        </p:spPr>
        <p:txBody>
          <a:bodyPr wrap="none" rtlCol="0">
            <a:spAutoFit/>
          </a:bodyPr>
          <a:lstStyle/>
          <a:p>
            <a:r>
              <a:rPr lang="en-US" sz="1200" i="1" dirty="0">
                <a:latin typeface="Palatino Linotype" pitchFamily="18" charset="0"/>
              </a:rPr>
              <a:t>Electronic Commerce Indicator</a:t>
            </a:r>
            <a:r>
              <a:rPr lang="en-US" sz="1200" dirty="0">
                <a:latin typeface="Palatino Linotype" pitchFamily="18" charset="0"/>
              </a:rPr>
              <a:t> - value returned by a Directory Server indicating the outcome of a 3DS </a:t>
            </a:r>
            <a:r>
              <a:rPr lang="en-US" sz="1200" dirty="0" smtClean="0">
                <a:latin typeface="Palatino Linotype" pitchFamily="18" charset="0"/>
              </a:rPr>
              <a:t>Authentication.</a:t>
            </a:r>
          </a:p>
          <a:p>
            <a:pPr marL="171450" indent="-171450">
              <a:buFont typeface="Arial" pitchFamily="34" charset="0"/>
              <a:buChar char="•"/>
            </a:pPr>
            <a:r>
              <a:rPr lang="en-US" sz="1200" dirty="0">
                <a:latin typeface="Palatino Linotype" pitchFamily="18" charset="0"/>
              </a:rPr>
              <a:t>There is a difference </a:t>
            </a:r>
            <a:r>
              <a:rPr lang="en-US" sz="1200" dirty="0" smtClean="0">
                <a:latin typeface="Palatino Linotype" pitchFamily="18" charset="0"/>
              </a:rPr>
              <a:t>in ECI Indicator of Visa</a:t>
            </a:r>
            <a:r>
              <a:rPr lang="en-US" sz="1200" dirty="0">
                <a:latin typeface="Palatino Linotype" pitchFamily="18" charset="0"/>
              </a:rPr>
              <a:t>, Amex and JCB versus </a:t>
            </a:r>
            <a:r>
              <a:rPr lang="en-US" sz="1200" dirty="0" smtClean="0">
                <a:latin typeface="Palatino Linotype" pitchFamily="18" charset="0"/>
              </a:rPr>
              <a:t>Mastercard</a:t>
            </a:r>
          </a:p>
          <a:p>
            <a:pPr marL="171450" indent="-171450">
              <a:buFont typeface="Arial" pitchFamily="34" charset="0"/>
              <a:buChar char="•"/>
            </a:pPr>
            <a:r>
              <a:rPr lang="en-US" sz="1200" dirty="0" smtClean="0">
                <a:latin typeface="Palatino Linotype" pitchFamily="18" charset="0"/>
              </a:rPr>
              <a:t>The </a:t>
            </a:r>
            <a:r>
              <a:rPr lang="en-US" sz="1200" dirty="0">
                <a:latin typeface="Palatino Linotype" pitchFamily="18" charset="0"/>
              </a:rPr>
              <a:t>ECI level also determines who is liable for fraudulent transactions.</a:t>
            </a:r>
            <a:endParaRPr lang="en-US" sz="1200" dirty="0" smtClean="0">
              <a:latin typeface="Palatino Linotype" pitchFamily="18" charset="0"/>
            </a:endParaRPr>
          </a:p>
          <a:p>
            <a:endParaRPr lang="en-IN" sz="1200" dirty="0">
              <a:latin typeface="Palatino Linotype" pitchFamily="18" charset="0"/>
            </a:endParaRPr>
          </a:p>
        </p:txBody>
      </p:sp>
      <p:graphicFrame>
        <p:nvGraphicFramePr>
          <p:cNvPr id="7" name="Table 6"/>
          <p:cNvGraphicFramePr>
            <a:graphicFrameLocks noGrp="1"/>
          </p:cNvGraphicFramePr>
          <p:nvPr>
            <p:extLst>
              <p:ext uri="{D42A27DB-BD31-4B8C-83A1-F6EECF244321}">
                <p14:modId xmlns:p14="http://schemas.microsoft.com/office/powerpoint/2010/main" val="2249466078"/>
              </p:ext>
            </p:extLst>
          </p:nvPr>
        </p:nvGraphicFramePr>
        <p:xfrm>
          <a:off x="755576" y="1794127"/>
          <a:ext cx="2819400" cy="1706880"/>
        </p:xfrm>
        <a:graphic>
          <a:graphicData uri="http://schemas.openxmlformats.org/drawingml/2006/table">
            <a:tbl>
              <a:tblPr/>
              <a:tblGrid>
                <a:gridCol w="1409700"/>
                <a:gridCol w="1409700"/>
              </a:tblGrid>
              <a:tr h="321136">
                <a:tc>
                  <a:txBody>
                    <a:bodyPr/>
                    <a:lstStyle/>
                    <a:p>
                      <a:pPr algn="ctr" fontAlgn="t"/>
                      <a:r>
                        <a:rPr lang="en-IN" sz="1200" dirty="0">
                          <a:solidFill>
                            <a:srgbClr val="FFFFFF"/>
                          </a:solidFill>
                          <a:effectLst/>
                        </a:rPr>
                        <a:t>Card Type</a:t>
                      </a:r>
                    </a:p>
                  </a:txBody>
                  <a:tcPr marL="76200" marR="76200" marT="76200" marB="76200">
                    <a:lnL>
                      <a:noFill/>
                    </a:lnL>
                    <a:lnR>
                      <a:noFill/>
                    </a:lnR>
                    <a:lnT>
                      <a:noFill/>
                    </a:lnT>
                    <a:lnB w="9525" cap="flat" cmpd="sng" algn="ctr">
                      <a:solidFill>
                        <a:srgbClr val="DDDDDD"/>
                      </a:solidFill>
                      <a:prstDash val="solid"/>
                      <a:round/>
                      <a:headEnd type="none" w="med" len="med"/>
                      <a:tailEnd type="none" w="med" len="med"/>
                    </a:lnB>
                    <a:solidFill>
                      <a:srgbClr val="0099CC"/>
                    </a:solidFill>
                  </a:tcPr>
                </a:tc>
                <a:tc>
                  <a:txBody>
                    <a:bodyPr/>
                    <a:lstStyle/>
                    <a:p>
                      <a:pPr algn="ctr" fontAlgn="t"/>
                      <a:r>
                        <a:rPr lang="en-IN" sz="1200" dirty="0">
                          <a:solidFill>
                            <a:srgbClr val="FFFFFF"/>
                          </a:solidFill>
                          <a:effectLst/>
                        </a:rPr>
                        <a:t>ECI Indicator</a:t>
                      </a:r>
                    </a:p>
                  </a:txBody>
                  <a:tcPr marL="76200" marR="76200" marT="76200" marB="76200">
                    <a:lnL>
                      <a:noFill/>
                    </a:lnL>
                    <a:lnR>
                      <a:noFill/>
                    </a:lnR>
                    <a:lnT>
                      <a:noFill/>
                    </a:lnT>
                    <a:lnB w="9525" cap="flat" cmpd="sng" algn="ctr">
                      <a:solidFill>
                        <a:srgbClr val="DDDDDD"/>
                      </a:solidFill>
                      <a:prstDash val="solid"/>
                      <a:round/>
                      <a:headEnd type="none" w="med" len="med"/>
                      <a:tailEnd type="none" w="med" len="med"/>
                    </a:lnB>
                    <a:solidFill>
                      <a:srgbClr val="0099CC"/>
                    </a:solidFill>
                  </a:tcPr>
                </a:tc>
              </a:tr>
              <a:tr h="321136">
                <a:tc>
                  <a:txBody>
                    <a:bodyPr/>
                    <a:lstStyle/>
                    <a:p>
                      <a:pPr algn="ctr" fontAlgn="t"/>
                      <a:r>
                        <a:rPr lang="en-US" sz="1200" dirty="0" smtClean="0">
                          <a:effectLst/>
                        </a:rPr>
                        <a:t>Visa</a:t>
                      </a:r>
                      <a:r>
                        <a:rPr lang="en-US" sz="1200" baseline="0" dirty="0" smtClean="0">
                          <a:effectLst/>
                        </a:rPr>
                        <a:t> Secure</a:t>
                      </a:r>
                      <a:endParaRPr lang="en-IN" sz="1200" dirty="0">
                        <a:effectLst/>
                      </a:endParaRPr>
                    </a:p>
                  </a:txBody>
                  <a:tcPr marL="76200" marR="76200" marT="76200" marB="76200">
                    <a:lnL w="12700" cap="flat" cmpd="sng" algn="ctr">
                      <a:solidFill>
                        <a:srgbClr val="30D721"/>
                      </a:solidFill>
                      <a:prstDash val="solid"/>
                      <a:round/>
                      <a:headEnd type="none" w="med" len="med"/>
                      <a:tailEnd type="none" w="med" len="med"/>
                    </a:lnL>
                    <a:lnR w="12700" cap="flat" cmpd="sng" algn="ctr">
                      <a:solidFill>
                        <a:srgbClr val="10AF01"/>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ctr" fontAlgn="t"/>
                      <a:r>
                        <a:rPr lang="en-IN" sz="1200">
                          <a:effectLst/>
                        </a:rPr>
                        <a:t>05</a:t>
                      </a:r>
                    </a:p>
                  </a:txBody>
                  <a:tcPr marL="76200" marR="76200" marT="76200" marB="76200">
                    <a:lnL w="12700" cap="flat" cmpd="sng" algn="ctr">
                      <a:solidFill>
                        <a:srgbClr val="10AF01"/>
                      </a:solidFill>
                      <a:prstDash val="solid"/>
                      <a:round/>
                      <a:headEnd type="none" w="med" len="med"/>
                      <a:tailEnd type="none" w="med" len="med"/>
                    </a:lnL>
                    <a:lnR w="12700" cap="flat" cmpd="sng" algn="ctr">
                      <a:solidFill>
                        <a:srgbClr val="706913"/>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r>
              <a:tr h="496300">
                <a:tc>
                  <a:txBody>
                    <a:bodyPr/>
                    <a:lstStyle/>
                    <a:p>
                      <a:pPr algn="ctr" fontAlgn="t"/>
                      <a:r>
                        <a:rPr lang="en-IN" sz="1200" dirty="0">
                          <a:effectLst/>
                        </a:rPr>
                        <a:t>Mastercard Identity Check</a:t>
                      </a:r>
                    </a:p>
                  </a:txBody>
                  <a:tcPr marL="76200" marR="76200" marT="76200" marB="76200">
                    <a:lnL w="12700" cap="flat" cmpd="sng" algn="ctr">
                      <a:solidFill>
                        <a:srgbClr val="10AF01"/>
                      </a:solidFill>
                      <a:prstDash val="solid"/>
                      <a:round/>
                      <a:headEnd type="none" w="med" len="med"/>
                      <a:tailEnd type="none" w="med" len="med"/>
                    </a:lnL>
                    <a:lnR w="12700" cap="flat" cmpd="sng" algn="ctr">
                      <a:solidFill>
                        <a:srgbClr val="906913"/>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9F9F9"/>
                    </a:solidFill>
                  </a:tcPr>
                </a:tc>
                <a:tc>
                  <a:txBody>
                    <a:bodyPr/>
                    <a:lstStyle/>
                    <a:p>
                      <a:pPr algn="ctr" fontAlgn="t"/>
                      <a:r>
                        <a:rPr lang="en-IN" sz="1200" dirty="0">
                          <a:effectLst/>
                        </a:rPr>
                        <a:t>02</a:t>
                      </a:r>
                    </a:p>
                  </a:txBody>
                  <a:tcPr marL="76200" marR="76200" marT="76200" marB="76200">
                    <a:lnL w="12700" cap="flat" cmpd="sng" algn="ctr">
                      <a:solidFill>
                        <a:srgbClr val="906913"/>
                      </a:solidFill>
                      <a:prstDash val="solid"/>
                      <a:round/>
                      <a:headEnd type="none" w="med" len="med"/>
                      <a:tailEnd type="none" w="med" len="med"/>
                    </a:lnL>
                    <a:lnR w="12700" cap="flat" cmpd="sng" algn="ctr">
                      <a:solidFill>
                        <a:srgbClr val="A0ECC6"/>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9F9F9"/>
                    </a:solidFill>
                  </a:tcPr>
                </a:tc>
              </a:tr>
              <a:tr h="496300">
                <a:tc>
                  <a:txBody>
                    <a:bodyPr/>
                    <a:lstStyle/>
                    <a:p>
                      <a:pPr algn="ctr" fontAlgn="t"/>
                      <a:r>
                        <a:rPr lang="en-IN" sz="1200" dirty="0">
                          <a:effectLst/>
                        </a:rPr>
                        <a:t>American Express SafeKey 2.0</a:t>
                      </a:r>
                    </a:p>
                  </a:txBody>
                  <a:tcPr marL="76200" marR="76200" marT="76200" marB="76200">
                    <a:lnL w="12700" cap="flat" cmpd="sng" algn="ctr">
                      <a:solidFill>
                        <a:srgbClr val="906913"/>
                      </a:solidFill>
                      <a:prstDash val="solid"/>
                      <a:round/>
                      <a:headEnd type="none" w="med" len="med"/>
                      <a:tailEnd type="none" w="med" len="med"/>
                    </a:lnL>
                    <a:lnR w="12700" cap="flat" cmpd="sng" algn="ctr">
                      <a:solidFill>
                        <a:srgbClr val="B028A4"/>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ctr" fontAlgn="t"/>
                      <a:r>
                        <a:rPr lang="en-IN" sz="1200" dirty="0">
                          <a:effectLst/>
                        </a:rPr>
                        <a:t>05</a:t>
                      </a:r>
                    </a:p>
                  </a:txBody>
                  <a:tcPr marL="76200" marR="76200" marT="76200" marB="76200">
                    <a:lnL w="12700" cap="flat" cmpd="sng" algn="ctr">
                      <a:solidFill>
                        <a:srgbClr val="B028A4"/>
                      </a:solidFill>
                      <a:prstDash val="solid"/>
                      <a:round/>
                      <a:headEnd type="none" w="med" len="med"/>
                      <a:tailEnd type="none" w="med" len="med"/>
                    </a:lnL>
                    <a:lnR w="12700" cap="flat" cmpd="sng" algn="ctr">
                      <a:solidFill>
                        <a:srgbClr val="C0AD01"/>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r>
            </a:tbl>
          </a:graphicData>
        </a:graphic>
      </p:graphicFrame>
      <p:graphicFrame>
        <p:nvGraphicFramePr>
          <p:cNvPr id="9" name="Table 8"/>
          <p:cNvGraphicFramePr>
            <a:graphicFrameLocks noGrp="1"/>
          </p:cNvGraphicFramePr>
          <p:nvPr>
            <p:extLst>
              <p:ext uri="{D42A27DB-BD31-4B8C-83A1-F6EECF244321}">
                <p14:modId xmlns:p14="http://schemas.microsoft.com/office/powerpoint/2010/main" val="477670529"/>
              </p:ext>
            </p:extLst>
          </p:nvPr>
        </p:nvGraphicFramePr>
        <p:xfrm>
          <a:off x="5492742" y="1794127"/>
          <a:ext cx="2723424" cy="1706880"/>
        </p:xfrm>
        <a:graphic>
          <a:graphicData uri="http://schemas.openxmlformats.org/drawingml/2006/table">
            <a:tbl>
              <a:tblPr/>
              <a:tblGrid>
                <a:gridCol w="1361712"/>
                <a:gridCol w="1361712"/>
              </a:tblGrid>
              <a:tr h="321136">
                <a:tc>
                  <a:txBody>
                    <a:bodyPr/>
                    <a:lstStyle/>
                    <a:p>
                      <a:pPr algn="ctr" fontAlgn="t"/>
                      <a:r>
                        <a:rPr lang="en-IN" sz="1200" dirty="0">
                          <a:solidFill>
                            <a:srgbClr val="FFFFFF"/>
                          </a:solidFill>
                          <a:effectLst/>
                        </a:rPr>
                        <a:t>Card Type</a:t>
                      </a:r>
                    </a:p>
                  </a:txBody>
                  <a:tcPr marL="76200" marR="76200" marT="76200" marB="76200">
                    <a:lnL>
                      <a:noFill/>
                    </a:lnL>
                    <a:lnR>
                      <a:noFill/>
                    </a:lnR>
                    <a:lnT>
                      <a:noFill/>
                    </a:lnT>
                    <a:lnB w="9525" cap="flat" cmpd="sng" algn="ctr">
                      <a:solidFill>
                        <a:srgbClr val="DDDDDD"/>
                      </a:solidFill>
                      <a:prstDash val="solid"/>
                      <a:round/>
                      <a:headEnd type="none" w="med" len="med"/>
                      <a:tailEnd type="none" w="med" len="med"/>
                    </a:lnB>
                    <a:solidFill>
                      <a:srgbClr val="0099CC"/>
                    </a:solidFill>
                  </a:tcPr>
                </a:tc>
                <a:tc>
                  <a:txBody>
                    <a:bodyPr/>
                    <a:lstStyle/>
                    <a:p>
                      <a:pPr algn="ctr" fontAlgn="t"/>
                      <a:r>
                        <a:rPr lang="en-IN" sz="1200" dirty="0">
                          <a:solidFill>
                            <a:srgbClr val="FFFFFF"/>
                          </a:solidFill>
                          <a:effectLst/>
                        </a:rPr>
                        <a:t>ECI Indicator</a:t>
                      </a:r>
                    </a:p>
                  </a:txBody>
                  <a:tcPr marL="76200" marR="76200" marT="76200" marB="76200">
                    <a:lnL>
                      <a:noFill/>
                    </a:lnL>
                    <a:lnR>
                      <a:noFill/>
                    </a:lnR>
                    <a:lnT>
                      <a:noFill/>
                    </a:lnT>
                    <a:lnB w="9525" cap="flat" cmpd="sng" algn="ctr">
                      <a:solidFill>
                        <a:srgbClr val="DDDDDD"/>
                      </a:solidFill>
                      <a:prstDash val="solid"/>
                      <a:round/>
                      <a:headEnd type="none" w="med" len="med"/>
                      <a:tailEnd type="none" w="med" len="med"/>
                    </a:lnB>
                    <a:solidFill>
                      <a:srgbClr val="0099CC"/>
                    </a:solidFill>
                  </a:tcPr>
                </a:tc>
              </a:tr>
              <a:tr h="321136">
                <a:tc>
                  <a:txBody>
                    <a:bodyPr/>
                    <a:lstStyle/>
                    <a:p>
                      <a:pPr algn="ctr" fontAlgn="t"/>
                      <a:r>
                        <a:rPr lang="en-IN" sz="1200" dirty="0">
                          <a:effectLst/>
                        </a:rPr>
                        <a:t>Visa Secure</a:t>
                      </a:r>
                    </a:p>
                  </a:txBody>
                  <a:tcPr marL="76200" marR="76200" marT="76200" marB="76200">
                    <a:lnL w="12700" cap="flat" cmpd="sng" algn="ctr">
                      <a:solidFill>
                        <a:srgbClr val="B0E7C5"/>
                      </a:solidFill>
                      <a:prstDash val="solid"/>
                      <a:round/>
                      <a:headEnd type="none" w="med" len="med"/>
                      <a:tailEnd type="none" w="med" len="med"/>
                    </a:lnL>
                    <a:lnR w="12700" cap="flat" cmpd="sng" algn="ctr">
                      <a:solidFill>
                        <a:srgbClr val="40AAD9"/>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ctr" fontAlgn="t"/>
                      <a:r>
                        <a:rPr lang="en-IN" sz="1200">
                          <a:effectLst/>
                        </a:rPr>
                        <a:t>06</a:t>
                      </a:r>
                    </a:p>
                  </a:txBody>
                  <a:tcPr marL="76200" marR="76200" marT="76200" marB="76200">
                    <a:lnL w="12700" cap="flat" cmpd="sng" algn="ctr">
                      <a:solidFill>
                        <a:srgbClr val="40AAD9"/>
                      </a:solidFill>
                      <a:prstDash val="solid"/>
                      <a:round/>
                      <a:headEnd type="none" w="med" len="med"/>
                      <a:tailEnd type="none" w="med" len="med"/>
                    </a:lnL>
                    <a:lnR w="12700" cap="flat" cmpd="sng" algn="ctr">
                      <a:solidFill>
                        <a:srgbClr val="40E8C5"/>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r>
              <a:tr h="496300">
                <a:tc>
                  <a:txBody>
                    <a:bodyPr/>
                    <a:lstStyle/>
                    <a:p>
                      <a:pPr algn="ctr" fontAlgn="t"/>
                      <a:r>
                        <a:rPr lang="en-IN" sz="1200" dirty="0">
                          <a:effectLst/>
                        </a:rPr>
                        <a:t>Mastercard Identity Check</a:t>
                      </a:r>
                    </a:p>
                  </a:txBody>
                  <a:tcPr marL="76200" marR="76200" marT="76200" marB="76200">
                    <a:lnL w="12700" cap="flat" cmpd="sng" algn="ctr">
                      <a:solidFill>
                        <a:srgbClr val="40AAD9"/>
                      </a:solidFill>
                      <a:prstDash val="solid"/>
                      <a:round/>
                      <a:headEnd type="none" w="med" len="med"/>
                      <a:tailEnd type="none" w="med" len="med"/>
                    </a:lnL>
                    <a:lnR w="12700" cap="flat" cmpd="sng" algn="ctr">
                      <a:solidFill>
                        <a:srgbClr val="30E495"/>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9F9F9"/>
                    </a:solidFill>
                  </a:tcPr>
                </a:tc>
                <a:tc>
                  <a:txBody>
                    <a:bodyPr/>
                    <a:lstStyle/>
                    <a:p>
                      <a:pPr algn="ctr" fontAlgn="t"/>
                      <a:r>
                        <a:rPr lang="en-IN" sz="1200" dirty="0">
                          <a:effectLst/>
                        </a:rPr>
                        <a:t>01</a:t>
                      </a:r>
                    </a:p>
                  </a:txBody>
                  <a:tcPr marL="76200" marR="76200" marT="76200" marB="76200">
                    <a:lnL w="12700" cap="flat" cmpd="sng" algn="ctr">
                      <a:solidFill>
                        <a:srgbClr val="30E495"/>
                      </a:solidFill>
                      <a:prstDash val="solid"/>
                      <a:round/>
                      <a:headEnd type="none" w="med" len="med"/>
                      <a:tailEnd type="none" w="med" len="med"/>
                    </a:lnL>
                    <a:lnR w="12700" cap="flat" cmpd="sng" algn="ctr">
                      <a:solidFill>
                        <a:srgbClr val="D0E8C5"/>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9F9F9"/>
                    </a:solidFill>
                  </a:tcPr>
                </a:tc>
              </a:tr>
              <a:tr h="496300">
                <a:tc>
                  <a:txBody>
                    <a:bodyPr/>
                    <a:lstStyle/>
                    <a:p>
                      <a:pPr algn="ctr" fontAlgn="t"/>
                      <a:r>
                        <a:rPr lang="en-IN" sz="1200" dirty="0">
                          <a:effectLst/>
                        </a:rPr>
                        <a:t>American Express SafeKey 2.0</a:t>
                      </a:r>
                    </a:p>
                  </a:txBody>
                  <a:tcPr marL="76200" marR="76200" marT="76200" marB="76200">
                    <a:lnL w="12700" cap="flat" cmpd="sng" algn="ctr">
                      <a:solidFill>
                        <a:srgbClr val="30E495"/>
                      </a:solidFill>
                      <a:prstDash val="solid"/>
                      <a:round/>
                      <a:headEnd type="none" w="med" len="med"/>
                      <a:tailEnd type="none" w="med" len="med"/>
                    </a:lnL>
                    <a:lnR w="12700" cap="flat" cmpd="sng" algn="ctr">
                      <a:solidFill>
                        <a:srgbClr val="D0E9C5"/>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ctr" fontAlgn="t"/>
                      <a:r>
                        <a:rPr lang="en-IN" sz="1200" dirty="0">
                          <a:effectLst/>
                        </a:rPr>
                        <a:t>06</a:t>
                      </a:r>
                    </a:p>
                  </a:txBody>
                  <a:tcPr marL="76200" marR="76200" marT="76200" marB="76200">
                    <a:lnL w="12700" cap="flat" cmpd="sng" algn="ctr">
                      <a:solidFill>
                        <a:srgbClr val="D0E9C5"/>
                      </a:solidFill>
                      <a:prstDash val="solid"/>
                      <a:round/>
                      <a:headEnd type="none" w="med" len="med"/>
                      <a:tailEnd type="none" w="med" len="med"/>
                    </a:lnL>
                    <a:lnR w="12700" cap="flat" cmpd="sng" algn="ctr">
                      <a:solidFill>
                        <a:srgbClr val="F0E8C5"/>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r>
            </a:tbl>
          </a:graphicData>
        </a:graphic>
      </p:graphicFrame>
      <p:graphicFrame>
        <p:nvGraphicFramePr>
          <p:cNvPr id="10" name="Table 9"/>
          <p:cNvGraphicFramePr>
            <a:graphicFrameLocks noGrp="1"/>
          </p:cNvGraphicFramePr>
          <p:nvPr>
            <p:extLst>
              <p:ext uri="{D42A27DB-BD31-4B8C-83A1-F6EECF244321}">
                <p14:modId xmlns:p14="http://schemas.microsoft.com/office/powerpoint/2010/main" val="3106179776"/>
              </p:ext>
            </p:extLst>
          </p:nvPr>
        </p:nvGraphicFramePr>
        <p:xfrm>
          <a:off x="755576" y="4293096"/>
          <a:ext cx="2762212" cy="1770654"/>
        </p:xfrm>
        <a:graphic>
          <a:graphicData uri="http://schemas.openxmlformats.org/drawingml/2006/table">
            <a:tbl>
              <a:tblPr/>
              <a:tblGrid>
                <a:gridCol w="1381106"/>
                <a:gridCol w="1381106"/>
              </a:tblGrid>
              <a:tr h="329429">
                <a:tc>
                  <a:txBody>
                    <a:bodyPr/>
                    <a:lstStyle/>
                    <a:p>
                      <a:pPr algn="ctr" fontAlgn="t"/>
                      <a:r>
                        <a:rPr lang="en-IN" sz="1200" dirty="0">
                          <a:solidFill>
                            <a:srgbClr val="FFFFFF"/>
                          </a:solidFill>
                          <a:effectLst/>
                        </a:rPr>
                        <a:t>Card Type</a:t>
                      </a:r>
                    </a:p>
                  </a:txBody>
                  <a:tcPr marL="76200" marR="76200" marT="76200" marB="76200">
                    <a:lnL>
                      <a:noFill/>
                    </a:lnL>
                    <a:lnR>
                      <a:noFill/>
                    </a:lnR>
                    <a:lnT>
                      <a:noFill/>
                    </a:lnT>
                    <a:lnB w="9525" cap="flat" cmpd="sng" algn="ctr">
                      <a:solidFill>
                        <a:srgbClr val="DDDDDD"/>
                      </a:solidFill>
                      <a:prstDash val="solid"/>
                      <a:round/>
                      <a:headEnd type="none" w="med" len="med"/>
                      <a:tailEnd type="none" w="med" len="med"/>
                    </a:lnB>
                    <a:solidFill>
                      <a:srgbClr val="0099CC"/>
                    </a:solidFill>
                  </a:tcPr>
                </a:tc>
                <a:tc>
                  <a:txBody>
                    <a:bodyPr/>
                    <a:lstStyle/>
                    <a:p>
                      <a:pPr algn="ctr" fontAlgn="t"/>
                      <a:r>
                        <a:rPr lang="en-IN" sz="1200" dirty="0">
                          <a:solidFill>
                            <a:srgbClr val="FFFFFF"/>
                          </a:solidFill>
                          <a:effectLst/>
                        </a:rPr>
                        <a:t>ECI Indicator</a:t>
                      </a:r>
                    </a:p>
                  </a:txBody>
                  <a:tcPr marL="76200" marR="76200" marT="76200" marB="76200">
                    <a:lnL>
                      <a:noFill/>
                    </a:lnL>
                    <a:lnR>
                      <a:noFill/>
                    </a:lnR>
                    <a:lnT>
                      <a:noFill/>
                    </a:lnT>
                    <a:lnB w="9525" cap="flat" cmpd="sng" algn="ctr">
                      <a:solidFill>
                        <a:srgbClr val="DDDDDD"/>
                      </a:solidFill>
                      <a:prstDash val="solid"/>
                      <a:round/>
                      <a:headEnd type="none" w="med" len="med"/>
                      <a:tailEnd type="none" w="med" len="med"/>
                    </a:lnB>
                    <a:solidFill>
                      <a:srgbClr val="0099CC"/>
                    </a:solidFill>
                  </a:tcPr>
                </a:tc>
              </a:tr>
              <a:tr h="329429">
                <a:tc>
                  <a:txBody>
                    <a:bodyPr/>
                    <a:lstStyle/>
                    <a:p>
                      <a:pPr algn="ctr" fontAlgn="t"/>
                      <a:r>
                        <a:rPr lang="en-IN" sz="1200">
                          <a:effectLst/>
                        </a:rPr>
                        <a:t>Visa Secure</a:t>
                      </a:r>
                    </a:p>
                  </a:txBody>
                  <a:tcPr marL="76200" marR="76200" marT="76200" marB="76200">
                    <a:lnL w="12700" cap="flat" cmpd="sng" algn="ctr">
                      <a:solidFill>
                        <a:srgbClr val="5072E1"/>
                      </a:solidFill>
                      <a:prstDash val="solid"/>
                      <a:round/>
                      <a:headEnd type="none" w="med" len="med"/>
                      <a:tailEnd type="none" w="med" len="med"/>
                    </a:lnL>
                    <a:lnR w="12700" cap="flat" cmpd="sng" algn="ctr">
                      <a:solidFill>
                        <a:srgbClr val="40A701"/>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ctr" fontAlgn="t"/>
                      <a:r>
                        <a:rPr lang="en-IN" sz="1200">
                          <a:effectLst/>
                        </a:rPr>
                        <a:t>07</a:t>
                      </a:r>
                    </a:p>
                  </a:txBody>
                  <a:tcPr marL="76200" marR="76200" marT="76200" marB="76200">
                    <a:lnL w="12700" cap="flat" cmpd="sng" algn="ctr">
                      <a:solidFill>
                        <a:srgbClr val="40A701"/>
                      </a:solidFill>
                      <a:prstDash val="solid"/>
                      <a:round/>
                      <a:headEnd type="none" w="med" len="med"/>
                      <a:tailEnd type="none" w="med" len="med"/>
                    </a:lnL>
                    <a:lnR w="12700" cap="flat" cmpd="sng" algn="ctr">
                      <a:solidFill>
                        <a:srgbClr val="10FDF7"/>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r>
              <a:tr h="509117">
                <a:tc>
                  <a:txBody>
                    <a:bodyPr/>
                    <a:lstStyle/>
                    <a:p>
                      <a:pPr algn="ctr" fontAlgn="t"/>
                      <a:r>
                        <a:rPr lang="en-IN" sz="1200" dirty="0">
                          <a:effectLst/>
                        </a:rPr>
                        <a:t>Mastercard Identity Check</a:t>
                      </a:r>
                    </a:p>
                  </a:txBody>
                  <a:tcPr marL="76200" marR="76200" marT="76200" marB="76200">
                    <a:lnL w="12700" cap="flat" cmpd="sng" algn="ctr">
                      <a:solidFill>
                        <a:srgbClr val="40A701"/>
                      </a:solidFill>
                      <a:prstDash val="solid"/>
                      <a:round/>
                      <a:headEnd type="none" w="med" len="med"/>
                      <a:tailEnd type="none" w="med" len="med"/>
                    </a:lnL>
                    <a:lnR w="12700" cap="flat" cmpd="sng" algn="ctr">
                      <a:solidFill>
                        <a:srgbClr val="60EBC2"/>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9F9F9"/>
                    </a:solidFill>
                  </a:tcPr>
                </a:tc>
                <a:tc>
                  <a:txBody>
                    <a:bodyPr/>
                    <a:lstStyle/>
                    <a:p>
                      <a:pPr algn="ctr" fontAlgn="t"/>
                      <a:r>
                        <a:rPr lang="en-IN" sz="1200">
                          <a:effectLst/>
                        </a:rPr>
                        <a:t>00</a:t>
                      </a:r>
                    </a:p>
                  </a:txBody>
                  <a:tcPr marL="76200" marR="76200" marT="76200" marB="76200">
                    <a:lnL w="12700" cap="flat" cmpd="sng" algn="ctr">
                      <a:solidFill>
                        <a:srgbClr val="60EBC2"/>
                      </a:solidFill>
                      <a:prstDash val="solid"/>
                      <a:round/>
                      <a:headEnd type="none" w="med" len="med"/>
                      <a:tailEnd type="none" w="med" len="med"/>
                    </a:lnL>
                    <a:lnR w="12700" cap="flat" cmpd="sng" algn="ctr">
                      <a:solidFill>
                        <a:srgbClr val="30EACA"/>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9F9F9"/>
                    </a:solidFill>
                  </a:tcPr>
                </a:tc>
              </a:tr>
              <a:tr h="581934">
                <a:tc>
                  <a:txBody>
                    <a:bodyPr/>
                    <a:lstStyle/>
                    <a:p>
                      <a:pPr algn="ctr" fontAlgn="t"/>
                      <a:r>
                        <a:rPr lang="en-IN" sz="1200" dirty="0">
                          <a:effectLst/>
                        </a:rPr>
                        <a:t>American Express SafeKey 2.0</a:t>
                      </a:r>
                    </a:p>
                  </a:txBody>
                  <a:tcPr marL="76200" marR="76200" marT="76200" marB="76200">
                    <a:lnL w="12700" cap="flat" cmpd="sng" algn="ctr">
                      <a:solidFill>
                        <a:srgbClr val="60EBC2"/>
                      </a:solidFill>
                      <a:prstDash val="solid"/>
                      <a:round/>
                      <a:headEnd type="none" w="med" len="med"/>
                      <a:tailEnd type="none" w="med" len="med"/>
                    </a:lnL>
                    <a:lnR w="12700" cap="flat" cmpd="sng" algn="ctr">
                      <a:solidFill>
                        <a:srgbClr val="D0F006"/>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ctr" fontAlgn="t"/>
                      <a:r>
                        <a:rPr lang="en-IN" sz="1200" dirty="0">
                          <a:effectLst/>
                        </a:rPr>
                        <a:t>07</a:t>
                      </a:r>
                    </a:p>
                  </a:txBody>
                  <a:tcPr marL="76200" marR="76200" marT="76200" marB="76200">
                    <a:lnL w="12700" cap="flat" cmpd="sng" algn="ctr">
                      <a:solidFill>
                        <a:srgbClr val="D0F006"/>
                      </a:solidFill>
                      <a:prstDash val="solid"/>
                      <a:round/>
                      <a:headEnd type="none" w="med" len="med"/>
                      <a:tailEnd type="none" w="med" len="med"/>
                    </a:lnL>
                    <a:lnR w="12700" cap="flat" cmpd="sng" algn="ctr">
                      <a:solidFill>
                        <a:srgbClr val="10FD06"/>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r>
            </a:tbl>
          </a:graphicData>
        </a:graphic>
      </p:graphicFrame>
      <p:graphicFrame>
        <p:nvGraphicFramePr>
          <p:cNvPr id="11" name="Table 10"/>
          <p:cNvGraphicFramePr>
            <a:graphicFrameLocks noGrp="1"/>
          </p:cNvGraphicFramePr>
          <p:nvPr>
            <p:extLst>
              <p:ext uri="{D42A27DB-BD31-4B8C-83A1-F6EECF244321}">
                <p14:modId xmlns:p14="http://schemas.microsoft.com/office/powerpoint/2010/main" val="22961886"/>
              </p:ext>
            </p:extLst>
          </p:nvPr>
        </p:nvGraphicFramePr>
        <p:xfrm>
          <a:off x="5484825" y="4365104"/>
          <a:ext cx="2739258" cy="1706880"/>
        </p:xfrm>
        <a:graphic>
          <a:graphicData uri="http://schemas.openxmlformats.org/drawingml/2006/table">
            <a:tbl>
              <a:tblPr/>
              <a:tblGrid>
                <a:gridCol w="1369629"/>
                <a:gridCol w="1369629"/>
              </a:tblGrid>
              <a:tr h="321136">
                <a:tc>
                  <a:txBody>
                    <a:bodyPr/>
                    <a:lstStyle/>
                    <a:p>
                      <a:pPr algn="ctr" fontAlgn="t"/>
                      <a:r>
                        <a:rPr lang="en-IN" sz="1200" dirty="0">
                          <a:solidFill>
                            <a:srgbClr val="FFFFFF"/>
                          </a:solidFill>
                          <a:effectLst/>
                        </a:rPr>
                        <a:t>Card Type</a:t>
                      </a:r>
                    </a:p>
                  </a:txBody>
                  <a:tcPr marL="76200" marR="76200" marT="76200" marB="76200">
                    <a:lnL>
                      <a:noFill/>
                    </a:lnL>
                    <a:lnR>
                      <a:noFill/>
                    </a:lnR>
                    <a:lnT>
                      <a:noFill/>
                    </a:lnT>
                    <a:lnB w="9525" cap="flat" cmpd="sng" algn="ctr">
                      <a:solidFill>
                        <a:srgbClr val="DDDDDD"/>
                      </a:solidFill>
                      <a:prstDash val="solid"/>
                      <a:round/>
                      <a:headEnd type="none" w="med" len="med"/>
                      <a:tailEnd type="none" w="med" len="med"/>
                    </a:lnB>
                    <a:solidFill>
                      <a:srgbClr val="0099CC"/>
                    </a:solidFill>
                  </a:tcPr>
                </a:tc>
                <a:tc>
                  <a:txBody>
                    <a:bodyPr/>
                    <a:lstStyle/>
                    <a:p>
                      <a:pPr algn="ctr" fontAlgn="t"/>
                      <a:r>
                        <a:rPr lang="en-IN" sz="1200" dirty="0">
                          <a:solidFill>
                            <a:srgbClr val="FFFFFF"/>
                          </a:solidFill>
                          <a:effectLst/>
                        </a:rPr>
                        <a:t>ECI Indicator</a:t>
                      </a:r>
                    </a:p>
                  </a:txBody>
                  <a:tcPr marL="76200" marR="76200" marT="76200" marB="76200">
                    <a:lnL>
                      <a:noFill/>
                    </a:lnL>
                    <a:lnR>
                      <a:noFill/>
                    </a:lnR>
                    <a:lnT>
                      <a:noFill/>
                    </a:lnT>
                    <a:lnB w="9525" cap="flat" cmpd="sng" algn="ctr">
                      <a:solidFill>
                        <a:srgbClr val="DDDDDD"/>
                      </a:solidFill>
                      <a:prstDash val="solid"/>
                      <a:round/>
                      <a:headEnd type="none" w="med" len="med"/>
                      <a:tailEnd type="none" w="med" len="med"/>
                    </a:lnB>
                    <a:solidFill>
                      <a:srgbClr val="0099CC"/>
                    </a:solidFill>
                  </a:tcPr>
                </a:tc>
              </a:tr>
              <a:tr h="321136">
                <a:tc>
                  <a:txBody>
                    <a:bodyPr/>
                    <a:lstStyle/>
                    <a:p>
                      <a:pPr algn="ctr" fontAlgn="t"/>
                      <a:r>
                        <a:rPr lang="en-IN" sz="1200" dirty="0">
                          <a:effectLst/>
                        </a:rPr>
                        <a:t>Visa Secure</a:t>
                      </a:r>
                    </a:p>
                  </a:txBody>
                  <a:tcPr marL="76200" marR="76200" marT="76200" marB="76200">
                    <a:lnL w="12700" cap="flat" cmpd="sng" algn="ctr">
                      <a:solidFill>
                        <a:srgbClr val="C081D8"/>
                      </a:solidFill>
                      <a:prstDash val="solid"/>
                      <a:round/>
                      <a:headEnd type="none" w="med" len="med"/>
                      <a:tailEnd type="none" w="med" len="med"/>
                    </a:lnL>
                    <a:lnR w="12700" cap="flat" cmpd="sng" algn="ctr">
                      <a:solidFill>
                        <a:srgbClr val="0081D8"/>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ctr" fontAlgn="t"/>
                      <a:r>
                        <a:rPr lang="en-IN" sz="1200" dirty="0">
                          <a:effectLst/>
                        </a:rPr>
                        <a:t>07</a:t>
                      </a:r>
                    </a:p>
                  </a:txBody>
                  <a:tcPr marL="76200" marR="76200" marT="76200" marB="76200">
                    <a:lnL w="12700" cap="flat" cmpd="sng" algn="ctr">
                      <a:solidFill>
                        <a:srgbClr val="0081D8"/>
                      </a:solidFill>
                      <a:prstDash val="solid"/>
                      <a:round/>
                      <a:headEnd type="none" w="med" len="med"/>
                      <a:tailEnd type="none" w="med" len="med"/>
                    </a:lnL>
                    <a:lnR w="12700" cap="flat" cmpd="sng" algn="ctr">
                      <a:solidFill>
                        <a:srgbClr val="B081D8"/>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r>
              <a:tr h="496300">
                <a:tc>
                  <a:txBody>
                    <a:bodyPr/>
                    <a:lstStyle/>
                    <a:p>
                      <a:pPr algn="ctr" fontAlgn="t"/>
                      <a:r>
                        <a:rPr lang="en-IN" sz="1200" dirty="0">
                          <a:effectLst/>
                        </a:rPr>
                        <a:t>Mastercard Identity Check</a:t>
                      </a:r>
                    </a:p>
                  </a:txBody>
                  <a:tcPr marL="76200" marR="76200" marT="76200" marB="76200">
                    <a:lnL w="12700" cap="flat" cmpd="sng" algn="ctr">
                      <a:solidFill>
                        <a:srgbClr val="0081D8"/>
                      </a:solidFill>
                      <a:prstDash val="solid"/>
                      <a:round/>
                      <a:headEnd type="none" w="med" len="med"/>
                      <a:tailEnd type="none" w="med" len="med"/>
                    </a:lnL>
                    <a:lnR w="12700" cap="flat" cmpd="sng" algn="ctr">
                      <a:solidFill>
                        <a:srgbClr val="3082D8"/>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9F9F9"/>
                    </a:solidFill>
                  </a:tcPr>
                </a:tc>
                <a:tc>
                  <a:txBody>
                    <a:bodyPr/>
                    <a:lstStyle/>
                    <a:p>
                      <a:pPr algn="ctr" fontAlgn="t"/>
                      <a:r>
                        <a:rPr lang="en-IN" sz="1200" dirty="0">
                          <a:effectLst/>
                        </a:rPr>
                        <a:t>00</a:t>
                      </a:r>
                    </a:p>
                  </a:txBody>
                  <a:tcPr marL="76200" marR="76200" marT="76200" marB="76200">
                    <a:lnL w="12700" cap="flat" cmpd="sng" algn="ctr">
                      <a:solidFill>
                        <a:srgbClr val="3082D8"/>
                      </a:solidFill>
                      <a:prstDash val="solid"/>
                      <a:round/>
                      <a:headEnd type="none" w="med" len="med"/>
                      <a:tailEnd type="none" w="med" len="med"/>
                    </a:lnL>
                    <a:lnR w="12700" cap="flat" cmpd="sng" algn="ctr">
                      <a:solidFill>
                        <a:srgbClr val="107CE1"/>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9F9F9"/>
                    </a:solidFill>
                  </a:tcPr>
                </a:tc>
              </a:tr>
              <a:tr h="496300">
                <a:tc>
                  <a:txBody>
                    <a:bodyPr/>
                    <a:lstStyle/>
                    <a:p>
                      <a:pPr algn="ctr" fontAlgn="t"/>
                      <a:r>
                        <a:rPr lang="en-IN" sz="1200" dirty="0">
                          <a:effectLst/>
                        </a:rPr>
                        <a:t>American Express SafeKey 2.0</a:t>
                      </a:r>
                    </a:p>
                  </a:txBody>
                  <a:tcPr marL="76200" marR="76200" marT="76200" marB="76200">
                    <a:lnL w="12700" cap="flat" cmpd="sng" algn="ctr">
                      <a:solidFill>
                        <a:srgbClr val="3082D8"/>
                      </a:solidFill>
                      <a:prstDash val="solid"/>
                      <a:round/>
                      <a:headEnd type="none" w="med" len="med"/>
                      <a:tailEnd type="none" w="med" len="med"/>
                    </a:lnL>
                    <a:lnR w="12700" cap="flat" cmpd="sng" algn="ctr">
                      <a:solidFill>
                        <a:srgbClr val="8082D8"/>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ctr" fontAlgn="t"/>
                      <a:r>
                        <a:rPr lang="en-IN" sz="1200" dirty="0">
                          <a:effectLst/>
                        </a:rPr>
                        <a:t>07</a:t>
                      </a:r>
                    </a:p>
                  </a:txBody>
                  <a:tcPr marL="76200" marR="76200" marT="76200" marB="76200">
                    <a:lnL w="12700" cap="flat" cmpd="sng" algn="ctr">
                      <a:solidFill>
                        <a:srgbClr val="8082D8"/>
                      </a:solidFill>
                      <a:prstDash val="solid"/>
                      <a:round/>
                      <a:headEnd type="none" w="med" len="med"/>
                      <a:tailEnd type="none" w="med" len="med"/>
                    </a:lnL>
                    <a:lnR w="12700" cap="flat" cmpd="sng" algn="ctr">
                      <a:solidFill>
                        <a:srgbClr val="3078E1"/>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r>
            </a:tbl>
          </a:graphicData>
        </a:graphic>
      </p:graphicFrame>
      <p:sp>
        <p:nvSpPr>
          <p:cNvPr id="12" name="TextBox 11"/>
          <p:cNvSpPr txBox="1"/>
          <p:nvPr/>
        </p:nvSpPr>
        <p:spPr>
          <a:xfrm>
            <a:off x="3093003" y="1188009"/>
            <a:ext cx="2523448" cy="369332"/>
          </a:xfrm>
          <a:prstGeom prst="rect">
            <a:avLst/>
          </a:prstGeom>
          <a:noFill/>
        </p:spPr>
        <p:txBody>
          <a:bodyPr wrap="none" rtlCol="0">
            <a:spAutoFit/>
          </a:bodyPr>
          <a:lstStyle/>
          <a:p>
            <a:r>
              <a:rPr lang="en-US" b="1" dirty="0" smtClean="0">
                <a:latin typeface="Lucida Sans" pitchFamily="34" charset="0"/>
              </a:rPr>
              <a:t>List of ECI Indicator</a:t>
            </a:r>
            <a:endParaRPr lang="en-IN" b="1" dirty="0">
              <a:latin typeface="Lucida Sans" pitchFamily="34" charset="0"/>
            </a:endParaRPr>
          </a:p>
        </p:txBody>
      </p:sp>
      <p:sp>
        <p:nvSpPr>
          <p:cNvPr id="13" name="TextBox 12"/>
          <p:cNvSpPr txBox="1"/>
          <p:nvPr/>
        </p:nvSpPr>
        <p:spPr>
          <a:xfrm>
            <a:off x="445904" y="3501007"/>
            <a:ext cx="3653564" cy="615553"/>
          </a:xfrm>
          <a:prstGeom prst="rect">
            <a:avLst/>
          </a:prstGeom>
          <a:noFill/>
        </p:spPr>
        <p:txBody>
          <a:bodyPr wrap="none" rtlCol="0">
            <a:spAutoFit/>
          </a:bodyPr>
          <a:lstStyle/>
          <a:p>
            <a:pPr algn="ctr"/>
            <a:r>
              <a:rPr lang="en-US" sz="1200" b="1" dirty="0" smtClean="0">
                <a:latin typeface="Palatino Linotype" pitchFamily="18" charset="0"/>
              </a:rPr>
              <a:t>Authentication Successful:</a:t>
            </a:r>
          </a:p>
          <a:p>
            <a:pPr algn="just"/>
            <a:r>
              <a:rPr lang="en-US" sz="1100" dirty="0" smtClean="0">
                <a:latin typeface="Palatino Linotype" pitchFamily="18" charset="0"/>
              </a:rPr>
              <a:t>The </a:t>
            </a:r>
            <a:r>
              <a:rPr lang="en-US" sz="1100" dirty="0">
                <a:latin typeface="Palatino Linotype" pitchFamily="18" charset="0"/>
              </a:rPr>
              <a:t>issuer has confirmed the identity of the cardholder </a:t>
            </a:r>
            <a:endParaRPr lang="en-US" sz="1100" dirty="0" smtClean="0">
              <a:latin typeface="Palatino Linotype" pitchFamily="18" charset="0"/>
            </a:endParaRPr>
          </a:p>
          <a:p>
            <a:pPr algn="just"/>
            <a:r>
              <a:rPr lang="en-US" sz="1100" dirty="0" smtClean="0">
                <a:latin typeface="Palatino Linotype" pitchFamily="18" charset="0"/>
              </a:rPr>
              <a:t>and </a:t>
            </a:r>
            <a:r>
              <a:rPr lang="en-US" sz="1100" dirty="0">
                <a:latin typeface="Palatino Linotype" pitchFamily="18" charset="0"/>
              </a:rPr>
              <a:t>validated the EMV 3DS</a:t>
            </a:r>
            <a:endParaRPr lang="en-IN" sz="1100" dirty="0">
              <a:latin typeface="Palatino Linotype" pitchFamily="18" charset="0"/>
            </a:endParaRPr>
          </a:p>
        </p:txBody>
      </p:sp>
      <p:sp>
        <p:nvSpPr>
          <p:cNvPr id="14" name="TextBox 13"/>
          <p:cNvSpPr txBox="1"/>
          <p:nvPr/>
        </p:nvSpPr>
        <p:spPr>
          <a:xfrm>
            <a:off x="5151512" y="3501007"/>
            <a:ext cx="3256020" cy="615553"/>
          </a:xfrm>
          <a:prstGeom prst="rect">
            <a:avLst/>
          </a:prstGeom>
          <a:noFill/>
        </p:spPr>
        <p:txBody>
          <a:bodyPr wrap="none" rtlCol="0">
            <a:spAutoFit/>
          </a:bodyPr>
          <a:lstStyle/>
          <a:p>
            <a:pPr algn="ctr"/>
            <a:r>
              <a:rPr lang="en-US" sz="1200" b="1" dirty="0" smtClean="0">
                <a:latin typeface="Palatino Linotype" pitchFamily="18" charset="0"/>
              </a:rPr>
              <a:t>Authentication Attempted:</a:t>
            </a:r>
          </a:p>
          <a:p>
            <a:r>
              <a:rPr lang="en-US" sz="1100" dirty="0">
                <a:latin typeface="Palatino Linotype" pitchFamily="18" charset="0"/>
              </a:rPr>
              <a:t>A merchant will get this message </a:t>
            </a:r>
            <a:r>
              <a:rPr lang="en-US" sz="1100" dirty="0" smtClean="0">
                <a:latin typeface="Palatino Linotype" pitchFamily="18" charset="0"/>
              </a:rPr>
              <a:t>if </a:t>
            </a:r>
            <a:r>
              <a:rPr lang="en-US" sz="1100" dirty="0">
                <a:latin typeface="Palatino Linotype" pitchFamily="18" charset="0"/>
              </a:rPr>
              <a:t>the customer </a:t>
            </a:r>
            <a:endParaRPr lang="en-US" sz="1100" dirty="0" smtClean="0">
              <a:latin typeface="Palatino Linotype" pitchFamily="18" charset="0"/>
            </a:endParaRPr>
          </a:p>
          <a:p>
            <a:r>
              <a:rPr lang="en-US" sz="1100" dirty="0">
                <a:latin typeface="Palatino Linotype" pitchFamily="18" charset="0"/>
              </a:rPr>
              <a:t>i</a:t>
            </a:r>
            <a:r>
              <a:rPr lang="en-US" sz="1100" dirty="0" smtClean="0">
                <a:latin typeface="Palatino Linotype" pitchFamily="18" charset="0"/>
              </a:rPr>
              <a:t>s not </a:t>
            </a:r>
            <a:r>
              <a:rPr lang="en-US" sz="1100" dirty="0">
                <a:latin typeface="Palatino Linotype" pitchFamily="18" charset="0"/>
              </a:rPr>
              <a:t>enrolled in 3DS</a:t>
            </a:r>
            <a:endParaRPr lang="en-IN" sz="1100" dirty="0">
              <a:latin typeface="Palatino Linotype" pitchFamily="18" charset="0"/>
            </a:endParaRPr>
          </a:p>
        </p:txBody>
      </p:sp>
      <p:sp>
        <p:nvSpPr>
          <p:cNvPr id="15" name="TextBox 14"/>
          <p:cNvSpPr txBox="1"/>
          <p:nvPr/>
        </p:nvSpPr>
        <p:spPr>
          <a:xfrm>
            <a:off x="205111" y="6180892"/>
            <a:ext cx="4333238" cy="615553"/>
          </a:xfrm>
          <a:prstGeom prst="rect">
            <a:avLst/>
          </a:prstGeom>
          <a:noFill/>
        </p:spPr>
        <p:txBody>
          <a:bodyPr wrap="none" rtlCol="0">
            <a:spAutoFit/>
          </a:bodyPr>
          <a:lstStyle/>
          <a:p>
            <a:pPr algn="ctr"/>
            <a:r>
              <a:rPr lang="en-US" sz="1200" b="1" dirty="0" smtClean="0">
                <a:latin typeface="Palatino Linotype" pitchFamily="18" charset="0"/>
              </a:rPr>
              <a:t>Authentication Failed:</a:t>
            </a:r>
          </a:p>
          <a:p>
            <a:pPr algn="just"/>
            <a:r>
              <a:rPr lang="en-US" sz="1100" dirty="0">
                <a:latin typeface="Palatino Linotype" pitchFamily="18" charset="0"/>
              </a:rPr>
              <a:t>The issuer could not authenticate the </a:t>
            </a:r>
            <a:r>
              <a:rPr lang="en-US" sz="1100" dirty="0" smtClean="0">
                <a:latin typeface="Palatino Linotype" pitchFamily="18" charset="0"/>
              </a:rPr>
              <a:t>cardholder. </a:t>
            </a:r>
            <a:r>
              <a:rPr lang="en-US" sz="1100" dirty="0">
                <a:latin typeface="Palatino Linotype" pitchFamily="18" charset="0"/>
              </a:rPr>
              <a:t>R</a:t>
            </a:r>
            <a:r>
              <a:rPr lang="en-US" sz="1100" dirty="0" smtClean="0">
                <a:latin typeface="Palatino Linotype" pitchFamily="18" charset="0"/>
              </a:rPr>
              <a:t>eason could be </a:t>
            </a:r>
          </a:p>
          <a:p>
            <a:pPr algn="just"/>
            <a:r>
              <a:rPr lang="en-US" sz="1100" dirty="0" smtClean="0">
                <a:latin typeface="Palatino Linotype" pitchFamily="18" charset="0"/>
              </a:rPr>
              <a:t>incorrect </a:t>
            </a:r>
            <a:r>
              <a:rPr lang="en-US" sz="1100" dirty="0">
                <a:latin typeface="Palatino Linotype" pitchFamily="18" charset="0"/>
              </a:rPr>
              <a:t>data entry, </a:t>
            </a:r>
            <a:r>
              <a:rPr lang="en-US" sz="1100" dirty="0" smtClean="0">
                <a:latin typeface="Palatino Linotype" pitchFamily="18" charset="0"/>
              </a:rPr>
              <a:t>canceled </a:t>
            </a:r>
            <a:r>
              <a:rPr lang="en-US" sz="1100" dirty="0" err="1" smtClean="0">
                <a:latin typeface="Palatino Linotype" pitchFamily="18" charset="0"/>
              </a:rPr>
              <a:t>auth</a:t>
            </a:r>
            <a:r>
              <a:rPr lang="en-US" sz="1100" dirty="0" smtClean="0">
                <a:latin typeface="Palatino Linotype" pitchFamily="18" charset="0"/>
              </a:rPr>
              <a:t> </a:t>
            </a:r>
            <a:r>
              <a:rPr lang="en-US" sz="1100" dirty="0">
                <a:latin typeface="Palatino Linotype" pitchFamily="18" charset="0"/>
              </a:rPr>
              <a:t>page, or some other error.</a:t>
            </a:r>
            <a:endParaRPr lang="en-IN" sz="1100" dirty="0">
              <a:latin typeface="Palatino Linotype" pitchFamily="18" charset="0"/>
            </a:endParaRPr>
          </a:p>
        </p:txBody>
      </p:sp>
      <p:sp>
        <p:nvSpPr>
          <p:cNvPr id="16" name="TextBox 15"/>
          <p:cNvSpPr txBox="1"/>
          <p:nvPr/>
        </p:nvSpPr>
        <p:spPr>
          <a:xfrm>
            <a:off x="4920018" y="6180892"/>
            <a:ext cx="4156907" cy="615553"/>
          </a:xfrm>
          <a:prstGeom prst="rect">
            <a:avLst/>
          </a:prstGeom>
          <a:noFill/>
        </p:spPr>
        <p:txBody>
          <a:bodyPr wrap="none" rtlCol="0">
            <a:spAutoFit/>
          </a:bodyPr>
          <a:lstStyle/>
          <a:p>
            <a:pPr algn="ctr"/>
            <a:r>
              <a:rPr lang="en-US" sz="1200" b="1" dirty="0" smtClean="0">
                <a:latin typeface="Palatino Linotype" pitchFamily="18" charset="0"/>
              </a:rPr>
              <a:t>Authentication Not Permitted:</a:t>
            </a:r>
          </a:p>
          <a:p>
            <a:r>
              <a:rPr lang="en-US" sz="1100" dirty="0">
                <a:latin typeface="Palatino Linotype" pitchFamily="18" charset="0"/>
              </a:rPr>
              <a:t>The request could not be </a:t>
            </a:r>
            <a:r>
              <a:rPr lang="en-US" sz="1100" dirty="0" smtClean="0">
                <a:latin typeface="Palatino Linotype" pitchFamily="18" charset="0"/>
              </a:rPr>
              <a:t>completed. Again, the reason could be</a:t>
            </a:r>
          </a:p>
          <a:p>
            <a:r>
              <a:rPr lang="en-US" sz="1100" dirty="0">
                <a:latin typeface="Palatino Linotype" pitchFamily="18" charset="0"/>
              </a:rPr>
              <a:t>card type is excluded, or the ACS doesn’t recognize the request.</a:t>
            </a:r>
            <a:endParaRPr lang="en-IN" sz="1100" dirty="0">
              <a:latin typeface="Palatino Linotype" pitchFamily="18" charset="0"/>
            </a:endParaRPr>
          </a:p>
        </p:txBody>
      </p:sp>
      <p:pic>
        <p:nvPicPr>
          <p:cNvPr id="17" name="Picture 1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895766" y="422"/>
            <a:ext cx="1248234" cy="317617"/>
          </a:xfrm>
          <a:prstGeom prst="rect">
            <a:avLst/>
          </a:prstGeom>
        </p:spPr>
      </p:pic>
    </p:spTree>
    <p:extLst>
      <p:ext uri="{BB962C8B-B14F-4D97-AF65-F5344CB8AC3E}">
        <p14:creationId xmlns:p14="http://schemas.microsoft.com/office/powerpoint/2010/main" val="225884732"/>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ounded Rectangle 4"/>
          <p:cNvSpPr/>
          <p:nvPr/>
        </p:nvSpPr>
        <p:spPr>
          <a:xfrm>
            <a:off x="2627784" y="116632"/>
            <a:ext cx="4176464" cy="638931"/>
          </a:xfrm>
          <a:prstGeom prst="roundRect">
            <a:avLst/>
          </a:prstGeom>
          <a:solidFill>
            <a:srgbClr val="0099C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smtClean="0">
                <a:solidFill>
                  <a:schemeClr val="tx1">
                    <a:lumMod val="75000"/>
                    <a:lumOff val="25000"/>
                  </a:schemeClr>
                </a:solidFill>
              </a:rPr>
              <a:t>Key Metrics for Authentication</a:t>
            </a:r>
            <a:endParaRPr lang="en-IN" sz="2400" dirty="0">
              <a:solidFill>
                <a:schemeClr val="tx1">
                  <a:lumMod val="75000"/>
                  <a:lumOff val="25000"/>
                </a:schemeClr>
              </a:solidFill>
            </a:endParaRPr>
          </a:p>
        </p:txBody>
      </p:sp>
      <p:sp>
        <p:nvSpPr>
          <p:cNvPr id="7" name="Rectangle 6"/>
          <p:cNvSpPr/>
          <p:nvPr/>
        </p:nvSpPr>
        <p:spPr>
          <a:xfrm>
            <a:off x="328343" y="755563"/>
            <a:ext cx="8415306" cy="738664"/>
          </a:xfrm>
          <a:prstGeom prst="rect">
            <a:avLst/>
          </a:prstGeom>
        </p:spPr>
        <p:txBody>
          <a:bodyPr wrap="square">
            <a:spAutoFit/>
          </a:bodyPr>
          <a:lstStyle/>
          <a:p>
            <a:pPr algn="ctr"/>
            <a:r>
              <a:rPr lang="en-US" b="1" dirty="0" smtClean="0"/>
              <a:t>Authentication: </a:t>
            </a:r>
          </a:p>
          <a:p>
            <a:pPr algn="ctr"/>
            <a:r>
              <a:rPr lang="en-US" sz="1200" dirty="0" smtClean="0"/>
              <a:t>It is a process of verifying the identity of a user or system before allowing access to resources or completing a  transaction. It ensures that the person or system requesting access is who they claim to be</a:t>
            </a:r>
          </a:p>
        </p:txBody>
      </p:sp>
      <p:sp>
        <p:nvSpPr>
          <p:cNvPr id="6" name="TextBox 5"/>
          <p:cNvSpPr txBox="1"/>
          <p:nvPr/>
        </p:nvSpPr>
        <p:spPr>
          <a:xfrm>
            <a:off x="65170" y="1526324"/>
            <a:ext cx="9043333" cy="830997"/>
          </a:xfrm>
          <a:prstGeom prst="rect">
            <a:avLst/>
          </a:prstGeom>
          <a:noFill/>
        </p:spPr>
        <p:txBody>
          <a:bodyPr wrap="square" rtlCol="0">
            <a:spAutoFit/>
          </a:bodyPr>
          <a:lstStyle/>
          <a:p>
            <a:pPr marL="171450" indent="-171450">
              <a:buFont typeface="Arial" pitchFamily="34" charset="0"/>
              <a:buChar char="•"/>
            </a:pPr>
            <a:r>
              <a:rPr lang="en-US" sz="1200" b="1" dirty="0" smtClean="0"/>
              <a:t>Decline Rate:</a:t>
            </a:r>
            <a:endParaRPr lang="en-US" sz="1050" b="1" dirty="0" smtClean="0"/>
          </a:p>
          <a:p>
            <a:r>
              <a:rPr lang="en-US" sz="1200" dirty="0" smtClean="0"/>
              <a:t>	the percentage of transactions that are rejected or declined during the authentication process. This metric helps in understanding how often authentication attempts fail compared to the total number of attempted transactions.</a:t>
            </a:r>
          </a:p>
          <a:p>
            <a:pPr algn="ctr"/>
            <a:r>
              <a:rPr lang="en-US" sz="1200" b="1" dirty="0" smtClean="0"/>
              <a:t>Decline Rate</a:t>
            </a:r>
            <a:r>
              <a:rPr lang="en-US" sz="1200" dirty="0" smtClean="0"/>
              <a:t>=( </a:t>
            </a:r>
            <a:r>
              <a:rPr lang="en-US" sz="1200" b="1" dirty="0" smtClean="0"/>
              <a:t>Total No. of Transactions Attempted </a:t>
            </a:r>
            <a:r>
              <a:rPr lang="en-US" sz="1200" dirty="0" smtClean="0"/>
              <a:t>/ </a:t>
            </a:r>
            <a:r>
              <a:rPr lang="en-US" sz="1200" b="1" dirty="0" smtClean="0"/>
              <a:t>No. of Declined Transactions </a:t>
            </a:r>
            <a:r>
              <a:rPr lang="en-US" sz="1200" dirty="0" smtClean="0"/>
              <a:t>)×100</a:t>
            </a:r>
          </a:p>
        </p:txBody>
      </p:sp>
      <p:sp>
        <p:nvSpPr>
          <p:cNvPr id="9" name="TextBox 8"/>
          <p:cNvSpPr txBox="1"/>
          <p:nvPr/>
        </p:nvSpPr>
        <p:spPr>
          <a:xfrm>
            <a:off x="116011" y="2492896"/>
            <a:ext cx="8941650" cy="830997"/>
          </a:xfrm>
          <a:prstGeom prst="rect">
            <a:avLst/>
          </a:prstGeom>
          <a:noFill/>
        </p:spPr>
        <p:txBody>
          <a:bodyPr wrap="square" rtlCol="0">
            <a:spAutoFit/>
          </a:bodyPr>
          <a:lstStyle/>
          <a:p>
            <a:pPr marL="171450" indent="-171450">
              <a:buFont typeface="Arial" pitchFamily="34" charset="0"/>
              <a:buChar char="•"/>
            </a:pPr>
            <a:r>
              <a:rPr lang="en-US" sz="1200" b="1" dirty="0" smtClean="0"/>
              <a:t>% Step-Up Transaction (3DS Share):</a:t>
            </a:r>
            <a:endParaRPr lang="en-US" sz="1050" b="1" dirty="0" smtClean="0"/>
          </a:p>
          <a:p>
            <a:r>
              <a:rPr lang="en-US" sz="1200" dirty="0" smtClean="0"/>
              <a:t>	The percentage of transactions that require additional authentication steps during the 3D Secure process. This metric is important in understanding how often transactions are subjected to further verification beyond the initial authentication attempt.</a:t>
            </a:r>
          </a:p>
          <a:p>
            <a:pPr algn="ctr"/>
            <a:r>
              <a:rPr lang="en-US" sz="1200" b="1" dirty="0" smtClean="0"/>
              <a:t>% of Step-Up Transactions  </a:t>
            </a:r>
            <a:r>
              <a:rPr lang="en-US" sz="1200" dirty="0" smtClean="0"/>
              <a:t>= ( </a:t>
            </a:r>
            <a:r>
              <a:rPr lang="en-US" sz="1200" b="1" dirty="0" smtClean="0"/>
              <a:t>Total No. of 3DS Transactions </a:t>
            </a:r>
            <a:r>
              <a:rPr lang="en-US" sz="1200" dirty="0" smtClean="0"/>
              <a:t>/</a:t>
            </a:r>
            <a:r>
              <a:rPr lang="en-US" sz="1200" b="1" dirty="0" smtClean="0"/>
              <a:t> No. of Step-Up Transactions </a:t>
            </a:r>
            <a:r>
              <a:rPr lang="en-US" sz="1200" dirty="0" smtClean="0"/>
              <a:t>) × 100</a:t>
            </a:r>
            <a:endParaRPr lang="en-IN" sz="1400" dirty="0"/>
          </a:p>
        </p:txBody>
      </p:sp>
      <p:sp>
        <p:nvSpPr>
          <p:cNvPr id="10" name="TextBox 9"/>
          <p:cNvSpPr txBox="1"/>
          <p:nvPr/>
        </p:nvSpPr>
        <p:spPr>
          <a:xfrm>
            <a:off x="90947" y="3508559"/>
            <a:ext cx="8941650" cy="830997"/>
          </a:xfrm>
          <a:prstGeom prst="rect">
            <a:avLst/>
          </a:prstGeom>
          <a:noFill/>
        </p:spPr>
        <p:txBody>
          <a:bodyPr wrap="square" rtlCol="0">
            <a:spAutoFit/>
          </a:bodyPr>
          <a:lstStyle/>
          <a:p>
            <a:pPr marL="171450" indent="-171450">
              <a:buFont typeface="Arial" pitchFamily="34" charset="0"/>
              <a:buChar char="•"/>
            </a:pPr>
            <a:r>
              <a:rPr lang="en-US" sz="1200" b="1" dirty="0" smtClean="0"/>
              <a:t>3DS Disturb Rate :</a:t>
            </a:r>
            <a:endParaRPr lang="en-US" sz="1050" b="1" dirty="0" smtClean="0"/>
          </a:p>
          <a:p>
            <a:r>
              <a:rPr lang="en-US" sz="1200" dirty="0" smtClean="0"/>
              <a:t>	The proportion of 3D Secure (3DS) transactions where the authentication process was successfully completed. This metric indicates how often 3DS authentication is successful and not disrupted or failed during the transaction process.</a:t>
            </a:r>
          </a:p>
          <a:p>
            <a:pPr algn="ctr"/>
            <a:r>
              <a:rPr lang="en-US" sz="1200" b="1" dirty="0" smtClean="0"/>
              <a:t>3DS Disturb Rate (%)</a:t>
            </a:r>
            <a:r>
              <a:rPr lang="en-US" sz="1200" dirty="0" smtClean="0"/>
              <a:t>=( </a:t>
            </a:r>
            <a:r>
              <a:rPr lang="en-US" sz="1200" b="1" dirty="0" smtClean="0"/>
              <a:t>Total No. of 3DS Transactions</a:t>
            </a:r>
            <a:r>
              <a:rPr lang="en-US" sz="1200" dirty="0" smtClean="0"/>
              <a:t> / </a:t>
            </a:r>
            <a:r>
              <a:rPr lang="en-US" sz="1200" b="1" dirty="0" smtClean="0"/>
              <a:t>No. of 3DS Transactions with Successful Authentication </a:t>
            </a:r>
            <a:r>
              <a:rPr lang="en-US" sz="1200" dirty="0" smtClean="0"/>
              <a:t>)×100</a:t>
            </a:r>
            <a:endParaRPr lang="en-IN" sz="1400" dirty="0"/>
          </a:p>
        </p:txBody>
      </p:sp>
      <p:sp>
        <p:nvSpPr>
          <p:cNvPr id="11" name="TextBox 10"/>
          <p:cNvSpPr txBox="1"/>
          <p:nvPr/>
        </p:nvSpPr>
        <p:spPr>
          <a:xfrm>
            <a:off x="8714" y="4509120"/>
            <a:ext cx="8941650" cy="1015663"/>
          </a:xfrm>
          <a:prstGeom prst="rect">
            <a:avLst/>
          </a:prstGeom>
          <a:noFill/>
        </p:spPr>
        <p:txBody>
          <a:bodyPr wrap="square" rtlCol="0">
            <a:spAutoFit/>
          </a:bodyPr>
          <a:lstStyle/>
          <a:p>
            <a:pPr marL="171450" indent="-171450">
              <a:buFont typeface="Arial" pitchFamily="34" charset="0"/>
              <a:buChar char="•"/>
            </a:pPr>
            <a:r>
              <a:rPr lang="en-US" sz="1200" b="1" dirty="0" smtClean="0"/>
              <a:t>3DS Drop Rate :</a:t>
            </a:r>
            <a:endParaRPr lang="en-US" sz="1050" b="1" dirty="0" smtClean="0"/>
          </a:p>
          <a:p>
            <a:r>
              <a:rPr lang="en-US" sz="1200" dirty="0" smtClean="0"/>
              <a:t>	 The proportion of 3D Secure transactions that fail to complete due to issues or interruptions in the 3D Secure authentication process. This metric provides insight into the effectiveness and user experience of the 3D Secure system, specifically focusing on how often transactions are abandoned or disrupted because of authentication problems.</a:t>
            </a:r>
          </a:p>
          <a:p>
            <a:pPr algn="ctr"/>
            <a:r>
              <a:rPr lang="en-US" sz="1200" b="1" dirty="0" smtClean="0"/>
              <a:t>3DS Drop Rate (%)</a:t>
            </a:r>
            <a:r>
              <a:rPr lang="en-US" sz="1200" dirty="0" smtClean="0"/>
              <a:t>=( </a:t>
            </a:r>
            <a:r>
              <a:rPr lang="en-US" sz="1200" b="1" dirty="0" smtClean="0"/>
              <a:t>Total No. of 3DS Transactions</a:t>
            </a:r>
            <a:r>
              <a:rPr lang="en-US" sz="1200" dirty="0" smtClean="0"/>
              <a:t> / </a:t>
            </a:r>
            <a:r>
              <a:rPr lang="en-US" sz="1200" b="1" dirty="0" smtClean="0"/>
              <a:t>No. of 3DS Transactions Dropped </a:t>
            </a:r>
            <a:r>
              <a:rPr lang="en-US" sz="1200" dirty="0" smtClean="0"/>
              <a:t>)×100</a:t>
            </a:r>
          </a:p>
        </p:txBody>
      </p:sp>
      <p:sp>
        <p:nvSpPr>
          <p:cNvPr id="12" name="TextBox 11"/>
          <p:cNvSpPr txBox="1"/>
          <p:nvPr/>
        </p:nvSpPr>
        <p:spPr>
          <a:xfrm>
            <a:off x="35045" y="5661248"/>
            <a:ext cx="8941650" cy="1015663"/>
          </a:xfrm>
          <a:prstGeom prst="rect">
            <a:avLst/>
          </a:prstGeom>
          <a:noFill/>
        </p:spPr>
        <p:txBody>
          <a:bodyPr wrap="square" rtlCol="0">
            <a:spAutoFit/>
          </a:bodyPr>
          <a:lstStyle/>
          <a:p>
            <a:pPr marL="171450" indent="-171450">
              <a:buFont typeface="Arial" pitchFamily="34" charset="0"/>
              <a:buChar char="•"/>
            </a:pPr>
            <a:r>
              <a:rPr lang="en-US" sz="1200" b="1" dirty="0" smtClean="0"/>
              <a:t>% Suspected Fraud Declines :</a:t>
            </a:r>
            <a:endParaRPr lang="en-US" sz="1050" b="1" dirty="0" smtClean="0"/>
          </a:p>
          <a:p>
            <a:r>
              <a:rPr lang="en-US" sz="1200" dirty="0" smtClean="0"/>
              <a:t>	 The proportion of declined transactions that are rejected because they are suspected to be fraudulent. This metric indicates how often transactions are declined based on fraud detection mechanisms, whether implemented by the issuer (bank or card network) or the merchant’s system.</a:t>
            </a:r>
          </a:p>
          <a:p>
            <a:pPr algn="ctr"/>
            <a:r>
              <a:rPr lang="en-US" sz="1200" b="1" dirty="0" smtClean="0"/>
              <a:t>% Suspected Fraud Declines</a:t>
            </a:r>
            <a:r>
              <a:rPr lang="en-US" sz="1200" b="1" dirty="0"/>
              <a:t> </a:t>
            </a:r>
            <a:r>
              <a:rPr lang="en-US" sz="1200" b="1" dirty="0" smtClean="0"/>
              <a:t>=</a:t>
            </a:r>
            <a:r>
              <a:rPr lang="en-US" sz="1200" dirty="0" smtClean="0"/>
              <a:t>( </a:t>
            </a:r>
            <a:r>
              <a:rPr lang="en-US" sz="1200" b="1" dirty="0" smtClean="0"/>
              <a:t>Total No. of Declined Transactions </a:t>
            </a:r>
            <a:r>
              <a:rPr lang="en-US" sz="1200" dirty="0" smtClean="0"/>
              <a:t>/</a:t>
            </a:r>
            <a:r>
              <a:rPr lang="en-US" sz="1200" b="1" dirty="0" smtClean="0"/>
              <a:t> No. of Declined Transactions Due to Fraud Suspicion </a:t>
            </a:r>
            <a:r>
              <a:rPr lang="en-US" sz="1200" dirty="0" smtClean="0"/>
              <a:t>)×100</a:t>
            </a:r>
            <a:endParaRPr lang="en-IN" sz="1400" dirty="0"/>
          </a:p>
        </p:txBody>
      </p:sp>
      <p:sp>
        <p:nvSpPr>
          <p:cNvPr id="2" name="Rounded Rectangle 1"/>
          <p:cNvSpPr/>
          <p:nvPr/>
        </p:nvSpPr>
        <p:spPr>
          <a:xfrm>
            <a:off x="326976" y="1556792"/>
            <a:ext cx="2299441" cy="216024"/>
          </a:xfrm>
          <a:prstGeom prst="roundRect">
            <a:avLst/>
          </a:prstGeom>
          <a:solidFill>
            <a:srgbClr val="0099C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smtClean="0"/>
              <a:t>Decline Rate:</a:t>
            </a:r>
            <a:endParaRPr lang="en-IN" sz="1200" b="1" dirty="0"/>
          </a:p>
        </p:txBody>
      </p:sp>
      <p:sp>
        <p:nvSpPr>
          <p:cNvPr id="13" name="Rounded Rectangle 12"/>
          <p:cNvSpPr/>
          <p:nvPr/>
        </p:nvSpPr>
        <p:spPr>
          <a:xfrm>
            <a:off x="328343" y="2492896"/>
            <a:ext cx="2299441" cy="216024"/>
          </a:xfrm>
          <a:prstGeom prst="roundRect">
            <a:avLst/>
          </a:prstGeom>
          <a:solidFill>
            <a:srgbClr val="0099C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100" b="1" dirty="0"/>
              <a:t>% Step-Up Transaction (3DS Share):</a:t>
            </a:r>
            <a:endParaRPr lang="en-US" sz="1000" b="1" dirty="0"/>
          </a:p>
        </p:txBody>
      </p:sp>
      <p:sp>
        <p:nvSpPr>
          <p:cNvPr id="14" name="Rounded Rectangle 13"/>
          <p:cNvSpPr/>
          <p:nvPr/>
        </p:nvSpPr>
        <p:spPr>
          <a:xfrm>
            <a:off x="328343" y="3508559"/>
            <a:ext cx="2299441" cy="216024"/>
          </a:xfrm>
          <a:prstGeom prst="roundRect">
            <a:avLst/>
          </a:prstGeom>
          <a:solidFill>
            <a:srgbClr val="0099C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b="1" dirty="0" smtClean="0"/>
              <a:t>3DS Disturb Rate</a:t>
            </a:r>
            <a:endParaRPr lang="en-US" sz="1000" b="1" dirty="0"/>
          </a:p>
        </p:txBody>
      </p:sp>
      <p:sp>
        <p:nvSpPr>
          <p:cNvPr id="15" name="Rounded Rectangle 14"/>
          <p:cNvSpPr/>
          <p:nvPr/>
        </p:nvSpPr>
        <p:spPr>
          <a:xfrm>
            <a:off x="284107" y="4509120"/>
            <a:ext cx="2299441" cy="216024"/>
          </a:xfrm>
          <a:prstGeom prst="roundRect">
            <a:avLst/>
          </a:prstGeom>
          <a:solidFill>
            <a:srgbClr val="0099C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b="1" dirty="0" smtClean="0"/>
              <a:t>3DS Drop Rate</a:t>
            </a:r>
            <a:endParaRPr lang="en-US" sz="1000" b="1" dirty="0"/>
          </a:p>
        </p:txBody>
      </p:sp>
      <p:sp>
        <p:nvSpPr>
          <p:cNvPr id="16" name="Rounded Rectangle 15"/>
          <p:cNvSpPr/>
          <p:nvPr/>
        </p:nvSpPr>
        <p:spPr>
          <a:xfrm>
            <a:off x="305723" y="5661248"/>
            <a:ext cx="2299441" cy="216024"/>
          </a:xfrm>
          <a:prstGeom prst="roundRect">
            <a:avLst/>
          </a:prstGeom>
          <a:solidFill>
            <a:srgbClr val="0099C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b="1" dirty="0" smtClean="0"/>
              <a:t>% Suspected Fraud Declines</a:t>
            </a:r>
            <a:endParaRPr lang="en-US" sz="1000" b="1" dirty="0"/>
          </a:p>
        </p:txBody>
      </p:sp>
      <p:pic>
        <p:nvPicPr>
          <p:cNvPr id="17" name="Picture 1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895766" y="422"/>
            <a:ext cx="1248234" cy="317617"/>
          </a:xfrm>
          <a:prstGeom prst="rect">
            <a:avLst/>
          </a:prstGeom>
        </p:spPr>
      </p:pic>
    </p:spTree>
    <p:extLst>
      <p:ext uri="{BB962C8B-B14F-4D97-AF65-F5344CB8AC3E}">
        <p14:creationId xmlns:p14="http://schemas.microsoft.com/office/powerpoint/2010/main" val="3776426684"/>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5"/>
          <p:cNvSpPr/>
          <p:nvPr/>
        </p:nvSpPr>
        <p:spPr>
          <a:xfrm>
            <a:off x="2195736" y="116632"/>
            <a:ext cx="4687718" cy="681437"/>
          </a:xfrm>
          <a:prstGeom prst="roundRect">
            <a:avLst/>
          </a:prstGeom>
          <a:solidFill>
            <a:srgbClr val="0099C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smtClean="0">
                <a:solidFill>
                  <a:schemeClr val="tx1">
                    <a:lumMod val="75000"/>
                    <a:lumOff val="25000"/>
                  </a:schemeClr>
                </a:solidFill>
              </a:rPr>
              <a:t>Key Metrics for Disputes</a:t>
            </a:r>
            <a:endParaRPr lang="en-IN" sz="2800" dirty="0">
              <a:solidFill>
                <a:schemeClr val="tx1">
                  <a:lumMod val="75000"/>
                  <a:lumOff val="25000"/>
                </a:schemeClr>
              </a:solidFill>
            </a:endParaRPr>
          </a:p>
        </p:txBody>
      </p:sp>
      <p:sp>
        <p:nvSpPr>
          <p:cNvPr id="7" name="TextBox 6"/>
          <p:cNvSpPr txBox="1"/>
          <p:nvPr/>
        </p:nvSpPr>
        <p:spPr>
          <a:xfrm>
            <a:off x="163123" y="836712"/>
            <a:ext cx="8889350" cy="553998"/>
          </a:xfrm>
          <a:prstGeom prst="rect">
            <a:avLst/>
          </a:prstGeom>
          <a:noFill/>
        </p:spPr>
        <p:txBody>
          <a:bodyPr wrap="square" rtlCol="0">
            <a:spAutoFit/>
          </a:bodyPr>
          <a:lstStyle/>
          <a:p>
            <a:pPr algn="ctr"/>
            <a:r>
              <a:rPr lang="en-US" b="1" dirty="0" smtClean="0"/>
              <a:t>Disputes: </a:t>
            </a:r>
          </a:p>
          <a:p>
            <a:pPr algn="ctr"/>
            <a:r>
              <a:rPr lang="en-US" sz="1200" dirty="0" smtClean="0"/>
              <a:t>Disputes occur when there is a disagreement or conflict regarding the details, legitimacy or execution of a transaction</a:t>
            </a:r>
            <a:r>
              <a:rPr lang="en-US" sz="1100" dirty="0" smtClean="0"/>
              <a:t>.</a:t>
            </a:r>
            <a:endParaRPr lang="en-IN" sz="1100" dirty="0"/>
          </a:p>
        </p:txBody>
      </p:sp>
      <p:sp>
        <p:nvSpPr>
          <p:cNvPr id="2" name="TextBox 1"/>
          <p:cNvSpPr txBox="1"/>
          <p:nvPr/>
        </p:nvSpPr>
        <p:spPr>
          <a:xfrm>
            <a:off x="192313" y="1556792"/>
            <a:ext cx="8941650" cy="1015663"/>
          </a:xfrm>
          <a:prstGeom prst="rect">
            <a:avLst/>
          </a:prstGeom>
          <a:noFill/>
        </p:spPr>
        <p:txBody>
          <a:bodyPr wrap="square" rtlCol="0">
            <a:spAutoFit/>
          </a:bodyPr>
          <a:lstStyle/>
          <a:p>
            <a:pPr marL="171450" indent="-171450">
              <a:buFont typeface="Arial" pitchFamily="34" charset="0"/>
              <a:buChar char="•"/>
            </a:pPr>
            <a:r>
              <a:rPr lang="en-US" sz="1200" b="1" dirty="0" smtClean="0"/>
              <a:t>Fraud Rate (reported in bps):</a:t>
            </a:r>
            <a:endParaRPr lang="en-US" sz="1050" b="1" dirty="0" smtClean="0"/>
          </a:p>
          <a:p>
            <a:r>
              <a:rPr lang="en-US" sz="1200" dirty="0" smtClean="0"/>
              <a:t>	The proportion of the total sales amount that is attributed to fraudulent transactions. It is expressed in basis points (bps), where one basis point equals 0.01%. This metric provides insight into the relative scale of fraud compared to overall sales and is crucial for assessing the effectiveness of fraud prevention measures.</a:t>
            </a:r>
            <a:endParaRPr lang="en-US" sz="1200" dirty="0"/>
          </a:p>
          <a:p>
            <a:pPr algn="ctr"/>
            <a:r>
              <a:rPr lang="en-US" sz="1200" b="1" dirty="0" smtClean="0"/>
              <a:t>Fraud Rate</a:t>
            </a:r>
            <a:r>
              <a:rPr lang="en-US" sz="1200" dirty="0" smtClean="0"/>
              <a:t> (bps)=( </a:t>
            </a:r>
            <a:r>
              <a:rPr lang="en-US" sz="1200" b="1" dirty="0" smtClean="0"/>
              <a:t>Total Sales Amount </a:t>
            </a:r>
            <a:r>
              <a:rPr lang="en-US" sz="1200" dirty="0" smtClean="0"/>
              <a:t>/ </a:t>
            </a:r>
            <a:r>
              <a:rPr lang="en-US" sz="1200" b="1" dirty="0" smtClean="0"/>
              <a:t>Total Fraud Amount </a:t>
            </a:r>
            <a:r>
              <a:rPr lang="en-US" sz="1200" dirty="0" smtClean="0"/>
              <a:t>)×10,000</a:t>
            </a:r>
            <a:endParaRPr lang="en-IN" sz="1400" dirty="0"/>
          </a:p>
        </p:txBody>
      </p:sp>
      <p:sp>
        <p:nvSpPr>
          <p:cNvPr id="8" name="TextBox 7"/>
          <p:cNvSpPr txBox="1"/>
          <p:nvPr/>
        </p:nvSpPr>
        <p:spPr>
          <a:xfrm>
            <a:off x="221640" y="2629361"/>
            <a:ext cx="8912323" cy="1015663"/>
          </a:xfrm>
          <a:prstGeom prst="rect">
            <a:avLst/>
          </a:prstGeom>
          <a:noFill/>
        </p:spPr>
        <p:txBody>
          <a:bodyPr wrap="square" rtlCol="0">
            <a:spAutoFit/>
          </a:bodyPr>
          <a:lstStyle/>
          <a:p>
            <a:pPr marL="171450" indent="-171450">
              <a:buFont typeface="Arial" pitchFamily="34" charset="0"/>
              <a:buChar char="•"/>
            </a:pPr>
            <a:r>
              <a:rPr lang="en-US" sz="1200" b="1" dirty="0" smtClean="0"/>
              <a:t>Chargeback Rate(reported in bps):</a:t>
            </a:r>
            <a:endParaRPr lang="en-US" sz="1050" b="1" dirty="0" smtClean="0"/>
          </a:p>
          <a:p>
            <a:r>
              <a:rPr lang="en-US" sz="1200" dirty="0" smtClean="0"/>
              <a:t>	It measures the proportion of the total sales amount that is reversed due to chargebacks, expressed in basis points. This metric provides insight into the financial impact of chargebacks relative to overall sales, allowing for a precise assessment of chargeback frequency.</a:t>
            </a:r>
          </a:p>
          <a:p>
            <a:pPr algn="ctr"/>
            <a:r>
              <a:rPr lang="en-US" sz="1200" b="1" dirty="0" smtClean="0"/>
              <a:t>Chargeback Rate</a:t>
            </a:r>
            <a:r>
              <a:rPr lang="en-US" sz="1200" dirty="0" smtClean="0"/>
              <a:t> (bps)=( </a:t>
            </a:r>
            <a:r>
              <a:rPr lang="en-US" sz="1200" b="1" dirty="0" smtClean="0"/>
              <a:t>Total Sales Amount </a:t>
            </a:r>
            <a:r>
              <a:rPr lang="en-US" sz="1200" dirty="0" smtClean="0"/>
              <a:t>/ </a:t>
            </a:r>
            <a:r>
              <a:rPr lang="en-US" sz="1200" b="1" dirty="0" smtClean="0"/>
              <a:t>Total Chargeback Amount</a:t>
            </a:r>
            <a:r>
              <a:rPr lang="en-US" sz="1200" dirty="0" smtClean="0"/>
              <a:t>) × 10,000</a:t>
            </a:r>
            <a:endParaRPr lang="en-US" sz="1200" dirty="0"/>
          </a:p>
        </p:txBody>
      </p:sp>
      <p:sp>
        <p:nvSpPr>
          <p:cNvPr id="9" name="TextBox 8"/>
          <p:cNvSpPr txBox="1"/>
          <p:nvPr/>
        </p:nvSpPr>
        <p:spPr>
          <a:xfrm>
            <a:off x="180824" y="3645024"/>
            <a:ext cx="8895345" cy="1015663"/>
          </a:xfrm>
          <a:prstGeom prst="rect">
            <a:avLst/>
          </a:prstGeom>
          <a:noFill/>
        </p:spPr>
        <p:txBody>
          <a:bodyPr wrap="square" rtlCol="0">
            <a:spAutoFit/>
          </a:bodyPr>
          <a:lstStyle/>
          <a:p>
            <a:pPr marL="171450" indent="-171450">
              <a:buFont typeface="Arial" pitchFamily="34" charset="0"/>
              <a:buChar char="•"/>
            </a:pPr>
            <a:r>
              <a:rPr lang="en-US" sz="1200" b="1" dirty="0" smtClean="0"/>
              <a:t>Fraud Liability Rate:</a:t>
            </a:r>
          </a:p>
          <a:p>
            <a:r>
              <a:rPr lang="en-US" sz="1200" dirty="0" smtClean="0"/>
              <a:t>	It measures the proportion of the total fraud amount that is attributed to chargebacks, expressed as a percentage. It provides insight into how much of the total fraud amount is being claimed back through chargebacks, reflecting the financial responsibility borne by the merchant versus the issuer or other parties.</a:t>
            </a:r>
          </a:p>
          <a:p>
            <a:pPr algn="ctr"/>
            <a:r>
              <a:rPr lang="en-US" sz="1200" b="1" dirty="0" smtClean="0"/>
              <a:t>Fraud Liability Rate</a:t>
            </a:r>
            <a:r>
              <a:rPr lang="en-US" sz="1200" dirty="0" smtClean="0"/>
              <a:t> (%)=( </a:t>
            </a:r>
            <a:r>
              <a:rPr lang="en-US" sz="1200" b="1" dirty="0" smtClean="0"/>
              <a:t>Total Fraud Amount / Total Fraud Chargebacks</a:t>
            </a:r>
            <a:r>
              <a:rPr lang="en-US" sz="1200" dirty="0" smtClean="0"/>
              <a:t>)×100</a:t>
            </a:r>
          </a:p>
        </p:txBody>
      </p:sp>
      <p:sp>
        <p:nvSpPr>
          <p:cNvPr id="10" name="TextBox 9"/>
          <p:cNvSpPr txBox="1"/>
          <p:nvPr/>
        </p:nvSpPr>
        <p:spPr>
          <a:xfrm>
            <a:off x="230035" y="4797152"/>
            <a:ext cx="8895534" cy="830997"/>
          </a:xfrm>
          <a:prstGeom prst="rect">
            <a:avLst/>
          </a:prstGeom>
          <a:noFill/>
        </p:spPr>
        <p:txBody>
          <a:bodyPr wrap="square" rtlCol="0">
            <a:spAutoFit/>
          </a:bodyPr>
          <a:lstStyle/>
          <a:p>
            <a:pPr marL="171450" indent="-171450">
              <a:buFont typeface="Arial" pitchFamily="34" charset="0"/>
              <a:buChar char="•"/>
            </a:pPr>
            <a:r>
              <a:rPr lang="en-US" sz="1200" b="1" dirty="0" smtClean="0"/>
              <a:t>Win Rate (Chargeback):</a:t>
            </a:r>
          </a:p>
          <a:p>
            <a:r>
              <a:rPr lang="en-US" sz="1200" dirty="0" smtClean="0"/>
              <a:t>	It quantifies the effectiveness of a merchant’s efforts to successfully dispute and reverse chargebacks. It is expressed as a percentage and indicates how many of the chargebacks initiated against a merchant are resolved in their favor.</a:t>
            </a:r>
          </a:p>
          <a:p>
            <a:pPr algn="ctr"/>
            <a:r>
              <a:rPr lang="en-US" sz="1200" b="1" dirty="0" smtClean="0"/>
              <a:t>Win Rate</a:t>
            </a:r>
            <a:r>
              <a:rPr lang="en-US" sz="1200" dirty="0" smtClean="0"/>
              <a:t> (</a:t>
            </a:r>
            <a:r>
              <a:rPr lang="en-US" sz="1200" b="1" dirty="0" smtClean="0"/>
              <a:t>Chargeback</a:t>
            </a:r>
            <a:r>
              <a:rPr lang="en-US" sz="1200" dirty="0" smtClean="0"/>
              <a:t>) (%)=( </a:t>
            </a:r>
            <a:r>
              <a:rPr lang="en-US" sz="1200" b="1" dirty="0" smtClean="0"/>
              <a:t>Total Number of Chargebacks / Number of Chargebacks Recovered </a:t>
            </a:r>
            <a:r>
              <a:rPr lang="en-US" sz="1200" dirty="0" smtClean="0"/>
              <a:t>)×100</a:t>
            </a:r>
          </a:p>
        </p:txBody>
      </p:sp>
      <p:sp>
        <p:nvSpPr>
          <p:cNvPr id="11" name="TextBox 10"/>
          <p:cNvSpPr txBox="1"/>
          <p:nvPr/>
        </p:nvSpPr>
        <p:spPr>
          <a:xfrm>
            <a:off x="180825" y="5733256"/>
            <a:ext cx="8895345" cy="1015663"/>
          </a:xfrm>
          <a:prstGeom prst="rect">
            <a:avLst/>
          </a:prstGeom>
          <a:noFill/>
        </p:spPr>
        <p:txBody>
          <a:bodyPr wrap="square" rtlCol="0">
            <a:spAutoFit/>
          </a:bodyPr>
          <a:lstStyle/>
          <a:p>
            <a:pPr marL="171450" indent="-171450" algn="just">
              <a:buFont typeface="Arial" pitchFamily="34" charset="0"/>
              <a:buChar char="•"/>
            </a:pPr>
            <a:r>
              <a:rPr lang="en-US" sz="1200" b="1" dirty="0" smtClean="0"/>
              <a:t>Second Escalation Rate:</a:t>
            </a:r>
          </a:p>
          <a:p>
            <a:pPr algn="just"/>
            <a:r>
              <a:rPr lang="en-US" sz="1200" dirty="0" smtClean="0"/>
              <a:t>	Second Escalation Rate reflects the percentage of transactions that, after being disputed and reviewed initially, are further escalated for additional review or action. This often indicates that the initial resolution was unsatisfactory to either the customer or the issuer, prompting a further escalation of the dispute.</a:t>
            </a:r>
          </a:p>
          <a:p>
            <a:pPr algn="ctr"/>
            <a:r>
              <a:rPr lang="en-US" sz="1200" b="1" dirty="0" smtClean="0"/>
              <a:t>Second Escalation Rate</a:t>
            </a:r>
            <a:r>
              <a:rPr lang="en-US" sz="1200" dirty="0" smtClean="0"/>
              <a:t> (%)=( </a:t>
            </a:r>
            <a:r>
              <a:rPr lang="en-US" sz="1200" b="1" dirty="0" smtClean="0"/>
              <a:t>Total Number of Disputed Transactions</a:t>
            </a:r>
            <a:r>
              <a:rPr lang="en-US" sz="1200" dirty="0" smtClean="0"/>
              <a:t>/</a:t>
            </a:r>
            <a:r>
              <a:rPr lang="en-US" sz="1200" b="1" dirty="0" smtClean="0"/>
              <a:t>Number of Transactions with Second Escalation </a:t>
            </a:r>
            <a:r>
              <a:rPr lang="en-US" sz="1200" dirty="0" smtClean="0"/>
              <a:t>)×100</a:t>
            </a:r>
          </a:p>
        </p:txBody>
      </p:sp>
      <p:sp>
        <p:nvSpPr>
          <p:cNvPr id="3" name="Rounded Rectangle 2"/>
          <p:cNvSpPr/>
          <p:nvPr/>
        </p:nvSpPr>
        <p:spPr>
          <a:xfrm>
            <a:off x="467544" y="2629361"/>
            <a:ext cx="2311454" cy="223575"/>
          </a:xfrm>
          <a:prstGeom prst="roundRect">
            <a:avLst/>
          </a:prstGeom>
          <a:solidFill>
            <a:srgbClr val="0099C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b="1" dirty="0"/>
              <a:t>Chargeback Rate(reported in bps</a:t>
            </a:r>
            <a:r>
              <a:rPr lang="en-US" sz="1100" b="1" dirty="0" smtClean="0"/>
              <a:t>):</a:t>
            </a:r>
            <a:endParaRPr lang="en-US" sz="1000" b="1" dirty="0"/>
          </a:p>
        </p:txBody>
      </p:sp>
      <p:sp>
        <p:nvSpPr>
          <p:cNvPr id="12" name="Rounded Rectangle 11"/>
          <p:cNvSpPr/>
          <p:nvPr/>
        </p:nvSpPr>
        <p:spPr>
          <a:xfrm>
            <a:off x="408451" y="1556792"/>
            <a:ext cx="2311454" cy="223575"/>
          </a:xfrm>
          <a:prstGeom prst="roundRect">
            <a:avLst/>
          </a:prstGeom>
          <a:solidFill>
            <a:srgbClr val="0099C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b="1" dirty="0" smtClean="0"/>
              <a:t>Fraud Rate(reported </a:t>
            </a:r>
            <a:r>
              <a:rPr lang="en-US" sz="1100" b="1" dirty="0"/>
              <a:t>in bps</a:t>
            </a:r>
            <a:r>
              <a:rPr lang="en-US" sz="1100" b="1" dirty="0" smtClean="0"/>
              <a:t>):</a:t>
            </a:r>
            <a:endParaRPr lang="en-US" sz="1000" b="1" dirty="0"/>
          </a:p>
        </p:txBody>
      </p:sp>
      <p:sp>
        <p:nvSpPr>
          <p:cNvPr id="13" name="Rounded Rectangle 12"/>
          <p:cNvSpPr/>
          <p:nvPr/>
        </p:nvSpPr>
        <p:spPr>
          <a:xfrm>
            <a:off x="435395" y="3646186"/>
            <a:ext cx="2311454" cy="223575"/>
          </a:xfrm>
          <a:prstGeom prst="roundRect">
            <a:avLst/>
          </a:prstGeom>
          <a:solidFill>
            <a:srgbClr val="0099C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b="1" dirty="0" smtClean="0"/>
              <a:t>Fraud Liability Rate</a:t>
            </a:r>
            <a:endParaRPr lang="en-US" sz="1000" b="1" dirty="0"/>
          </a:p>
        </p:txBody>
      </p:sp>
      <p:sp>
        <p:nvSpPr>
          <p:cNvPr id="14" name="Rounded Rectangle 13"/>
          <p:cNvSpPr/>
          <p:nvPr/>
        </p:nvSpPr>
        <p:spPr>
          <a:xfrm>
            <a:off x="435395" y="4797152"/>
            <a:ext cx="2311454" cy="223575"/>
          </a:xfrm>
          <a:prstGeom prst="roundRect">
            <a:avLst/>
          </a:prstGeom>
          <a:solidFill>
            <a:srgbClr val="0099C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b="1" dirty="0" smtClean="0"/>
              <a:t>Win Rate Chargeback</a:t>
            </a:r>
            <a:endParaRPr lang="en-US" sz="1000" b="1" dirty="0"/>
          </a:p>
        </p:txBody>
      </p:sp>
      <p:sp>
        <p:nvSpPr>
          <p:cNvPr id="15" name="Rounded Rectangle 14"/>
          <p:cNvSpPr/>
          <p:nvPr/>
        </p:nvSpPr>
        <p:spPr>
          <a:xfrm>
            <a:off x="408451" y="5733256"/>
            <a:ext cx="2311454" cy="223575"/>
          </a:xfrm>
          <a:prstGeom prst="roundRect">
            <a:avLst/>
          </a:prstGeom>
          <a:solidFill>
            <a:srgbClr val="0099C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b="1" dirty="0" smtClean="0"/>
              <a:t>Second Escalation Rate</a:t>
            </a:r>
            <a:endParaRPr lang="en-US" sz="1000" b="1" dirty="0"/>
          </a:p>
        </p:txBody>
      </p:sp>
      <p:pic>
        <p:nvPicPr>
          <p:cNvPr id="16" name="Picture 1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895766" y="422"/>
            <a:ext cx="1248234" cy="317617"/>
          </a:xfrm>
          <a:prstGeom prst="rect">
            <a:avLst/>
          </a:prstGeom>
        </p:spPr>
      </p:pic>
    </p:spTree>
    <p:extLst>
      <p:ext uri="{BB962C8B-B14F-4D97-AF65-F5344CB8AC3E}">
        <p14:creationId xmlns:p14="http://schemas.microsoft.com/office/powerpoint/2010/main" val="766655419"/>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_rels/theme2.xml.rels><?xml version="1.0" encoding="UTF-8" standalone="yes"?>
<Relationships xmlns="http://schemas.openxmlformats.org/package/2006/relationships"><Relationship Id="rId1" Type="http://schemas.openxmlformats.org/officeDocument/2006/relationships/image" Target="../media/image2.jpeg"/></Relationships>
</file>

<file path=ppt/theme/_rels/theme4.xml.rels><?xml version="1.0" encoding="UTF-8" standalone="yes"?>
<Relationships xmlns="http://schemas.openxmlformats.org/package/2006/relationships"><Relationship Id="rId1" Type="http://schemas.openxmlformats.org/officeDocument/2006/relationships/image" Target="../media/image3.jpeg"/></Relationships>
</file>

<file path=ppt/theme/_rels/theme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image" Target="../media/image4.jpeg"/></Relationships>
</file>

<file path=ppt/theme/theme1.xml><?xml version="1.0" encoding="utf-8"?>
<a:theme xmlns:a="http://schemas.openxmlformats.org/drawingml/2006/main" name="Urban">
  <a:themeElements>
    <a:clrScheme name="Urban">
      <a:dk1>
        <a:sysClr val="windowText" lastClr="000000"/>
      </a:dk1>
      <a:lt1>
        <a:sysClr val="window" lastClr="FFFFFF"/>
      </a:lt1>
      <a:dk2>
        <a:srgbClr val="424456"/>
      </a:dk2>
      <a:lt2>
        <a:srgbClr val="DEDEDE"/>
      </a:lt2>
      <a:accent1>
        <a:srgbClr val="53548A"/>
      </a:accent1>
      <a:accent2>
        <a:srgbClr val="438086"/>
      </a:accent2>
      <a:accent3>
        <a:srgbClr val="A04DA3"/>
      </a:accent3>
      <a:accent4>
        <a:srgbClr val="C4652D"/>
      </a:accent4>
      <a:accent5>
        <a:srgbClr val="8B5D3D"/>
      </a:accent5>
      <a:accent6>
        <a:srgbClr val="5C92B5"/>
      </a:accent6>
      <a:hlink>
        <a:srgbClr val="67AFBD"/>
      </a:hlink>
      <a:folHlink>
        <a:srgbClr val="C2A874"/>
      </a:folHlink>
    </a:clrScheme>
    <a:fontScheme name="Urban">
      <a:majorFont>
        <a:latin typeface="Trebuchet MS"/>
        <a:ea typeface=""/>
        <a:cs typeface=""/>
        <a:font script="Jpan" typeface="HGｺﾞｼｯｸM"/>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eorgia"/>
        <a:ea typeface=""/>
        <a:cs typeface=""/>
        <a:font script="Jpan" typeface="HG明朝B"/>
        <a:font script="Hang" typeface="맑은 고딕"/>
        <a:font script="Hans" typeface="宋体"/>
        <a:font script="Hant" typeface="新細明體"/>
        <a:font script="Arab" typeface="Arial"/>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Urban">
      <a:fillStyleLst>
        <a:solidFill>
          <a:schemeClr val="phClr"/>
        </a:solidFill>
        <a:gradFill rotWithShape="1">
          <a:gsLst>
            <a:gs pos="0">
              <a:schemeClr val="phClr">
                <a:tint val="1000"/>
                <a:satMod val="255000"/>
              </a:schemeClr>
            </a:gs>
            <a:gs pos="55000">
              <a:schemeClr val="phClr">
                <a:tint val="12000"/>
                <a:satMod val="255000"/>
              </a:schemeClr>
            </a:gs>
            <a:gs pos="100000">
              <a:schemeClr val="phClr">
                <a:tint val="45000"/>
                <a:satMod val="250000"/>
              </a:schemeClr>
            </a:gs>
          </a:gsLst>
          <a:path path="circle">
            <a:fillToRect l="-40000" t="-90000" r="140000" b="190000"/>
          </a:path>
        </a:gradFill>
        <a:gradFill rotWithShape="1">
          <a:gsLst>
            <a:gs pos="0">
              <a:schemeClr val="phClr">
                <a:tint val="43000"/>
                <a:satMod val="165000"/>
              </a:schemeClr>
            </a:gs>
            <a:gs pos="55000">
              <a:schemeClr val="phClr">
                <a:tint val="83000"/>
                <a:satMod val="155000"/>
              </a:schemeClr>
            </a:gs>
            <a:gs pos="100000">
              <a:schemeClr val="phClr">
                <a:shade val="85000"/>
              </a:schemeClr>
            </a:gs>
          </a:gsLst>
          <a:path path="circle">
            <a:fillToRect l="-40000" t="-90000" r="140000" b="190000"/>
          </a:path>
        </a:gradFill>
      </a:fillStyleLst>
      <a:lnStyleLst>
        <a:ln w="9525" cap="flat" cmpd="sng" algn="ctr">
          <a:solidFill>
            <a:schemeClr val="phClr"/>
          </a:solidFill>
          <a:prstDash val="solid"/>
        </a:ln>
        <a:ln w="19050" cap="flat" cmpd="sng" algn="ctr">
          <a:solidFill>
            <a:schemeClr val="phClr"/>
          </a:solidFill>
          <a:prstDash val="solid"/>
        </a:ln>
        <a:ln w="31750" cap="flat" cmpd="sng" algn="ctr">
          <a:solidFill>
            <a:schemeClr val="phClr"/>
          </a:solidFill>
          <a:prstDash val="solid"/>
        </a:ln>
      </a:lnStyleLst>
      <a:effectStyleLst>
        <a:effectStyle>
          <a:effectLst>
            <a:outerShdw blurRad="51500" dist="25400" dir="5400000" rotWithShape="0">
              <a:srgbClr val="000000">
                <a:alpha val="40000"/>
              </a:srgbClr>
            </a:outerShdw>
          </a:effectLst>
        </a:effectStyle>
        <a:effectStyle>
          <a:effectLst>
            <a:outerShdw blurRad="50800" dist="25400" dir="5400000" rotWithShape="0">
              <a:srgbClr val="000000">
                <a:alpha val="45000"/>
              </a:srgbClr>
            </a:outerShdw>
          </a:effectLst>
        </a:effectStyle>
        <a:effectStyle>
          <a:effectLst>
            <a:outerShdw blurRad="50800" dist="25400" dir="5400000" rotWithShape="0">
              <a:srgbClr val="000000">
                <a:alpha val="45000"/>
              </a:srgbClr>
            </a:outerShdw>
          </a:effectLst>
          <a:scene3d>
            <a:camera prst="orthographicFront" fov="0">
              <a:rot lat="0" lon="0" rev="0"/>
            </a:camera>
            <a:lightRig rig="flat" dir="t">
              <a:rot lat="0" lon="0" rev="20040000"/>
            </a:lightRig>
          </a:scene3d>
          <a:sp3d contourW="12700" prstMaterial="dkEdge">
            <a:bevelT w="25400" h="38100" prst="convex"/>
            <a:contourClr>
              <a:schemeClr val="phClr">
                <a:satMod val="115000"/>
              </a:schemeClr>
            </a:contourClr>
          </a:sp3d>
        </a:effectStyle>
      </a:effectStyleLst>
      <a:bgFillStyleLst>
        <a:solidFill>
          <a:schemeClr val="phClr"/>
        </a:solidFill>
        <a:gradFill rotWithShape="1">
          <a:gsLst>
            <a:gs pos="100000">
              <a:schemeClr val="phClr">
                <a:tint val="80000"/>
                <a:satMod val="250000"/>
              </a:schemeClr>
            </a:gs>
            <a:gs pos="60000">
              <a:schemeClr val="phClr">
                <a:shade val="38000"/>
                <a:satMod val="175000"/>
              </a:schemeClr>
            </a:gs>
            <a:gs pos="0">
              <a:schemeClr val="phClr">
                <a:shade val="30000"/>
                <a:satMod val="175000"/>
              </a:schemeClr>
            </a:gs>
          </a:gsLst>
          <a:lin ang="5400000" scaled="0"/>
        </a:gradFill>
        <a:blipFill>
          <a:blip xmlns:r="http://schemas.openxmlformats.org/officeDocument/2006/relationships" r:embed="rId1">
            <a:duotone>
              <a:schemeClr val="phClr">
                <a:shade val="48000"/>
              </a:schemeClr>
              <a:schemeClr val="phClr">
                <a:tint val="96000"/>
                <a:satMod val="150000"/>
              </a:schemeClr>
            </a:duotone>
          </a:blip>
          <a:tile tx="0" ty="0" sx="80000" sy="80000" flip="none" algn="tl"/>
        </a:blipFill>
      </a:bgFillStyleLst>
    </a:fmtScheme>
  </a:themeElements>
  <a:objectDefaults/>
  <a:extraClrSchemeLst/>
</a:theme>
</file>

<file path=ppt/theme/theme2.xml><?xml version="1.0" encoding="utf-8"?>
<a:theme xmlns:a="http://schemas.openxmlformats.org/drawingml/2006/main" name="Concourse">
  <a:themeElements>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Concourse">
      <a:maj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font script="Geor" typeface="Sylfaen"/>
      </a:majorFont>
      <a:min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font script="Geor" typeface="Sylfaen"/>
      </a:minorFont>
    </a:fontScheme>
    <a:fmtScheme name="Concourse">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65000"/>
                <a:satMod val="300000"/>
              </a:schemeClr>
            </a:gs>
          </a:gsLst>
          <a:path path="circle">
            <a:fillToRect l="65000" b="98000"/>
          </a:path>
        </a:gradFill>
        <a:blipFill>
          <a:blip xmlns:r="http://schemas.openxmlformats.org/officeDocument/2006/relationships" r:embed="rId1">
            <a:duotone>
              <a:schemeClr val="phClr">
                <a:shade val="60000"/>
                <a:satMod val="110000"/>
              </a:schemeClr>
              <a:schemeClr val="phClr">
                <a:tint val="95000"/>
              </a:schemeClr>
            </a:duotone>
          </a:blip>
          <a:tile tx="0" ty="0" sx="50000" sy="50000" flip="none" algn="tl"/>
        </a:blip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Apothecary">
  <a:themeElements>
    <a:clrScheme name="Apothecary">
      <a:dk1>
        <a:sysClr val="windowText" lastClr="000000"/>
      </a:dk1>
      <a:lt1>
        <a:sysClr val="window" lastClr="FFFFFF"/>
      </a:lt1>
      <a:dk2>
        <a:srgbClr val="564B3C"/>
      </a:dk2>
      <a:lt2>
        <a:srgbClr val="ECEDD1"/>
      </a:lt2>
      <a:accent1>
        <a:srgbClr val="93A299"/>
      </a:accent1>
      <a:accent2>
        <a:srgbClr val="CF543F"/>
      </a:accent2>
      <a:accent3>
        <a:srgbClr val="B5AE53"/>
      </a:accent3>
      <a:accent4>
        <a:srgbClr val="848058"/>
      </a:accent4>
      <a:accent5>
        <a:srgbClr val="E8B54D"/>
      </a:accent5>
      <a:accent6>
        <a:srgbClr val="786C71"/>
      </a:accent6>
      <a:hlink>
        <a:srgbClr val="CCCC00"/>
      </a:hlink>
      <a:folHlink>
        <a:srgbClr val="B2B2B2"/>
      </a:folHlink>
    </a:clrScheme>
    <a:fontScheme name="Apothecary">
      <a:majorFont>
        <a:latin typeface="Book Antiqua"/>
        <a:ea typeface=""/>
        <a:cs typeface=""/>
        <a:font script="Jpan" typeface="HGS明朝B"/>
        <a:font script="Hang" typeface="HY견명조"/>
        <a:font script="Hans" typeface="宋体"/>
        <a:font script="Hant" typeface="新細明體"/>
        <a:font script="Arab" typeface="Times New Roman"/>
        <a:font script="Hebr" typeface="David"/>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a:ea typeface=""/>
        <a:cs typeface=""/>
        <a:font script="Jpan" typeface="ＭＳ ゴシック"/>
        <a:font script="Hang" typeface="HY견명조"/>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Apothecary">
      <a:fillStyleLst>
        <a:solidFill>
          <a:schemeClr val="phClr"/>
        </a:solidFill>
        <a:gradFill rotWithShape="1">
          <a:gsLst>
            <a:gs pos="0">
              <a:schemeClr val="phClr">
                <a:tint val="1000"/>
                <a:satMod val="100000"/>
              </a:schemeClr>
            </a:gs>
            <a:gs pos="68000">
              <a:schemeClr val="phClr">
                <a:tint val="77000"/>
                <a:satMod val="100000"/>
              </a:schemeClr>
            </a:gs>
            <a:gs pos="81000">
              <a:schemeClr val="phClr">
                <a:tint val="79000"/>
                <a:satMod val="100000"/>
              </a:schemeClr>
            </a:gs>
            <a:gs pos="86000">
              <a:schemeClr val="phClr">
                <a:tint val="73000"/>
                <a:satMod val="100000"/>
              </a:schemeClr>
            </a:gs>
            <a:gs pos="100000">
              <a:schemeClr val="phClr">
                <a:tint val="35000"/>
                <a:satMod val="100000"/>
              </a:schemeClr>
            </a:gs>
          </a:gsLst>
          <a:lin ang="5400000" scaled="0"/>
        </a:gradFill>
        <a:gradFill rotWithShape="1">
          <a:gsLst>
            <a:gs pos="0">
              <a:schemeClr val="phClr">
                <a:tint val="73000"/>
                <a:shade val="100000"/>
                <a:satMod val="150000"/>
              </a:schemeClr>
            </a:gs>
            <a:gs pos="25000">
              <a:schemeClr val="phClr">
                <a:tint val="96000"/>
                <a:shade val="80000"/>
                <a:satMod val="105000"/>
              </a:schemeClr>
            </a:gs>
            <a:gs pos="38000">
              <a:schemeClr val="phClr">
                <a:tint val="96000"/>
                <a:shade val="59000"/>
                <a:satMod val="120000"/>
              </a:schemeClr>
            </a:gs>
            <a:gs pos="55000">
              <a:schemeClr val="phClr">
                <a:tint val="100000"/>
                <a:shade val="57000"/>
                <a:satMod val="120000"/>
              </a:schemeClr>
            </a:gs>
            <a:gs pos="80000">
              <a:schemeClr val="phClr">
                <a:tint val="100000"/>
                <a:shade val="56000"/>
                <a:satMod val="145000"/>
              </a:schemeClr>
            </a:gs>
            <a:gs pos="88000">
              <a:schemeClr val="phClr">
                <a:tint val="100000"/>
                <a:shade val="63000"/>
                <a:satMod val="160000"/>
              </a:schemeClr>
            </a:gs>
            <a:gs pos="100000">
              <a:schemeClr val="phClr">
                <a:tint val="99000"/>
                <a:shade val="100000"/>
                <a:satMod val="155000"/>
              </a:schemeClr>
            </a:gs>
          </a:gsLst>
          <a:lin ang="54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scene3d>
            <a:camera prst="orthographicFront">
              <a:rot lat="0" lon="0" rev="0"/>
            </a:camera>
            <a:lightRig rig="glow" dir="tl">
              <a:rot lat="0" lon="0" rev="1800000"/>
            </a:lightRig>
          </a:scene3d>
          <a:sp3d contourW="10160" prstMaterial="dkEdge">
            <a:bevelT w="0" h="0" prst="angle"/>
            <a:contourClr>
              <a:schemeClr val="phClr">
                <a:shade val="30000"/>
                <a:satMod val="150000"/>
              </a:schemeClr>
            </a:contourClr>
          </a:sp3d>
        </a:effectStyle>
        <a:effectStyle>
          <a:effectLst>
            <a:glow rad="50800">
              <a:schemeClr val="phClr">
                <a:tint val="68000"/>
                <a:shade val="93000"/>
                <a:alpha val="37000"/>
                <a:satMod val="250000"/>
              </a:schemeClr>
            </a:glow>
          </a:effectLst>
          <a:scene3d>
            <a:camera prst="orthographicFront">
              <a:rot lat="0" lon="0" rev="0"/>
            </a:camera>
            <a:lightRig rig="glow" dir="t">
              <a:rot lat="0" lon="0" rev="1800000"/>
            </a:lightRig>
          </a:scene3d>
          <a:sp3d contourW="10160" prstMaterial="dkEdge">
            <a:bevelT w="20320" h="19050" prst="angle"/>
            <a:contourClr>
              <a:schemeClr val="phClr">
                <a:shade val="30000"/>
                <a:satMod val="150000"/>
              </a:schemeClr>
            </a:contourClr>
          </a:sp3d>
        </a:effectStyle>
      </a:effectStyleLst>
      <a:bgFillStyleLst>
        <a:solidFill>
          <a:schemeClr val="phClr"/>
        </a:solidFill>
        <a:solidFill>
          <a:schemeClr val="phClr">
            <a:tint val="93000"/>
            <a:satMod val="140000"/>
          </a:schemeClr>
        </a:solidFill>
        <a:blipFill rotWithShape="1">
          <a:blip xmlns:r="http://schemas.openxmlformats.org/officeDocument/2006/relationships" r:embed="rId1">
            <a:duotone>
              <a:schemeClr val="phClr">
                <a:tint val="70000"/>
                <a:satMod val="170000"/>
              </a:schemeClr>
              <a:schemeClr val="phClr">
                <a:shade val="70000"/>
                <a:satMod val="130000"/>
              </a:schemeClr>
            </a:duotone>
          </a:blip>
          <a:tile tx="0" ty="0" sx="100000" sy="100000" flip="none" algn="tl"/>
        </a:blipFill>
      </a:bgFillStyleLst>
    </a:fmtScheme>
  </a:themeElements>
  <a:objectDefaults/>
  <a:extraClrSchemeLst/>
</a:theme>
</file>

<file path=ppt/theme/theme5.xml><?xml version="1.0" encoding="utf-8"?>
<a:theme xmlns:a="http://schemas.openxmlformats.org/drawingml/2006/main" name="Angles">
  <a:themeElements>
    <a:clrScheme name="Angles">
      <a:dk1>
        <a:srgbClr val="000000"/>
      </a:dk1>
      <a:lt1>
        <a:srgbClr val="FFFFFF"/>
      </a:lt1>
      <a:dk2>
        <a:srgbClr val="434342"/>
      </a:dk2>
      <a:lt2>
        <a:srgbClr val="CDD7D9"/>
      </a:lt2>
      <a:accent1>
        <a:srgbClr val="797B7E"/>
      </a:accent1>
      <a:accent2>
        <a:srgbClr val="F96A1B"/>
      </a:accent2>
      <a:accent3>
        <a:srgbClr val="08A1D9"/>
      </a:accent3>
      <a:accent4>
        <a:srgbClr val="7C984A"/>
      </a:accent4>
      <a:accent5>
        <a:srgbClr val="C2AD8D"/>
      </a:accent5>
      <a:accent6>
        <a:srgbClr val="506E94"/>
      </a:accent6>
      <a:hlink>
        <a:srgbClr val="5F5F5F"/>
      </a:hlink>
      <a:folHlink>
        <a:srgbClr val="969696"/>
      </a:folHlink>
    </a:clrScheme>
    <a:fontScheme name="Angles">
      <a:majorFont>
        <a:latin typeface="Franklin Gothic Medium"/>
        <a:ea typeface=""/>
        <a:cs typeface=""/>
        <a:font script="Jpan" typeface="HG創英角ｺﾞｼｯｸUB"/>
        <a:font script="Hang" typeface="돋움"/>
        <a:font script="Hans" typeface="微软雅黑"/>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Franklin Gothic Book"/>
        <a:ea typeface=""/>
        <a:cs typeface=""/>
        <a:font script="Jpan" typeface="ＭＳ Ｐゴシック"/>
        <a:font script="Hang" typeface="맑은 고딕"/>
        <a:font script="Hans" typeface="隶书"/>
        <a:font script="Hant" typeface="新細明體"/>
        <a:font script="Arab" typeface="Arial"/>
        <a:font script="Hebr" typeface="Arial"/>
        <a:font script="Thai" typeface="Cord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Angle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20400000"/>
            </a:lightRig>
          </a:scene3d>
          <a:sp3d contourW="6350">
            <a:bevelT w="41275" h="19050" prst="angle"/>
            <a:contourClr>
              <a:schemeClr val="phClr">
                <a:shade val="25000"/>
                <a:satMod val="150000"/>
              </a:schemeClr>
            </a:contourClr>
          </a:sp3d>
        </a:effectStyle>
      </a:effectStyleLst>
      <a:bgFillStyleLst>
        <a:solidFill>
          <a:schemeClr val="phClr"/>
        </a:solidFill>
        <a:blipFill rotWithShape="1">
          <a:blip xmlns:r="http://schemas.openxmlformats.org/officeDocument/2006/relationships" r:embed="rId1">
            <a:duotone>
              <a:schemeClr val="phClr">
                <a:tint val="90000"/>
                <a:shade val="85000"/>
              </a:schemeClr>
              <a:schemeClr val="phClr">
                <a:tint val="95000"/>
                <a:shade val="99000"/>
              </a:schemeClr>
            </a:duotone>
          </a:blip>
          <a:tile tx="0" ty="0" sx="100000" sy="100000" flip="none" algn="tl"/>
        </a:blipFill>
        <a:blipFill rotWithShape="1">
          <a:blip xmlns:r="http://schemas.openxmlformats.org/officeDocument/2006/relationships" r:embed="rId2">
            <a:duotone>
              <a:schemeClr val="phClr">
                <a:tint val="93000"/>
                <a:shade val="85000"/>
              </a:schemeClr>
              <a:schemeClr val="phClr">
                <a:tint val="96000"/>
                <a:shade val="99000"/>
              </a:schemeClr>
            </a:duotone>
          </a:blip>
          <a:tile tx="0" ty="0" sx="90000" sy="90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Urban</Template>
  <TotalTime>2849</TotalTime>
  <Words>7747</Words>
  <Application>Microsoft Office PowerPoint</Application>
  <PresentationFormat>On-screen Show (4:3)</PresentationFormat>
  <Paragraphs>991</Paragraphs>
  <Slides>65</Slides>
  <Notes>0</Notes>
  <HiddenSlides>0</HiddenSlides>
  <MMClips>0</MMClips>
  <ScaleCrop>false</ScaleCrop>
  <HeadingPairs>
    <vt:vector size="4" baseType="variant">
      <vt:variant>
        <vt:lpstr>Theme</vt:lpstr>
      </vt:variant>
      <vt:variant>
        <vt:i4>5</vt:i4>
      </vt:variant>
      <vt:variant>
        <vt:lpstr>Slide Titles</vt:lpstr>
      </vt:variant>
      <vt:variant>
        <vt:i4>65</vt:i4>
      </vt:variant>
    </vt:vector>
  </HeadingPairs>
  <TitlesOfParts>
    <vt:vector size="70" baseType="lpstr">
      <vt:lpstr>Urban</vt:lpstr>
      <vt:lpstr>Concourse</vt:lpstr>
      <vt:lpstr>Office Theme</vt:lpstr>
      <vt:lpstr>Apothecary</vt:lpstr>
      <vt:lpstr>Angles</vt:lpstr>
      <vt:lpstr>CARD PAYMENT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Payment Process overview</vt:lpstr>
      <vt:lpstr>Transaction Life Cycle </vt:lpstr>
      <vt:lpstr>Revenue Sharing (Actual Rates May Vary)</vt:lpstr>
      <vt:lpstr>Transaction Type : Card Present (Offline)</vt:lpstr>
      <vt:lpstr>Transaction Type : Card Present (Offline)</vt:lpstr>
      <vt:lpstr>Transaction Type : Card Present (Offline)</vt:lpstr>
      <vt:lpstr>Transaction Type : Card Present (Offline)</vt:lpstr>
      <vt:lpstr>Transaction Type : Card Not Present (Online)</vt:lpstr>
      <vt:lpstr>Transaction Type : Card Not Present (Online)</vt:lpstr>
      <vt:lpstr>Transaction Type : Card Not Present (Online)</vt:lpstr>
      <vt:lpstr>3DS VS CP (Card Present) VS CNP (Card Not Present )</vt:lpstr>
      <vt:lpstr>Fastest Growing Payment Methods &amp; Future Projections</vt:lpstr>
      <vt:lpstr>High Usage In E-Commerce</vt:lpstr>
      <vt:lpstr>Payments Conclusion </vt:lpstr>
      <vt:lpstr>Introduction to Fraud</vt:lpstr>
      <vt:lpstr>Disputed or Non-Fraud Related Disputes</vt:lpstr>
      <vt:lpstr>Fraudulent Transaction</vt:lpstr>
      <vt:lpstr>FIRST PARTY FRAUD</vt:lpstr>
      <vt:lpstr>Third Party Fraud</vt:lpstr>
      <vt:lpstr>Third Party Fraud</vt:lpstr>
      <vt:lpstr>Dispute Transaction Flow</vt:lpstr>
      <vt:lpstr>Dispute Transaction Flow</vt:lpstr>
      <vt:lpstr>Fraud Transaction Flow</vt:lpstr>
      <vt:lpstr>TOKENIZATION</vt:lpstr>
      <vt:lpstr>Key Characteristics of a Token</vt:lpstr>
      <vt:lpstr>ADVANTAGES AND DISADVANTAGES OF TOKENIZATION</vt:lpstr>
      <vt:lpstr>ADVANTAGES AND DISADVANTAGES OF TOKENIZATION</vt:lpstr>
      <vt:lpstr>How Visa Token Service works</vt:lpstr>
      <vt:lpstr>How Visa Token Service works</vt:lpstr>
      <vt:lpstr>How Visa Token Service works</vt:lpstr>
      <vt:lpstr>TOKEN BENEFITS</vt:lpstr>
      <vt:lpstr>How Does A Tokenized Transaction Work</vt:lpstr>
      <vt:lpstr>How Does A Tokenized Transaction Work</vt:lpstr>
      <vt:lpstr>How Does A Tokenized Transaction Work</vt:lpstr>
      <vt:lpstr>Secure Element Token</vt:lpstr>
      <vt:lpstr>Card On File Token </vt:lpstr>
      <vt:lpstr>Host Card Emulation (HCE) Token </vt:lpstr>
      <vt:lpstr>E-Commerce (Enabler) Token </vt:lpstr>
      <vt:lpstr>Fast Growing Token Type</vt:lpstr>
      <vt:lpstr>Future Token Types</vt:lpstr>
      <vt:lpstr>Token Fraud Risks</vt:lpstr>
      <vt:lpstr>Specific Token Fraud Risks In E-Commerce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CARD PAYMENT</dc:title>
  <dc:creator>Kalpataru Sahoo</dc:creator>
  <cp:lastModifiedBy>Kalpataru Sahoo</cp:lastModifiedBy>
  <cp:revision>88</cp:revision>
  <dcterms:created xsi:type="dcterms:W3CDTF">2024-07-31T11:03:10Z</dcterms:created>
  <dcterms:modified xsi:type="dcterms:W3CDTF">2024-08-13T15:42:37Z</dcterms:modified>
</cp:coreProperties>
</file>